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78"/>
  </p:notesMasterIdLst>
  <p:handoutMasterIdLst>
    <p:handoutMasterId r:id="rId79"/>
  </p:handoutMasterIdLst>
  <p:sldIdLst>
    <p:sldId id="258" r:id="rId2"/>
    <p:sldId id="309" r:id="rId3"/>
    <p:sldId id="383" r:id="rId4"/>
    <p:sldId id="449" r:id="rId5"/>
    <p:sldId id="450" r:id="rId6"/>
    <p:sldId id="451" r:id="rId7"/>
    <p:sldId id="452" r:id="rId8"/>
    <p:sldId id="453" r:id="rId9"/>
    <p:sldId id="454" r:id="rId10"/>
    <p:sldId id="455" r:id="rId11"/>
    <p:sldId id="456" r:id="rId12"/>
    <p:sldId id="457" r:id="rId13"/>
    <p:sldId id="458" r:id="rId14"/>
    <p:sldId id="459" r:id="rId15"/>
    <p:sldId id="463" r:id="rId16"/>
    <p:sldId id="460" r:id="rId17"/>
    <p:sldId id="461" r:id="rId18"/>
    <p:sldId id="462" r:id="rId19"/>
    <p:sldId id="464" r:id="rId20"/>
    <p:sldId id="465" r:id="rId21"/>
    <p:sldId id="466" r:id="rId22"/>
    <p:sldId id="467" r:id="rId23"/>
    <p:sldId id="522" r:id="rId24"/>
    <p:sldId id="523" r:id="rId25"/>
    <p:sldId id="470" r:id="rId26"/>
    <p:sldId id="471" r:id="rId27"/>
    <p:sldId id="472" r:id="rId28"/>
    <p:sldId id="473" r:id="rId29"/>
    <p:sldId id="474" r:id="rId30"/>
    <p:sldId id="475" r:id="rId31"/>
    <p:sldId id="476" r:id="rId32"/>
    <p:sldId id="477" r:id="rId33"/>
    <p:sldId id="478" r:id="rId34"/>
    <p:sldId id="479" r:id="rId35"/>
    <p:sldId id="480" r:id="rId36"/>
    <p:sldId id="481" r:id="rId37"/>
    <p:sldId id="482" r:id="rId38"/>
    <p:sldId id="483" r:id="rId39"/>
    <p:sldId id="485" r:id="rId40"/>
    <p:sldId id="484" r:id="rId41"/>
    <p:sldId id="486" r:id="rId42"/>
    <p:sldId id="487" r:id="rId43"/>
    <p:sldId id="488" r:id="rId44"/>
    <p:sldId id="489" r:id="rId45"/>
    <p:sldId id="490" r:id="rId46"/>
    <p:sldId id="491" r:id="rId47"/>
    <p:sldId id="492" r:id="rId48"/>
    <p:sldId id="493" r:id="rId49"/>
    <p:sldId id="494" r:id="rId50"/>
    <p:sldId id="495" r:id="rId51"/>
    <p:sldId id="496" r:id="rId52"/>
    <p:sldId id="497" r:id="rId53"/>
    <p:sldId id="498" r:id="rId54"/>
    <p:sldId id="499" r:id="rId55"/>
    <p:sldId id="500" r:id="rId56"/>
    <p:sldId id="501" r:id="rId57"/>
    <p:sldId id="502" r:id="rId58"/>
    <p:sldId id="503" r:id="rId59"/>
    <p:sldId id="504" r:id="rId60"/>
    <p:sldId id="505" r:id="rId61"/>
    <p:sldId id="506" r:id="rId62"/>
    <p:sldId id="507" r:id="rId63"/>
    <p:sldId id="508" r:id="rId64"/>
    <p:sldId id="509" r:id="rId65"/>
    <p:sldId id="510" r:id="rId66"/>
    <p:sldId id="511" r:id="rId67"/>
    <p:sldId id="512" r:id="rId68"/>
    <p:sldId id="513" r:id="rId69"/>
    <p:sldId id="514" r:id="rId70"/>
    <p:sldId id="515" r:id="rId71"/>
    <p:sldId id="524" r:id="rId72"/>
    <p:sldId id="517" r:id="rId73"/>
    <p:sldId id="518" r:id="rId74"/>
    <p:sldId id="519" r:id="rId75"/>
    <p:sldId id="520" r:id="rId76"/>
    <p:sldId id="521" r:id="rId77"/>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217" autoAdjust="0"/>
    <p:restoredTop sz="94200" autoAdjust="0"/>
  </p:normalViewPr>
  <p:slideViewPr>
    <p:cSldViewPr snapToGrid="0">
      <p:cViewPr varScale="1">
        <p:scale>
          <a:sx n="65" d="100"/>
          <a:sy n="65" d="100"/>
        </p:scale>
        <p:origin x="1138" y="5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56" d="100"/>
        <a:sy n="156" d="100"/>
      </p:scale>
      <p:origin x="0" y="-576"/>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44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960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cNvSpPr txBox="1"/>
          <p:nvPr userDrawn="1"/>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9050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a:xfrm>
            <a:off x="628650" y="2326356"/>
            <a:ext cx="7886700" cy="684026"/>
          </a:xfrm>
        </p:spPr>
        <p:txBody>
          <a:bodyPr/>
          <a:lstStyle/>
          <a:p>
            <a:r>
              <a:rPr lang="en-US" sz="5000" dirty="0"/>
              <a:t>Tutorial 05</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1506415" y="3548880"/>
            <a:ext cx="6131169" cy="597477"/>
          </a:xfrm>
        </p:spPr>
        <p:txBody>
          <a:bodyPr/>
          <a:lstStyle/>
          <a:p>
            <a:r>
              <a:rPr lang="en-US" sz="3400" b="1" dirty="0">
                <a:solidFill>
                  <a:srgbClr val="FFFFFF"/>
                </a:solidFill>
              </a:rPr>
              <a:t>Designing for the Mobile Web</a:t>
            </a:r>
            <a:endParaRPr lang="en-US"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5" name="Text Placeholder 4"/>
          <p:cNvSpPr>
            <a:spLocks noGrp="1"/>
          </p:cNvSpPr>
          <p:nvPr>
            <p:ph type="body" sz="quarter" idx="17"/>
          </p:nvPr>
        </p:nvSpPr>
        <p:spPr/>
        <p:txBody>
          <a:bodyPr/>
          <a:lstStyle/>
          <a:p>
            <a:r>
              <a:rPr lang="en-US" dirty="0"/>
              <a:t>Create a media query</a:t>
            </a:r>
          </a:p>
          <a:p>
            <a:r>
              <a:rPr lang="en-US" dirty="0"/>
              <a:t>Work with the browser viewport</a:t>
            </a:r>
          </a:p>
          <a:p>
            <a:r>
              <a:rPr lang="en-US" dirty="0"/>
              <a:t>Apply a responsive design</a:t>
            </a:r>
          </a:p>
          <a:p>
            <a:r>
              <a:rPr lang="en-US" dirty="0"/>
              <a:t>Create a pulldown menu with CSS</a:t>
            </a:r>
          </a:p>
          <a:p>
            <a:r>
              <a:rPr lang="en-US" dirty="0"/>
              <a:t>Create a flexbox</a:t>
            </a:r>
          </a:p>
        </p:txBody>
      </p:sp>
    </p:spTree>
    <p:extLst>
      <p:ext uri="{BB962C8B-B14F-4D97-AF65-F5344CB8AC3E}">
        <p14:creationId xmlns:p14="http://schemas.microsoft.com/office/powerpoint/2010/main" val="18639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 (continued)</a:t>
            </a:r>
          </a:p>
        </p:txBody>
      </p:sp>
      <p:sp>
        <p:nvSpPr>
          <p:cNvPr id="5" name="Text Placeholder 4"/>
          <p:cNvSpPr>
            <a:spLocks noGrp="1"/>
          </p:cNvSpPr>
          <p:nvPr>
            <p:ph type="body" sz="quarter" idx="17"/>
          </p:nvPr>
        </p:nvSpPr>
        <p:spPr/>
        <p:txBody>
          <a:bodyPr/>
          <a:lstStyle/>
          <a:p>
            <a:r>
              <a:rPr lang="en-US" dirty="0"/>
              <a:t>Work with flex sizes</a:t>
            </a:r>
          </a:p>
          <a:p>
            <a:r>
              <a:rPr lang="en-US" dirty="0"/>
              <a:t>Explore flexbox layouts</a:t>
            </a:r>
          </a:p>
          <a:p>
            <a:r>
              <a:rPr lang="en-US" dirty="0"/>
              <a:t>Create a print style sheet</a:t>
            </a:r>
          </a:p>
          <a:p>
            <a:r>
              <a:rPr lang="en-US" dirty="0"/>
              <a:t>Work with page sizes</a:t>
            </a:r>
          </a:p>
          <a:p>
            <a:r>
              <a:rPr lang="en-US" dirty="0"/>
              <a:t>Add and remove page breaks </a:t>
            </a:r>
            <a:br>
              <a:rPr lang="en-US" dirty="0"/>
            </a:br>
            <a:endParaRPr lang="en-US" dirty="0"/>
          </a:p>
          <a:p>
            <a:endParaRPr lang="en-US" dirty="0"/>
          </a:p>
        </p:txBody>
      </p:sp>
    </p:spTree>
    <p:extLst>
      <p:ext uri="{BB962C8B-B14F-4D97-AF65-F5344CB8AC3E}">
        <p14:creationId xmlns:p14="http://schemas.microsoft.com/office/powerpoint/2010/main" val="261995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Responsive Design</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749857240"/>
              </p:ext>
            </p:extLst>
          </p:nvPr>
        </p:nvGraphicFramePr>
        <p:xfrm>
          <a:off x="628650" y="1111348"/>
          <a:ext cx="8107387" cy="5062081"/>
        </p:xfrm>
        <a:graphic>
          <a:graphicData uri="http://schemas.openxmlformats.org/drawingml/2006/table">
            <a:tbl>
              <a:tblPr firstRow="1"/>
              <a:tblGrid>
                <a:gridCol w="2008185">
                  <a:extLst>
                    <a:ext uri="{9D8B030D-6E8A-4147-A177-3AD203B41FA5}">
                      <a16:colId xmlns:a16="http://schemas.microsoft.com/office/drawing/2014/main" val="20000"/>
                    </a:ext>
                  </a:extLst>
                </a:gridCol>
                <a:gridCol w="2908086">
                  <a:extLst>
                    <a:ext uri="{9D8B030D-6E8A-4147-A177-3AD203B41FA5}">
                      <a16:colId xmlns:a16="http://schemas.microsoft.com/office/drawing/2014/main" val="20001"/>
                    </a:ext>
                  </a:extLst>
                </a:gridCol>
                <a:gridCol w="3191116">
                  <a:extLst>
                    <a:ext uri="{9D8B030D-6E8A-4147-A177-3AD203B41FA5}">
                      <a16:colId xmlns:a16="http://schemas.microsoft.com/office/drawing/2014/main" val="20002"/>
                    </a:ext>
                  </a:extLst>
                </a:gridCol>
              </a:tblGrid>
              <a:tr h="686557">
                <a:tc>
                  <a:txBody>
                    <a:bodyPr/>
                    <a:lstStyle/>
                    <a:p>
                      <a:pPr marL="0" marR="0">
                        <a:lnSpc>
                          <a:spcPts val="15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User Experience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0691" marR="70691" marT="176727" marB="353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5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Mobile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0691" marT="176727" marB="353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5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Desktop</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0691" marT="176727" marB="353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483054">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Page Content</a:t>
                      </a:r>
                    </a:p>
                  </a:txBody>
                  <a:tcPr marL="70691" marR="70691" marT="47127" marB="47127">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Content should be short and to the point.</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Content can be extensive, giving readers the opportunity to explore all facets of the topic.</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3054">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Page Layout</a:t>
                      </a:r>
                    </a:p>
                  </a:txBody>
                  <a:tcPr marL="70691" marR="70691" marT="47127" marB="47127">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Content should be laid out within a single column with no horizontal scrolling.</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With a wider screen size, content can be more easily laid out in multiple columns.</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3454">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Hypertext Links</a:t>
                      </a:r>
                    </a:p>
                  </a:txBody>
                  <a:tcPr marL="70691" marR="70691" marT="47127" marB="47127">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Links need to be easily accessed via a touch interface.</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Links can be activated more precisely using a cursor or mouse pointer.</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2653">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Network Bandwidth</a:t>
                      </a:r>
                    </a:p>
                  </a:txBody>
                  <a:tcPr marL="70691" marR="70691" marT="47127" marB="47127">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Sites tend to take longer to load over cellular networks and thus overall file size should be kept small.</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Sites are quickly accessed over high-speed networks, which can more easily handle large file sizes.</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3054">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Lighting</a:t>
                      </a:r>
                    </a:p>
                  </a:txBody>
                  <a:tcPr marL="70691" marR="70691" marT="47127" marB="47127">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Pages need to be easily visible in outdoor lighting through the use of contrasting colors.</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Pages are typically viewed in an office setting, allowing a broader color palette.</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12653">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Device Tools</a:t>
                      </a:r>
                    </a:p>
                  </a:txBody>
                  <a:tcPr marL="70691" marR="70691" marT="47127" marB="47127">
                    <a:lnL w="12700" cap="flat" cmpd="sng" algn="ctr">
                      <a:solidFill>
                        <a:srgbClr val="000000"/>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Mobile sites often need access to devices such as phone dialing, messaging, mapping, and built-in cameras and video.</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Sites rarely have need to access desktop devices.</a:t>
                      </a:r>
                    </a:p>
                  </a:txBody>
                  <a:tcPr marL="0" marR="70691" marT="47127" marB="47127">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44993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Responsive Design (continued)</a:t>
            </a:r>
          </a:p>
        </p:txBody>
      </p:sp>
      <p:sp>
        <p:nvSpPr>
          <p:cNvPr id="3" name="Text Placeholder 2"/>
          <p:cNvSpPr>
            <a:spLocks noGrp="1"/>
          </p:cNvSpPr>
          <p:nvPr>
            <p:ph type="body" sz="quarter" idx="17"/>
          </p:nvPr>
        </p:nvSpPr>
        <p:spPr/>
        <p:txBody>
          <a:bodyPr>
            <a:normAutofit fontScale="92500"/>
          </a:bodyPr>
          <a:lstStyle/>
          <a:p>
            <a:r>
              <a:rPr lang="en-US" dirty="0"/>
              <a:t>The three primary components of responsive design theory identified by Ethan Marcotte are:</a:t>
            </a:r>
          </a:p>
          <a:p>
            <a:pPr lvl="1"/>
            <a:r>
              <a:rPr lang="en-US" b="1" dirty="0"/>
              <a:t>flexible layout </a:t>
            </a:r>
            <a:r>
              <a:rPr lang="en-US" dirty="0"/>
              <a:t>so that the page layout automatically adjusts to screens of different widths</a:t>
            </a:r>
          </a:p>
          <a:p>
            <a:pPr lvl="1"/>
            <a:r>
              <a:rPr lang="en-US" b="1" dirty="0"/>
              <a:t>responsive images </a:t>
            </a:r>
            <a:r>
              <a:rPr lang="en-US" dirty="0"/>
              <a:t>that rescale based on the size of the viewing device</a:t>
            </a:r>
          </a:p>
          <a:p>
            <a:pPr lvl="1"/>
            <a:r>
              <a:rPr lang="en-US" b="1" dirty="0"/>
              <a:t>media queries </a:t>
            </a:r>
            <a:r>
              <a:rPr lang="en-US" dirty="0"/>
              <a:t>that determine the properties of the device rendering the page so that appropriate designs can be delivered to specific devices</a:t>
            </a:r>
          </a:p>
          <a:p>
            <a:endParaRPr lang="en-US" dirty="0"/>
          </a:p>
        </p:txBody>
      </p:sp>
    </p:spTree>
    <p:extLst>
      <p:ext uri="{BB962C8B-B14F-4D97-AF65-F5344CB8AC3E}">
        <p14:creationId xmlns:p14="http://schemas.microsoft.com/office/powerpoint/2010/main" val="3125627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Media Queries</a:t>
            </a:r>
          </a:p>
        </p:txBody>
      </p:sp>
      <p:sp>
        <p:nvSpPr>
          <p:cNvPr id="3" name="Text Placeholder 2"/>
          <p:cNvSpPr>
            <a:spLocks noGrp="1"/>
          </p:cNvSpPr>
          <p:nvPr>
            <p:ph type="body" sz="quarter" idx="17"/>
          </p:nvPr>
        </p:nvSpPr>
        <p:spPr/>
        <p:txBody>
          <a:bodyPr>
            <a:normAutofit fontScale="92500" lnSpcReduction="20000"/>
          </a:bodyPr>
          <a:lstStyle/>
          <a:p>
            <a:r>
              <a:rPr lang="en-US" sz="3500" dirty="0"/>
              <a:t>Media queries associate a style sheet or style rule with a specific device or list of device features</a:t>
            </a:r>
          </a:p>
          <a:p>
            <a:r>
              <a:rPr lang="en-US" sz="3500" dirty="0"/>
              <a:t>Create a media query within an HTML file, by adding a media attribute to either the </a:t>
            </a:r>
            <a:r>
              <a:rPr lang="en-US" sz="2800" dirty="0">
                <a:latin typeface="Courier New" panose="02070309020205020404" pitchFamily="49" charset="0"/>
                <a:cs typeface="Courier New" panose="02070309020205020404" pitchFamily="49" charset="0"/>
              </a:rPr>
              <a:t>link</a:t>
            </a:r>
            <a:r>
              <a:rPr lang="en-US" dirty="0"/>
              <a:t> </a:t>
            </a:r>
            <a:r>
              <a:rPr lang="en-US" sz="3500" dirty="0"/>
              <a:t>or</a:t>
            </a:r>
            <a:r>
              <a:rPr lang="en-US" dirty="0"/>
              <a:t> </a:t>
            </a:r>
            <a:r>
              <a:rPr lang="en-US" sz="2800" dirty="0">
                <a:latin typeface="Courier New" panose="02070309020205020404" pitchFamily="49" charset="0"/>
                <a:cs typeface="Courier New" panose="02070309020205020404" pitchFamily="49" charset="0"/>
              </a:rPr>
              <a:t>style</a:t>
            </a:r>
            <a:r>
              <a:rPr lang="en-US" dirty="0"/>
              <a:t> </a:t>
            </a:r>
            <a:r>
              <a:rPr lang="en-US" sz="3500" dirty="0"/>
              <a:t>element in the document head:</a:t>
            </a:r>
          </a:p>
          <a:p>
            <a:pPr marL="463550" indent="0">
              <a:buNone/>
            </a:pPr>
            <a:r>
              <a:rPr lang="en-US" sz="2800" dirty="0">
                <a:latin typeface="Courier New" panose="02070309020205020404" pitchFamily="49" charset="0"/>
                <a:cs typeface="Courier New" panose="02070309020205020404" pitchFamily="49" charset="0"/>
              </a:rPr>
              <a:t>media=“devices”</a:t>
            </a:r>
          </a:p>
          <a:p>
            <a:pPr marL="463550" indent="0">
              <a:buNone/>
            </a:pPr>
            <a:r>
              <a:rPr lang="en-US" sz="3500" dirty="0"/>
              <a:t>where</a:t>
            </a:r>
            <a:r>
              <a:rPr lang="en-US" dirty="0"/>
              <a:t> </a:t>
            </a:r>
            <a:r>
              <a:rPr lang="en-US" sz="2800" dirty="0">
                <a:latin typeface="Courier New" panose="02070309020205020404" pitchFamily="49" charset="0"/>
                <a:cs typeface="Courier New" panose="02070309020205020404" pitchFamily="49" charset="0"/>
              </a:rPr>
              <a:t>devices</a:t>
            </a:r>
            <a:r>
              <a:rPr lang="en-US" dirty="0"/>
              <a:t> </a:t>
            </a:r>
            <a:r>
              <a:rPr lang="en-US" sz="3500" dirty="0"/>
              <a:t>is a comma-separated list of supported media types associated with a specified style sheet</a:t>
            </a:r>
          </a:p>
        </p:txBody>
      </p:sp>
    </p:spTree>
    <p:extLst>
      <p:ext uri="{BB962C8B-B14F-4D97-AF65-F5344CB8AC3E}">
        <p14:creationId xmlns:p14="http://schemas.microsoft.com/office/powerpoint/2010/main" val="4216518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Media Queries</a:t>
            </a:r>
            <a:br>
              <a:rPr lang="en-US" dirty="0"/>
            </a:br>
            <a:r>
              <a:rPr lang="en-US" dirty="0"/>
              <a:t>(continued)</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383679784"/>
              </p:ext>
            </p:extLst>
          </p:nvPr>
        </p:nvGraphicFramePr>
        <p:xfrm>
          <a:off x="701186" y="1581467"/>
          <a:ext cx="7741627" cy="4201160"/>
        </p:xfrm>
        <a:graphic>
          <a:graphicData uri="http://schemas.openxmlformats.org/drawingml/2006/table">
            <a:tbl>
              <a:tblPr firstRow="1"/>
              <a:tblGrid>
                <a:gridCol w="1562766">
                  <a:extLst>
                    <a:ext uri="{9D8B030D-6E8A-4147-A177-3AD203B41FA5}">
                      <a16:colId xmlns:a16="http://schemas.microsoft.com/office/drawing/2014/main" val="20000"/>
                    </a:ext>
                  </a:extLst>
                </a:gridCol>
                <a:gridCol w="6178861">
                  <a:extLst>
                    <a:ext uri="{9D8B030D-6E8A-4147-A177-3AD203B41FA5}">
                      <a16:colId xmlns:a16="http://schemas.microsoft.com/office/drawing/2014/main" val="20001"/>
                    </a:ext>
                  </a:extLst>
                </a:gridCol>
              </a:tblGrid>
              <a:tr h="0">
                <a:tc>
                  <a:txBody>
                    <a:bodyPr/>
                    <a:lstStyle/>
                    <a:p>
                      <a:pPr marL="0" marR="0">
                        <a:lnSpc>
                          <a:spcPct val="1000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Media Type </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Used For </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all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output devices (the default)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braille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Braille tactile feedback devices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embossed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Paged Braille printers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handheld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Mobile devices with small screens and limited bandwidth </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print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Printers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projection</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Projectors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screen</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Computer screens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speech</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Speech and sound synthesizers, and aural browsers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tty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Fixed-width devices such as teletype machines and terminals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marR="0">
                        <a:lnSpc>
                          <a:spcPct val="1000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tv</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Television-type devices with low resolution, color, and limited scrollability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912278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@media Rule</a:t>
            </a:r>
          </a:p>
        </p:txBody>
      </p:sp>
      <p:sp>
        <p:nvSpPr>
          <p:cNvPr id="3" name="Text Placeholder 2"/>
          <p:cNvSpPr>
            <a:spLocks noGrp="1"/>
          </p:cNvSpPr>
          <p:nvPr>
            <p:ph type="body" sz="quarter" idx="17"/>
          </p:nvPr>
        </p:nvSpPr>
        <p:spPr/>
        <p:txBody>
          <a:bodyPr/>
          <a:lstStyle/>
          <a:p>
            <a:r>
              <a:rPr lang="en-US" dirty="0"/>
              <a:t>Media queries can be used to associate specific style rules with specific devices using the following:</a:t>
            </a:r>
          </a:p>
          <a:p>
            <a:pPr marL="463550" indent="0">
              <a:buNone/>
            </a:pPr>
            <a:r>
              <a:rPr lang="en-US" sz="2600" dirty="0">
                <a:latin typeface="Courier New" panose="02070309020205020404" pitchFamily="49" charset="0"/>
                <a:cs typeface="Courier New" panose="02070309020205020404" pitchFamily="49" charset="0"/>
              </a:rPr>
              <a:t>@media devices {</a:t>
            </a:r>
          </a:p>
          <a:p>
            <a:pPr marL="463550" indent="0">
              <a:buNone/>
            </a:pPr>
            <a:r>
              <a:rPr lang="en-US" sz="2600" dirty="0">
                <a:latin typeface="Courier New" panose="02070309020205020404" pitchFamily="49" charset="0"/>
                <a:cs typeface="Courier New" panose="02070309020205020404" pitchFamily="49" charset="0"/>
              </a:rPr>
              <a:t>	style rules</a:t>
            </a:r>
          </a:p>
          <a:p>
            <a:pPr marL="463550" indent="0">
              <a:buNone/>
            </a:pPr>
            <a:r>
              <a:rPr lang="en-US" sz="2600" dirty="0">
                <a:latin typeface="Courier New" panose="02070309020205020404" pitchFamily="49" charset="0"/>
                <a:cs typeface="Courier New" panose="02070309020205020404" pitchFamily="49" charset="0"/>
              </a:rPr>
              <a:t>}</a:t>
            </a:r>
            <a:endParaRPr lang="en-US" dirty="0"/>
          </a:p>
          <a:p>
            <a:pPr marL="463550" indent="0">
              <a:buNone/>
            </a:pPr>
            <a:r>
              <a:rPr lang="en-US" dirty="0"/>
              <a:t>where </a:t>
            </a:r>
            <a:r>
              <a:rPr lang="en-US" sz="2600" dirty="0">
                <a:latin typeface="Courier New" panose="02070309020205020404" pitchFamily="49" charset="0"/>
                <a:cs typeface="Courier New" panose="02070309020205020404" pitchFamily="49" charset="0"/>
              </a:rPr>
              <a:t>devices</a:t>
            </a:r>
            <a:r>
              <a:rPr lang="en-US" dirty="0"/>
              <a:t> are supported media types and </a:t>
            </a:r>
            <a:r>
              <a:rPr lang="en-US" sz="2600" dirty="0">
                <a:latin typeface="Courier New" panose="02070309020205020404" pitchFamily="49" charset="0"/>
                <a:cs typeface="Courier New" panose="02070309020205020404" pitchFamily="49" charset="0"/>
              </a:rPr>
              <a:t>style rules</a:t>
            </a:r>
            <a:r>
              <a:rPr lang="en-US" dirty="0"/>
              <a:t> are the style rules associated with those devices</a:t>
            </a:r>
          </a:p>
          <a:p>
            <a:endParaRPr lang="en-US" dirty="0"/>
          </a:p>
        </p:txBody>
      </p:sp>
    </p:spTree>
    <p:extLst>
      <p:ext uri="{BB962C8B-B14F-4D97-AF65-F5344CB8AC3E}">
        <p14:creationId xmlns:p14="http://schemas.microsoft.com/office/powerpoint/2010/main" val="4289137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 Queries and Device Features</a:t>
            </a:r>
          </a:p>
        </p:txBody>
      </p:sp>
      <p:sp>
        <p:nvSpPr>
          <p:cNvPr id="3" name="Text Placeholder 2"/>
          <p:cNvSpPr>
            <a:spLocks noGrp="1"/>
          </p:cNvSpPr>
          <p:nvPr>
            <p:ph type="body" sz="quarter" idx="17"/>
          </p:nvPr>
        </p:nvSpPr>
        <p:spPr/>
        <p:txBody>
          <a:bodyPr>
            <a:normAutofit fontScale="92500"/>
          </a:bodyPr>
          <a:lstStyle/>
          <a:p>
            <a:r>
              <a:rPr lang="en-US" dirty="0"/>
              <a:t>To target a device based on its features, add the feature and its value to the media attribute using the syntax:</a:t>
            </a:r>
          </a:p>
          <a:p>
            <a:pPr marL="463550" indent="0">
              <a:buNone/>
            </a:pPr>
            <a:r>
              <a:rPr lang="en-US" sz="2800" dirty="0">
                <a:latin typeface="Courier New" panose="02070309020205020404" pitchFamily="49" charset="0"/>
                <a:cs typeface="Courier New" panose="02070309020205020404" pitchFamily="49" charset="0"/>
              </a:rPr>
              <a:t>media=“devices and|or (feature:value)”</a:t>
            </a:r>
          </a:p>
          <a:p>
            <a:pPr marL="463550" indent="0">
              <a:buNone/>
            </a:pPr>
            <a:r>
              <a:rPr lang="en-US" dirty="0"/>
              <a:t>where </a:t>
            </a:r>
            <a:r>
              <a:rPr lang="en-US" sz="2800" dirty="0">
                <a:latin typeface="Courier New" panose="02070309020205020404" pitchFamily="49" charset="0"/>
                <a:cs typeface="Courier New" panose="02070309020205020404" pitchFamily="49" charset="0"/>
              </a:rPr>
              <a:t>feature</a:t>
            </a:r>
            <a:r>
              <a:rPr lang="en-US" dirty="0"/>
              <a:t> is the name of a media feature and </a:t>
            </a:r>
            <a:r>
              <a:rPr lang="en-US" sz="2800" dirty="0">
                <a:latin typeface="Courier New" panose="02070309020205020404" pitchFamily="49" charset="0"/>
                <a:cs typeface="Courier New" panose="02070309020205020404" pitchFamily="49" charset="0"/>
              </a:rPr>
              <a:t>value </a:t>
            </a:r>
            <a:r>
              <a:rPr lang="en-US" dirty="0"/>
              <a:t>is the feature’s value</a:t>
            </a:r>
          </a:p>
          <a:p>
            <a:r>
              <a:rPr lang="en-US" dirty="0"/>
              <a:t>The </a:t>
            </a:r>
            <a:r>
              <a:rPr lang="en-US" sz="2800" dirty="0">
                <a:latin typeface="Courier New" panose="02070309020205020404" pitchFamily="49" charset="0"/>
                <a:cs typeface="Courier New" panose="02070309020205020404" pitchFamily="49" charset="0"/>
              </a:rPr>
              <a:t>and</a:t>
            </a:r>
            <a:r>
              <a:rPr lang="en-US" dirty="0"/>
              <a:t> and </a:t>
            </a:r>
            <a:r>
              <a:rPr lang="en-US" sz="2800" dirty="0">
                <a:latin typeface="Courier New" panose="02070309020205020404" pitchFamily="49" charset="0"/>
                <a:cs typeface="Courier New" panose="02070309020205020404" pitchFamily="49" charset="0"/>
              </a:rPr>
              <a:t>or</a:t>
            </a:r>
            <a:r>
              <a:rPr lang="en-US" dirty="0"/>
              <a:t> keywords are used to create media queries that involve different devices or features, or combinations of both</a:t>
            </a:r>
          </a:p>
        </p:txBody>
      </p:sp>
    </p:spTree>
    <p:extLst>
      <p:ext uri="{BB962C8B-B14F-4D97-AF65-F5344CB8AC3E}">
        <p14:creationId xmlns:p14="http://schemas.microsoft.com/office/powerpoint/2010/main" val="3419480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 Queries and Device Features (continued)</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262130822"/>
              </p:ext>
            </p:extLst>
          </p:nvPr>
        </p:nvGraphicFramePr>
        <p:xfrm>
          <a:off x="708220" y="1474478"/>
          <a:ext cx="7727559" cy="4805816"/>
        </p:xfrm>
        <a:graphic>
          <a:graphicData uri="http://schemas.openxmlformats.org/drawingml/2006/table">
            <a:tbl>
              <a:tblPr firstRow="1"/>
              <a:tblGrid>
                <a:gridCol w="2250170">
                  <a:extLst>
                    <a:ext uri="{9D8B030D-6E8A-4147-A177-3AD203B41FA5}">
                      <a16:colId xmlns:a16="http://schemas.microsoft.com/office/drawing/2014/main" val="20000"/>
                    </a:ext>
                  </a:extLst>
                </a:gridCol>
                <a:gridCol w="5477389">
                  <a:extLst>
                    <a:ext uri="{9D8B030D-6E8A-4147-A177-3AD203B41FA5}">
                      <a16:colId xmlns:a16="http://schemas.microsoft.com/office/drawing/2014/main" val="20001"/>
                    </a:ext>
                  </a:extLst>
                </a:gridCol>
              </a:tblGrid>
              <a:tr h="358450">
                <a:tc>
                  <a:txBody>
                    <a:bodyPr/>
                    <a:lstStyle/>
                    <a:p>
                      <a:pPr marL="0" marR="0">
                        <a:lnSpc>
                          <a:spcPts val="15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Feature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1690" marR="71690" marT="179225" marB="358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5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1690" marR="71690" marT="179225" marB="35845"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22701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aspect-ratio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ratio of the width of the display area to its height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8450">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color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number of bits per color component of the output device; if the device does not support color, the value is 0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701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color-index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number of colors supported by the output device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701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device-aspect-ratio</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ratio of the device-width value to the device-height value</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701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device-height</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height of the rendering surface of the output device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701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device-width</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width of the rendering surface of the output device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2701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height</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height of the display area of the output device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2701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monochrome</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number of bits per pixel in the device’s monochrome frame buffer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89881">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orientation</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general description of the aspect ratio: equal to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portrait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when the height of the display area is greater than the width; equal to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landscape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otherwise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8450">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resolution</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resolution of the output device in pixels, expressed in either dpi (dots per inch) or dpcm (dots per centimeter)</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27018">
                <a:tc>
                  <a:txBody>
                    <a:bodyPr/>
                    <a:lstStyle/>
                    <a:p>
                      <a:pPr marL="0" marR="0">
                        <a:lnSpc>
                          <a:spcPts val="15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width</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5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width of the display area of the output device </a:t>
                      </a:r>
                    </a:p>
                  </a:txBody>
                  <a:tcPr marL="71690" marR="71690" marT="47793" marB="4779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451159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Media Queries to a Style Sheet</a:t>
            </a:r>
          </a:p>
        </p:txBody>
      </p:sp>
      <p:sp>
        <p:nvSpPr>
          <p:cNvPr id="3" name="Text Placeholder 2"/>
          <p:cNvSpPr>
            <a:spLocks noGrp="1"/>
          </p:cNvSpPr>
          <p:nvPr>
            <p:ph type="body" sz="quarter" idx="17"/>
          </p:nvPr>
        </p:nvSpPr>
        <p:spPr/>
        <p:txBody>
          <a:bodyPr>
            <a:normAutofit fontScale="92500" lnSpcReduction="10000"/>
          </a:bodyPr>
          <a:lstStyle/>
          <a:p>
            <a:r>
              <a:rPr lang="en-US" dirty="0"/>
              <a:t>The </a:t>
            </a:r>
            <a:r>
              <a:rPr lang="en-US" b="1" dirty="0"/>
              <a:t>mobile first </a:t>
            </a:r>
            <a:r>
              <a:rPr lang="en-US" dirty="0"/>
              <a:t>principle is one in which the overall page design starts with base styles that apply to all devices followed by style rules specific to mobile devices</a:t>
            </a:r>
          </a:p>
          <a:p>
            <a:r>
              <a:rPr lang="en-US" dirty="0"/>
              <a:t>Tablet styles are applied when the screen width is 481 pixels or greater</a:t>
            </a:r>
          </a:p>
          <a:p>
            <a:r>
              <a:rPr lang="en-US" dirty="0"/>
              <a:t>Desktop styles build upon the tablet styles when the screen width exceeds 768 pixels</a:t>
            </a:r>
          </a:p>
          <a:p>
            <a:r>
              <a:rPr lang="en-US" dirty="0"/>
              <a:t>As the screen width increases, more features found in smaller devices are added or replaced</a:t>
            </a:r>
          </a:p>
        </p:txBody>
      </p:sp>
    </p:spTree>
    <p:extLst>
      <p:ext uri="{BB962C8B-B14F-4D97-AF65-F5344CB8AC3E}">
        <p14:creationId xmlns:p14="http://schemas.microsoft.com/office/powerpoint/2010/main" val="1004671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Media Queries to a Style Sheet (continued)</a:t>
            </a:r>
          </a:p>
        </p:txBody>
      </p:sp>
      <p:pic>
        <p:nvPicPr>
          <p:cNvPr id="5" name="Content Placeholder 5" descr="This figure explains how to create media queries for different screen widths.&#10;The figure consists of three rectangular boxes and a few lines of code.&#10;The first line of the code reads “/* New Styles Added Below */”. The second, third, and fourth lines of the code reads a comment for mobile styles. The fifth line of the code reads “@media only screen and (max-width: 480px) {”. The sixth line of the code reads “}”. The first rectangular box labeled “media query matching screen devices with a maximum width of 480 pixels” is positioned on the left side of the code. An arrow originating from this rectangular box points to the fifth and sixth line of the code.&#10;The seventh, eighth, and ninth lines of the code reads a comment for tablet styles. The tenth line of the code reads “@media only screen and (min-width: 481px) {”. The eleventh line of the code reads “}”. The second rectangular box labeled “media query matching screen devices with a minimum width of 481 pixels” is positioned below the first rectangular box. An arrow originating from this rectangular box points to the tenth and eleventh line of the code.&#10;The twelfth, thirteenth, and fourteenth lines of the code reads a comment for desktop styles. The fifteenth line of the code reads “@media only screen and (min-width: 769px) {”. The sixteenth line of the code reads “}”. The third rectangular box labeled “media query matching screen devices with a minimum width 769 pixels” is positioned below the second rectangular box. An arrow originating from this rectangular box points to the fifteenth and sixteenth line of the code." title="Figure 5-6 Creating media queries for different screen widths"/>
          <p:cNvPicPr>
            <a:picLocks noGrp="1" noChangeAspect="1"/>
          </p:cNvPicPr>
          <p:nvPr>
            <p:ph type="pic" sz="quarter" idx="10"/>
          </p:nvPr>
        </p:nvPicPr>
        <p:blipFill>
          <a:blip r:embed="rId2"/>
          <a:stretch>
            <a:fillRect/>
          </a:stretch>
        </p:blipFill>
        <p:spPr>
          <a:xfrm>
            <a:off x="1589158" y="1602936"/>
            <a:ext cx="5965683" cy="4488534"/>
          </a:xfrm>
          <a:prstGeom prst="rect">
            <a:avLst/>
          </a:prstGeom>
        </p:spPr>
      </p:pic>
    </p:spTree>
    <p:extLst>
      <p:ext uri="{BB962C8B-B14F-4D97-AF65-F5344CB8AC3E}">
        <p14:creationId xmlns:p14="http://schemas.microsoft.com/office/powerpoint/2010/main" val="1693196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Viewports and Device Width</a:t>
            </a:r>
          </a:p>
        </p:txBody>
      </p:sp>
      <p:sp>
        <p:nvSpPr>
          <p:cNvPr id="5" name="Text Placeholder 4"/>
          <p:cNvSpPr>
            <a:spLocks noGrp="1"/>
          </p:cNvSpPr>
          <p:nvPr>
            <p:ph type="body" sz="quarter" idx="17"/>
          </p:nvPr>
        </p:nvSpPr>
        <p:spPr/>
        <p:txBody>
          <a:bodyPr/>
          <a:lstStyle/>
          <a:p>
            <a:r>
              <a:rPr lang="en-US" dirty="0"/>
              <a:t>Web pages are viewed within a window called the viewport</a:t>
            </a:r>
          </a:p>
          <a:p>
            <a:r>
              <a:rPr lang="en-US" dirty="0"/>
              <a:t>Mobile devices have two types of viewports:</a:t>
            </a:r>
          </a:p>
          <a:p>
            <a:pPr lvl="1"/>
            <a:r>
              <a:rPr lang="en-US" b="1" dirty="0"/>
              <a:t>Visual viewport </a:t>
            </a:r>
            <a:r>
              <a:rPr lang="en-US" dirty="0"/>
              <a:t>– displays the web page content that fits within a mobile screen</a:t>
            </a:r>
          </a:p>
          <a:p>
            <a:pPr lvl="1"/>
            <a:r>
              <a:rPr lang="en-US" b="1" dirty="0"/>
              <a:t>Layout viewport </a:t>
            </a:r>
            <a:r>
              <a:rPr lang="en-US" dirty="0"/>
              <a:t>– contains the entire content of the page, some of which may be hidden from the user</a:t>
            </a:r>
          </a:p>
        </p:txBody>
      </p:sp>
    </p:spTree>
    <p:extLst>
      <p:ext uri="{BB962C8B-B14F-4D97-AF65-F5344CB8AC3E}">
        <p14:creationId xmlns:p14="http://schemas.microsoft.com/office/powerpoint/2010/main" val="4189856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Viewports and Device Width (continued)</a:t>
            </a:r>
          </a:p>
        </p:txBody>
      </p:sp>
      <p:pic>
        <p:nvPicPr>
          <p:cNvPr id="5" name="Content Placeholder 8" descr="This figure explains how to set the properties of the viewport meta element.&#10;The figure consists of two rectangular boxes and a few lines of code.&#10;The first line of the code reads “&lt;title&gt;Trusted Friends Daycare&lt;/title&gt;”. The second line of the code reads “&lt;meta charset=”utf-8” /&gt;”. The third line of the code reads “&lt;meta name=”viewport” content=”width=device-width, initial-scale=1” /&gt;”. The first rectangular box labeled “sets the width of the layout viewport to the width of the device” is positioned at the top of the code. An arrow originating from this rectangular box points to “width=device-width” in the third line of the code. The second rectangular box labeled “page does not automatically zoom out when the page is initially opened by the browser” is positioned on the left side of the code. An arrow originating from this rectangular box points to “initial-scale=1” in the third line of the code.&#10;The fourth line of the code reads “&lt;link href=”tf_reset.css” rel=”stylesheet” /&gt;”. The fifth line of the code reads “&lt;link href=”tf_styles1.css” rel=”stylesheet” /&gt;”. The sixth line of the code reads “&lt;/head&gt;”." title="Figure 5-8 Setting the properties of the viewport"/>
          <p:cNvPicPr>
            <a:picLocks noGrp="1" noChangeAspect="1"/>
          </p:cNvPicPr>
          <p:nvPr>
            <p:ph type="pic" sz="quarter" idx="10"/>
          </p:nvPr>
        </p:nvPicPr>
        <p:blipFill>
          <a:blip r:embed="rId2"/>
          <a:stretch>
            <a:fillRect/>
          </a:stretch>
        </p:blipFill>
        <p:spPr>
          <a:xfrm>
            <a:off x="481290" y="1927274"/>
            <a:ext cx="8181420" cy="2334225"/>
          </a:xfrm>
          <a:prstGeom prst="rect">
            <a:avLst/>
          </a:prstGeom>
        </p:spPr>
      </p:pic>
    </p:spTree>
    <p:extLst>
      <p:ext uri="{BB962C8B-B14F-4D97-AF65-F5344CB8AC3E}">
        <p14:creationId xmlns:p14="http://schemas.microsoft.com/office/powerpoint/2010/main" val="1781758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Mobile Design</a:t>
            </a:r>
          </a:p>
        </p:txBody>
      </p:sp>
      <p:sp>
        <p:nvSpPr>
          <p:cNvPr id="3" name="Text Placeholder 2"/>
          <p:cNvSpPr>
            <a:spLocks noGrp="1"/>
          </p:cNvSpPr>
          <p:nvPr>
            <p:ph type="body" sz="quarter" idx="17"/>
          </p:nvPr>
        </p:nvSpPr>
        <p:spPr/>
        <p:txBody>
          <a:bodyPr/>
          <a:lstStyle/>
          <a:p>
            <a:r>
              <a:rPr lang="en-US" dirty="0"/>
              <a:t>Design principles</a:t>
            </a:r>
          </a:p>
          <a:p>
            <a:pPr lvl="1"/>
            <a:r>
              <a:rPr lang="en-US" dirty="0"/>
              <a:t>Have the most important information up-front and easily accessible</a:t>
            </a:r>
          </a:p>
          <a:p>
            <a:pPr lvl="2"/>
            <a:r>
              <a:rPr lang="en-US" dirty="0"/>
              <a:t>Means the home page on a mobile device needs to be free of unnecessary clutter</a:t>
            </a:r>
          </a:p>
          <a:p>
            <a:pPr lvl="1"/>
            <a:r>
              <a:rPr lang="en-US" dirty="0"/>
              <a:t>Limit the choices offered to users</a:t>
            </a:r>
          </a:p>
          <a:p>
            <a:pPr lvl="2"/>
            <a:r>
              <a:rPr lang="en-US" dirty="0"/>
              <a:t>Means that ideally, there should only be a few navigation links on the screen at any one time</a:t>
            </a:r>
          </a:p>
        </p:txBody>
      </p:sp>
    </p:spTree>
    <p:extLst>
      <p:ext uri="{BB962C8B-B14F-4D97-AF65-F5344CB8AC3E}">
        <p14:creationId xmlns:p14="http://schemas.microsoft.com/office/powerpoint/2010/main" val="3816256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Pulldown Menu with CSS</a:t>
            </a:r>
          </a:p>
        </p:txBody>
      </p:sp>
      <p:pic>
        <p:nvPicPr>
          <p:cNvPr id="6" name="Picture Placeholder 5" descr="The figure consists of a rectangular box and a few lines of code.&#10;The first line of the code reads “/* Pulldown Menu Styles */”. The second line of the code reads “ul.submenu {”. The third line of the code reads “display: none;”. The rectangular box labeled “prevents the submenu unordered lists from being displayed” is positioned on the left side of the code. An arrow originating from this rectangular box points to the third line of the code. The fourth line of the code reads “}”." title="Figure 5-11 Hiding the navigation list submenus"/>
          <p:cNvPicPr>
            <a:picLocks noGrp="1" noChangeAspect="1"/>
          </p:cNvPicPr>
          <p:nvPr>
            <p:ph type="pic" sz="quarter" idx="10"/>
          </p:nvPr>
        </p:nvPicPr>
        <p:blipFill>
          <a:blip r:embed="rId2"/>
          <a:stretch>
            <a:fillRect/>
          </a:stretch>
        </p:blipFill>
        <p:spPr>
          <a:xfrm>
            <a:off x="957262" y="2184275"/>
            <a:ext cx="7229475" cy="1771650"/>
          </a:xfrm>
          <a:prstGeom prst="rect">
            <a:avLst/>
          </a:prstGeom>
        </p:spPr>
      </p:pic>
    </p:spTree>
    <p:extLst>
      <p:ext uri="{BB962C8B-B14F-4D97-AF65-F5344CB8AC3E}">
        <p14:creationId xmlns:p14="http://schemas.microsoft.com/office/powerpoint/2010/main" val="3665978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Pulldown Menu with CSS</a:t>
            </a:r>
            <a:br>
              <a:rPr lang="en-US" dirty="0"/>
            </a:br>
            <a:r>
              <a:rPr lang="en-US" dirty="0"/>
              <a:t>(continued 1)</a:t>
            </a:r>
          </a:p>
        </p:txBody>
      </p:sp>
      <p:pic>
        <p:nvPicPr>
          <p:cNvPr id="5" name="Content Placeholder 8" descr="Figure 5-12 explains a navigation list with hidden submenus.&#10;The figure consists of a square and a rectangular box. The square is divided into five sections. The first section is a rectangular box that has a logo and a text that reads “trusted friends daycare”. The second section is a rectangular box labeled “HOME”. The third section is a rectangular box with a list. The first item of the list reads “CLASSES” followed by a right direction arrow. The second item of the list reads “PARENTS” followed by a right direction arrow. The third item of the list reads “ABOUT US” followed by a right direction arrow. The fourth item of the list reads “CONTACT US”. The first rectangular box labeled “submenu lists are hidden” is positioned on the left side, outside the square. An arrow originating from this rectangular box points to the first, second, and third item of the list.&#10;The third section of the square is a rectangular box with an image of four people.&#10;The fourth section of the square is a rectangular box that reads some information about the page." title="Figure 5-12 Navigation list with hidden submenus"/>
          <p:cNvPicPr>
            <a:picLocks noGrp="1" noChangeAspect="1"/>
          </p:cNvPicPr>
          <p:nvPr>
            <p:ph type="pic" sz="quarter" idx="10"/>
          </p:nvPr>
        </p:nvPicPr>
        <p:blipFill>
          <a:blip r:embed="rId2"/>
          <a:stretch>
            <a:fillRect/>
          </a:stretch>
        </p:blipFill>
        <p:spPr>
          <a:xfrm>
            <a:off x="1027942" y="1431130"/>
            <a:ext cx="7088116" cy="4765120"/>
          </a:xfrm>
          <a:prstGeom prst="rect">
            <a:avLst/>
          </a:prstGeom>
        </p:spPr>
      </p:pic>
    </p:spTree>
    <p:extLst>
      <p:ext uri="{BB962C8B-B14F-4D97-AF65-F5344CB8AC3E}">
        <p14:creationId xmlns:p14="http://schemas.microsoft.com/office/powerpoint/2010/main" val="2236417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Pulldown Menu with CSS</a:t>
            </a:r>
            <a:br>
              <a:rPr lang="en-US" dirty="0"/>
            </a:br>
            <a:r>
              <a:rPr lang="en-US" dirty="0"/>
              <a:t>(continued 2)</a:t>
            </a:r>
          </a:p>
        </p:txBody>
      </p:sp>
      <p:sp>
        <p:nvSpPr>
          <p:cNvPr id="3" name="Text Placeholder 2"/>
          <p:cNvSpPr>
            <a:spLocks noGrp="1"/>
          </p:cNvSpPr>
          <p:nvPr>
            <p:ph type="body" sz="quarter" idx="17"/>
          </p:nvPr>
        </p:nvSpPr>
        <p:spPr/>
        <p:txBody>
          <a:bodyPr/>
          <a:lstStyle/>
          <a:p>
            <a:r>
              <a:rPr lang="en-US" dirty="0"/>
              <a:t>The following selector can be used to select the submenu that is immediately preceded by a hovered submenu title:</a:t>
            </a:r>
          </a:p>
          <a:p>
            <a:pPr marL="914400" lvl="2" indent="0">
              <a:buNone/>
            </a:pPr>
            <a:r>
              <a:rPr lang="en-US" sz="2600" dirty="0">
                <a:latin typeface="Courier New" panose="02070309020205020404" pitchFamily="49" charset="0"/>
                <a:cs typeface="Courier New" panose="02070309020205020404" pitchFamily="49" charset="0"/>
              </a:rPr>
              <a:t>a.submenuTitle:hover+ul.submenu</a:t>
            </a:r>
            <a:endParaRPr lang="en-US" sz="3200" dirty="0">
              <a:cs typeface="Courier New" panose="02070309020205020404" pitchFamily="49" charset="0"/>
            </a:endParaRPr>
          </a:p>
          <a:p>
            <a:pPr marL="406400" lvl="2" indent="-406400">
              <a:buFont typeface="Arial" panose="020B0604020202020204" pitchFamily="34" charset="0"/>
              <a:buChar char="•"/>
            </a:pPr>
            <a:r>
              <a:rPr lang="en-US" sz="3200" dirty="0">
                <a:cs typeface="Courier New" panose="02070309020205020404" pitchFamily="49" charset="0"/>
              </a:rPr>
              <a:t>In order to keep the submenu visible as the pointer moves away from the title and hovers over the now-visible submenu, use the following:</a:t>
            </a:r>
          </a:p>
          <a:p>
            <a:pPr marL="914400" lvl="4" indent="0">
              <a:buNone/>
            </a:pPr>
            <a:r>
              <a:rPr lang="en-US" sz="2600" dirty="0">
                <a:latin typeface="Courier New" panose="02070309020205020404" pitchFamily="49" charset="0"/>
                <a:cs typeface="Courier New" panose="02070309020205020404" pitchFamily="49" charset="0"/>
              </a:rPr>
              <a:t>a.submenuTitle:hover+ul.submenu, ul.submenu:hover</a:t>
            </a:r>
          </a:p>
        </p:txBody>
      </p:sp>
    </p:spTree>
    <p:extLst>
      <p:ext uri="{BB962C8B-B14F-4D97-AF65-F5344CB8AC3E}">
        <p14:creationId xmlns:p14="http://schemas.microsoft.com/office/powerpoint/2010/main" val="1678408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Pulldown Menu with CSS</a:t>
            </a:r>
            <a:br>
              <a:rPr lang="en-US" dirty="0"/>
            </a:br>
            <a:r>
              <a:rPr lang="en-US" dirty="0"/>
              <a:t>(continued 3)</a:t>
            </a:r>
          </a:p>
        </p:txBody>
      </p:sp>
      <p:sp>
        <p:nvSpPr>
          <p:cNvPr id="3" name="Text Placeholder 2"/>
          <p:cNvSpPr>
            <a:spLocks noGrp="1"/>
          </p:cNvSpPr>
          <p:nvPr>
            <p:ph type="body" sz="quarter" idx="17"/>
          </p:nvPr>
        </p:nvSpPr>
        <p:spPr/>
        <p:txBody>
          <a:bodyPr>
            <a:normAutofit fontScale="92500" lnSpcReduction="20000"/>
          </a:bodyPr>
          <a:lstStyle/>
          <a:p>
            <a:r>
              <a:rPr lang="en-US" sz="3500" dirty="0"/>
              <a:t>To make a submenu visible, change its </a:t>
            </a:r>
            <a:r>
              <a:rPr lang="en-US" sz="2800" dirty="0">
                <a:latin typeface="Courier New" panose="02070309020205020404" pitchFamily="49" charset="0"/>
                <a:cs typeface="Courier New" panose="02070309020205020404" pitchFamily="49" charset="0"/>
              </a:rPr>
              <a:t>display</a:t>
            </a:r>
            <a:r>
              <a:rPr lang="en-US" sz="3500" dirty="0"/>
              <a:t> property back to block, using the following style rule:</a:t>
            </a:r>
          </a:p>
          <a:p>
            <a:pPr marL="463550" indent="0">
              <a:buNone/>
            </a:pPr>
            <a:r>
              <a:rPr lang="en-US" sz="2800" dirty="0">
                <a:latin typeface="Courier New" panose="02070309020205020404" pitchFamily="49" charset="0"/>
                <a:cs typeface="Courier New" panose="02070309020205020404" pitchFamily="49" charset="0"/>
              </a:rPr>
              <a:t>a.submenuTitle:hover+ul.submenu, ul.submenu:hover {</a:t>
            </a:r>
          </a:p>
          <a:p>
            <a:pPr marL="463550" indent="0">
              <a:buNone/>
            </a:pPr>
            <a:r>
              <a:rPr lang="en-US" sz="2800" dirty="0">
                <a:latin typeface="Courier New" panose="02070309020205020404" pitchFamily="49" charset="0"/>
                <a:cs typeface="Courier New" panose="02070309020205020404" pitchFamily="49" charset="0"/>
              </a:rPr>
              <a:t>	display: block;</a:t>
            </a:r>
          </a:p>
          <a:p>
            <a:pPr marL="463550" indent="0">
              <a:buNone/>
            </a:pPr>
            <a:r>
              <a:rPr lang="en-US" sz="2800" dirty="0">
                <a:latin typeface="Courier New" panose="02070309020205020404" pitchFamily="49" charset="0"/>
                <a:cs typeface="Courier New" panose="02070309020205020404" pitchFamily="49" charset="0"/>
              </a:rPr>
              <a:t>}</a:t>
            </a:r>
          </a:p>
          <a:p>
            <a:r>
              <a:rPr lang="en-US" sz="3500" dirty="0"/>
              <a:t>Do not use only the </a:t>
            </a:r>
            <a:r>
              <a:rPr lang="en-US" sz="3100" dirty="0">
                <a:latin typeface="Courier New" panose="02070309020205020404" pitchFamily="49" charset="0"/>
                <a:cs typeface="Courier New" panose="02070309020205020404" pitchFamily="49" charset="0"/>
              </a:rPr>
              <a:t>ul.submenu:hover</a:t>
            </a:r>
            <a:r>
              <a:rPr lang="en-US" dirty="0"/>
              <a:t> </a:t>
            </a:r>
            <a:r>
              <a:rPr lang="en-US" sz="3500" dirty="0"/>
              <a:t>selector</a:t>
            </a:r>
          </a:p>
          <a:p>
            <a:pPr lvl="1"/>
            <a:r>
              <a:rPr lang="en-US" sz="3000" dirty="0"/>
              <a:t>Because you cannot hover over the submenu until it is visible and it won’t be visible until you first hover over the submenu title</a:t>
            </a:r>
          </a:p>
        </p:txBody>
      </p:sp>
    </p:spTree>
    <p:extLst>
      <p:ext uri="{BB962C8B-B14F-4D97-AF65-F5344CB8AC3E}">
        <p14:creationId xmlns:p14="http://schemas.microsoft.com/office/powerpoint/2010/main" val="1439482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Your Mobile Website</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087071246"/>
              </p:ext>
            </p:extLst>
          </p:nvPr>
        </p:nvGraphicFramePr>
        <p:xfrm>
          <a:off x="979469" y="1863114"/>
          <a:ext cx="7185062" cy="3449320"/>
        </p:xfrm>
        <a:graphic>
          <a:graphicData uri="http://schemas.openxmlformats.org/drawingml/2006/table">
            <a:tbl>
              <a:tblPr firstRow="1"/>
              <a:tblGrid>
                <a:gridCol w="2060874">
                  <a:extLst>
                    <a:ext uri="{9D8B030D-6E8A-4147-A177-3AD203B41FA5}">
                      <a16:colId xmlns:a16="http://schemas.microsoft.com/office/drawing/2014/main" val="20000"/>
                    </a:ext>
                  </a:extLst>
                </a:gridCol>
                <a:gridCol w="5124188">
                  <a:extLst>
                    <a:ext uri="{9D8B030D-6E8A-4147-A177-3AD203B41FA5}">
                      <a16:colId xmlns:a16="http://schemas.microsoft.com/office/drawing/2014/main" val="20001"/>
                    </a:ext>
                  </a:extLst>
                </a:gridCol>
              </a:tblGrid>
              <a:tr h="0">
                <a:tc>
                  <a:txBody>
                    <a:bodyPr/>
                    <a:lstStyle/>
                    <a:p>
                      <a:pPr marL="0" marR="0">
                        <a:lnSpc>
                          <a:spcPct val="1000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Mobile Emulator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0">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Android SDK</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Software development kit for Android developers(</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developer.android.com/sdk</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iOS SDK</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Software development kit for iPhone, iPad, and other iOS devices(</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developer.apple.com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Mobile Phone Emulator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Online emulation for a variety of mobile devices(</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www.mobilephoneemulator.com</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Mobile Test Me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Online emulation for a variety of mobile devices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mobiletest.me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Opera Mobile SDK</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Developer tools for the Opera Mobile browser(</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www.opera.com/developer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75480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Your Mobile Website (continued)</a:t>
            </a:r>
          </a:p>
        </p:txBody>
      </p:sp>
      <p:pic>
        <p:nvPicPr>
          <p:cNvPr id="5" name="Content Placeholder 5" descr="This figure explains how to hide the aside element for mobile devices.&#10;The figure consists of five rectangular boxes and few lines of code.&#10;The first line of the code reads “@media only screen and (max-width: 480px) {”. The first rectangular box labeled “applies the style rules only for screen devices with a maximum width of 480 pixels” is positioned at the top of the code. An arrow originating from this rectangular box points to “@media only screen and (max-width: 480px)” in the first line of the code. The second rectangular box labeled “opening curly brace for the media query” is positioned on the right side of the code. An arrow originating from this rectangular box points to “{&quot; in the first line of the code.&#10;The second line of the code reads “nav.horizontal a {”. The third line of the code reads “font-size: 1.5em;”. The fourth line of the code reads “line-height: 2.2em;”. The fifth line of the code reads “}”. The third rectangular box labeled “increases the size of the navigation links” is positioned on the left side of the code. An arrow originating from this rectangular box points from the second line to the fifth line of the code.&#10;The sixth line of the code reads “aside {&quot;. The seventh line of the code reads “display: none;”. The eighth line of the code reads “}”. The fourth rectangular box that reads “hides the aside element” is positioned below the third rectangular box. An arrow originating from this rectangular box points from the sixth line to the eighth line of the code.&#10;The ninth line of the code reads “}”. The fifth rectangular box labeled “closing curly brace for the media query” is positioned on the right side of the ninth line of the code. An arrow originating from this rectangular box points to the ninth line of the code." title="Figure 5-17 Hiding the aside element for mobile devices"/>
          <p:cNvPicPr>
            <a:picLocks noGrp="1" noChangeAspect="1"/>
          </p:cNvPicPr>
          <p:nvPr>
            <p:ph type="pic" sz="quarter" idx="10"/>
          </p:nvPr>
        </p:nvPicPr>
        <p:blipFill>
          <a:blip r:embed="rId2"/>
          <a:stretch>
            <a:fillRect/>
          </a:stretch>
        </p:blipFill>
        <p:spPr>
          <a:xfrm>
            <a:off x="861338" y="1827460"/>
            <a:ext cx="7336918" cy="3358550"/>
          </a:xfrm>
          <a:prstGeom prst="rect">
            <a:avLst/>
          </a:prstGeom>
        </p:spPr>
      </p:pic>
    </p:spTree>
    <p:extLst>
      <p:ext uri="{BB962C8B-B14F-4D97-AF65-F5344CB8AC3E}">
        <p14:creationId xmlns:p14="http://schemas.microsoft.com/office/powerpoint/2010/main" val="1370457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Tablet Design</a:t>
            </a:r>
          </a:p>
        </p:txBody>
      </p:sp>
      <p:pic>
        <p:nvPicPr>
          <p:cNvPr id="6" name="Content Placeholder 5" descr="This figure explains how to place pulldown menus with absolute positioning.&#10;The figure consists of four rectangular boxes and a few lines of code.&#10;The first line of the code reads “@media only screen and (min-width: 481px) {”. The first rectangular box labeled “applies the style rules only for screen devices with a minimum width of 481 pixels” is positioned at the top of the code. An arrow originating from this rectangular box points to the first line of the code.&#10;The second line of the code reads “ul.mainmenu &gt; li {”. The third line of the code reads “float: left;”. The fourth line of the code reads “position: relative;”. The second rectangular box labeled “places the menu list items using relative positioning” is positioned on the right side of the code. An arrow originating from this rectangular box points to the fourth line of the code.&#10;The fifth line of the code reads “width: 20%;”. The sixth line of the code reads “}”.&#10;The seventh line of the code reads “ul.submenu {”. The eighth line of the code reads “box-shadow: rgb(51, 51, 51) 5px 5px 15px;”. The third rectangular box labeled “adds a drop shadow to each submenu” is positioned on the left side of the code. An arrow originating from this rectangular box points to the eighth line of the code.&#10;The ninth line of the code reads “position: absolute;”. The fourth rectangular box labeled “absolutely positions the submenus within each menu list item” is positioned below the second rectangular box. An arrow originating from this rectangular box points to the ninth line of the code.&#10;The tenth line of the code reads “width: 200%;”. The eleventh and twelfth lines of the code read “}”." title="Figure 5-21 Placing the pulldown menus with absolute positioning"/>
          <p:cNvPicPr>
            <a:picLocks noGrp="1" noChangeAspect="1"/>
          </p:cNvPicPr>
          <p:nvPr>
            <p:ph type="pic" sz="quarter" idx="10"/>
          </p:nvPr>
        </p:nvPicPr>
        <p:blipFill>
          <a:blip r:embed="rId2"/>
          <a:stretch>
            <a:fillRect/>
          </a:stretch>
        </p:blipFill>
        <p:spPr>
          <a:xfrm>
            <a:off x="564386" y="1364343"/>
            <a:ext cx="8015227" cy="4833256"/>
          </a:xfrm>
          <a:prstGeom prst="rect">
            <a:avLst/>
          </a:prstGeom>
        </p:spPr>
      </p:pic>
    </p:spTree>
    <p:extLst>
      <p:ext uri="{BB962C8B-B14F-4D97-AF65-F5344CB8AC3E}">
        <p14:creationId xmlns:p14="http://schemas.microsoft.com/office/powerpoint/2010/main" val="1877160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Desktop Design</a:t>
            </a:r>
          </a:p>
        </p:txBody>
      </p:sp>
      <p:pic>
        <p:nvPicPr>
          <p:cNvPr id="5" name="Content Placeholder 5" descr="This figure explains how to add design styles for the browser background and page body.&#10;The figure consists of eight rectangular boxes and a few lines of code.&#10;The first line of the code reads “@media only screen and (min-width: 769px) {”. The first rectangular box labeled “applies the style rules only for screen devices with a minimum width of 769 pixels” is positioned at the top of the code. An arrow originating from this rectangular box points to ““@media only screen and (min-width: 769px)” in the first line of the code.&#10;The second line of the code reads “ul.submenu {”. The third line of the code reads “background: transparent;”. The second rectangular box labeled “makes submenu backgrounds transparent” is positioned on the right side of the code. An arrow originating from this rectangular box points to the third line of the code.&#10;The fourth line of the code reads “box-shadow: none;”. The third rectangular box labeled “removes the drop shadows” is positioned on the left side of the code. An arrow originating from this rectangular box points to the fourth line of the code.&#10;The fifth line of the code reads “display: block;”. The fourth rectangular box labeled “makes submenus always visible” is positioned below the second rectangular box. An arrow originating from this rectangular box points to the fifth line of the code.&#10;The sixth line of the code reads “position: relative;”. The fifth rectangular box labeled “places the submenus with relative positioning” is positioned below the fourth rectangular box. An arrow originating from this rectangular box points to the sixth line of the code.&#10;The seventh line of the code reads “width: 100%;”. The sixth rectangular box labeled “sets the width of the submenus to 100%” is positioned below the third rectangular box. An arrow originating from this rectangular box points to the seventh line of the code.&#10;The eighth line of the code reads “}”.&#10;The ninth line of the code reads “nav.horizontal::after {”. The tenth line of the code reads “clear: both;”. The eleventh line of the code reads “content: “”;”. The twelfth line of the code reads “display: table;”. The thirteenth line of the code reads “}”. The seventh rectangular box labeled “expands the navigation list to contain all floated lists” is positioned below the sixth rectangular box. An arrow originating from this rectangular box points from the ninth line to the thirteenth line of the code.&#10;The fourteenth line of the code reads “nav.horizontal a.submenuTitle {”. The fifteenth line of the code reads “display: none;”. The sixteenth line of the code reads “}”. The eighth rectangular box labeled “hides the submenu titles” is positioned below the seventh rectangular box. An arrow originating from this rectangular box points from the fourteenth line to the eighteenth line of the code.&#10;The nineteenth line of the code reads “}”." title="Figure 5-23 Adding design styles for the browser background and page body"/>
          <p:cNvPicPr>
            <a:picLocks noGrp="1" noChangeAspect="1"/>
          </p:cNvPicPr>
          <p:nvPr>
            <p:ph type="pic" sz="quarter" idx="10"/>
          </p:nvPr>
        </p:nvPicPr>
        <p:blipFill>
          <a:blip r:embed="rId2"/>
          <a:stretch>
            <a:fillRect/>
          </a:stretch>
        </p:blipFill>
        <p:spPr bwMode="auto">
          <a:xfrm>
            <a:off x="827454" y="1167860"/>
            <a:ext cx="7489091" cy="49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095199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Desktop Design (continued)</a:t>
            </a:r>
          </a:p>
        </p:txBody>
      </p:sp>
      <p:pic>
        <p:nvPicPr>
          <p:cNvPr id="5" name="Content Placeholder 5" descr="This figure explains styles for the article and aside elements.&#10;The figure consists of two rectangular boxes and a few lines of code.&#10;The first line of the code reads “nav.horizontal a.submenuTitle {”. The second line of the code reads “display: none;”. The third line of the code reads “}”.&#10;The fourth line of the code reads “article {”. The fifth line of the code reads “float: left;”. The sixth line of the code reads “margin-right: 5%;”. The seventh line of the code reads “width: 55%;”. The eighth line of the code reads “}”. The first rectangular box labeled “floats the main article with a width of 55% and a right margin of 5%” is positioned on the left side of the code. An arrow originating from this rectangular box points from the fourth line to the eighth line of the code.&#10;The ninth line of the code reads “aside {”. The tenth line of the code reads “float: left;”. The eleventh line of the code reads “width: 40%;”. The twelfth line of the code reads “}”. The second rectangular box labeled “floats the aside element with a width of 40%” is positioned below the first rectangular box. An arrow originating from this rectangular box points from the ninth line to the twelfth line of the code." title="Figure 5-24 Styles for the article and aside elements"/>
          <p:cNvPicPr>
            <a:picLocks noGrp="1" noChangeAspect="1"/>
          </p:cNvPicPr>
          <p:nvPr>
            <p:ph type="pic" sz="quarter" idx="10"/>
          </p:nvPr>
        </p:nvPicPr>
        <p:blipFill>
          <a:blip r:embed="rId2"/>
          <a:stretch>
            <a:fillRect/>
          </a:stretch>
        </p:blipFill>
        <p:spPr bwMode="auto">
          <a:xfrm>
            <a:off x="838200" y="2011443"/>
            <a:ext cx="7467600"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842925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Flexible Box</a:t>
            </a:r>
          </a:p>
        </p:txBody>
      </p:sp>
      <p:sp>
        <p:nvSpPr>
          <p:cNvPr id="3" name="Text Placeholder 2"/>
          <p:cNvSpPr>
            <a:spLocks noGrp="1"/>
          </p:cNvSpPr>
          <p:nvPr>
            <p:ph type="body" sz="quarter" idx="17"/>
          </p:nvPr>
        </p:nvSpPr>
        <p:spPr/>
        <p:txBody>
          <a:bodyPr>
            <a:normAutofit lnSpcReduction="10000"/>
          </a:bodyPr>
          <a:lstStyle/>
          <a:p>
            <a:r>
              <a:rPr lang="en-US" dirty="0"/>
              <a:t>A flexible box or flexbox is a box containing items whose sizes can shrink or grow to match the boundaries of the box</a:t>
            </a:r>
          </a:p>
          <a:p>
            <a:r>
              <a:rPr lang="en-US" dirty="0"/>
              <a:t>Items within a flexbox are laid out along a main axis</a:t>
            </a:r>
          </a:p>
          <a:p>
            <a:r>
              <a:rPr lang="en-US" dirty="0"/>
              <a:t>The </a:t>
            </a:r>
            <a:r>
              <a:rPr lang="en-US" b="1" dirty="0"/>
              <a:t>main axis </a:t>
            </a:r>
            <a:r>
              <a:rPr lang="en-US" dirty="0"/>
              <a:t>can point in either the horizontal or vertical direction</a:t>
            </a:r>
          </a:p>
          <a:p>
            <a:r>
              <a:rPr lang="en-US" b="1" dirty="0"/>
              <a:t>Cross axis </a:t>
            </a:r>
            <a:r>
              <a:rPr lang="en-US" dirty="0"/>
              <a:t>is perpendicular to the main axis and is used to define the height or width of each item</a:t>
            </a:r>
          </a:p>
        </p:txBody>
      </p:sp>
    </p:spTree>
    <p:extLst>
      <p:ext uri="{BB962C8B-B14F-4D97-AF65-F5344CB8AC3E}">
        <p14:creationId xmlns:p14="http://schemas.microsoft.com/office/powerpoint/2010/main" val="1400710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Flexible Box (continued 1)</a:t>
            </a:r>
          </a:p>
        </p:txBody>
      </p:sp>
      <p:pic>
        <p:nvPicPr>
          <p:cNvPr id="4" name="Picture Placeholder 3" descr="This figure explains the horizontal and vertical flexboxes.&#10;The figure consists of two big rectangular boxes with three small rectangular boxes within each of them.&#10;The first rectangular box labeled “horizontal flexbox” is positioned on the left side of the figure. The first small rectangular box labeled “flex item” is positioned on the left side, inside the first rectangular box. The second small rectangular box labeled “flex item” is positioned to the right of the first small rectangular box. The third small rectangular box labeled “flex item” is positioned to the right of the second small rectangular box. An arrow originating with dotted lines from the left corner of the first rectangular box points to the right corner of the box. A text that reads “main axis” is positioned at the end of this arrow. An arrow originating with dotted lines from the top of the first rectangular box points to the bottom of the box. A text that reads “cross axis” is positioned at the end of this arrow.&#10;The second rectangular box labeled “vertical flexbox” is positioned vertically to the right of the first rectangular box. The fourth small rectangular box labeled “flex item” is positioned at the top, inside the second rectangular box. The fifth small rectangular box labeled “flex item” is positioned below the fourth small rectangular box inside the second rectangular box. The sixth small rectangular box labeled “flex item” is positioned below the fifth small rectangular box inside the second rectangular box. This rectangular box is a vertical rectangular box. An arrow originating with dotted lines from the left corner of the second rectangular box points to the right corner of the box. A text that reads “cross axis” is positioned at the end of this arrow. An arrow originating with dotted lines from the top of the second rectangular box points to the bottom of the box. A text that reads “main axis” is positioned at the end of this arrow." title="Figure 5-26 Horizontal and vertical flexboxes"/>
          <p:cNvPicPr>
            <a:picLocks noGrp="1" noChangeAspect="1"/>
          </p:cNvPicPr>
          <p:nvPr>
            <p:ph type="pic" sz="quarter" idx="10"/>
          </p:nvPr>
        </p:nvPicPr>
        <p:blipFill>
          <a:blip r:embed="rId2"/>
          <a:stretch>
            <a:fillRect/>
          </a:stretch>
        </p:blipFill>
        <p:spPr>
          <a:xfrm>
            <a:off x="963637" y="1458560"/>
            <a:ext cx="7216726" cy="3954148"/>
          </a:xfrm>
          <a:prstGeom prst="rect">
            <a:avLst/>
          </a:prstGeom>
        </p:spPr>
      </p:pic>
    </p:spTree>
    <p:extLst>
      <p:ext uri="{BB962C8B-B14F-4D97-AF65-F5344CB8AC3E}">
        <p14:creationId xmlns:p14="http://schemas.microsoft.com/office/powerpoint/2010/main" val="1195431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Flexible Box (continued 2)</a:t>
            </a:r>
          </a:p>
        </p:txBody>
      </p:sp>
      <p:sp>
        <p:nvSpPr>
          <p:cNvPr id="3" name="Text Placeholder 2"/>
          <p:cNvSpPr>
            <a:spLocks noGrp="1"/>
          </p:cNvSpPr>
          <p:nvPr>
            <p:ph type="body" sz="quarter" idx="17"/>
          </p:nvPr>
        </p:nvSpPr>
        <p:spPr/>
        <p:txBody>
          <a:bodyPr/>
          <a:lstStyle/>
          <a:p>
            <a:r>
              <a:rPr lang="en-US" dirty="0"/>
              <a:t>To define an element as a flexbox, apply either of the following display styles:</a:t>
            </a:r>
          </a:p>
          <a:p>
            <a:pPr marL="463550" indent="0">
              <a:buNone/>
            </a:pPr>
            <a:r>
              <a:rPr lang="en-US" sz="2600" dirty="0">
                <a:latin typeface="Courier New" panose="02070309020205020404" pitchFamily="49" charset="0"/>
                <a:cs typeface="Courier New" panose="02070309020205020404" pitchFamily="49" charset="0"/>
              </a:rPr>
              <a:t>display: flex;</a:t>
            </a:r>
          </a:p>
          <a:p>
            <a:pPr marL="914400" indent="0">
              <a:buNone/>
            </a:pPr>
            <a:r>
              <a:rPr lang="en-US" dirty="0"/>
              <a:t>or</a:t>
            </a:r>
          </a:p>
          <a:p>
            <a:pPr marL="463550" indent="0">
              <a:buNone/>
            </a:pPr>
            <a:r>
              <a:rPr lang="en-US" sz="2600" dirty="0">
                <a:latin typeface="Courier New" panose="02070309020205020404" pitchFamily="49" charset="0"/>
                <a:cs typeface="Courier New" panose="02070309020205020404" pitchFamily="49" charset="0"/>
              </a:rPr>
              <a:t>display: inline-flex;</a:t>
            </a:r>
          </a:p>
          <a:p>
            <a:pPr marL="463550" indent="0">
              <a:buNone/>
            </a:pPr>
            <a:r>
              <a:rPr lang="en-US" dirty="0"/>
              <a:t>where a value of </a:t>
            </a:r>
            <a:r>
              <a:rPr lang="en-US" sz="2600" dirty="0">
                <a:latin typeface="Courier New" panose="02070309020205020404" pitchFamily="49" charset="0"/>
                <a:cs typeface="Courier New" panose="02070309020205020404" pitchFamily="49" charset="0"/>
              </a:rPr>
              <a:t>flex</a:t>
            </a:r>
            <a:r>
              <a:rPr lang="en-US" dirty="0"/>
              <a:t> starts the flexbox on a new line and a value of </a:t>
            </a:r>
            <a:r>
              <a:rPr lang="en-US" sz="2600" dirty="0">
                <a:latin typeface="Courier New" panose="02070309020205020404" pitchFamily="49" charset="0"/>
                <a:cs typeface="Courier New" panose="02070309020205020404" pitchFamily="49" charset="0"/>
              </a:rPr>
              <a:t>inline-flex</a:t>
            </a:r>
            <a:r>
              <a:rPr lang="en-US" dirty="0"/>
              <a:t> keeps the flexbox in-line with its surrounding content</a:t>
            </a:r>
          </a:p>
        </p:txBody>
      </p:sp>
    </p:spTree>
    <p:extLst>
      <p:ext uri="{BB962C8B-B14F-4D97-AF65-F5344CB8AC3E}">
        <p14:creationId xmlns:p14="http://schemas.microsoft.com/office/powerpoint/2010/main" val="1494544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Cross-Browser Flexboxes</a:t>
            </a:r>
          </a:p>
        </p:txBody>
      </p:sp>
      <p:sp>
        <p:nvSpPr>
          <p:cNvPr id="3" name="Text Placeholder 2"/>
          <p:cNvSpPr>
            <a:spLocks noGrp="1"/>
          </p:cNvSpPr>
          <p:nvPr>
            <p:ph type="body" sz="quarter" idx="17"/>
          </p:nvPr>
        </p:nvSpPr>
        <p:spPr/>
        <p:txBody>
          <a:bodyPr/>
          <a:lstStyle/>
          <a:p>
            <a:r>
              <a:rPr lang="en-US" dirty="0"/>
              <a:t>The complete list of browser extensions that define a flexbox is entered as:</a:t>
            </a:r>
          </a:p>
          <a:p>
            <a:pPr marL="463550" indent="0">
              <a:buNone/>
            </a:pPr>
            <a:r>
              <a:rPr lang="en-US" sz="2600" dirty="0">
                <a:latin typeface="Courier New" panose="02070309020205020404" pitchFamily="49" charset="0"/>
                <a:cs typeface="Courier New" panose="02070309020205020404" pitchFamily="49" charset="0"/>
              </a:rPr>
              <a:t>display: -webkit-box;</a:t>
            </a:r>
          </a:p>
          <a:p>
            <a:pPr marL="463550" indent="0">
              <a:buNone/>
            </a:pPr>
            <a:r>
              <a:rPr lang="en-US" sz="2600" dirty="0">
                <a:latin typeface="Courier New" panose="02070309020205020404" pitchFamily="49" charset="0"/>
                <a:cs typeface="Courier New" panose="02070309020205020404" pitchFamily="49" charset="0"/>
              </a:rPr>
              <a:t>display: -moz-box;</a:t>
            </a:r>
          </a:p>
          <a:p>
            <a:pPr marL="463550" indent="0">
              <a:buNone/>
            </a:pPr>
            <a:r>
              <a:rPr lang="en-US" sz="2600" dirty="0">
                <a:latin typeface="Courier New" panose="02070309020205020404" pitchFamily="49" charset="0"/>
                <a:cs typeface="Courier New" panose="02070309020205020404" pitchFamily="49" charset="0"/>
              </a:rPr>
              <a:t>display: -ms-flexbox;</a:t>
            </a:r>
          </a:p>
          <a:p>
            <a:pPr marL="463550" indent="0">
              <a:buNone/>
            </a:pPr>
            <a:r>
              <a:rPr lang="en-US" sz="2600" dirty="0">
                <a:latin typeface="Courier New" panose="02070309020205020404" pitchFamily="49" charset="0"/>
                <a:cs typeface="Courier New" panose="02070309020205020404" pitchFamily="49" charset="0"/>
              </a:rPr>
              <a:t>display: -webkit-flex:</a:t>
            </a:r>
          </a:p>
          <a:p>
            <a:pPr marL="463550" indent="0">
              <a:buNone/>
            </a:pPr>
            <a:r>
              <a:rPr lang="en-US" sz="2600" dirty="0">
                <a:latin typeface="Courier New" panose="02070309020205020404" pitchFamily="49" charset="0"/>
                <a:cs typeface="Courier New" panose="02070309020205020404" pitchFamily="49" charset="0"/>
              </a:rPr>
              <a:t>display: flex;</a:t>
            </a:r>
          </a:p>
        </p:txBody>
      </p:sp>
    </p:spTree>
    <p:extLst>
      <p:ext uri="{BB962C8B-B14F-4D97-AF65-F5344CB8AC3E}">
        <p14:creationId xmlns:p14="http://schemas.microsoft.com/office/powerpoint/2010/main" val="2245805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Flexbox Flow</a:t>
            </a:r>
          </a:p>
        </p:txBody>
      </p:sp>
      <p:sp>
        <p:nvSpPr>
          <p:cNvPr id="3" name="Text Placeholder 2"/>
          <p:cNvSpPr>
            <a:spLocks noGrp="1"/>
          </p:cNvSpPr>
          <p:nvPr>
            <p:ph type="body" sz="quarter" idx="17"/>
          </p:nvPr>
        </p:nvSpPr>
        <p:spPr/>
        <p:txBody>
          <a:bodyPr/>
          <a:lstStyle/>
          <a:p>
            <a:r>
              <a:rPr lang="en-US" dirty="0"/>
              <a:t>By default, flexbox items are arranged horizontally starting from the left and moving to the right</a:t>
            </a:r>
          </a:p>
          <a:p>
            <a:r>
              <a:rPr lang="en-US" dirty="0"/>
              <a:t>The orientation of a flexbox can be changed using:</a:t>
            </a:r>
          </a:p>
          <a:p>
            <a:pPr marL="463550" indent="0">
              <a:buNone/>
            </a:pPr>
            <a:r>
              <a:rPr lang="en-US" sz="2600" dirty="0">
                <a:latin typeface="Courier New" panose="02070309020205020404" pitchFamily="49" charset="0"/>
                <a:cs typeface="Courier New" panose="02070309020205020404" pitchFamily="49" charset="0"/>
              </a:rPr>
              <a:t>flex-direction: direction;</a:t>
            </a:r>
          </a:p>
          <a:p>
            <a:pPr marL="463550" indent="0">
              <a:buNone/>
            </a:pPr>
            <a:r>
              <a:rPr lang="en-US" dirty="0"/>
              <a:t>where </a:t>
            </a:r>
            <a:r>
              <a:rPr lang="en-US" sz="2600" dirty="0">
                <a:latin typeface="Courier New" panose="02070309020205020404" pitchFamily="49" charset="0"/>
                <a:cs typeface="Courier New" panose="02070309020205020404" pitchFamily="49" charset="0"/>
              </a:rPr>
              <a:t>direction</a:t>
            </a:r>
            <a:r>
              <a:rPr lang="en-US" dirty="0"/>
              <a:t> is </a:t>
            </a:r>
            <a:r>
              <a:rPr lang="en-US" sz="2600" dirty="0">
                <a:latin typeface="Courier New" panose="02070309020205020404" pitchFamily="49" charset="0"/>
                <a:cs typeface="Courier New" panose="02070309020205020404" pitchFamily="49" charset="0"/>
              </a:rPr>
              <a:t>row</a:t>
            </a:r>
            <a:r>
              <a:rPr lang="en-US" dirty="0"/>
              <a:t> (the default), </a:t>
            </a:r>
            <a:r>
              <a:rPr lang="en-US" sz="2600" dirty="0">
                <a:latin typeface="Courier New" panose="02070309020205020404" pitchFamily="49" charset="0"/>
                <a:cs typeface="Courier New" panose="02070309020205020404" pitchFamily="49" charset="0"/>
              </a:rPr>
              <a:t>column</a:t>
            </a:r>
            <a:r>
              <a:rPr lang="en-US" dirty="0"/>
              <a:t>, </a:t>
            </a:r>
            <a:r>
              <a:rPr lang="en-US" sz="2600" dirty="0">
                <a:latin typeface="Courier New" panose="02070309020205020404" pitchFamily="49" charset="0"/>
                <a:cs typeface="Courier New" panose="02070309020205020404" pitchFamily="49" charset="0"/>
              </a:rPr>
              <a:t>row-reverse</a:t>
            </a:r>
            <a:r>
              <a:rPr lang="en-US" dirty="0"/>
              <a:t>, or </a:t>
            </a:r>
            <a:r>
              <a:rPr lang="en-US" sz="2600" dirty="0">
                <a:latin typeface="Courier New" panose="02070309020205020404" pitchFamily="49" charset="0"/>
                <a:cs typeface="Courier New" panose="02070309020205020404" pitchFamily="49" charset="0"/>
              </a:rPr>
              <a:t>column-reverse</a:t>
            </a:r>
          </a:p>
        </p:txBody>
      </p:sp>
    </p:spTree>
    <p:extLst>
      <p:ext uri="{BB962C8B-B14F-4D97-AF65-F5344CB8AC3E}">
        <p14:creationId xmlns:p14="http://schemas.microsoft.com/office/powerpoint/2010/main" val="1571576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Flexbox Flow</a:t>
            </a:r>
            <a:br>
              <a:rPr lang="en-US" dirty="0"/>
            </a:br>
            <a:r>
              <a:rPr lang="en-US" dirty="0"/>
              <a:t>(continued 1)</a:t>
            </a:r>
          </a:p>
        </p:txBody>
      </p:sp>
      <p:sp>
        <p:nvSpPr>
          <p:cNvPr id="3" name="Text Placeholder 2"/>
          <p:cNvSpPr>
            <a:spLocks noGrp="1"/>
          </p:cNvSpPr>
          <p:nvPr>
            <p:ph type="body" sz="quarter" idx="17"/>
          </p:nvPr>
        </p:nvSpPr>
        <p:spPr/>
        <p:txBody>
          <a:bodyPr>
            <a:normAutofit/>
          </a:bodyPr>
          <a:lstStyle/>
          <a:p>
            <a:r>
              <a:rPr lang="en-US" dirty="0"/>
              <a:t>The </a:t>
            </a:r>
            <a:r>
              <a:rPr lang="en-US" sz="2600" dirty="0">
                <a:latin typeface="Courier New" panose="02070309020205020404" pitchFamily="49" charset="0"/>
                <a:cs typeface="Courier New" panose="02070309020205020404" pitchFamily="49" charset="0"/>
              </a:rPr>
              <a:t>row</a:t>
            </a:r>
            <a:r>
              <a:rPr lang="en-US" dirty="0"/>
              <a:t> option in a </a:t>
            </a:r>
            <a:r>
              <a:rPr lang="en-US" sz="2600" dirty="0">
                <a:latin typeface="Courier New" panose="02070309020205020404" pitchFamily="49" charset="0"/>
                <a:cs typeface="Courier New" panose="02070309020205020404" pitchFamily="49" charset="0"/>
              </a:rPr>
              <a:t>flex-direction</a:t>
            </a:r>
            <a:r>
              <a:rPr lang="en-US" dirty="0"/>
              <a:t> lays out the flex items from left to right</a:t>
            </a:r>
          </a:p>
          <a:p>
            <a:r>
              <a:rPr lang="en-US" dirty="0"/>
              <a:t>The </a:t>
            </a:r>
            <a:r>
              <a:rPr lang="en-US" sz="2600" dirty="0">
                <a:latin typeface="Courier New" panose="02070309020205020404" pitchFamily="49" charset="0"/>
                <a:cs typeface="Courier New" panose="02070309020205020404" pitchFamily="49" charset="0"/>
              </a:rPr>
              <a:t>column</a:t>
            </a:r>
            <a:r>
              <a:rPr lang="en-US" dirty="0"/>
              <a:t> option in a </a:t>
            </a:r>
            <a:r>
              <a:rPr lang="en-US" sz="2600" dirty="0">
                <a:latin typeface="Courier New" panose="02070309020205020404" pitchFamily="49" charset="0"/>
                <a:cs typeface="Courier New" panose="02070309020205020404" pitchFamily="49" charset="0"/>
              </a:rPr>
              <a:t>flex-direction</a:t>
            </a:r>
            <a:r>
              <a:rPr lang="en-US" dirty="0"/>
              <a:t> creates a vertical layout starting from the top and moving downward</a:t>
            </a:r>
          </a:p>
          <a:p>
            <a:r>
              <a:rPr lang="en-US" dirty="0"/>
              <a:t>The </a:t>
            </a:r>
            <a:r>
              <a:rPr lang="en-US" sz="2600" dirty="0">
                <a:latin typeface="Courier New" panose="02070309020205020404" pitchFamily="49" charset="0"/>
                <a:cs typeface="Courier New" panose="02070309020205020404" pitchFamily="49" charset="0"/>
              </a:rPr>
              <a:t>row-reverse</a:t>
            </a:r>
            <a:r>
              <a:rPr lang="en-US" dirty="0"/>
              <a:t> and </a:t>
            </a:r>
            <a:r>
              <a:rPr lang="en-US" sz="2600" dirty="0">
                <a:latin typeface="Courier New" panose="02070309020205020404" pitchFamily="49" charset="0"/>
                <a:cs typeface="Courier New" panose="02070309020205020404" pitchFamily="49" charset="0"/>
              </a:rPr>
              <a:t>column-reverse</a:t>
            </a:r>
            <a:r>
              <a:rPr lang="en-US" dirty="0"/>
              <a:t> options in a </a:t>
            </a:r>
            <a:r>
              <a:rPr lang="en-US" sz="2600" dirty="0">
                <a:latin typeface="Courier New" panose="02070309020205020404" pitchFamily="49" charset="0"/>
                <a:cs typeface="Courier New" panose="02070309020205020404" pitchFamily="49" charset="0"/>
              </a:rPr>
              <a:t>flex-direction</a:t>
            </a:r>
            <a:r>
              <a:rPr lang="en-US" dirty="0"/>
              <a:t> lay out the items bottom-to-top and right-to-left respectively</a:t>
            </a:r>
          </a:p>
          <a:p>
            <a:endParaRPr lang="en-US" dirty="0"/>
          </a:p>
        </p:txBody>
      </p:sp>
    </p:spTree>
    <p:extLst>
      <p:ext uri="{BB962C8B-B14F-4D97-AF65-F5344CB8AC3E}">
        <p14:creationId xmlns:p14="http://schemas.microsoft.com/office/powerpoint/2010/main" val="1636275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Flexbox Flow</a:t>
            </a:r>
            <a:br>
              <a:rPr lang="en-US" dirty="0"/>
            </a:br>
            <a:r>
              <a:rPr lang="en-US" dirty="0"/>
              <a:t>(continued 2)</a:t>
            </a:r>
          </a:p>
        </p:txBody>
      </p:sp>
      <p:sp>
        <p:nvSpPr>
          <p:cNvPr id="8" name="Text Placeholder 7"/>
          <p:cNvSpPr>
            <a:spLocks noGrp="1"/>
          </p:cNvSpPr>
          <p:nvPr>
            <p:ph type="body" sz="quarter" idx="17"/>
          </p:nvPr>
        </p:nvSpPr>
        <p:spPr/>
        <p:txBody>
          <a:bodyPr>
            <a:normAutofit/>
          </a:bodyPr>
          <a:lstStyle/>
          <a:p>
            <a:r>
              <a:rPr lang="en-US" dirty="0"/>
              <a:t>Flex items try to fit within a single line, either horizontally or vertically</a:t>
            </a:r>
          </a:p>
          <a:p>
            <a:r>
              <a:rPr lang="en-US" dirty="0"/>
              <a:t>Flex items can wrap to a new line using the following property:</a:t>
            </a:r>
          </a:p>
          <a:p>
            <a:pPr marL="465138" indent="0">
              <a:buNone/>
            </a:pPr>
            <a:r>
              <a:rPr lang="en-US" sz="2600" dirty="0">
                <a:latin typeface="Courier New" panose="02070309020205020404" pitchFamily="49" charset="0"/>
                <a:cs typeface="Courier New" panose="02070309020205020404" pitchFamily="49" charset="0"/>
              </a:rPr>
              <a:t>flex-wrap: type;</a:t>
            </a:r>
          </a:p>
        </p:txBody>
      </p:sp>
    </p:spTree>
    <p:extLst>
      <p:ext uri="{BB962C8B-B14F-4D97-AF65-F5344CB8AC3E}">
        <p14:creationId xmlns:p14="http://schemas.microsoft.com/office/powerpoint/2010/main" val="3683130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Flexbox Flow</a:t>
            </a:r>
            <a:br>
              <a:rPr lang="en-US" dirty="0"/>
            </a:br>
            <a:r>
              <a:rPr lang="en-US" dirty="0"/>
              <a:t>(continued 3)</a:t>
            </a:r>
          </a:p>
        </p:txBody>
      </p:sp>
      <p:sp>
        <p:nvSpPr>
          <p:cNvPr id="8" name="Text Placeholder 7"/>
          <p:cNvSpPr>
            <a:spLocks noGrp="1"/>
          </p:cNvSpPr>
          <p:nvPr>
            <p:ph type="body" sz="quarter" idx="17"/>
          </p:nvPr>
        </p:nvSpPr>
        <p:spPr/>
        <p:txBody>
          <a:bodyPr>
            <a:normAutofit/>
          </a:bodyPr>
          <a:lstStyle/>
          <a:p>
            <a:pPr marL="465138" indent="0">
              <a:buNone/>
            </a:pPr>
            <a:r>
              <a:rPr lang="en-US" dirty="0"/>
              <a:t>where </a:t>
            </a:r>
            <a:r>
              <a:rPr lang="en-US" sz="2600" dirty="0">
                <a:latin typeface="Courier New" panose="02070309020205020404" pitchFamily="49" charset="0"/>
                <a:cs typeface="Courier New" panose="02070309020205020404" pitchFamily="49" charset="0"/>
              </a:rPr>
              <a:t>type</a:t>
            </a:r>
            <a:r>
              <a:rPr lang="en-US" dirty="0"/>
              <a:t> is either:</a:t>
            </a:r>
          </a:p>
          <a:p>
            <a:pPr marL="914400" indent="-293688"/>
            <a:r>
              <a:rPr lang="en-US" sz="2600" dirty="0">
                <a:latin typeface="Courier New" panose="02070309020205020404" pitchFamily="49" charset="0"/>
                <a:cs typeface="Courier New" panose="02070309020205020404" pitchFamily="49" charset="0"/>
              </a:rPr>
              <a:t>nowrap</a:t>
            </a:r>
            <a:r>
              <a:rPr lang="en-US" dirty="0"/>
              <a:t> (default)</a:t>
            </a:r>
          </a:p>
          <a:p>
            <a:pPr marL="914400" indent="-293688"/>
            <a:r>
              <a:rPr lang="en-US" sz="2600" dirty="0">
                <a:latin typeface="Courier New" panose="02070309020205020404" pitchFamily="49" charset="0"/>
                <a:cs typeface="Courier New" panose="02070309020205020404" pitchFamily="49" charset="0"/>
              </a:rPr>
              <a:t>wrap</a:t>
            </a:r>
            <a:r>
              <a:rPr lang="en-US" dirty="0"/>
              <a:t> to wrap the flex items to a new line</a:t>
            </a:r>
          </a:p>
          <a:p>
            <a:pPr marL="914400" indent="-293688"/>
            <a:r>
              <a:rPr lang="en-US" sz="2800" dirty="0">
                <a:latin typeface="Courier New" panose="02070309020205020404" pitchFamily="49" charset="0"/>
                <a:cs typeface="Courier New" panose="02070309020205020404" pitchFamily="49" charset="0"/>
              </a:rPr>
              <a:t>wrap-reverse</a:t>
            </a:r>
            <a:r>
              <a:rPr lang="en-US" dirty="0"/>
              <a:t> to wrap flex items to a new line starting in the opposite direction from the current line</a:t>
            </a:r>
          </a:p>
        </p:txBody>
      </p:sp>
    </p:spTree>
    <p:extLst>
      <p:ext uri="{BB962C8B-B14F-4D97-AF65-F5344CB8AC3E}">
        <p14:creationId xmlns:p14="http://schemas.microsoft.com/office/powerpoint/2010/main" val="2975920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Flexbox Flow</a:t>
            </a:r>
            <a:br>
              <a:rPr lang="en-US" dirty="0"/>
            </a:br>
            <a:r>
              <a:rPr lang="en-US" dirty="0"/>
              <a:t>(continued 4)</a:t>
            </a:r>
          </a:p>
        </p:txBody>
      </p:sp>
      <p:pic>
        <p:nvPicPr>
          <p:cNvPr id="4" name="Picture Placeholder 3" descr="This figure explains the flexbox layouts.&#10;The figure consists of two square boxes consisting of seven rectangular boxes each.&#10;The first square box is positioned to the left of the figure. A label that reads “flex-fill: row wrap;” is positioned on the top left of the first square box. Three equal sized rectangles that read “1”, “2”, and “3” are positioned in the first row of the first square box. Three equal sized rectangles that read “4”, “5”, and “6” are positioned in the second row of the first square box. The seventh rectangular box of the same size as the other rectangular boxes is positioned below the fourth rectangular box. This rectangular box is labeled “7”. The fourth row of the first square box consists of a blank space.&#10;An arrow originating from the left corner of the first rectangular box points to the right side of the second rectangular box.&#10;An arrow originating from the left corner of the fourth rectangular box points to the right side of the fifth rectangular box.&#10;An arrow originating from the left corner of the seventh rectangular box points to the right side of the seventh rectangular box.&#10;The second square box is positioned on the right side of the first square box. A label that reads “flex-fill: column wrap-reverse;” is positioned on the top left of the second square box. A rectangular box labeled “1” is positioned at the left corner of the first row of the second square box. Two rectangular boxes of the same size as the first rectangular box labeled “2” and “7” are positioned in the second row. Two rectangular boxes of the same size as the first rectangular box labeled “3” and “6” are positioned in the third row. Two rectangular boxes of the same size as the first rectangular box labeled “4” and “5” are positioned in the fourth row. An anticlockwise triangle-headed bottom U-shaped arrow originating from rectangular box 1 points to rectangular box 7 in the second square box." title="Figure 5-27 Flexbox layouts"/>
          <p:cNvPicPr>
            <a:picLocks noGrp="1" noChangeAspect="1"/>
          </p:cNvPicPr>
          <p:nvPr>
            <p:ph type="pic" sz="quarter" idx="10"/>
          </p:nvPr>
        </p:nvPicPr>
        <p:blipFill>
          <a:blip r:embed="rId2"/>
          <a:stretch>
            <a:fillRect/>
          </a:stretch>
        </p:blipFill>
        <p:spPr>
          <a:xfrm>
            <a:off x="806126" y="1900911"/>
            <a:ext cx="7531747" cy="3333307"/>
          </a:xfrm>
          <a:prstGeom prst="rect">
            <a:avLst/>
          </a:prstGeom>
        </p:spPr>
      </p:pic>
    </p:spTree>
    <p:extLst>
      <p:ext uri="{BB962C8B-B14F-4D97-AF65-F5344CB8AC3E}">
        <p14:creationId xmlns:p14="http://schemas.microsoft.com/office/powerpoint/2010/main" val="2386255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Flex Basis</a:t>
            </a:r>
          </a:p>
        </p:txBody>
      </p:sp>
      <p:sp>
        <p:nvSpPr>
          <p:cNvPr id="3" name="Text Placeholder 2"/>
          <p:cNvSpPr>
            <a:spLocks noGrp="1"/>
          </p:cNvSpPr>
          <p:nvPr>
            <p:ph type="body" sz="quarter" idx="17"/>
          </p:nvPr>
        </p:nvSpPr>
        <p:spPr/>
        <p:txBody>
          <a:bodyPr/>
          <a:lstStyle/>
          <a:p>
            <a:r>
              <a:rPr lang="en-US" dirty="0"/>
              <a:t>The flex items are determined by three properties:</a:t>
            </a:r>
          </a:p>
          <a:p>
            <a:pPr lvl="1"/>
            <a:r>
              <a:rPr lang="en-US" dirty="0"/>
              <a:t>base size</a:t>
            </a:r>
          </a:p>
          <a:p>
            <a:pPr lvl="1"/>
            <a:r>
              <a:rPr lang="en-US" dirty="0"/>
              <a:t>growth value</a:t>
            </a:r>
          </a:p>
          <a:p>
            <a:pPr lvl="1"/>
            <a:r>
              <a:rPr lang="en-US" dirty="0"/>
              <a:t>shrink value</a:t>
            </a:r>
          </a:p>
          <a:p>
            <a:r>
              <a:rPr lang="en-US" dirty="0"/>
              <a:t>The basis size defines the initial size of the item before the browser attempts to fit it to the flexbox</a:t>
            </a:r>
          </a:p>
        </p:txBody>
      </p:sp>
    </p:spTree>
    <p:extLst>
      <p:ext uri="{BB962C8B-B14F-4D97-AF65-F5344CB8AC3E}">
        <p14:creationId xmlns:p14="http://schemas.microsoft.com/office/powerpoint/2010/main" val="1564341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Flex Basis (continued)</a:t>
            </a:r>
          </a:p>
        </p:txBody>
      </p:sp>
      <p:sp>
        <p:nvSpPr>
          <p:cNvPr id="6" name="Text Placeholder 5"/>
          <p:cNvSpPr>
            <a:spLocks noGrp="1"/>
          </p:cNvSpPr>
          <p:nvPr>
            <p:ph type="body" sz="quarter" idx="17"/>
          </p:nvPr>
        </p:nvSpPr>
        <p:spPr/>
        <p:txBody>
          <a:bodyPr>
            <a:normAutofit/>
          </a:bodyPr>
          <a:lstStyle/>
          <a:p>
            <a:r>
              <a:rPr lang="en-US" dirty="0"/>
              <a:t>The basis size is set using the following:</a:t>
            </a:r>
          </a:p>
          <a:p>
            <a:pPr marL="465138" indent="0">
              <a:buNone/>
            </a:pPr>
            <a:r>
              <a:rPr lang="en-US" sz="3000" dirty="0">
                <a:latin typeface="Courier New" panose="02070309020205020404" pitchFamily="49" charset="0"/>
                <a:cs typeface="Courier New" panose="02070309020205020404" pitchFamily="49" charset="0"/>
              </a:rPr>
              <a:t>flex-basis: size;</a:t>
            </a:r>
          </a:p>
          <a:p>
            <a:pPr marL="465138" indent="0">
              <a:buNone/>
            </a:pPr>
            <a:r>
              <a:rPr lang="en-US" dirty="0"/>
              <a:t>where </a:t>
            </a:r>
            <a:r>
              <a:rPr lang="en-US" sz="3000" dirty="0">
                <a:latin typeface="Courier New" panose="02070309020205020404" pitchFamily="49" charset="0"/>
                <a:cs typeface="Courier New" panose="02070309020205020404" pitchFamily="49" charset="0"/>
              </a:rPr>
              <a:t>size</a:t>
            </a:r>
            <a:r>
              <a:rPr lang="en-US" dirty="0"/>
              <a:t> is one of the CSS units of measurement, which sets the initial size of the flex item based on its content or the value of its width or height property</a:t>
            </a:r>
          </a:p>
          <a:p>
            <a:r>
              <a:rPr lang="en-US" dirty="0"/>
              <a:t> For example:</a:t>
            </a:r>
          </a:p>
          <a:p>
            <a:pPr marL="0" indent="0">
              <a:buNone/>
            </a:pPr>
            <a:r>
              <a:rPr lang="en-US" dirty="0"/>
              <a:t>	</a:t>
            </a:r>
            <a:r>
              <a:rPr lang="en-US" sz="2800" dirty="0">
                <a:latin typeface="Courier New" panose="02070309020205020404" pitchFamily="49" charset="0"/>
                <a:cs typeface="Courier New" panose="02070309020205020404" pitchFamily="49" charset="0"/>
              </a:rPr>
              <a:t>aside {flex-basis: 200px;}</a:t>
            </a:r>
          </a:p>
        </p:txBody>
      </p:sp>
    </p:spTree>
    <p:extLst>
      <p:ext uri="{BB962C8B-B14F-4D97-AF65-F5344CB8AC3E}">
        <p14:creationId xmlns:p14="http://schemas.microsoft.com/office/powerpoint/2010/main" val="33500842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Flex Growth</a:t>
            </a:r>
          </a:p>
        </p:txBody>
      </p:sp>
      <p:sp>
        <p:nvSpPr>
          <p:cNvPr id="3" name="Text Placeholder 2"/>
          <p:cNvSpPr>
            <a:spLocks noGrp="1"/>
          </p:cNvSpPr>
          <p:nvPr>
            <p:ph type="body" sz="quarter" idx="17"/>
          </p:nvPr>
        </p:nvSpPr>
        <p:spPr/>
        <p:txBody>
          <a:bodyPr>
            <a:normAutofit fontScale="92500" lnSpcReduction="20000"/>
          </a:bodyPr>
          <a:lstStyle/>
          <a:p>
            <a:r>
              <a:rPr lang="en-US" sz="3500" dirty="0"/>
              <a:t>The rate at which a flex item grows from its basis size is determined by the </a:t>
            </a:r>
            <a:r>
              <a:rPr lang="en-US" sz="2800" dirty="0">
                <a:latin typeface="Courier New" panose="02070309020205020404" pitchFamily="49" charset="0"/>
                <a:cs typeface="Courier New" panose="02070309020205020404" pitchFamily="49" charset="0"/>
              </a:rPr>
              <a:t>flex-grow</a:t>
            </a:r>
            <a:r>
              <a:rPr lang="en-US" sz="3500" dirty="0">
                <a:latin typeface="Arial" panose="020B0604020202020204" pitchFamily="34" charset="0"/>
                <a:cs typeface="Arial" panose="020B0604020202020204" pitchFamily="34" charset="0"/>
              </a:rPr>
              <a:t> </a:t>
            </a:r>
            <a:r>
              <a:rPr lang="en-US" sz="3500" dirty="0"/>
              <a:t>property</a:t>
            </a:r>
          </a:p>
          <a:p>
            <a:pPr marL="463550" indent="0">
              <a:buNone/>
            </a:pPr>
            <a:r>
              <a:rPr lang="en-US" sz="2800" dirty="0">
                <a:latin typeface="Courier New" panose="02070309020205020404" pitchFamily="49" charset="0"/>
                <a:cs typeface="Courier New" panose="02070309020205020404" pitchFamily="49" charset="0"/>
              </a:rPr>
              <a:t>flex-grow: value;</a:t>
            </a:r>
          </a:p>
          <a:p>
            <a:pPr marL="463550" indent="0">
              <a:buNone/>
            </a:pPr>
            <a:r>
              <a:rPr lang="en-US" sz="3500" dirty="0"/>
              <a:t>where </a:t>
            </a:r>
            <a:r>
              <a:rPr lang="en-US" sz="2800" dirty="0">
                <a:latin typeface="Courier New" panose="02070309020205020404" pitchFamily="49" charset="0"/>
                <a:cs typeface="Courier New" panose="02070309020205020404" pitchFamily="49" charset="0"/>
              </a:rPr>
              <a:t>value</a:t>
            </a:r>
            <a:r>
              <a:rPr lang="en-US" sz="3500" dirty="0"/>
              <a:t> is a non-negative value that expresses the growth of the flex item relative to the growth of other items in the flexbox</a:t>
            </a:r>
          </a:p>
          <a:p>
            <a:r>
              <a:rPr lang="en-US" sz="3500" dirty="0">
                <a:latin typeface="Arial" panose="020B0604020202020204" pitchFamily="34" charset="0"/>
                <a:cs typeface="Arial" panose="020B0604020202020204" pitchFamily="34" charset="0"/>
              </a:rPr>
              <a:t>The default </a:t>
            </a:r>
            <a:r>
              <a:rPr lang="en-US" sz="2800" dirty="0">
                <a:latin typeface="Courier New" panose="02070309020205020404" pitchFamily="49" charset="0"/>
                <a:cs typeface="Courier New" panose="02070309020205020404" pitchFamily="49" charset="0"/>
              </a:rPr>
              <a:t>flex-grow</a:t>
            </a:r>
            <a:r>
              <a:rPr lang="en-US" sz="3500" dirty="0">
                <a:latin typeface="Arial" panose="020B0604020202020204" pitchFamily="34" charset="0"/>
                <a:cs typeface="Arial" panose="020B0604020202020204" pitchFamily="34" charset="0"/>
              </a:rPr>
              <a:t> value is 0, which is equivalent to the flex item remaining at its basis size</a:t>
            </a:r>
          </a:p>
        </p:txBody>
      </p:sp>
    </p:spTree>
    <p:extLst>
      <p:ext uri="{BB962C8B-B14F-4D97-AF65-F5344CB8AC3E}">
        <p14:creationId xmlns:p14="http://schemas.microsoft.com/office/powerpoint/2010/main" val="7819555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Flex Growth</a:t>
            </a:r>
            <a:br>
              <a:rPr lang="en-US" dirty="0"/>
            </a:br>
            <a:r>
              <a:rPr lang="en-US" dirty="0"/>
              <a:t>(continued 1)</a:t>
            </a:r>
          </a:p>
        </p:txBody>
      </p:sp>
      <p:pic>
        <p:nvPicPr>
          <p:cNvPr id="4" name="Picture Placeholder 3" descr="This figure explains how the flex items grow beyond their basis size.&#10;The figure consists of two rectangular boxes with two square boxes in one and two rectangular boxes in the other.&#10;The first rectangular box consisting of two equal sized square boxes are positioned at the top of the figure. A text that reads “both flex items have the same basis size” is positioned at the bottom of this box. The first square box is positioned to the left, inside the rectangular box. The first line in the first square box reads “flex-basis: 100px;”. The second line in the first square box reads “flex-grow: 1;”. The top portion of this box is marked “100px”.&#10;The second square box is positioned on the right side of the first square box. The first line in the second square box reads “flex-basis: 100px;”. The second line in the second square box “flex-grow: 3;”. The top portion of this box is marked “100px”.&#10;The second rectangular box is positioned below the first rectangular box. A text that reads “second item grows at 3x the rate of the first as the flexbox expands” is positioned at the bottom of this box. The third rectangular box divided into two sections in the 2:1 ratio is positioned to the left, inside this box. The first line of the first section reads “flex-basis: 100px;” and the second line reads “flex-grow: 1;”. The second section is marked “50px”. The top portion of the third rectangular box is marked “150px”.&#10;The fourth rectangular box divided into two sections in the ratio 1:2 is positioned to the right of the third rectangular box. The first line of the first section in this box reads “flex-basis: 100px;” and the second line reads “flex-grow: 3;”. The second section of this box is marked “150px”. The top portion of the fourth rectangular box is marked “250px”." title="Figure 5-29 Growing flex items beyond their basis size"/>
          <p:cNvPicPr>
            <a:picLocks noGrp="1" noChangeAspect="1"/>
          </p:cNvPicPr>
          <p:nvPr>
            <p:ph type="pic" sz="quarter" idx="10"/>
          </p:nvPr>
        </p:nvPicPr>
        <p:blipFill>
          <a:blip r:embed="rId2"/>
          <a:stretch>
            <a:fillRect/>
          </a:stretch>
        </p:blipFill>
        <p:spPr>
          <a:xfrm>
            <a:off x="1133475" y="1492948"/>
            <a:ext cx="6877050" cy="4714875"/>
          </a:xfrm>
          <a:prstGeom prst="rect">
            <a:avLst/>
          </a:prstGeom>
        </p:spPr>
      </p:pic>
    </p:spTree>
    <p:extLst>
      <p:ext uri="{BB962C8B-B14F-4D97-AF65-F5344CB8AC3E}">
        <p14:creationId xmlns:p14="http://schemas.microsoft.com/office/powerpoint/2010/main" val="4193291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Flex Growth</a:t>
            </a:r>
            <a:br>
              <a:rPr lang="en-US" dirty="0"/>
            </a:br>
            <a:r>
              <a:rPr lang="en-US" dirty="0"/>
              <a:t>(continued 2)</a:t>
            </a:r>
          </a:p>
        </p:txBody>
      </p:sp>
      <p:sp>
        <p:nvSpPr>
          <p:cNvPr id="5" name="Text Placeholder 4"/>
          <p:cNvSpPr>
            <a:spLocks noGrp="1"/>
          </p:cNvSpPr>
          <p:nvPr>
            <p:ph type="body" sz="quarter" idx="17"/>
          </p:nvPr>
        </p:nvSpPr>
        <p:spPr/>
        <p:txBody>
          <a:bodyPr>
            <a:normAutofit fontScale="92500" lnSpcReduction="20000"/>
          </a:bodyPr>
          <a:lstStyle/>
          <a:p>
            <a:r>
              <a:rPr lang="en-US" dirty="0"/>
              <a:t>The following style rule creates a layout for navigation list in which each list item is assigned an equal size and grows at the same rate</a:t>
            </a:r>
          </a:p>
          <a:p>
            <a:pPr marL="914400" indent="0">
              <a:buNone/>
            </a:pPr>
            <a:r>
              <a:rPr lang="en-US" sz="2800" dirty="0">
                <a:latin typeface="Courier New" panose="02070309020205020404" pitchFamily="49" charset="0"/>
                <a:cs typeface="Courier New" panose="02070309020205020404" pitchFamily="49" charset="0"/>
              </a:rPr>
              <a:t>nav ul {</a:t>
            </a:r>
          </a:p>
          <a:p>
            <a:pPr marL="914400" indent="0">
              <a:buNone/>
            </a:pPr>
            <a:r>
              <a:rPr lang="en-US" sz="2800" dirty="0">
                <a:latin typeface="Courier New" panose="02070309020205020404" pitchFamily="49" charset="0"/>
                <a:cs typeface="Courier New" panose="02070309020205020404" pitchFamily="49" charset="0"/>
              </a:rPr>
              <a:t>	display: flex;</a:t>
            </a:r>
          </a:p>
          <a:p>
            <a:pPr marL="914400" indent="0">
              <a:buNone/>
            </a:pPr>
            <a:r>
              <a:rPr lang="en-US" sz="2800" dirty="0">
                <a:latin typeface="Courier New" panose="02070309020205020404" pitchFamily="49" charset="0"/>
                <a:cs typeface="Courier New" panose="02070309020205020404" pitchFamily="49" charset="0"/>
              </a:rPr>
              <a:t>}</a:t>
            </a:r>
          </a:p>
          <a:p>
            <a:pPr marL="914400" indent="0">
              <a:buNone/>
            </a:pPr>
            <a:r>
              <a:rPr lang="en-US" sz="2800" dirty="0">
                <a:latin typeface="Courier New" panose="02070309020205020404" pitchFamily="49" charset="0"/>
                <a:cs typeface="Courier New" panose="02070309020205020404" pitchFamily="49" charset="0"/>
              </a:rPr>
              <a:t>nav ul li {</a:t>
            </a:r>
          </a:p>
          <a:p>
            <a:pPr marL="914400" indent="0">
              <a:buNone/>
            </a:pPr>
            <a:r>
              <a:rPr lang="en-US" sz="2800" dirty="0">
                <a:latin typeface="Courier New" panose="02070309020205020404" pitchFamily="49" charset="0"/>
                <a:cs typeface="Courier New" panose="02070309020205020404" pitchFamily="49" charset="0"/>
              </a:rPr>
              <a:t>	flex-basis: 0px;</a:t>
            </a:r>
          </a:p>
          <a:p>
            <a:pPr marL="914400" indent="0">
              <a:buNone/>
            </a:pPr>
            <a:r>
              <a:rPr lang="en-US" sz="2800" dirty="0">
                <a:latin typeface="Courier New" panose="02070309020205020404" pitchFamily="49" charset="0"/>
                <a:cs typeface="Courier New" panose="02070309020205020404" pitchFamily="49" charset="0"/>
              </a:rPr>
              <a:t>	flex-grow: 1;</a:t>
            </a:r>
          </a:p>
          <a:p>
            <a:pPr marL="914400" indent="0">
              <a:buNone/>
            </a:pPr>
            <a:r>
              <a:rPr lang="en-US" sz="2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59378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Shrink Rate</a:t>
            </a:r>
          </a:p>
        </p:txBody>
      </p:sp>
      <p:sp>
        <p:nvSpPr>
          <p:cNvPr id="9" name="Text Placeholder 8"/>
          <p:cNvSpPr>
            <a:spLocks noGrp="1"/>
          </p:cNvSpPr>
          <p:nvPr>
            <p:ph type="body" sz="quarter" idx="17"/>
          </p:nvPr>
        </p:nvSpPr>
        <p:spPr/>
        <p:txBody>
          <a:bodyPr>
            <a:normAutofit/>
          </a:bodyPr>
          <a:lstStyle/>
          <a:p>
            <a:r>
              <a:rPr lang="en-US" dirty="0"/>
              <a:t>When the flexbox size falls below the total space allotted to its flex items:</a:t>
            </a:r>
          </a:p>
          <a:p>
            <a:pPr lvl="1"/>
            <a:r>
              <a:rPr lang="en-US" dirty="0"/>
              <a:t>Two possibilities occur depending on whether the flexbox is defined to wrap its contents to a new line</a:t>
            </a:r>
          </a:p>
          <a:p>
            <a:r>
              <a:rPr lang="en-US" dirty="0"/>
              <a:t>First, if the </a:t>
            </a:r>
            <a:r>
              <a:rPr lang="en-US" dirty="0">
                <a:latin typeface="Courier New" panose="02070309020205020404" pitchFamily="49" charset="0"/>
                <a:cs typeface="Courier New" panose="02070309020205020404" pitchFamily="49" charset="0"/>
              </a:rPr>
              <a:t>flexbox-wrap</a:t>
            </a:r>
            <a:r>
              <a:rPr lang="en-US" dirty="0"/>
              <a:t> property is set to </a:t>
            </a:r>
            <a:r>
              <a:rPr lang="en-US" dirty="0">
                <a:latin typeface="Courier New" panose="02070309020205020404" pitchFamily="49" charset="0"/>
                <a:cs typeface="Courier New" panose="02070309020205020404" pitchFamily="49" charset="0"/>
              </a:rPr>
              <a:t>wrap</a:t>
            </a:r>
            <a:r>
              <a:rPr lang="en-US" dirty="0"/>
              <a:t>, one or more of the flex items will be shifted to a new line and expanded to fill in the available space on that line</a:t>
            </a:r>
          </a:p>
        </p:txBody>
      </p:sp>
    </p:spTree>
    <p:extLst>
      <p:ext uri="{BB962C8B-B14F-4D97-AF65-F5344CB8AC3E}">
        <p14:creationId xmlns:p14="http://schemas.microsoft.com/office/powerpoint/2010/main" val="27261452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Shrink Rate (continued 1)</a:t>
            </a:r>
          </a:p>
        </p:txBody>
      </p:sp>
      <p:pic>
        <p:nvPicPr>
          <p:cNvPr id="4" name="Picture Placeholder 3" descr="This figure explains shrinking of flex items smaller than their basis size.&#10;The figure consists of three rectangular boxes consisting of three small rectangular boxes each.&#10;The first rectangular box is positioned at the top of the figure. Three equal sized small rectangular boxes are positioned side-by-side inside this box. The first line of the first small rectangular box inside the first rectangular box reads “flex-basis: 200px;” and the second line reads “flex-grow: 1;”. The bottom portion of this box is marked “300px”.&#10;The first line of the second small rectangular box inside the first rectangular box reads “flex-basis: 200px;” and the second line reads “flex-grow: 1;”. The bottom portion of this box is marked “300px”.&#10;The first line of the third small rectangular box inside the first rectangular box reads “flex-basis: 200px;” and the second line reads “flex-grow: 1;”. The bottom portion of this box is marked “300px”.&#10;The top of the first rectangular box is marked “900px”.&#10;The second rectangular box consisting of three small rectangular boxes is aligned to the left of the figure, below the first rectangular box. Two equal sized small rectangular boxes are aligned, side-by-side, at the top of this box. The first line of the first small rectangular box reads “flex-basis: 200px;” and the second line reads “flex-grow: 1;”. The bottom of this box is marked “250px”. The first line of the second small rectangular box reads “flex-basis: 200px;” and the second line reads “flex-grow: 1;”. The bottom of this box is marked “250px”.&#10;The third small rectangular box that is twice the size of the first small rectangular box is positioned below the first and second small rectangular boxes. The first line of the third small rectangular box reads “flex-basis: 200px;” and the second line reads “flex-grow: 1;”. The bottom portion of this box is marked “500px”. &#10;The top portion of the second rectangular box is marked “500px”.&#10;The third rectangular box is positioned vertically on the right side of the second rectangular box, below the first rectangular box. This rectangular box consists of three equal sized small rectangular boxes placed one below the other. The first line of the three small rectangular boxes reads “flex-basis: 200px;” and the second line reads “flex-grow: 1;”. The bottom of all three small rectangular boxes are marked “150 px”.&#10;The top portion of the third rectangular box is marked “150px”." title="Figure 5-30 Shrinking flex items smaller than their basis size"/>
          <p:cNvPicPr>
            <a:picLocks noGrp="1" noChangeAspect="1"/>
          </p:cNvPicPr>
          <p:nvPr>
            <p:ph type="pic" sz="quarter" idx="10"/>
          </p:nvPr>
        </p:nvPicPr>
        <p:blipFill>
          <a:blip r:embed="rId2"/>
          <a:stretch>
            <a:fillRect/>
          </a:stretch>
        </p:blipFill>
        <p:spPr>
          <a:xfrm>
            <a:off x="1546567" y="1169390"/>
            <a:ext cx="6050866" cy="4891117"/>
          </a:xfrm>
          <a:prstGeom prst="rect">
            <a:avLst/>
          </a:prstGeom>
        </p:spPr>
      </p:pic>
    </p:spTree>
    <p:extLst>
      <p:ext uri="{BB962C8B-B14F-4D97-AF65-F5344CB8AC3E}">
        <p14:creationId xmlns:p14="http://schemas.microsoft.com/office/powerpoint/2010/main" val="33797248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Shrink Rate (continued 2)</a:t>
            </a:r>
          </a:p>
        </p:txBody>
      </p:sp>
      <p:sp>
        <p:nvSpPr>
          <p:cNvPr id="3" name="Text Placeholder 2"/>
          <p:cNvSpPr>
            <a:spLocks noGrp="1"/>
          </p:cNvSpPr>
          <p:nvPr>
            <p:ph type="body" sz="quarter" idx="17"/>
          </p:nvPr>
        </p:nvSpPr>
        <p:spPr/>
        <p:txBody>
          <a:bodyPr>
            <a:normAutofit/>
          </a:bodyPr>
          <a:lstStyle/>
          <a:p>
            <a:r>
              <a:rPr lang="en-US" dirty="0"/>
              <a:t>Second, if the flexbox does not wrap to a new line as it is resized, then the flex items will continue to shrink, still sharing the same row or column</a:t>
            </a:r>
          </a:p>
          <a:p>
            <a:r>
              <a:rPr lang="en-US" dirty="0"/>
              <a:t>The rate at which flexboxes shrink below their basis size is given by the following property:</a:t>
            </a:r>
          </a:p>
          <a:p>
            <a:pPr marL="463550" indent="0">
              <a:buNone/>
            </a:pPr>
            <a:r>
              <a:rPr lang="en-US" sz="2800" dirty="0">
                <a:latin typeface="Courier New" panose="02070309020205020404" pitchFamily="49" charset="0"/>
                <a:cs typeface="Courier New" panose="02070309020205020404" pitchFamily="49" charset="0"/>
              </a:rPr>
              <a:t>flex-shrink: value;</a:t>
            </a:r>
          </a:p>
        </p:txBody>
      </p:sp>
    </p:spTree>
    <p:extLst>
      <p:ext uri="{BB962C8B-B14F-4D97-AF65-F5344CB8AC3E}">
        <p14:creationId xmlns:p14="http://schemas.microsoft.com/office/powerpoint/2010/main" val="3575924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Shrink Rate (continued 3)</a:t>
            </a:r>
          </a:p>
        </p:txBody>
      </p:sp>
      <p:sp>
        <p:nvSpPr>
          <p:cNvPr id="3" name="Text Placeholder 2"/>
          <p:cNvSpPr>
            <a:spLocks noGrp="1"/>
          </p:cNvSpPr>
          <p:nvPr>
            <p:ph type="body" sz="quarter" idx="17"/>
          </p:nvPr>
        </p:nvSpPr>
        <p:spPr/>
        <p:txBody>
          <a:bodyPr>
            <a:normAutofit/>
          </a:bodyPr>
          <a:lstStyle/>
          <a:p>
            <a:pPr marL="463550"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latin typeface="Arial" panose="020B0604020202020204" pitchFamily="34" charset="0"/>
                <a:cs typeface="Arial" panose="020B0604020202020204" pitchFamily="34" charset="0"/>
              </a:rPr>
              <a:t> </a:t>
            </a:r>
            <a:r>
              <a:rPr lang="en-US" dirty="0"/>
              <a:t>is a non-negative value that expresses the shrink rate of the flex item relative to the shrinkage of the other items in the flexbox</a:t>
            </a:r>
          </a:p>
          <a:p>
            <a:r>
              <a:rPr lang="en-US" dirty="0"/>
              <a:t>The default </a:t>
            </a:r>
            <a:r>
              <a:rPr lang="en-US" sz="2600" dirty="0">
                <a:latin typeface="Courier New" panose="02070309020205020404" pitchFamily="49" charset="0"/>
                <a:cs typeface="Courier New" panose="02070309020205020404" pitchFamily="49" charset="0"/>
              </a:rPr>
              <a:t>flex-shrink</a:t>
            </a:r>
            <a:r>
              <a:rPr lang="en-US" dirty="0"/>
              <a:t> value is 1</a:t>
            </a:r>
          </a:p>
          <a:p>
            <a:r>
              <a:rPr lang="en-US" dirty="0"/>
              <a:t>If the </a:t>
            </a:r>
            <a:r>
              <a:rPr lang="en-US" sz="2600" dirty="0">
                <a:latin typeface="Courier New" panose="02070309020205020404" pitchFamily="49" charset="0"/>
                <a:cs typeface="Courier New" panose="02070309020205020404" pitchFamily="49" charset="0"/>
              </a:rPr>
              <a:t>flex-shrink</a:t>
            </a:r>
            <a:r>
              <a:rPr lang="en-US" dirty="0"/>
              <a:t> value is set to 0, then the flex item will not shrink below its basis</a:t>
            </a:r>
          </a:p>
        </p:txBody>
      </p:sp>
    </p:spTree>
    <p:extLst>
      <p:ext uri="{BB962C8B-B14F-4D97-AF65-F5344CB8AC3E}">
        <p14:creationId xmlns:p14="http://schemas.microsoft.com/office/powerpoint/2010/main" val="40626638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flex</a:t>
            </a:r>
            <a:r>
              <a:rPr lang="en-US" dirty="0"/>
              <a:t> Property</a:t>
            </a:r>
          </a:p>
        </p:txBody>
      </p:sp>
      <p:sp>
        <p:nvSpPr>
          <p:cNvPr id="3" name="Text Placeholder 2"/>
          <p:cNvSpPr>
            <a:spLocks noGrp="1"/>
          </p:cNvSpPr>
          <p:nvPr>
            <p:ph type="body" sz="quarter" idx="17"/>
          </p:nvPr>
        </p:nvSpPr>
        <p:spPr/>
        <p:txBody>
          <a:bodyPr>
            <a:normAutofit fontScale="92500" lnSpcReduction="10000"/>
          </a:bodyPr>
          <a:lstStyle/>
          <a:p>
            <a:r>
              <a:rPr lang="en-US" sz="3500" dirty="0"/>
              <a:t>The syntax for the </a:t>
            </a:r>
            <a:r>
              <a:rPr lang="en-US" sz="2800" dirty="0">
                <a:latin typeface="Courier New" panose="02070309020205020404" pitchFamily="49" charset="0"/>
                <a:cs typeface="Courier New" panose="02070309020205020404" pitchFamily="49" charset="0"/>
              </a:rPr>
              <a:t>flex</a:t>
            </a:r>
            <a:r>
              <a:rPr lang="en-US" sz="3500" dirty="0"/>
              <a:t> property is:</a:t>
            </a:r>
          </a:p>
          <a:p>
            <a:pPr marL="463550" indent="0">
              <a:buNone/>
            </a:pPr>
            <a:r>
              <a:rPr lang="en-US" sz="2800" dirty="0">
                <a:latin typeface="Courier New" panose="02070309020205020404" pitchFamily="49" charset="0"/>
                <a:cs typeface="Courier New" panose="02070309020205020404" pitchFamily="49" charset="0"/>
              </a:rPr>
              <a:t>flex: grow shrink basis;</a:t>
            </a:r>
          </a:p>
          <a:p>
            <a:pPr marL="463550" indent="0">
              <a:buNone/>
            </a:pPr>
            <a:r>
              <a:rPr lang="en-US" sz="3500" dirty="0"/>
              <a:t>where</a:t>
            </a:r>
            <a:r>
              <a:rPr lang="en-US" dirty="0"/>
              <a:t> </a:t>
            </a:r>
            <a:r>
              <a:rPr lang="en-US" sz="2800" dirty="0">
                <a:latin typeface="Courier New" panose="02070309020205020404" pitchFamily="49" charset="0"/>
                <a:cs typeface="Courier New" panose="02070309020205020404" pitchFamily="49" charset="0"/>
              </a:rPr>
              <a:t>grow</a:t>
            </a:r>
            <a:r>
              <a:rPr lang="en-US" dirty="0"/>
              <a:t> </a:t>
            </a:r>
            <a:r>
              <a:rPr lang="en-US" sz="3500" dirty="0"/>
              <a:t>defines the growth of the flex item,</a:t>
            </a:r>
            <a:r>
              <a:rPr lang="en-US" dirty="0"/>
              <a:t> </a:t>
            </a:r>
            <a:r>
              <a:rPr lang="en-US" sz="2800" dirty="0">
                <a:latin typeface="Courier New" panose="02070309020205020404" pitchFamily="49" charset="0"/>
                <a:cs typeface="Courier New" panose="02070309020205020404" pitchFamily="49" charset="0"/>
              </a:rPr>
              <a:t>shrink</a:t>
            </a:r>
            <a:r>
              <a:rPr lang="en-US" dirty="0"/>
              <a:t> </a:t>
            </a:r>
            <a:r>
              <a:rPr lang="en-US" sz="3500" dirty="0"/>
              <a:t>provides its shrink rate, and </a:t>
            </a:r>
            <a:r>
              <a:rPr lang="en-US" sz="2800" dirty="0">
                <a:latin typeface="Courier New" panose="02070309020205020404" pitchFamily="49" charset="0"/>
                <a:cs typeface="Courier New" panose="02070309020205020404" pitchFamily="49" charset="0"/>
              </a:rPr>
              <a:t>basis</a:t>
            </a:r>
            <a:r>
              <a:rPr lang="en-US" dirty="0"/>
              <a:t> </a:t>
            </a:r>
            <a:r>
              <a:rPr lang="en-US" sz="3500" dirty="0"/>
              <a:t>sets the item’s initial size</a:t>
            </a:r>
          </a:p>
          <a:p>
            <a:r>
              <a:rPr lang="en-US" sz="3500" dirty="0"/>
              <a:t>The default flex value is:</a:t>
            </a:r>
          </a:p>
          <a:p>
            <a:pPr marL="463550" indent="0">
              <a:buNone/>
            </a:pPr>
            <a:r>
              <a:rPr lang="en-US" sz="2800" dirty="0">
                <a:latin typeface="Courier New" panose="02070309020205020404" pitchFamily="49" charset="0"/>
                <a:cs typeface="Courier New" panose="02070309020205020404" pitchFamily="49" charset="0"/>
              </a:rPr>
              <a:t>flex: 0 1 auto;</a:t>
            </a:r>
          </a:p>
          <a:p>
            <a:pPr marL="463550" indent="0">
              <a:buNone/>
            </a:pPr>
            <a:r>
              <a:rPr lang="en-US" sz="3500" dirty="0"/>
              <a:t>which automatically sets the size of the flex item to match its content or the value of its </a:t>
            </a:r>
            <a:r>
              <a:rPr lang="en-US" sz="2800" dirty="0">
                <a:latin typeface="Courier New" panose="02070309020205020404" pitchFamily="49" charset="0"/>
                <a:cs typeface="Courier New" panose="02070309020205020404" pitchFamily="49" charset="0"/>
              </a:rPr>
              <a:t>width</a:t>
            </a:r>
            <a:r>
              <a:rPr lang="en-US" sz="3500" dirty="0"/>
              <a:t> and </a:t>
            </a:r>
            <a:r>
              <a:rPr lang="en-US" sz="2800" dirty="0">
                <a:latin typeface="Courier New" panose="02070309020205020404" pitchFamily="49" charset="0"/>
                <a:cs typeface="Courier New" panose="02070309020205020404" pitchFamily="49" charset="0"/>
              </a:rPr>
              <a:t>height</a:t>
            </a:r>
            <a:r>
              <a:rPr lang="en-US" sz="3500" dirty="0"/>
              <a:t> property</a:t>
            </a:r>
            <a:endParaRPr lang="en-US" dirty="0"/>
          </a:p>
        </p:txBody>
      </p:sp>
    </p:spTree>
    <p:extLst>
      <p:ext uri="{BB962C8B-B14F-4D97-AF65-F5344CB8AC3E}">
        <p14:creationId xmlns:p14="http://schemas.microsoft.com/office/powerpoint/2010/main" val="1264135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flex</a:t>
            </a:r>
            <a:r>
              <a:rPr lang="en-US" dirty="0"/>
              <a:t> Property (continued)</a:t>
            </a:r>
          </a:p>
        </p:txBody>
      </p:sp>
      <p:sp>
        <p:nvSpPr>
          <p:cNvPr id="6" name="Text Placeholder 5"/>
          <p:cNvSpPr>
            <a:spLocks noGrp="1"/>
          </p:cNvSpPr>
          <p:nvPr>
            <p:ph type="body" sz="quarter" idx="17"/>
          </p:nvPr>
        </p:nvSpPr>
        <p:spPr/>
        <p:txBody>
          <a:bodyPr>
            <a:normAutofit lnSpcReduction="10000"/>
          </a:bodyPr>
          <a:lstStyle/>
          <a:p>
            <a:r>
              <a:rPr lang="en-US" dirty="0"/>
              <a:t>The </a:t>
            </a:r>
            <a:r>
              <a:rPr lang="en-US" sz="2600" dirty="0">
                <a:latin typeface="Courier New" panose="02070309020205020404" pitchFamily="49" charset="0"/>
                <a:cs typeface="Courier New" panose="02070309020205020404" pitchFamily="49" charset="0"/>
              </a:rPr>
              <a:t>flex</a:t>
            </a:r>
            <a:r>
              <a:rPr lang="en-US" dirty="0"/>
              <a:t> property supports the following keywords:</a:t>
            </a:r>
          </a:p>
          <a:p>
            <a:pPr lvl="1"/>
            <a:r>
              <a:rPr lang="en-US" sz="2600" dirty="0">
                <a:latin typeface="Courier New" panose="02070309020205020404" pitchFamily="49" charset="0"/>
                <a:cs typeface="Courier New" panose="02070309020205020404" pitchFamily="49" charset="0"/>
              </a:rPr>
              <a:t>auto</a:t>
            </a:r>
            <a:r>
              <a:rPr lang="en-US" dirty="0"/>
              <a:t> – Use to automatically resize the item from its default size (equivalent to </a:t>
            </a:r>
            <a:r>
              <a:rPr lang="en-US" sz="2600" dirty="0">
                <a:latin typeface="Courier New" panose="02070309020205020404" pitchFamily="49" charset="0"/>
                <a:cs typeface="Courier New" panose="02070309020205020404" pitchFamily="49" charset="0"/>
              </a:rPr>
              <a:t>flex: 1 1 auto;)</a:t>
            </a:r>
          </a:p>
          <a:p>
            <a:pPr lvl="1"/>
            <a:r>
              <a:rPr lang="en-US" sz="2600" dirty="0">
                <a:latin typeface="Courier New" panose="02070309020205020404" pitchFamily="49" charset="0"/>
                <a:cs typeface="Courier New" panose="02070309020205020404" pitchFamily="49" charset="0"/>
              </a:rPr>
              <a:t>initial</a:t>
            </a:r>
            <a:r>
              <a:rPr lang="en-US" dirty="0"/>
              <a:t> – The default value (equivalent to </a:t>
            </a:r>
            <a:r>
              <a:rPr lang="en-US" sz="2600" dirty="0">
                <a:latin typeface="Courier New" panose="02070309020205020404" pitchFamily="49" charset="0"/>
                <a:cs typeface="Courier New" panose="02070309020205020404" pitchFamily="49" charset="0"/>
              </a:rPr>
              <a:t>flex: 0 1 auto;</a:t>
            </a:r>
            <a:r>
              <a:rPr lang="en-US" dirty="0"/>
              <a:t>)</a:t>
            </a:r>
          </a:p>
          <a:p>
            <a:pPr lvl="1"/>
            <a:r>
              <a:rPr lang="en-US" sz="2600" dirty="0">
                <a:latin typeface="Courier New" panose="02070309020205020404" pitchFamily="49" charset="0"/>
                <a:cs typeface="Courier New" panose="02070309020205020404" pitchFamily="49" charset="0"/>
              </a:rPr>
              <a:t>none</a:t>
            </a:r>
            <a:r>
              <a:rPr lang="en-US" dirty="0"/>
              <a:t> – Use to create an inflexible item that will not grow or shrink (equivalent to </a:t>
            </a:r>
            <a:r>
              <a:rPr lang="en-US" sz="2600" dirty="0">
                <a:latin typeface="Courier New" panose="02070309020205020404" pitchFamily="49" charset="0"/>
                <a:cs typeface="Courier New" panose="02070309020205020404" pitchFamily="49" charset="0"/>
              </a:rPr>
              <a:t>flex: 0 0 auto;</a:t>
            </a:r>
            <a:r>
              <a:rPr lang="en-US" dirty="0"/>
              <a:t>)</a:t>
            </a:r>
          </a:p>
          <a:p>
            <a:pPr lvl="1"/>
            <a:r>
              <a:rPr lang="en-US" sz="2600" dirty="0">
                <a:latin typeface="Courier New" panose="02070309020205020404" pitchFamily="49" charset="0"/>
                <a:cs typeface="Courier New" panose="02070309020205020404" pitchFamily="49" charset="0"/>
              </a:rPr>
              <a:t>inherit</a:t>
            </a:r>
            <a:r>
              <a:rPr lang="en-US" dirty="0"/>
              <a:t> – Use to inherit the flex values of its parent element</a:t>
            </a:r>
          </a:p>
        </p:txBody>
      </p:sp>
    </p:spTree>
    <p:extLst>
      <p:ext uri="{BB962C8B-B14F-4D97-AF65-F5344CB8AC3E}">
        <p14:creationId xmlns:p14="http://schemas.microsoft.com/office/powerpoint/2010/main" val="37108079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Flexbox Layout</a:t>
            </a:r>
          </a:p>
        </p:txBody>
      </p:sp>
      <p:pic>
        <p:nvPicPr>
          <p:cNvPr id="5" name="Content Placeholder 5" descr="This figure explains how to set the flex properties of the flex items in the page body.&#10;The figure consists of three rectangular boxes and a few lines of code.&#10;The first line of the code reads “body {”. The second line of the code reads “display: -webkit-flex;”. The third line of the code reads “display: flex;”. The fourth line of the code reads “-webkit-flex-flow: row wrap;”. The fifth line of the code reads “flex-flow: row wrap;”. The sixth line of the code reads “}”.&#10;The seventh line of the code reads “header, footer {”. The eighth line of the code reads “width: 100%;”. The ninth line of the code reads “}”. The first rectangular box labeled “displays the header and footer at a width of 100%, occupying an entire row” is positioned on the left side of the code. An arrow originating from this rectangular box points from the seventh line to the ninth line of the code.&#10;The tenth line of the code reads “aside {”. The eleventh line of the code reads “-webkit-flex: 1 1 120px;”. The twelfth line of the code reads “flex: 1 1 120px;”. The thirteenth line of the code reads “}”. The second rectangular box labeled “sets the initial size of the aside elements to 120 pixels and sets the growth and shrink factors to 1” is positioned below the first rectangular box. An arrow originating from this rectangular box points from the tenth line to the thirteenth line of the code.&#10;The fourteenth line of the code reads “section#main {”. The fifteenth line of the code reads “-webkit-flex: 3 1 361px;”. The sixteenth line of the code reads “flex: 3 1 361px;”. The seventeenth line of the code reads “}”. The third rectangular box labeled “sets the initial size of the main section to 361 pixels and has it grow and shrink at a 3:1 ratio compared to the aside element” is positioned below the second rectangular box. An arrow originating from this rectangular box points from the fourteenth line to the seventeenth line of the code." title="Figure 5-32 Set the flex properties of the flex items in the page body"/>
          <p:cNvPicPr>
            <a:picLocks noGrp="1" noChangeAspect="1"/>
          </p:cNvPicPr>
          <p:nvPr>
            <p:ph type="pic" sz="quarter" idx="10"/>
          </p:nvPr>
        </p:nvPicPr>
        <p:blipFill>
          <a:blip r:embed="rId2"/>
          <a:stretch>
            <a:fillRect/>
          </a:stretch>
        </p:blipFill>
        <p:spPr>
          <a:xfrm>
            <a:off x="1602051" y="1350497"/>
            <a:ext cx="5939898" cy="4715477"/>
          </a:xfrm>
          <a:prstGeom prst="rect">
            <a:avLst/>
          </a:prstGeom>
        </p:spPr>
      </p:pic>
    </p:spTree>
    <p:extLst>
      <p:ext uri="{BB962C8B-B14F-4D97-AF65-F5344CB8AC3E}">
        <p14:creationId xmlns:p14="http://schemas.microsoft.com/office/powerpoint/2010/main" val="29966536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Flexbox Layout (continued)</a:t>
            </a:r>
          </a:p>
        </p:txBody>
      </p:sp>
      <p:pic>
        <p:nvPicPr>
          <p:cNvPr id="4" name="Picture Placeholder 3" descr="This figure explains the flex layout under different screen widths.&#10;The figure consists of two rectangular boxes.&#10;The first rectangular box is a vertical rectangular box positioned on the left side of the figure. A label that reads “narrow screen” is positioned at the bottom of the rectangular box. It is divided into four sections positioned one below the other. The first section reads “trusted friends daycare”. The first line of the second section reads “HOME”. The third line of the second section reads “INFANTS”. The third line of the second section reads “TODDLERS”. The fourth line of the second section reads “PRE-K”. The fifth line of the second section reads “AFTER SCHOOL”. The third section labeled “Schedule” consists of a list of items. The fourth section labeled “Pre-K Classes” consists of a description of the pre-k classes.&#10;The second rectangular box, which is thrice the size of the first rectangular box is positioned on the right side of the first rectangular box. A label that reads “wide screen” is positioned at the bottom of the rectangular box. It is divided into four sections. The first section that reads “trusted friends daycare” is positioned at the top of the rectangular box. The second section is positioned below the first section. The first line of the second section reads “HOME”. The third line of the second section reads “INFANTS”. The third line of the second section reads “TODDLERS”. The fourth line of the second section reads “PRE-K”. The fifth line of the second section reads “AFTER SCHOOL”. The third section that covers one-fourth of the rectangular box vertically is positioned below the second section. This section labeled “Schedule” consists of a list of items. The fourth section positioned on the right side of the third section covers the rest of the area of the rectangular box. The fourth section labeled “Pre-K Classes” consists of a description of the pre-k classes, language skills, and math exploration." title="Figure 5-33 Flex layout under different screen widths"/>
          <p:cNvPicPr>
            <a:picLocks noGrp="1" noChangeAspect="1"/>
          </p:cNvPicPr>
          <p:nvPr>
            <p:ph type="pic" sz="quarter" idx="10"/>
          </p:nvPr>
        </p:nvPicPr>
        <p:blipFill>
          <a:blip r:embed="rId2"/>
          <a:stretch>
            <a:fillRect/>
          </a:stretch>
        </p:blipFill>
        <p:spPr>
          <a:xfrm>
            <a:off x="1008100" y="1549217"/>
            <a:ext cx="7127799" cy="4507285"/>
          </a:xfrm>
          <a:prstGeom prst="rect">
            <a:avLst/>
          </a:prstGeom>
        </p:spPr>
      </p:pic>
    </p:spTree>
    <p:extLst>
      <p:ext uri="{BB962C8B-B14F-4D97-AF65-F5344CB8AC3E}">
        <p14:creationId xmlns:p14="http://schemas.microsoft.com/office/powerpoint/2010/main" val="33596675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Reordering Page Content with Flexboxes</a:t>
            </a:r>
          </a:p>
        </p:txBody>
      </p:sp>
      <p:sp>
        <p:nvSpPr>
          <p:cNvPr id="3" name="Text Placeholder 2"/>
          <p:cNvSpPr>
            <a:spLocks noGrp="1"/>
          </p:cNvSpPr>
          <p:nvPr>
            <p:ph type="body" sz="quarter" idx="17"/>
          </p:nvPr>
        </p:nvSpPr>
        <p:spPr/>
        <p:txBody>
          <a:bodyPr/>
          <a:lstStyle/>
          <a:p>
            <a:r>
              <a:rPr lang="en-US" dirty="0"/>
              <a:t>The flexbox model allows to place the flex items in any order using the following order property:</a:t>
            </a:r>
          </a:p>
          <a:p>
            <a:pPr marL="463550" indent="0">
              <a:buNone/>
            </a:pPr>
            <a:r>
              <a:rPr lang="en-US" sz="2600" dirty="0">
                <a:latin typeface="Courier New" panose="02070309020205020404" pitchFamily="49" charset="0"/>
                <a:cs typeface="Courier New" panose="02070309020205020404" pitchFamily="49" charset="0"/>
              </a:rPr>
              <a:t>order: value;</a:t>
            </a:r>
          </a:p>
          <a:p>
            <a:pPr marL="463550"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t> is an integer where items with smaller </a:t>
            </a:r>
            <a:r>
              <a:rPr lang="en-US" sz="2600" dirty="0">
                <a:latin typeface="Courier New" panose="02070309020205020404" pitchFamily="49" charset="0"/>
                <a:cs typeface="Courier New" panose="02070309020205020404" pitchFamily="49" charset="0"/>
              </a:rPr>
              <a:t>order</a:t>
            </a:r>
            <a:r>
              <a:rPr lang="en-US" dirty="0"/>
              <a:t> values are placed before items with larger </a:t>
            </a:r>
            <a:r>
              <a:rPr lang="en-US" sz="2600" dirty="0">
                <a:latin typeface="Courier New" panose="02070309020205020404" pitchFamily="49" charset="0"/>
                <a:cs typeface="Courier New" panose="02070309020205020404" pitchFamily="49" charset="0"/>
              </a:rPr>
              <a:t>order</a:t>
            </a:r>
            <a:r>
              <a:rPr lang="en-US" dirty="0"/>
              <a:t> values</a:t>
            </a:r>
          </a:p>
        </p:txBody>
      </p:sp>
    </p:spTree>
    <p:extLst>
      <p:ext uri="{BB962C8B-B14F-4D97-AF65-F5344CB8AC3E}">
        <p14:creationId xmlns:p14="http://schemas.microsoft.com/office/powerpoint/2010/main" val="6397429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Reordering Page Content with Flexboxes (continued)</a:t>
            </a:r>
          </a:p>
        </p:txBody>
      </p:sp>
      <p:pic>
        <p:nvPicPr>
          <p:cNvPr id="7" name="Content Placeholder 5" descr="This figure explains how to set the order of a flex item.&#10;The figure consists of two rectangular boxes and a few lines of code.&#10;The first, second, and third lines of the code read a comment for mobile styles. The fourth line of the code reads “@media only screen and (max-width: 480px) {”. The fifth line of the code reads “aside {”. The sixth line of the code reads “-webkit-order: 99;”. The seventh line of the code reads “order: 99;”. The first rectangular box labeled “places the aside element before the body footer is positioned on the left side of the code. An arrow originating from this rectangular box points to the seventh line of the code. The eight line of the code reads “}”.&#10;The ninth line of the code reads “footer {”. The tenth line of the code reads “-webkit-order: 100;”. The eleventh line of the code reads “order: 100;”. The second rectangular box labeled “places the body footer at the end of the flexbox” is positioned below the first rectangular box. An arrow originating from this rectangular box points to the eleventh line of the code. The twelfth and the thirteenth lines of the code read “}”." title="Figure 5-37 Setting the order of a flex item"/>
          <p:cNvPicPr>
            <a:picLocks noGrp="1" noChangeAspect="1"/>
          </p:cNvPicPr>
          <p:nvPr>
            <p:ph type="pic" sz="quarter" idx="10"/>
          </p:nvPr>
        </p:nvPicPr>
        <p:blipFill>
          <a:blip r:embed="rId2"/>
          <a:stretch>
            <a:fillRect/>
          </a:stretch>
        </p:blipFill>
        <p:spPr>
          <a:xfrm>
            <a:off x="935741" y="1625601"/>
            <a:ext cx="7272518" cy="4557338"/>
          </a:xfrm>
          <a:prstGeom prst="rect">
            <a:avLst/>
          </a:prstGeom>
        </p:spPr>
      </p:pic>
    </p:spTree>
    <p:extLst>
      <p:ext uri="{BB962C8B-B14F-4D97-AF65-F5344CB8AC3E}">
        <p14:creationId xmlns:p14="http://schemas.microsoft.com/office/powerpoint/2010/main" val="2718485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Items along the Main Axis</a:t>
            </a:r>
          </a:p>
        </p:txBody>
      </p:sp>
      <p:sp>
        <p:nvSpPr>
          <p:cNvPr id="5" name="Text Placeholder 4"/>
          <p:cNvSpPr>
            <a:spLocks noGrp="1"/>
          </p:cNvSpPr>
          <p:nvPr>
            <p:ph type="body" sz="quarter" idx="17"/>
          </p:nvPr>
        </p:nvSpPr>
        <p:spPr/>
        <p:txBody>
          <a:bodyPr/>
          <a:lstStyle/>
          <a:p>
            <a:r>
              <a:rPr lang="en-US" dirty="0"/>
              <a:t>By default, flex items are laid down at the start of the main axis</a:t>
            </a:r>
          </a:p>
          <a:p>
            <a:r>
              <a:rPr lang="en-US" dirty="0"/>
              <a:t>To specify a different placement, apply the following </a:t>
            </a:r>
            <a:r>
              <a:rPr lang="en-US" sz="2600" dirty="0">
                <a:latin typeface="Courier New" panose="02070309020205020404" pitchFamily="49" charset="0"/>
                <a:cs typeface="Courier New" panose="02070309020205020404" pitchFamily="49" charset="0"/>
              </a:rPr>
              <a:t>justify-content</a:t>
            </a:r>
            <a:r>
              <a:rPr lang="en-US" dirty="0"/>
              <a:t> property</a:t>
            </a:r>
          </a:p>
          <a:p>
            <a:pPr marL="463550" indent="0">
              <a:buNone/>
            </a:pPr>
            <a:r>
              <a:rPr lang="en-US" sz="2600" dirty="0">
                <a:latin typeface="Courier New" panose="02070309020205020404" pitchFamily="49" charset="0"/>
                <a:cs typeface="Courier New" panose="02070309020205020404" pitchFamily="49" charset="0"/>
              </a:rPr>
              <a:t>justify-content: placement;</a:t>
            </a:r>
          </a:p>
          <a:p>
            <a:pPr marL="463550" indent="0">
              <a:buNone/>
            </a:pPr>
            <a:r>
              <a:rPr lang="en-US" dirty="0"/>
              <a:t>where </a:t>
            </a:r>
            <a:r>
              <a:rPr lang="en-US" sz="2600" dirty="0">
                <a:latin typeface="Courier New" panose="02070309020205020404" pitchFamily="49" charset="0"/>
                <a:cs typeface="Courier New" panose="02070309020205020404" pitchFamily="49" charset="0"/>
              </a:rPr>
              <a:t>placement</a:t>
            </a:r>
            <a:r>
              <a:rPr lang="en-US" dirty="0"/>
              <a:t> is one of the following keywords:</a:t>
            </a:r>
          </a:p>
          <a:p>
            <a:pPr marL="914400" indent="0">
              <a:buNone/>
            </a:pPr>
            <a:r>
              <a:rPr lang="en-US" sz="2600" dirty="0">
                <a:latin typeface="Courier New" panose="02070309020205020404" pitchFamily="49" charset="0"/>
                <a:cs typeface="Courier New" panose="02070309020205020404" pitchFamily="49" charset="0"/>
              </a:rPr>
              <a:t>flex-start</a:t>
            </a:r>
            <a:r>
              <a:rPr lang="en-US" sz="2800" dirty="0"/>
              <a:t> – Items are positioned at the start of the main axis (the default)</a:t>
            </a:r>
          </a:p>
        </p:txBody>
      </p:sp>
    </p:spTree>
    <p:extLst>
      <p:ext uri="{BB962C8B-B14F-4D97-AF65-F5344CB8AC3E}">
        <p14:creationId xmlns:p14="http://schemas.microsoft.com/office/powerpoint/2010/main" val="29351873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Items along the Main Axis (continued)</a:t>
            </a:r>
          </a:p>
        </p:txBody>
      </p:sp>
      <p:sp>
        <p:nvSpPr>
          <p:cNvPr id="5" name="Text Placeholder 4"/>
          <p:cNvSpPr>
            <a:spLocks noGrp="1"/>
          </p:cNvSpPr>
          <p:nvPr>
            <p:ph type="body" sz="quarter" idx="17"/>
          </p:nvPr>
        </p:nvSpPr>
        <p:spPr/>
        <p:txBody>
          <a:bodyPr>
            <a:noAutofit/>
          </a:bodyPr>
          <a:lstStyle/>
          <a:p>
            <a:pPr marL="914400" indent="0">
              <a:buNone/>
            </a:pPr>
            <a:r>
              <a:rPr lang="en-US" sz="2600" dirty="0">
                <a:latin typeface="Courier New" panose="02070309020205020404" pitchFamily="49" charset="0"/>
                <a:cs typeface="Courier New" panose="02070309020205020404" pitchFamily="49" charset="0"/>
              </a:rPr>
              <a:t>flex-end</a:t>
            </a:r>
            <a:r>
              <a:rPr lang="en-US" sz="2800" dirty="0">
                <a:latin typeface="Arial" panose="020B0604020202020204" pitchFamily="34" charset="0"/>
                <a:cs typeface="Arial" panose="020B0604020202020204" pitchFamily="34" charset="0"/>
              </a:rPr>
              <a:t> – Items are positioned at the end of the main axis</a:t>
            </a:r>
          </a:p>
          <a:p>
            <a:pPr marL="914400" indent="0">
              <a:buNone/>
            </a:pPr>
            <a:r>
              <a:rPr lang="en-US" sz="2600" dirty="0">
                <a:latin typeface="Courier New" panose="02070309020205020404" pitchFamily="49" charset="0"/>
                <a:cs typeface="Courier New" panose="02070309020205020404" pitchFamily="49" charset="0"/>
              </a:rPr>
              <a:t>center</a:t>
            </a:r>
            <a:r>
              <a:rPr lang="en-US" sz="2800" dirty="0">
                <a:latin typeface="Arial" panose="020B0604020202020204" pitchFamily="34" charset="0"/>
                <a:cs typeface="Arial" panose="020B0604020202020204" pitchFamily="34" charset="0"/>
              </a:rPr>
              <a:t> – Items are centered along the main axis</a:t>
            </a:r>
          </a:p>
          <a:p>
            <a:pPr marL="914400" indent="0">
              <a:buNone/>
            </a:pPr>
            <a:r>
              <a:rPr lang="en-US" sz="2600" dirty="0">
                <a:latin typeface="Courier New" panose="02070309020205020404" pitchFamily="49" charset="0"/>
                <a:cs typeface="Courier New" panose="02070309020205020404" pitchFamily="49" charset="0"/>
              </a:rPr>
              <a:t>space-betwee</a:t>
            </a:r>
            <a:r>
              <a:rPr lang="en-US" sz="2800" dirty="0">
                <a:latin typeface="Courier New" panose="02070309020205020404" pitchFamily="49" charset="0"/>
                <a:cs typeface="Courier New" panose="02070309020205020404" pitchFamily="49" charset="0"/>
              </a:rPr>
              <a:t>n</a:t>
            </a:r>
            <a:r>
              <a:rPr lang="en-US" sz="2800" dirty="0">
                <a:latin typeface="Arial" panose="020B0604020202020204" pitchFamily="34" charset="0"/>
                <a:cs typeface="Arial" panose="020B0604020202020204" pitchFamily="34" charset="0"/>
              </a:rPr>
              <a:t> – Items are distributed evenly with the first and last items aligned with the start and end of the main axis</a:t>
            </a:r>
          </a:p>
          <a:p>
            <a:pPr marL="914400" indent="0">
              <a:buNone/>
            </a:pPr>
            <a:r>
              <a:rPr lang="en-US" sz="2600" dirty="0">
                <a:latin typeface="Courier New" panose="02070309020205020404" pitchFamily="49" charset="0"/>
                <a:cs typeface="Courier New" panose="02070309020205020404" pitchFamily="49" charset="0"/>
              </a:rPr>
              <a:t>space-around</a:t>
            </a:r>
            <a:r>
              <a:rPr lang="en-US" sz="2800" dirty="0">
                <a:latin typeface="Arial" panose="020B0604020202020204" pitchFamily="34" charset="0"/>
                <a:cs typeface="Arial" panose="020B0604020202020204" pitchFamily="34" charset="0"/>
              </a:rPr>
              <a:t> – Items are distributed evenly along the main axis with equal space between them and the ends of the flexbox</a:t>
            </a:r>
          </a:p>
        </p:txBody>
      </p:sp>
    </p:spTree>
    <p:extLst>
      <p:ext uri="{BB962C8B-B14F-4D97-AF65-F5344CB8AC3E}">
        <p14:creationId xmlns:p14="http://schemas.microsoft.com/office/powerpoint/2010/main" val="32523673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Flex Lines</a:t>
            </a:r>
          </a:p>
        </p:txBody>
      </p:sp>
      <p:sp>
        <p:nvSpPr>
          <p:cNvPr id="3" name="Text Placeholder 2"/>
          <p:cNvSpPr>
            <a:spLocks noGrp="1"/>
          </p:cNvSpPr>
          <p:nvPr>
            <p:ph type="body" sz="quarter" idx="17"/>
          </p:nvPr>
        </p:nvSpPr>
        <p:spPr/>
        <p:txBody>
          <a:bodyPr>
            <a:normAutofit lnSpcReduction="10000"/>
          </a:bodyPr>
          <a:lstStyle/>
          <a:p>
            <a:r>
              <a:rPr lang="en-US" dirty="0"/>
              <a:t>The </a:t>
            </a:r>
            <a:r>
              <a:rPr lang="en-US" sz="2600" dirty="0">
                <a:latin typeface="Courier New" panose="02070309020205020404" pitchFamily="49" charset="0"/>
                <a:cs typeface="Courier New" panose="02070309020205020404" pitchFamily="49" charset="0"/>
              </a:rPr>
              <a:t>align-content</a:t>
            </a:r>
            <a:r>
              <a:rPr lang="en-US" dirty="0"/>
              <a:t> property is similar to the </a:t>
            </a:r>
            <a:r>
              <a:rPr lang="en-US" sz="2600" dirty="0">
                <a:latin typeface="Courier New" panose="02070309020205020404" pitchFamily="49" charset="0"/>
                <a:cs typeface="Courier New" panose="02070309020205020404" pitchFamily="49" charset="0"/>
              </a:rPr>
              <a:t>justify-content</a:t>
            </a:r>
            <a:r>
              <a:rPr lang="en-US" dirty="0"/>
              <a:t> property except that it arranges multiple lines of content along the flexbox’s cross axis</a:t>
            </a:r>
          </a:p>
          <a:p>
            <a:r>
              <a:rPr lang="en-US" dirty="0"/>
              <a:t>The syntax of the align-content property is:</a:t>
            </a:r>
          </a:p>
          <a:p>
            <a:pPr marL="463550" indent="0">
              <a:buNone/>
            </a:pPr>
            <a:r>
              <a:rPr lang="en-US" sz="2600" dirty="0">
                <a:latin typeface="Courier New" panose="02070309020205020404" pitchFamily="49" charset="0"/>
                <a:cs typeface="Courier New" panose="02070309020205020404" pitchFamily="49" charset="0"/>
              </a:rPr>
              <a:t>align-content: value;</a:t>
            </a:r>
          </a:p>
          <a:p>
            <a:pPr marL="463550"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t> is one of the following keywords:</a:t>
            </a:r>
          </a:p>
          <a:p>
            <a:pPr marL="914400" indent="0">
              <a:buNone/>
            </a:pPr>
            <a:r>
              <a:rPr lang="en-US" sz="2600" dirty="0">
                <a:latin typeface="Courier New" panose="02070309020205020404" pitchFamily="49" charset="0"/>
                <a:cs typeface="Courier New" panose="02070309020205020404" pitchFamily="49" charset="0"/>
              </a:rPr>
              <a:t>flex-start</a:t>
            </a:r>
            <a:r>
              <a:rPr lang="en-US" sz="2800" dirty="0"/>
              <a:t> - Lines are positioned at the start of the cross axis</a:t>
            </a:r>
          </a:p>
          <a:p>
            <a:endParaRPr lang="en-US" dirty="0"/>
          </a:p>
        </p:txBody>
      </p:sp>
    </p:spTree>
    <p:extLst>
      <p:ext uri="{BB962C8B-B14F-4D97-AF65-F5344CB8AC3E}">
        <p14:creationId xmlns:p14="http://schemas.microsoft.com/office/powerpoint/2010/main" val="2094116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Flex Lines (continued 1)</a:t>
            </a:r>
          </a:p>
        </p:txBody>
      </p:sp>
      <p:sp>
        <p:nvSpPr>
          <p:cNvPr id="3" name="Text Placeholder 2"/>
          <p:cNvSpPr>
            <a:spLocks noGrp="1"/>
          </p:cNvSpPr>
          <p:nvPr>
            <p:ph type="body" sz="quarter" idx="17"/>
          </p:nvPr>
        </p:nvSpPr>
        <p:spPr/>
        <p:txBody>
          <a:bodyPr>
            <a:noAutofit/>
          </a:bodyPr>
          <a:lstStyle/>
          <a:p>
            <a:pPr marL="914400" indent="0">
              <a:buNone/>
            </a:pPr>
            <a:r>
              <a:rPr lang="en-US" sz="2600" dirty="0">
                <a:latin typeface="Courier New" panose="02070309020205020404" pitchFamily="49" charset="0"/>
                <a:cs typeface="Courier New" panose="02070309020205020404" pitchFamily="49" charset="0"/>
              </a:rPr>
              <a:t>flex-end</a:t>
            </a:r>
            <a:r>
              <a:rPr lang="en-US" sz="2800" dirty="0"/>
              <a:t> - Lines are positioned at the end of the cross axis</a:t>
            </a:r>
          </a:p>
          <a:p>
            <a:pPr marL="914400" indent="0">
              <a:buNone/>
            </a:pPr>
            <a:r>
              <a:rPr lang="en-US" sz="2600" dirty="0">
                <a:latin typeface="Courier New" panose="02070309020205020404" pitchFamily="49" charset="0"/>
                <a:cs typeface="Courier New" panose="02070309020205020404" pitchFamily="49" charset="0"/>
              </a:rPr>
              <a:t>stretch</a:t>
            </a:r>
            <a:r>
              <a:rPr lang="en-US" sz="2800" dirty="0"/>
              <a:t> - Lines are stretched to fill up the cross axis (the default)</a:t>
            </a:r>
          </a:p>
          <a:p>
            <a:pPr marL="914400" indent="0">
              <a:buNone/>
            </a:pPr>
            <a:r>
              <a:rPr lang="en-US" sz="2600" dirty="0">
                <a:latin typeface="Courier New" panose="02070309020205020404" pitchFamily="49" charset="0"/>
                <a:cs typeface="Courier New" panose="02070309020205020404" pitchFamily="49" charset="0"/>
              </a:rPr>
              <a:t>center</a:t>
            </a:r>
            <a:r>
              <a:rPr lang="en-US" sz="2800" dirty="0"/>
              <a:t> - Lines are centered along the cross axis</a:t>
            </a:r>
          </a:p>
          <a:p>
            <a:pPr marL="914400" indent="0">
              <a:buNone/>
            </a:pPr>
            <a:r>
              <a:rPr lang="en-US" sz="2600" dirty="0">
                <a:latin typeface="Courier New" panose="02070309020205020404" pitchFamily="49" charset="0"/>
                <a:cs typeface="Courier New" panose="02070309020205020404" pitchFamily="49" charset="0"/>
              </a:rPr>
              <a:t>space-between</a:t>
            </a:r>
            <a:r>
              <a:rPr lang="en-US" sz="2800" dirty="0"/>
              <a:t> - Lines are distributed evenly with the first and last lines aligned with the start and end of the cross axis</a:t>
            </a:r>
          </a:p>
          <a:p>
            <a:pPr marL="914400" indent="0">
              <a:buNone/>
            </a:pPr>
            <a:endParaRPr lang="en-US" sz="2800" dirty="0"/>
          </a:p>
        </p:txBody>
      </p:sp>
    </p:spTree>
    <p:extLst>
      <p:ext uri="{BB962C8B-B14F-4D97-AF65-F5344CB8AC3E}">
        <p14:creationId xmlns:p14="http://schemas.microsoft.com/office/powerpoint/2010/main" val="25485400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Flex Lines (continued 2)</a:t>
            </a:r>
          </a:p>
        </p:txBody>
      </p:sp>
      <p:sp>
        <p:nvSpPr>
          <p:cNvPr id="3" name="Text Placeholder 2"/>
          <p:cNvSpPr>
            <a:spLocks noGrp="1"/>
          </p:cNvSpPr>
          <p:nvPr>
            <p:ph type="body" sz="quarter" idx="17"/>
          </p:nvPr>
        </p:nvSpPr>
        <p:spPr/>
        <p:txBody>
          <a:bodyPr>
            <a:noAutofit/>
          </a:bodyPr>
          <a:lstStyle/>
          <a:p>
            <a:pPr marL="914400" indent="0">
              <a:buNone/>
            </a:pPr>
            <a:r>
              <a:rPr lang="en-US" sz="2600" dirty="0">
                <a:latin typeface="Courier New" panose="02070309020205020404" pitchFamily="49" charset="0"/>
                <a:cs typeface="Courier New" panose="02070309020205020404" pitchFamily="49" charset="0"/>
              </a:rPr>
              <a:t>space-around</a:t>
            </a:r>
            <a:r>
              <a:rPr lang="en-US" sz="2800" dirty="0"/>
              <a:t> - Lines are distributed evenly along the cross axis with equal space between them and the ends of the cross axis</a:t>
            </a:r>
          </a:p>
        </p:txBody>
      </p:sp>
    </p:spTree>
    <p:extLst>
      <p:ext uri="{BB962C8B-B14F-4D97-AF65-F5344CB8AC3E}">
        <p14:creationId xmlns:p14="http://schemas.microsoft.com/office/powerpoint/2010/main" val="639934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Items along the Cross Axis</a:t>
            </a:r>
          </a:p>
        </p:txBody>
      </p:sp>
      <p:sp>
        <p:nvSpPr>
          <p:cNvPr id="5" name="Text Placeholder 4"/>
          <p:cNvSpPr>
            <a:spLocks noGrp="1"/>
          </p:cNvSpPr>
          <p:nvPr>
            <p:ph type="body" sz="quarter" idx="17"/>
          </p:nvPr>
        </p:nvSpPr>
        <p:spPr/>
        <p:txBody>
          <a:bodyPr>
            <a:normAutofit fontScale="92500" lnSpcReduction="10000"/>
          </a:bodyPr>
          <a:lstStyle/>
          <a:p>
            <a:r>
              <a:rPr lang="en-US" sz="3500" dirty="0"/>
              <a:t>The align-items property aligns each flex item about the cross axis</a:t>
            </a:r>
          </a:p>
          <a:p>
            <a:r>
              <a:rPr lang="en-US" sz="3500" dirty="0"/>
              <a:t>The syntax is:</a:t>
            </a:r>
          </a:p>
          <a:p>
            <a:pPr marL="463550" indent="0">
              <a:buNone/>
            </a:pPr>
            <a:r>
              <a:rPr lang="en-US" sz="2800" dirty="0">
                <a:latin typeface="Courier New" panose="02070309020205020404" pitchFamily="49" charset="0"/>
                <a:cs typeface="Courier New" panose="02070309020205020404" pitchFamily="49" charset="0"/>
              </a:rPr>
              <a:t>align-items: value;</a:t>
            </a:r>
          </a:p>
          <a:p>
            <a:pPr marL="463550" indent="0">
              <a:buNone/>
            </a:pPr>
            <a:r>
              <a:rPr lang="en-US" sz="3500" dirty="0"/>
              <a:t>where </a:t>
            </a:r>
            <a:r>
              <a:rPr lang="en-US" sz="2800" dirty="0">
                <a:latin typeface="Courier New" panose="02070309020205020404" pitchFamily="49" charset="0"/>
                <a:cs typeface="Courier New" panose="02070309020205020404" pitchFamily="49" charset="0"/>
              </a:rPr>
              <a:t>value</a:t>
            </a:r>
            <a:r>
              <a:rPr lang="en-US" sz="3500" dirty="0"/>
              <a:t> is one of the following keywords:</a:t>
            </a:r>
          </a:p>
          <a:p>
            <a:pPr marL="914400" indent="0">
              <a:buNone/>
            </a:pPr>
            <a:r>
              <a:rPr lang="en-US" sz="2800" dirty="0">
                <a:latin typeface="Courier New" panose="02070309020205020404" pitchFamily="49" charset="0"/>
                <a:cs typeface="Courier New" panose="02070309020205020404" pitchFamily="49" charset="0"/>
              </a:rPr>
              <a:t>flex-start</a:t>
            </a:r>
            <a:r>
              <a:rPr lang="en-US" sz="3000" dirty="0"/>
              <a:t> – Items are positioned at the start of the cross axis</a:t>
            </a:r>
          </a:p>
          <a:p>
            <a:pPr marL="914400" indent="0">
              <a:buNone/>
            </a:pPr>
            <a:r>
              <a:rPr lang="en-US" sz="2800" dirty="0">
                <a:latin typeface="Courier New" panose="02070309020205020404" pitchFamily="49" charset="0"/>
                <a:cs typeface="Courier New" panose="02070309020205020404" pitchFamily="49" charset="0"/>
              </a:rPr>
              <a:t>flex-end</a:t>
            </a:r>
            <a:r>
              <a:rPr lang="en-US" sz="3000" dirty="0"/>
              <a:t> – Items are positioned at the end of the cross axis</a:t>
            </a:r>
          </a:p>
        </p:txBody>
      </p:sp>
    </p:spTree>
    <p:extLst>
      <p:ext uri="{BB962C8B-B14F-4D97-AF65-F5344CB8AC3E}">
        <p14:creationId xmlns:p14="http://schemas.microsoft.com/office/powerpoint/2010/main" val="25155521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Items along the Cross Axis (continued 1)</a:t>
            </a:r>
          </a:p>
        </p:txBody>
      </p:sp>
      <p:sp>
        <p:nvSpPr>
          <p:cNvPr id="5" name="Text Placeholder 4"/>
          <p:cNvSpPr>
            <a:spLocks noGrp="1"/>
          </p:cNvSpPr>
          <p:nvPr>
            <p:ph type="body" sz="quarter" idx="17"/>
          </p:nvPr>
        </p:nvSpPr>
        <p:spPr/>
        <p:txBody>
          <a:bodyPr>
            <a:normAutofit/>
          </a:bodyPr>
          <a:lstStyle/>
          <a:p>
            <a:pPr marL="914400" indent="0">
              <a:buNone/>
            </a:pPr>
            <a:r>
              <a:rPr lang="en-US" sz="2600" dirty="0">
                <a:latin typeface="Courier New" panose="02070309020205020404" pitchFamily="49" charset="0"/>
                <a:cs typeface="Courier New" panose="02070309020205020404" pitchFamily="49" charset="0"/>
              </a:rPr>
              <a:t>center</a:t>
            </a:r>
            <a:r>
              <a:rPr lang="en-US" sz="2800" dirty="0">
                <a:latin typeface="Arial" panose="020B0604020202020204" pitchFamily="34" charset="0"/>
                <a:cs typeface="Arial" panose="020B0604020202020204" pitchFamily="34" charset="0"/>
              </a:rPr>
              <a:t> – Items are centered along the cross axis</a:t>
            </a:r>
          </a:p>
          <a:p>
            <a:pPr marL="914400" indent="0">
              <a:buNone/>
            </a:pPr>
            <a:r>
              <a:rPr lang="en-US" sz="2600" dirty="0">
                <a:latin typeface="Courier New" panose="02070309020205020404" pitchFamily="49" charset="0"/>
                <a:cs typeface="Courier New" panose="02070309020205020404" pitchFamily="49" charset="0"/>
              </a:rPr>
              <a:t>stretch</a:t>
            </a:r>
            <a:r>
              <a:rPr lang="en-US" sz="2800" dirty="0">
                <a:latin typeface="Arial" panose="020B0604020202020204" pitchFamily="34" charset="0"/>
                <a:cs typeface="Arial" panose="020B0604020202020204" pitchFamily="34" charset="0"/>
              </a:rPr>
              <a:t> – Items are stretched to fill up the cross axis (the default)</a:t>
            </a:r>
          </a:p>
          <a:p>
            <a:pPr marL="914400" indent="0">
              <a:buNone/>
            </a:pPr>
            <a:r>
              <a:rPr lang="en-US" sz="2600" dirty="0">
                <a:latin typeface="Courier New" panose="02070309020205020404" pitchFamily="49" charset="0"/>
                <a:cs typeface="Courier New" panose="02070309020205020404" pitchFamily="49" charset="0"/>
              </a:rPr>
              <a:t>baseline</a:t>
            </a:r>
            <a:r>
              <a:rPr lang="en-US" sz="2800" dirty="0">
                <a:latin typeface="Arial" panose="020B0604020202020204" pitchFamily="34" charset="0"/>
                <a:cs typeface="Arial" panose="020B0604020202020204" pitchFamily="34" charset="0"/>
              </a:rPr>
              <a:t> – Items are positioned so that the baselines of their content align</a:t>
            </a:r>
          </a:p>
        </p:txBody>
      </p:sp>
    </p:spTree>
    <p:extLst>
      <p:ext uri="{BB962C8B-B14F-4D97-AF65-F5344CB8AC3E}">
        <p14:creationId xmlns:p14="http://schemas.microsoft.com/office/powerpoint/2010/main" val="30290885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Items along the Cross Axis (continued 2)</a:t>
            </a:r>
          </a:p>
        </p:txBody>
      </p:sp>
      <p:sp>
        <p:nvSpPr>
          <p:cNvPr id="5" name="Text Placeholder 4"/>
          <p:cNvSpPr>
            <a:spLocks noGrp="1"/>
          </p:cNvSpPr>
          <p:nvPr>
            <p:ph type="body" sz="quarter" idx="17"/>
          </p:nvPr>
        </p:nvSpPr>
        <p:spPr/>
        <p:txBody>
          <a:bodyPr/>
          <a:lstStyle/>
          <a:p>
            <a:r>
              <a:rPr lang="en-US" dirty="0"/>
              <a:t>The </a:t>
            </a:r>
            <a:r>
              <a:rPr lang="en-US" sz="2600" dirty="0">
                <a:latin typeface="Courier New" panose="02070309020205020404" pitchFamily="49" charset="0"/>
                <a:cs typeface="Courier New" panose="02070309020205020404" pitchFamily="49" charset="0"/>
              </a:rPr>
              <a:t>align-items</a:t>
            </a:r>
            <a:r>
              <a:rPr lang="en-US" dirty="0"/>
              <a:t> property is only impactful when there is a single line of flex items</a:t>
            </a:r>
          </a:p>
          <a:p>
            <a:r>
              <a:rPr lang="en-US" dirty="0"/>
              <a:t>The </a:t>
            </a:r>
            <a:r>
              <a:rPr lang="en-US" sz="2600" dirty="0">
                <a:latin typeface="Courier New" panose="02070309020205020404" pitchFamily="49" charset="0"/>
                <a:cs typeface="Courier New" panose="02070309020205020404" pitchFamily="49" charset="0"/>
              </a:rPr>
              <a:t>align-content</a:t>
            </a:r>
            <a:r>
              <a:rPr lang="en-US" dirty="0"/>
              <a:t> property is used to layout the flexbox content for multiple lines of flex items</a:t>
            </a:r>
          </a:p>
        </p:txBody>
      </p:sp>
    </p:spTree>
    <p:extLst>
      <p:ext uri="{BB962C8B-B14F-4D97-AF65-F5344CB8AC3E}">
        <p14:creationId xmlns:p14="http://schemas.microsoft.com/office/powerpoint/2010/main" val="22589310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Items along the Cross Axis (continued 3)</a:t>
            </a:r>
          </a:p>
        </p:txBody>
      </p:sp>
      <p:sp>
        <p:nvSpPr>
          <p:cNvPr id="5" name="Text Placeholder 4"/>
          <p:cNvSpPr>
            <a:spLocks noGrp="1"/>
          </p:cNvSpPr>
          <p:nvPr>
            <p:ph type="body" sz="quarter" idx="17"/>
          </p:nvPr>
        </p:nvSpPr>
        <p:spPr/>
        <p:txBody>
          <a:bodyPr/>
          <a:lstStyle/>
          <a:p>
            <a:r>
              <a:rPr lang="en-IN" dirty="0"/>
              <a:t>To align a single item out of a line of flex items, use the following </a:t>
            </a:r>
            <a:r>
              <a:rPr lang="en-IN" sz="2600" dirty="0">
                <a:latin typeface="Courier New" panose="02070309020205020404" pitchFamily="49" charset="0"/>
                <a:cs typeface="Courier New" panose="02070309020205020404" pitchFamily="49" charset="0"/>
              </a:rPr>
              <a:t>align-self</a:t>
            </a:r>
            <a:r>
              <a:rPr lang="en-IN" dirty="0"/>
              <a:t> property:</a:t>
            </a:r>
          </a:p>
          <a:p>
            <a:pPr marL="463550" indent="0">
              <a:buNone/>
            </a:pPr>
            <a:r>
              <a:rPr lang="en-IN" sz="2600" dirty="0">
                <a:latin typeface="Courier New" panose="02070309020205020404" pitchFamily="49" charset="0"/>
                <a:cs typeface="Courier New" panose="02070309020205020404" pitchFamily="49" charset="0"/>
              </a:rPr>
              <a:t>align-self: value;</a:t>
            </a:r>
          </a:p>
          <a:p>
            <a:pPr marL="463550" indent="0">
              <a:buNone/>
            </a:pPr>
            <a:r>
              <a:rPr lang="en-IN" dirty="0"/>
              <a:t>where </a:t>
            </a:r>
            <a:r>
              <a:rPr lang="en-IN" sz="2600" dirty="0">
                <a:latin typeface="Courier New" panose="02070309020205020404" pitchFamily="49" charset="0"/>
                <a:cs typeface="Courier New" panose="02070309020205020404" pitchFamily="49" charset="0"/>
              </a:rPr>
              <a:t>value</a:t>
            </a:r>
            <a:r>
              <a:rPr lang="en-IN" dirty="0"/>
              <a:t> is one of the alignment choices supported by the </a:t>
            </a:r>
            <a:r>
              <a:rPr lang="en-IN" sz="2600" dirty="0">
                <a:latin typeface="Courier New" panose="02070309020205020404" pitchFamily="49" charset="0"/>
                <a:cs typeface="Courier New" panose="02070309020205020404" pitchFamily="49" charset="0"/>
              </a:rPr>
              <a:t>align-self </a:t>
            </a:r>
            <a:r>
              <a:rPr lang="en-IN" dirty="0"/>
              <a:t>property</a:t>
            </a:r>
            <a:endParaRPr lang="en-US" dirty="0"/>
          </a:p>
        </p:txBody>
      </p:sp>
    </p:spTree>
    <p:extLst>
      <p:ext uri="{BB962C8B-B14F-4D97-AF65-F5344CB8AC3E}">
        <p14:creationId xmlns:p14="http://schemas.microsoft.com/office/powerpoint/2010/main" val="10131019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Navicon Menu</a:t>
            </a:r>
          </a:p>
        </p:txBody>
      </p:sp>
      <p:sp>
        <p:nvSpPr>
          <p:cNvPr id="3" name="Text Placeholder 2"/>
          <p:cNvSpPr>
            <a:spLocks noGrp="1"/>
          </p:cNvSpPr>
          <p:nvPr>
            <p:ph type="body" sz="quarter" idx="17"/>
          </p:nvPr>
        </p:nvSpPr>
        <p:spPr/>
        <p:txBody>
          <a:bodyPr/>
          <a:lstStyle/>
          <a:p>
            <a:r>
              <a:rPr lang="en-US" b="1" dirty="0"/>
              <a:t>Navicon</a:t>
            </a:r>
            <a:r>
              <a:rPr lang="en-US" dirty="0"/>
              <a:t> – It is used to indicate the presence of hidden navigation menus in mobile websites</a:t>
            </a:r>
          </a:p>
          <a:p>
            <a:r>
              <a:rPr lang="en-US" dirty="0"/>
              <a:t>The navicon is a symbol represented as three horizontal lines</a:t>
            </a:r>
          </a:p>
          <a:p>
            <a:r>
              <a:rPr lang="en-US" dirty="0"/>
              <a:t>When a user hovers or touches the navicon, the navigation menu is revealed</a:t>
            </a:r>
          </a:p>
        </p:txBody>
      </p:sp>
    </p:spTree>
    <p:extLst>
      <p:ext uri="{BB962C8B-B14F-4D97-AF65-F5344CB8AC3E}">
        <p14:creationId xmlns:p14="http://schemas.microsoft.com/office/powerpoint/2010/main" val="24131610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Navicon Menu</a:t>
            </a:r>
            <a:br>
              <a:rPr lang="en-US" dirty="0"/>
            </a:br>
            <a:r>
              <a:rPr lang="en-US" dirty="0"/>
              <a:t>(continued)</a:t>
            </a:r>
          </a:p>
        </p:txBody>
      </p:sp>
      <p:pic>
        <p:nvPicPr>
          <p:cNvPr id="5" name="Content Placeholder 5" descr="This figure explains how to insert the navicon.&#10;The figure consists of a rectangular box and a few lines of code.&#10;The first line of the code reads “&lt;nav class=”horizontal”&gt;”. The second line of the code reads “&lt;a id=”navicon” href=”#”&gt;&lt;img src=”tf_navicon.ong” alt=”” /&gt;&lt;/a&gt;”. The rectangular box labeled “navicon image” is positioned at the bottom of the code. An arrow originating from this rectangular box points to “src=”tf_navicon.png”” in the second line of the image.&#10;The third line of the code reads “&lt;ul&gt;”. &#10;The fourth line of the code reads &quot;&lt;li&gt;&lt;a href=&quot;tf_home.html&quot;&gt;Home&lt;/a&gt;&lt;/li&gt;&quot;.&#10;The fifth line of the code reads &quot;&lt;li&gt;&lt;a href=&quot;#&quot;&gt;Infants&lt;/a&gt;&lt;/li&gt;&quot;.&#10;The sixth line of the code reads &quot;&lt;li&gt;&lt;a href=&quot;#&quot;&gt;Toddlers&lt;/a&gt;&lt;/li&gt;&quot;.&#10;The seventh line of the code reads &quot;&lt;li&gt;&lt;a href=&quot;#&quot; id=&quot;currentPage&quot;&gt;Pre-K&lt;/a&gt;&lt;/li&gt;&quot;.&#10;The eighth line of the code reads &quot;&lt;li&gt;&lt;a href=&quot;#&quot;&gt;After School&lt;/a&gt;&lt;/li&gt;&quot;.&#10;The ninth line of the code reads “&lt;/ul&gt;”. The tenth line of the code reads “&lt;/nav&gt;”." title="Figure 5-41 Inserting the navicon"/>
          <p:cNvPicPr>
            <a:picLocks noGrp="1" noChangeAspect="1"/>
          </p:cNvPicPr>
          <p:nvPr>
            <p:ph type="pic" sz="quarter" idx="10"/>
          </p:nvPr>
        </p:nvPicPr>
        <p:blipFill>
          <a:blip r:embed="rId2"/>
          <a:stretch>
            <a:fillRect/>
          </a:stretch>
        </p:blipFill>
        <p:spPr>
          <a:xfrm>
            <a:off x="648729" y="2208628"/>
            <a:ext cx="7846542" cy="2516958"/>
          </a:xfrm>
          <a:prstGeom prst="rect">
            <a:avLst/>
          </a:prstGeom>
        </p:spPr>
      </p:pic>
    </p:spTree>
    <p:extLst>
      <p:ext uri="{BB962C8B-B14F-4D97-AF65-F5344CB8AC3E}">
        <p14:creationId xmlns:p14="http://schemas.microsoft.com/office/powerpoint/2010/main" val="24256088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for Printed Media</a:t>
            </a:r>
          </a:p>
        </p:txBody>
      </p:sp>
      <p:sp>
        <p:nvSpPr>
          <p:cNvPr id="3" name="Text Placeholder 2"/>
          <p:cNvSpPr>
            <a:spLocks noGrp="1"/>
          </p:cNvSpPr>
          <p:nvPr>
            <p:ph type="body" sz="quarter" idx="17"/>
          </p:nvPr>
        </p:nvSpPr>
        <p:spPr/>
        <p:txBody>
          <a:bodyPr/>
          <a:lstStyle/>
          <a:p>
            <a:r>
              <a:rPr lang="en-US" dirty="0"/>
              <a:t>A </a:t>
            </a:r>
            <a:r>
              <a:rPr lang="en-US" b="1" dirty="0"/>
              <a:t>print style sheet </a:t>
            </a:r>
            <a:r>
              <a:rPr lang="en-US" dirty="0"/>
              <a:t>formats the printed version of a web document</a:t>
            </a:r>
          </a:p>
          <a:p>
            <a:r>
              <a:rPr lang="en-US" dirty="0"/>
              <a:t>Browsers support their own internal style sheet to format the print versions of the</a:t>
            </a:r>
            <a:br>
              <a:rPr lang="en-US" dirty="0"/>
            </a:br>
            <a:r>
              <a:rPr lang="en-US" dirty="0"/>
              <a:t>web pages they encounter</a:t>
            </a:r>
          </a:p>
          <a:p>
            <a:pPr lvl="1"/>
            <a:r>
              <a:rPr lang="en-US" dirty="0"/>
              <a:t>Their default styles might not always result in the best printouts</a:t>
            </a:r>
            <a:br>
              <a:rPr lang="en-US" dirty="0"/>
            </a:br>
            <a:endParaRPr lang="en-US" dirty="0"/>
          </a:p>
        </p:txBody>
      </p:sp>
    </p:spTree>
    <p:extLst>
      <p:ext uri="{BB962C8B-B14F-4D97-AF65-F5344CB8AC3E}">
        <p14:creationId xmlns:p14="http://schemas.microsoft.com/office/powerpoint/2010/main" val="17555843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Media Query for Printed Output</a:t>
            </a:r>
          </a:p>
        </p:txBody>
      </p:sp>
      <p:sp>
        <p:nvSpPr>
          <p:cNvPr id="3" name="Text Placeholder 2"/>
          <p:cNvSpPr>
            <a:spLocks noGrp="1"/>
          </p:cNvSpPr>
          <p:nvPr>
            <p:ph type="body" sz="quarter" idx="17"/>
          </p:nvPr>
        </p:nvSpPr>
        <p:spPr/>
        <p:txBody>
          <a:bodyPr/>
          <a:lstStyle/>
          <a:p>
            <a:r>
              <a:rPr lang="en-US" dirty="0"/>
              <a:t>To apply a print style sheet, the </a:t>
            </a:r>
            <a:r>
              <a:rPr lang="en-US" sz="2600" dirty="0">
                <a:latin typeface="Courier New" panose="02070309020205020404" pitchFamily="49" charset="0"/>
                <a:cs typeface="Courier New" panose="02070309020205020404" pitchFamily="49" charset="0"/>
              </a:rPr>
              <a:t>media</a:t>
            </a:r>
            <a:r>
              <a:rPr lang="en-US" dirty="0"/>
              <a:t> attribute is used in the </a:t>
            </a:r>
            <a:r>
              <a:rPr lang="en-US" sz="2600" dirty="0">
                <a:latin typeface="Courier New" panose="02070309020205020404" pitchFamily="49" charset="0"/>
                <a:cs typeface="Courier New" panose="02070309020205020404" pitchFamily="49" charset="0"/>
              </a:rPr>
              <a:t>link</a:t>
            </a:r>
            <a:r>
              <a:rPr lang="en-US" dirty="0"/>
              <a:t> elements to target style sheets to either screen devices or print devices</a:t>
            </a:r>
          </a:p>
        </p:txBody>
      </p:sp>
    </p:spTree>
    <p:extLst>
      <p:ext uri="{BB962C8B-B14F-4D97-AF65-F5344CB8AC3E}">
        <p14:creationId xmlns:p14="http://schemas.microsoft.com/office/powerpoint/2010/main" val="17336115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Media Query for Printed Output (continued)</a:t>
            </a:r>
          </a:p>
        </p:txBody>
      </p:sp>
      <p:pic>
        <p:nvPicPr>
          <p:cNvPr id="7" name="Picture Placeholder 6" descr="This figure explains how to apply style sheets for different devices.&#10;The figure consists of three rectangular boxes and a few lines of code.&#10;The first line of the code reads “&lt;title&gt;Trusted Friends: Articles of Interest&lt;/title&gt;”. The second line of the code reads “&lt;meta charset=”utf-8” /&gt;”. The third line of the code reads “&lt;meta name=”viewport” content=”width=device-width, initial-scale=1” /&gt;”. The fourth line of the code reads “&lt;link href=”tf_reset.css” rel=”stylesheet” media=”all” /&gt;”. The first rectangular box labeled “styles for all devices” is positioned at the top-right corner of the figure. An arrow originating from this rectangular box points to “media=”all”” in the fourth line of the code.&#10;The fifth line of the code reads “&lt;link href=”tf_styles3.css” rel=”stylesheet” media=”screen” /&gt;”. The second rectangular box labeled “styles for screen devices” is positioned at the bottom-right corner of the figure. An arrow originating from this rectangular box points to “media=”screen”” in the fifth line of the code.&#10;The sixth line of the code reads “&lt;link href=”tf_print.css” rel=”stylesheet” media=”print” /&gt;”. The third rectangular box labeled “styles for print devices” is positioned on the left side of the second rectangular box. An arrow originating from this box points to “media=”print”” in the sixth line of the code. The seventh line of the code reads “&lt;/head&gt;”." title="Figure 5-45 Style sheets for different devices"/>
          <p:cNvPicPr>
            <a:picLocks noGrp="1" noChangeAspect="1"/>
          </p:cNvPicPr>
          <p:nvPr>
            <p:ph type="pic" sz="quarter" idx="10"/>
          </p:nvPr>
        </p:nvPicPr>
        <p:blipFill>
          <a:blip r:embed="rId2"/>
          <a:stretch>
            <a:fillRect/>
          </a:stretch>
        </p:blipFill>
        <p:spPr>
          <a:xfrm>
            <a:off x="699366" y="2105687"/>
            <a:ext cx="7745268" cy="2367839"/>
          </a:xfrm>
          <a:prstGeom prst="rect">
            <a:avLst/>
          </a:prstGeom>
        </p:spPr>
      </p:pic>
    </p:spTree>
    <p:extLst>
      <p:ext uri="{BB962C8B-B14F-4D97-AF65-F5344CB8AC3E}">
        <p14:creationId xmlns:p14="http://schemas.microsoft.com/office/powerpoint/2010/main" val="24125906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the @page Rule</a:t>
            </a:r>
          </a:p>
        </p:txBody>
      </p:sp>
      <p:sp>
        <p:nvSpPr>
          <p:cNvPr id="3" name="Text Placeholder 2"/>
          <p:cNvSpPr>
            <a:spLocks noGrp="1"/>
          </p:cNvSpPr>
          <p:nvPr>
            <p:ph type="body" sz="quarter" idx="17"/>
          </p:nvPr>
        </p:nvSpPr>
        <p:spPr/>
        <p:txBody>
          <a:bodyPr>
            <a:normAutofit/>
          </a:bodyPr>
          <a:lstStyle/>
          <a:p>
            <a:r>
              <a:rPr lang="en-IN" dirty="0"/>
              <a:t>Every printed page in CSS is defined as a </a:t>
            </a:r>
            <a:r>
              <a:rPr lang="en-IN" b="1" dirty="0"/>
              <a:t>page box</a:t>
            </a:r>
            <a:endParaRPr lang="en-IN" dirty="0"/>
          </a:p>
          <a:p>
            <a:r>
              <a:rPr lang="en-IN" dirty="0"/>
              <a:t>A page box is composed of two areas:</a:t>
            </a:r>
          </a:p>
          <a:p>
            <a:pPr lvl="1"/>
            <a:r>
              <a:rPr lang="en-IN" b="1" dirty="0"/>
              <a:t>Page area</a:t>
            </a:r>
            <a:r>
              <a:rPr lang="en-IN" dirty="0"/>
              <a:t> – contains the content of the document</a:t>
            </a:r>
          </a:p>
          <a:p>
            <a:pPr lvl="1"/>
            <a:r>
              <a:rPr lang="en-IN" b="1" dirty="0"/>
              <a:t>Margin area</a:t>
            </a:r>
            <a:r>
              <a:rPr lang="en-IN" dirty="0"/>
              <a:t> – contains the space between the printed content and the edges of the page</a:t>
            </a:r>
          </a:p>
        </p:txBody>
      </p:sp>
    </p:spTree>
    <p:extLst>
      <p:ext uri="{BB962C8B-B14F-4D97-AF65-F5344CB8AC3E}">
        <p14:creationId xmlns:p14="http://schemas.microsoft.com/office/powerpoint/2010/main" val="29310261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the @page Rule (continued)</a:t>
            </a:r>
          </a:p>
        </p:txBody>
      </p:sp>
      <p:sp>
        <p:nvSpPr>
          <p:cNvPr id="3" name="Text Placeholder 2"/>
          <p:cNvSpPr>
            <a:spLocks noGrp="1"/>
          </p:cNvSpPr>
          <p:nvPr>
            <p:ph type="body" sz="quarter" idx="17"/>
          </p:nvPr>
        </p:nvSpPr>
        <p:spPr/>
        <p:txBody>
          <a:bodyPr>
            <a:normAutofit/>
          </a:bodyPr>
          <a:lstStyle/>
          <a:p>
            <a:r>
              <a:rPr lang="en-IN" dirty="0"/>
              <a:t>Styles are applied to the page box using:</a:t>
            </a:r>
          </a:p>
          <a:p>
            <a:pPr marL="463550" indent="0">
              <a:buNone/>
            </a:pPr>
            <a:r>
              <a:rPr lang="en-IN" sz="2600" dirty="0">
                <a:latin typeface="Courier New" panose="02070309020205020404" pitchFamily="49" charset="0"/>
                <a:cs typeface="Courier New" panose="02070309020205020404" pitchFamily="49" charset="0"/>
              </a:rPr>
              <a:t>@page {</a:t>
            </a:r>
          </a:p>
          <a:p>
            <a:pPr marL="463550" indent="0">
              <a:buNone/>
            </a:pPr>
            <a:r>
              <a:rPr lang="en-IN" sz="2600" i="1" dirty="0">
                <a:latin typeface="Courier New" panose="02070309020205020404" pitchFamily="49" charset="0"/>
                <a:cs typeface="Courier New" panose="02070309020205020404" pitchFamily="49" charset="0"/>
              </a:rPr>
              <a:t>style rules</a:t>
            </a:r>
          </a:p>
          <a:p>
            <a:pPr marL="463550" indent="0">
              <a:buNone/>
            </a:pPr>
            <a:r>
              <a:rPr lang="en-IN" sz="2600" dirty="0">
                <a:latin typeface="Courier New" panose="02070309020205020404" pitchFamily="49" charset="0"/>
                <a:cs typeface="Courier New" panose="02070309020205020404" pitchFamily="49" charset="0"/>
              </a:rPr>
              <a:t>}</a:t>
            </a:r>
          </a:p>
          <a:p>
            <a:pPr marL="463550" indent="0">
              <a:buNone/>
            </a:pPr>
            <a:r>
              <a:rPr lang="en-US" dirty="0"/>
              <a:t>where </a:t>
            </a:r>
            <a:r>
              <a:rPr lang="en-US" sz="2600" i="1" dirty="0">
                <a:latin typeface="Courier New" panose="02070309020205020404" pitchFamily="49" charset="0"/>
                <a:cs typeface="Courier New" panose="02070309020205020404" pitchFamily="49" charset="0"/>
              </a:rPr>
              <a:t>style rules</a:t>
            </a:r>
            <a:r>
              <a:rPr lang="en-US" dirty="0"/>
              <a:t> are the styles applied to the page</a:t>
            </a:r>
          </a:p>
          <a:p>
            <a:r>
              <a:rPr lang="en-US" dirty="0"/>
              <a:t>The styles are limited to defining the page size and the page margin</a:t>
            </a:r>
          </a:p>
        </p:txBody>
      </p:sp>
    </p:spTree>
    <p:extLst>
      <p:ext uri="{BB962C8B-B14F-4D97-AF65-F5344CB8AC3E}">
        <p14:creationId xmlns:p14="http://schemas.microsoft.com/office/powerpoint/2010/main" val="40322706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Page Size</a:t>
            </a:r>
          </a:p>
        </p:txBody>
      </p:sp>
      <p:sp>
        <p:nvSpPr>
          <p:cNvPr id="3" name="Text Placeholder 2"/>
          <p:cNvSpPr>
            <a:spLocks noGrp="1"/>
          </p:cNvSpPr>
          <p:nvPr>
            <p:ph type="body" sz="quarter" idx="17"/>
          </p:nvPr>
        </p:nvSpPr>
        <p:spPr/>
        <p:txBody>
          <a:bodyPr>
            <a:normAutofit lnSpcReduction="10000"/>
          </a:bodyPr>
          <a:lstStyle/>
          <a:p>
            <a:r>
              <a:rPr lang="en-IN" dirty="0"/>
              <a:t>The following </a:t>
            </a:r>
            <a:r>
              <a:rPr lang="en-IN" sz="2600" dirty="0">
                <a:latin typeface="Courier New" panose="02070309020205020404" pitchFamily="49" charset="0"/>
                <a:cs typeface="Courier New" panose="02070309020205020404" pitchFamily="49" charset="0"/>
              </a:rPr>
              <a:t>size</a:t>
            </a:r>
            <a:r>
              <a:rPr lang="en-IN" dirty="0">
                <a:cs typeface="Courier New" panose="02070309020205020404" pitchFamily="49" charset="0"/>
              </a:rPr>
              <a:t> property allows web authors to define the dimensions of a printed page:</a:t>
            </a:r>
          </a:p>
          <a:p>
            <a:pPr marL="914400" lvl="2" indent="0">
              <a:buNone/>
            </a:pPr>
            <a:r>
              <a:rPr lang="en-IN" sz="2600" dirty="0">
                <a:latin typeface="Courier New" panose="02070309020205020404" pitchFamily="49" charset="0"/>
                <a:cs typeface="Courier New" panose="02070309020205020404" pitchFamily="49" charset="0"/>
              </a:rPr>
              <a:t>size: </a:t>
            </a:r>
            <a:r>
              <a:rPr lang="en-IN" sz="2600" i="1" dirty="0">
                <a:latin typeface="Courier New" panose="02070309020205020404" pitchFamily="49" charset="0"/>
                <a:cs typeface="Courier New" panose="02070309020205020404" pitchFamily="49" charset="0"/>
              </a:rPr>
              <a:t>width height</a:t>
            </a:r>
            <a:r>
              <a:rPr lang="en-IN" sz="2600" dirty="0">
                <a:latin typeface="Courier New" panose="02070309020205020404" pitchFamily="49" charset="0"/>
                <a:cs typeface="Courier New" panose="02070309020205020404" pitchFamily="49" charset="0"/>
              </a:rPr>
              <a:t>;</a:t>
            </a:r>
          </a:p>
          <a:p>
            <a:pPr marL="279400" lvl="2"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width</a:t>
            </a:r>
            <a:r>
              <a:rPr lang="en-IN" sz="3200" dirty="0">
                <a:cs typeface="Courier New" panose="02070309020205020404" pitchFamily="49" charset="0"/>
              </a:rPr>
              <a:t> and </a:t>
            </a:r>
            <a:r>
              <a:rPr lang="en-IN" sz="2600" i="1" dirty="0">
                <a:latin typeface="Courier New" panose="02070309020205020404" pitchFamily="49" charset="0"/>
                <a:cs typeface="Courier New" panose="02070309020205020404" pitchFamily="49" charset="0"/>
              </a:rPr>
              <a:t>height</a:t>
            </a:r>
            <a:r>
              <a:rPr lang="en-IN" sz="3200" dirty="0">
                <a:cs typeface="Courier New" panose="02070309020205020404" pitchFamily="49" charset="0"/>
              </a:rPr>
              <a:t> are the width and height of the page</a:t>
            </a:r>
          </a:p>
          <a:p>
            <a:pPr marL="355600" lvl="1" indent="-355600">
              <a:buFont typeface="Arial" panose="020B0604020202020204" pitchFamily="34" charset="0"/>
              <a:buChar char="•"/>
            </a:pPr>
            <a:r>
              <a:rPr lang="en-IN" sz="3200" dirty="0">
                <a:cs typeface="Courier New" panose="02070309020205020404" pitchFamily="49" charset="0"/>
              </a:rPr>
              <a:t>The keyword </a:t>
            </a:r>
            <a:r>
              <a:rPr lang="en-IN" sz="2600" dirty="0">
                <a:latin typeface="Courier New" panose="02070309020205020404" pitchFamily="49" charset="0"/>
                <a:cs typeface="Courier New" panose="02070309020205020404" pitchFamily="49" charset="0"/>
              </a:rPr>
              <a:t>auto</a:t>
            </a:r>
            <a:r>
              <a:rPr lang="en-IN" sz="3200" dirty="0">
                <a:cs typeface="Courier New" panose="02070309020205020404" pitchFamily="49" charset="0"/>
              </a:rPr>
              <a:t> lets browsers determine the page dimensions</a:t>
            </a:r>
          </a:p>
          <a:p>
            <a:pPr marL="355600" lvl="1" indent="-355600">
              <a:buFont typeface="Arial" panose="020B0604020202020204" pitchFamily="34" charset="0"/>
              <a:buChar char="•"/>
            </a:pPr>
            <a:r>
              <a:rPr lang="en-IN" sz="3200" dirty="0">
                <a:cs typeface="Courier New" panose="02070309020205020404" pitchFamily="49" charset="0"/>
              </a:rPr>
              <a:t>The keyword </a:t>
            </a:r>
            <a:r>
              <a:rPr lang="en-IN" sz="2600" dirty="0">
                <a:latin typeface="Courier New" panose="02070309020205020404" pitchFamily="49" charset="0"/>
                <a:cs typeface="Courier New" panose="02070309020205020404" pitchFamily="49" charset="0"/>
              </a:rPr>
              <a:t>inherit</a:t>
            </a:r>
            <a:r>
              <a:rPr lang="en-IN" sz="3200" dirty="0">
                <a:cs typeface="Courier New" panose="02070309020205020404" pitchFamily="49" charset="0"/>
              </a:rPr>
              <a:t> inherits the page size from the parent element</a:t>
            </a:r>
            <a:endParaRPr lang="en-US" sz="3200" dirty="0">
              <a:cs typeface="Courier New" panose="02070309020205020404" pitchFamily="49" charset="0"/>
            </a:endParaRPr>
          </a:p>
          <a:p>
            <a:endParaRPr lang="en-US" dirty="0"/>
          </a:p>
        </p:txBody>
      </p:sp>
    </p:spTree>
    <p:extLst>
      <p:ext uri="{BB962C8B-B14F-4D97-AF65-F5344CB8AC3E}">
        <p14:creationId xmlns:p14="http://schemas.microsoft.com/office/powerpoint/2010/main" val="14303363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Page Pseudo-Classes</a:t>
            </a:r>
          </a:p>
        </p:txBody>
      </p:sp>
      <p:sp>
        <p:nvSpPr>
          <p:cNvPr id="3" name="Text Placeholder 2"/>
          <p:cNvSpPr>
            <a:spLocks noGrp="1"/>
          </p:cNvSpPr>
          <p:nvPr>
            <p:ph type="body" sz="quarter" idx="17"/>
          </p:nvPr>
        </p:nvSpPr>
        <p:spPr/>
        <p:txBody>
          <a:bodyPr/>
          <a:lstStyle/>
          <a:p>
            <a:r>
              <a:rPr lang="en-IN" dirty="0"/>
              <a:t>Different styles can be defined for different pages by adding the following:</a:t>
            </a:r>
          </a:p>
          <a:p>
            <a:pPr marL="914400" lvl="2" indent="0">
              <a:buNone/>
            </a:pPr>
            <a:r>
              <a:rPr lang="en-IN" sz="2600" dirty="0">
                <a:latin typeface="Courier New" panose="02070309020205020404" pitchFamily="49" charset="0"/>
                <a:cs typeface="Courier New" panose="02070309020205020404" pitchFamily="49" charset="0"/>
              </a:rPr>
              <a:t>@page:</a:t>
            </a:r>
            <a:r>
              <a:rPr lang="en-IN" sz="2600" i="1" dirty="0">
                <a:latin typeface="Courier New" panose="02070309020205020404" pitchFamily="49" charset="0"/>
                <a:cs typeface="Courier New" panose="02070309020205020404" pitchFamily="49" charset="0"/>
              </a:rPr>
              <a:t>pseudo-class</a:t>
            </a:r>
            <a:r>
              <a:rPr lang="en-IN" sz="2600" dirty="0">
                <a:latin typeface="Courier New" panose="02070309020205020404" pitchFamily="49" charset="0"/>
                <a:cs typeface="Courier New" panose="02070309020205020404" pitchFamily="49" charset="0"/>
              </a:rPr>
              <a:t> {</a:t>
            </a:r>
          </a:p>
          <a:p>
            <a:pPr marL="914400" lvl="2" indent="0">
              <a:buNone/>
            </a:pP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style rules</a:t>
            </a:r>
            <a:endParaRPr lang="en-IN" sz="2600" dirty="0">
              <a:latin typeface="Courier New" panose="02070309020205020404" pitchFamily="49" charset="0"/>
              <a:cs typeface="Courier New" panose="02070309020205020404" pitchFamily="49" charset="0"/>
            </a:endParaRPr>
          </a:p>
          <a:p>
            <a:pPr marL="914400" lvl="2" indent="0">
              <a:buNone/>
            </a:pPr>
            <a:r>
              <a:rPr lang="en-IN" sz="2600" dirty="0">
                <a:latin typeface="Courier New" panose="02070309020205020404" pitchFamily="49" charset="0"/>
                <a:cs typeface="Courier New" panose="02070309020205020404" pitchFamily="49" charset="0"/>
              </a:rPr>
              <a:t>}</a:t>
            </a:r>
          </a:p>
          <a:p>
            <a:pPr marL="279400" lvl="2"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pseudo-class</a:t>
            </a:r>
            <a:r>
              <a:rPr lang="en-IN" sz="3200" dirty="0">
                <a:cs typeface="Courier New" panose="02070309020205020404" pitchFamily="49" charset="0"/>
              </a:rPr>
              <a:t> is </a:t>
            </a:r>
            <a:r>
              <a:rPr lang="en-IN" sz="2600" dirty="0">
                <a:latin typeface="Courier New" panose="02070309020205020404" pitchFamily="49" charset="0"/>
                <a:cs typeface="Courier New" panose="02070309020205020404" pitchFamily="49" charset="0"/>
              </a:rPr>
              <a:t>first</a:t>
            </a:r>
            <a:r>
              <a:rPr lang="en-IN" sz="3200" dirty="0">
                <a:cs typeface="Courier New" panose="02070309020205020404" pitchFamily="49" charset="0"/>
              </a:rPr>
              <a:t> for the first page of the printout, </a:t>
            </a:r>
            <a:r>
              <a:rPr lang="en-IN" sz="2600" dirty="0">
                <a:latin typeface="Courier New" panose="02070309020205020404" pitchFamily="49" charset="0"/>
                <a:cs typeface="Courier New" panose="02070309020205020404" pitchFamily="49" charset="0"/>
              </a:rPr>
              <a:t>left</a:t>
            </a:r>
            <a:r>
              <a:rPr lang="en-IN" sz="3200" dirty="0">
                <a:cs typeface="Courier New" panose="02070309020205020404" pitchFamily="49" charset="0"/>
              </a:rPr>
              <a:t> for the pages that appear on the left in the double-sided printouts, or </a:t>
            </a:r>
            <a:r>
              <a:rPr lang="en-IN" sz="2600" dirty="0">
                <a:latin typeface="Courier New" panose="02070309020205020404" pitchFamily="49" charset="0"/>
                <a:cs typeface="Courier New" panose="02070309020205020404" pitchFamily="49" charset="0"/>
              </a:rPr>
              <a:t>right</a:t>
            </a:r>
            <a:r>
              <a:rPr lang="en-IN" sz="3200" dirty="0">
                <a:cs typeface="Courier New" panose="02070309020205020404" pitchFamily="49" charset="0"/>
              </a:rPr>
              <a:t> for pages that appear on the right in double-sided printouts</a:t>
            </a:r>
            <a:endParaRPr lang="en-US" sz="3200" dirty="0">
              <a:cs typeface="Courier New" panose="02070309020205020404" pitchFamily="49" charset="0"/>
            </a:endParaRPr>
          </a:p>
        </p:txBody>
      </p:sp>
    </p:spTree>
    <p:extLst>
      <p:ext uri="{BB962C8B-B14F-4D97-AF65-F5344CB8AC3E}">
        <p14:creationId xmlns:p14="http://schemas.microsoft.com/office/powerpoint/2010/main" val="34328656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 Names and the Page Property</a:t>
            </a:r>
          </a:p>
        </p:txBody>
      </p:sp>
      <p:sp>
        <p:nvSpPr>
          <p:cNvPr id="5" name="Text Placeholder 4"/>
          <p:cNvSpPr>
            <a:spLocks noGrp="1"/>
          </p:cNvSpPr>
          <p:nvPr>
            <p:ph type="body" sz="quarter" idx="17"/>
          </p:nvPr>
        </p:nvSpPr>
        <p:spPr/>
        <p:txBody>
          <a:bodyPr/>
          <a:lstStyle/>
          <a:p>
            <a:r>
              <a:rPr lang="en-IN" dirty="0"/>
              <a:t>To define styles for pages other than the first, left, or right, create a page name as follows:</a:t>
            </a:r>
          </a:p>
          <a:p>
            <a:pPr marL="914400" lvl="2" indent="0">
              <a:buNone/>
            </a:pPr>
            <a:r>
              <a:rPr lang="en-IN" sz="2600" dirty="0">
                <a:latin typeface="Courier New" panose="02070309020205020404" pitchFamily="49" charset="0"/>
                <a:cs typeface="Courier New" panose="02070309020205020404" pitchFamily="49" charset="0"/>
              </a:rPr>
              <a:t>@page </a:t>
            </a:r>
            <a:r>
              <a:rPr lang="en-IN" sz="2600" i="1" dirty="0">
                <a:latin typeface="Courier New" panose="02070309020205020404" pitchFamily="49" charset="0"/>
                <a:cs typeface="Courier New" panose="02070309020205020404" pitchFamily="49" charset="0"/>
              </a:rPr>
              <a:t>name</a:t>
            </a:r>
            <a:r>
              <a:rPr lang="en-IN" sz="2600" dirty="0">
                <a:latin typeface="Courier New" panose="02070309020205020404" pitchFamily="49" charset="0"/>
                <a:cs typeface="Courier New" panose="02070309020205020404" pitchFamily="49" charset="0"/>
              </a:rPr>
              <a:t> {</a:t>
            </a:r>
          </a:p>
          <a:p>
            <a:pPr marL="914400" lvl="2" indent="0">
              <a:buNone/>
            </a:pPr>
            <a:r>
              <a:rPr lang="en-IN" sz="2600"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style rules</a:t>
            </a:r>
            <a:endParaRPr lang="en-IN" sz="2600" dirty="0">
              <a:latin typeface="Courier New" panose="02070309020205020404" pitchFamily="49" charset="0"/>
              <a:cs typeface="Courier New" panose="02070309020205020404" pitchFamily="49" charset="0"/>
            </a:endParaRPr>
          </a:p>
          <a:p>
            <a:pPr marL="914400" lvl="2" indent="0">
              <a:buNone/>
            </a:pPr>
            <a:r>
              <a:rPr lang="en-IN" sz="2600" dirty="0">
                <a:latin typeface="Courier New" panose="02070309020205020404" pitchFamily="49" charset="0"/>
                <a:cs typeface="Courier New" panose="02070309020205020404" pitchFamily="49" charset="0"/>
              </a:rPr>
              <a:t>}</a:t>
            </a:r>
          </a:p>
          <a:p>
            <a:pPr marL="406400" lvl="2"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name</a:t>
            </a:r>
            <a:r>
              <a:rPr lang="en-IN" sz="3200" dirty="0">
                <a:cs typeface="Courier New" panose="02070309020205020404" pitchFamily="49" charset="0"/>
              </a:rPr>
              <a:t> is the label given to the page</a:t>
            </a:r>
          </a:p>
        </p:txBody>
      </p:sp>
    </p:spTree>
    <p:extLst>
      <p:ext uri="{BB962C8B-B14F-4D97-AF65-F5344CB8AC3E}">
        <p14:creationId xmlns:p14="http://schemas.microsoft.com/office/powerpoint/2010/main" val="3908008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 Names and the Page Property (continued)</a:t>
            </a:r>
          </a:p>
        </p:txBody>
      </p:sp>
      <p:sp>
        <p:nvSpPr>
          <p:cNvPr id="4" name="Text Placeholder 3"/>
          <p:cNvSpPr>
            <a:spLocks noGrp="1"/>
          </p:cNvSpPr>
          <p:nvPr>
            <p:ph type="body" sz="quarter" idx="17"/>
          </p:nvPr>
        </p:nvSpPr>
        <p:spPr/>
        <p:txBody>
          <a:bodyPr/>
          <a:lstStyle/>
          <a:p>
            <a:pPr marL="355600" lvl="1" indent="-355600">
              <a:buFont typeface="Arial" panose="020B0604020202020204" pitchFamily="34" charset="0"/>
              <a:buChar char="•"/>
            </a:pPr>
            <a:r>
              <a:rPr lang="en-IN" sz="3200" dirty="0">
                <a:cs typeface="Courier New" panose="02070309020205020404" pitchFamily="49" charset="0"/>
              </a:rPr>
              <a:t>To assign a page name to an element, use</a:t>
            </a:r>
          </a:p>
          <a:p>
            <a:pPr marL="857250" lvl="3" indent="0">
              <a:buNone/>
            </a:pPr>
            <a:r>
              <a:rPr lang="en-IN" sz="2600" i="1" dirty="0">
                <a:latin typeface="Courier New" panose="02070309020205020404" pitchFamily="49" charset="0"/>
                <a:cs typeface="Courier New" panose="02070309020205020404" pitchFamily="49" charset="0"/>
              </a:rPr>
              <a:t>selector</a:t>
            </a:r>
            <a:r>
              <a:rPr lang="en-IN" sz="2600" dirty="0">
                <a:latin typeface="Courier New" panose="02070309020205020404" pitchFamily="49" charset="0"/>
                <a:cs typeface="Courier New" panose="02070309020205020404" pitchFamily="49" charset="0"/>
              </a:rPr>
              <a:t> {</a:t>
            </a:r>
          </a:p>
          <a:p>
            <a:pPr marL="857250" lvl="3" indent="0">
              <a:buNone/>
            </a:pPr>
            <a:r>
              <a:rPr lang="en-IN" sz="2600" i="1" dirty="0">
                <a:latin typeface="Courier New" panose="02070309020205020404" pitchFamily="49" charset="0"/>
                <a:cs typeface="Courier New" panose="02070309020205020404" pitchFamily="49" charset="0"/>
              </a:rPr>
              <a:t>		page: name</a:t>
            </a:r>
            <a:r>
              <a:rPr lang="en-IN" sz="2600" dirty="0">
                <a:latin typeface="Courier New" panose="02070309020205020404" pitchFamily="49" charset="0"/>
                <a:cs typeface="Courier New" panose="02070309020205020404" pitchFamily="49" charset="0"/>
              </a:rPr>
              <a:t>;</a:t>
            </a:r>
          </a:p>
          <a:p>
            <a:pPr marL="857250" lvl="3" indent="0">
              <a:buNone/>
            </a:pPr>
            <a:r>
              <a:rPr lang="en-IN" sz="2600" dirty="0">
                <a:latin typeface="Courier New" panose="02070309020205020404" pitchFamily="49" charset="0"/>
                <a:cs typeface="Courier New" panose="02070309020205020404" pitchFamily="49" charset="0"/>
              </a:rPr>
              <a:t>}</a:t>
            </a:r>
          </a:p>
          <a:p>
            <a:pPr marL="350838" lvl="3"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selector</a:t>
            </a:r>
            <a:r>
              <a:rPr lang="en-IN" sz="3200" dirty="0">
                <a:cs typeface="Courier New" panose="02070309020205020404" pitchFamily="49" charset="0"/>
              </a:rPr>
              <a:t> identifies the element that will be displayed on its own page, and </a:t>
            </a:r>
            <a:r>
              <a:rPr lang="en-IN" sz="2600" i="1" dirty="0">
                <a:latin typeface="Courier New" panose="02070309020205020404" pitchFamily="49" charset="0"/>
                <a:cs typeface="Courier New" panose="02070309020205020404" pitchFamily="49" charset="0"/>
              </a:rPr>
              <a:t>name</a:t>
            </a:r>
            <a:r>
              <a:rPr lang="en-IN" sz="3200" dirty="0">
                <a:cs typeface="Courier New" panose="02070309020205020404" pitchFamily="49" charset="0"/>
              </a:rPr>
              <a:t> is the name of a previously defined page style</a:t>
            </a:r>
            <a:endParaRPr lang="en-US" sz="3200" dirty="0">
              <a:cs typeface="Courier New" panose="02070309020205020404" pitchFamily="49" charset="0"/>
            </a:endParaRPr>
          </a:p>
        </p:txBody>
      </p:sp>
    </p:spTree>
    <p:extLst>
      <p:ext uri="{BB962C8B-B14F-4D97-AF65-F5344CB8AC3E}">
        <p14:creationId xmlns:p14="http://schemas.microsoft.com/office/powerpoint/2010/main" val="6561178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Formatting Hypertext Links for Printing</a:t>
            </a:r>
          </a:p>
        </p:txBody>
      </p:sp>
      <p:sp>
        <p:nvSpPr>
          <p:cNvPr id="3" name="Text Placeholder 2"/>
          <p:cNvSpPr>
            <a:spLocks noGrp="1"/>
          </p:cNvSpPr>
          <p:nvPr>
            <p:ph type="body" sz="quarter" idx="17"/>
          </p:nvPr>
        </p:nvSpPr>
        <p:spPr/>
        <p:txBody>
          <a:bodyPr/>
          <a:lstStyle/>
          <a:p>
            <a:r>
              <a:rPr lang="en-IN" dirty="0"/>
              <a:t>To append the text of a link’s URL to the linked text, apply the following style rule:</a:t>
            </a:r>
          </a:p>
          <a:p>
            <a:pPr marL="914400" lvl="2" indent="0">
              <a:buNone/>
            </a:pPr>
            <a:r>
              <a:rPr lang="en-IN" sz="2600" dirty="0">
                <a:latin typeface="Courier New" panose="02070309020205020404" pitchFamily="49" charset="0"/>
                <a:cs typeface="Courier New" panose="02070309020205020404" pitchFamily="49" charset="0"/>
              </a:rPr>
              <a:t>a::after {</a:t>
            </a:r>
          </a:p>
          <a:p>
            <a:pPr marL="914400" lvl="2" indent="0">
              <a:buNone/>
            </a:pPr>
            <a:r>
              <a:rPr lang="en-IN" sz="2600" dirty="0">
                <a:latin typeface="Courier New" panose="02070309020205020404" pitchFamily="49" charset="0"/>
                <a:cs typeface="Courier New" panose="02070309020205020404" pitchFamily="49" charset="0"/>
              </a:rPr>
              <a:t>	content: “ (“ attr(href) “) “;</a:t>
            </a:r>
          </a:p>
          <a:p>
            <a:pPr marL="914400" lvl="2" indent="0">
              <a:buNone/>
            </a:pPr>
            <a:r>
              <a:rPr lang="en-IN" sz="2600" dirty="0">
                <a:latin typeface="Courier New" panose="02070309020205020404" pitchFamily="49" charset="0"/>
                <a:cs typeface="Courier New" panose="02070309020205020404" pitchFamily="49" charset="0"/>
              </a:rPr>
              <a:t>}</a:t>
            </a:r>
          </a:p>
          <a:p>
            <a:pPr marL="279400" lvl="2" indent="0">
              <a:buNone/>
            </a:pPr>
            <a:r>
              <a:rPr lang="en-IN" sz="3200" dirty="0">
                <a:cs typeface="Courier New" panose="02070309020205020404" pitchFamily="49" charset="0"/>
              </a:rPr>
              <a:t>This style rule uses the </a:t>
            </a:r>
            <a:r>
              <a:rPr lang="en-IN" sz="2600" dirty="0">
                <a:latin typeface="Courier New" panose="02070309020205020404" pitchFamily="49" charset="0"/>
                <a:cs typeface="Courier New" panose="02070309020205020404" pitchFamily="49" charset="0"/>
              </a:rPr>
              <a:t>after</a:t>
            </a:r>
            <a:r>
              <a:rPr lang="en-IN" sz="3200" dirty="0">
                <a:cs typeface="Courier New" panose="02070309020205020404" pitchFamily="49" charset="0"/>
              </a:rPr>
              <a:t> pseudo-element along with the </a:t>
            </a:r>
            <a:r>
              <a:rPr lang="en-IN" sz="2600" dirty="0">
                <a:latin typeface="Courier New" panose="02070309020205020404" pitchFamily="49" charset="0"/>
                <a:cs typeface="Courier New" panose="02070309020205020404" pitchFamily="49" charset="0"/>
              </a:rPr>
              <a:t>content</a:t>
            </a:r>
            <a:r>
              <a:rPr lang="en-IN" sz="3200" dirty="0">
                <a:cs typeface="Courier New" panose="02070309020205020404" pitchFamily="49" charset="0"/>
              </a:rPr>
              <a:t> property and the </a:t>
            </a:r>
            <a:r>
              <a:rPr lang="en-IN" sz="2600" dirty="0">
                <a:latin typeface="Courier New" panose="02070309020205020404" pitchFamily="49" charset="0"/>
                <a:cs typeface="Courier New" panose="02070309020205020404" pitchFamily="49" charset="0"/>
              </a:rPr>
              <a:t>attr()</a:t>
            </a:r>
            <a:r>
              <a:rPr lang="en-IN" sz="3200" dirty="0">
                <a:cs typeface="Courier New" panose="02070309020205020404" pitchFamily="49" charset="0"/>
              </a:rPr>
              <a:t> function to retrieve the text of the </a:t>
            </a:r>
            <a:r>
              <a:rPr lang="en-IN" sz="2600" dirty="0">
                <a:latin typeface="Courier New" panose="02070309020205020404" pitchFamily="49" charset="0"/>
                <a:cs typeface="Courier New" panose="02070309020205020404" pitchFamily="49" charset="0"/>
              </a:rPr>
              <a:t>href</a:t>
            </a:r>
            <a:r>
              <a:rPr lang="en-IN" sz="3200" dirty="0">
                <a:cs typeface="Courier New" panose="02070309020205020404" pitchFamily="49" charset="0"/>
              </a:rPr>
              <a:t> attribute and add it to the contents of the </a:t>
            </a:r>
            <a:r>
              <a:rPr lang="en-IN" sz="2600" dirty="0">
                <a:latin typeface="Courier New" panose="02070309020205020404" pitchFamily="49" charset="0"/>
                <a:cs typeface="Courier New" panose="02070309020205020404" pitchFamily="49" charset="0"/>
              </a:rPr>
              <a:t>a</a:t>
            </a:r>
            <a:r>
              <a:rPr lang="en-IN" sz="3200" dirty="0">
                <a:cs typeface="Courier New" panose="02070309020205020404" pitchFamily="49" charset="0"/>
              </a:rPr>
              <a:t> element</a:t>
            </a:r>
            <a:endParaRPr lang="en-US" sz="3200" dirty="0">
              <a:cs typeface="Courier New" panose="02070309020205020404" pitchFamily="49" charset="0"/>
            </a:endParaRPr>
          </a:p>
        </p:txBody>
      </p:sp>
    </p:spTree>
    <p:extLst>
      <p:ext uri="{BB962C8B-B14F-4D97-AF65-F5344CB8AC3E}">
        <p14:creationId xmlns:p14="http://schemas.microsoft.com/office/powerpoint/2010/main" val="19634911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Formatting Hypertext Links for Printing (continued 1)</a:t>
            </a:r>
          </a:p>
        </p:txBody>
      </p:sp>
      <p:sp>
        <p:nvSpPr>
          <p:cNvPr id="3" name="Text Placeholder 2"/>
          <p:cNvSpPr>
            <a:spLocks noGrp="1"/>
          </p:cNvSpPr>
          <p:nvPr>
            <p:ph type="body" sz="quarter" idx="17"/>
          </p:nvPr>
        </p:nvSpPr>
        <p:spPr/>
        <p:txBody>
          <a:bodyPr/>
          <a:lstStyle/>
          <a:p>
            <a:r>
              <a:rPr lang="en-IN" dirty="0"/>
              <a:t>The </a:t>
            </a:r>
            <a:r>
              <a:rPr lang="en-IN" sz="2600" dirty="0">
                <a:latin typeface="Courier New" panose="02070309020205020404" pitchFamily="49" charset="0"/>
                <a:cs typeface="Courier New" panose="02070309020205020404" pitchFamily="49" charset="0"/>
              </a:rPr>
              <a:t>word-wrap</a:t>
            </a:r>
            <a:r>
              <a:rPr lang="en-IN" dirty="0"/>
              <a:t> property is used to break long text strings at arbitrary points if it extends beyond the boundaries of its container</a:t>
            </a:r>
            <a:endParaRPr lang="en-US" dirty="0"/>
          </a:p>
        </p:txBody>
      </p:sp>
    </p:spTree>
    <p:extLst>
      <p:ext uri="{BB962C8B-B14F-4D97-AF65-F5344CB8AC3E}">
        <p14:creationId xmlns:p14="http://schemas.microsoft.com/office/powerpoint/2010/main" val="9130590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Formatting Hypertext Links for Printing (continued 2)</a:t>
            </a:r>
          </a:p>
        </p:txBody>
      </p:sp>
      <p:pic>
        <p:nvPicPr>
          <p:cNvPr id="5" name="Picture Placeholder 4" descr="This figure explains how to format printed hypertext links.&#10;The figure consist of three rectangular boxes and a few lines of code.&#10;The first line of the code reads “/* Hypertext Styles */”. The second line of the code reads “a {“. The third line of the code reads “color: black;”. The fourth line of the code reads “text-decoration: none;”. The first rectangular box labeled “displays hypertext links in black with no underlining” is positioned on the left side of the code. An arrow originating from this rectangular box points from the third line to the fourth line of the code. The fifth line of the code reads “}”.&#10;The sixth line of the code reads “a::after {”. The seventh line of the code reads “content: “ (” attr(href) “) “;”. The eighth line of the code reads “font-weight: bold;”. The second rectangular box labeled “adds the URL of the hypertext link in a bold font” is positioned below the first rectangular box. An arrow originating from this rectangular box points from the seventh line to the eighth line of the code. The ninth line of the code reads “word-wrap: break-word;”. The third rectangular box labeled “allows the URL to wrap in order to preserve page layout” is positioned on the right side of the code. An arrow originating from this box points to the ninth line of the code. The tenth line of the code reads “}”." title="Figure 5-51 Formatting printed hypertext links"/>
          <p:cNvPicPr>
            <a:picLocks noGrp="1" noChangeAspect="1"/>
          </p:cNvPicPr>
          <p:nvPr>
            <p:ph type="pic" sz="quarter" idx="10"/>
          </p:nvPr>
        </p:nvPicPr>
        <p:blipFill>
          <a:blip r:embed="rId2"/>
          <a:stretch>
            <a:fillRect/>
          </a:stretch>
        </p:blipFill>
        <p:spPr>
          <a:xfrm>
            <a:off x="315324" y="2236641"/>
            <a:ext cx="8513352" cy="2739364"/>
          </a:xfrm>
          <a:prstGeom prst="rect">
            <a:avLst/>
          </a:prstGeom>
        </p:spPr>
      </p:pic>
    </p:spTree>
    <p:extLst>
      <p:ext uri="{BB962C8B-B14F-4D97-AF65-F5344CB8AC3E}">
        <p14:creationId xmlns:p14="http://schemas.microsoft.com/office/powerpoint/2010/main" val="13599862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Page Breaks</a:t>
            </a:r>
          </a:p>
        </p:txBody>
      </p:sp>
      <p:sp>
        <p:nvSpPr>
          <p:cNvPr id="3" name="Text Placeholder 2"/>
          <p:cNvSpPr>
            <a:spLocks noGrp="1"/>
          </p:cNvSpPr>
          <p:nvPr>
            <p:ph type="body" sz="quarter" idx="17"/>
          </p:nvPr>
        </p:nvSpPr>
        <p:spPr/>
        <p:txBody>
          <a:bodyPr/>
          <a:lstStyle/>
          <a:p>
            <a:r>
              <a:rPr lang="en-IN" dirty="0"/>
              <a:t>Page breaks can be inserted either directly before or after an element, using the following properties:</a:t>
            </a:r>
          </a:p>
          <a:p>
            <a:pPr marL="914400" lvl="2" indent="0">
              <a:buNone/>
            </a:pPr>
            <a:r>
              <a:rPr lang="en-IN" sz="2600" dirty="0">
                <a:latin typeface="Courier New" panose="02070309020205020404" pitchFamily="49" charset="0"/>
                <a:cs typeface="Courier New" panose="02070309020205020404" pitchFamily="49" charset="0"/>
              </a:rPr>
              <a:t>page-break-before: </a:t>
            </a:r>
            <a:r>
              <a:rPr lang="en-IN" sz="2600" i="1" dirty="0">
                <a:latin typeface="Courier New" panose="02070309020205020404" pitchFamily="49" charset="0"/>
                <a:cs typeface="Courier New" panose="02070309020205020404" pitchFamily="49" charset="0"/>
              </a:rPr>
              <a:t>type</a:t>
            </a:r>
            <a:r>
              <a:rPr lang="en-IN" sz="2600" dirty="0">
                <a:latin typeface="Courier New" panose="02070309020205020404" pitchFamily="49" charset="0"/>
                <a:cs typeface="Courier New" panose="02070309020205020404" pitchFamily="49" charset="0"/>
              </a:rPr>
              <a:t>;</a:t>
            </a:r>
          </a:p>
          <a:p>
            <a:pPr marL="914400" lvl="2" indent="0">
              <a:buNone/>
            </a:pPr>
            <a:r>
              <a:rPr lang="en-IN" sz="2600" dirty="0">
                <a:latin typeface="Courier New" panose="02070309020205020404" pitchFamily="49" charset="0"/>
                <a:cs typeface="Courier New" panose="02070309020205020404" pitchFamily="49" charset="0"/>
              </a:rPr>
              <a:t>page-break-after: </a:t>
            </a:r>
            <a:r>
              <a:rPr lang="en-IN" sz="2600" i="1" dirty="0">
                <a:latin typeface="Courier New" panose="02070309020205020404" pitchFamily="49" charset="0"/>
                <a:cs typeface="Courier New" panose="02070309020205020404" pitchFamily="49" charset="0"/>
              </a:rPr>
              <a:t>type</a:t>
            </a:r>
            <a:r>
              <a:rPr lang="en-IN" sz="2600" dirty="0">
                <a:latin typeface="Courier New" panose="02070309020205020404" pitchFamily="49" charset="0"/>
                <a:cs typeface="Courier New" panose="02070309020205020404" pitchFamily="49" charset="0"/>
              </a:rPr>
              <a:t>;</a:t>
            </a:r>
          </a:p>
          <a:p>
            <a:pPr marL="355600" lvl="2"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type</a:t>
            </a:r>
            <a:r>
              <a:rPr lang="en-IN" sz="3200" dirty="0">
                <a:cs typeface="Courier New" panose="02070309020205020404" pitchFamily="49" charset="0"/>
              </a:rPr>
              <a:t> has the following possible values:</a:t>
            </a:r>
          </a:p>
          <a:p>
            <a:pPr marL="812800" lvl="2" indent="-457200">
              <a:buFont typeface="Calibri" panose="020F0502020204030204" pitchFamily="34" charset="0"/>
              <a:buChar char="–"/>
            </a:pPr>
            <a:r>
              <a:rPr lang="en-IN" sz="2600" dirty="0">
                <a:latin typeface="Courier New" panose="02070309020205020404" pitchFamily="49" charset="0"/>
                <a:cs typeface="Courier New" panose="02070309020205020404" pitchFamily="49" charset="0"/>
              </a:rPr>
              <a:t>always</a:t>
            </a:r>
            <a:r>
              <a:rPr lang="en-IN" sz="2800" dirty="0">
                <a:cs typeface="Courier New" panose="02070309020205020404" pitchFamily="49" charset="0"/>
              </a:rPr>
              <a:t> – Use to always place a page break before or after the element</a:t>
            </a:r>
          </a:p>
          <a:p>
            <a:pPr marL="812800" lvl="2" indent="-457200">
              <a:buFont typeface="Calibri" panose="020F0502020204030204" pitchFamily="34" charset="0"/>
              <a:buChar char="–"/>
            </a:pPr>
            <a:r>
              <a:rPr lang="en-IN" sz="2600" dirty="0">
                <a:latin typeface="Courier New" panose="02070309020205020404" pitchFamily="49" charset="0"/>
                <a:cs typeface="Courier New" panose="02070309020205020404" pitchFamily="49" charset="0"/>
              </a:rPr>
              <a:t>avoid</a:t>
            </a:r>
            <a:r>
              <a:rPr lang="en-IN" sz="2800" dirty="0">
                <a:cs typeface="Courier New" panose="02070309020205020404" pitchFamily="49" charset="0"/>
              </a:rPr>
              <a:t> – Use to never place a page break</a:t>
            </a:r>
          </a:p>
        </p:txBody>
      </p:sp>
    </p:spTree>
    <p:extLst>
      <p:ext uri="{BB962C8B-B14F-4D97-AF65-F5344CB8AC3E}">
        <p14:creationId xmlns:p14="http://schemas.microsoft.com/office/powerpoint/2010/main" val="15136261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Page Breaks (continued)</a:t>
            </a:r>
          </a:p>
        </p:txBody>
      </p:sp>
      <p:sp>
        <p:nvSpPr>
          <p:cNvPr id="3" name="Text Placeholder 2"/>
          <p:cNvSpPr>
            <a:spLocks noGrp="1"/>
          </p:cNvSpPr>
          <p:nvPr>
            <p:ph type="body" sz="quarter" idx="17"/>
          </p:nvPr>
        </p:nvSpPr>
        <p:spPr/>
        <p:txBody>
          <a:bodyPr/>
          <a:lstStyle/>
          <a:p>
            <a:pPr marL="800100" lvl="3" indent="-342900">
              <a:buClrTx/>
              <a:buSzTx/>
              <a:buFont typeface="Arial" charset="0"/>
              <a:buChar char="•"/>
            </a:pPr>
            <a:r>
              <a:rPr lang="en-IN" sz="2600" dirty="0">
                <a:latin typeface="Courier New" panose="02070309020205020404" pitchFamily="49" charset="0"/>
                <a:cs typeface="Courier New" panose="02070309020205020404" pitchFamily="49" charset="0"/>
              </a:rPr>
              <a:t>left</a:t>
            </a:r>
            <a:r>
              <a:rPr lang="en-IN" sz="1800" dirty="0">
                <a:cs typeface="Courier New" panose="02070309020205020404" pitchFamily="49" charset="0"/>
              </a:rPr>
              <a:t> </a:t>
            </a:r>
            <a:r>
              <a:rPr lang="en-IN" sz="2800" dirty="0">
                <a:cs typeface="Courier New" panose="02070309020205020404" pitchFamily="49" charset="0"/>
              </a:rPr>
              <a:t>– Use to place a page break where the next page will be a left page</a:t>
            </a:r>
            <a:endParaRPr lang="en-US" sz="1800" dirty="0">
              <a:cs typeface="Courier New" panose="02070309020205020404" pitchFamily="49" charset="0"/>
            </a:endParaRPr>
          </a:p>
          <a:p>
            <a:pPr marL="800100" lvl="3" indent="-342900">
              <a:buClrTx/>
              <a:buSzTx/>
              <a:buFont typeface="Arial" charset="0"/>
              <a:buChar char="•"/>
            </a:pPr>
            <a:r>
              <a:rPr lang="en-IN" sz="2600" dirty="0">
                <a:latin typeface="Courier New" panose="02070309020205020404" pitchFamily="49" charset="0"/>
                <a:cs typeface="Courier New" panose="02070309020205020404" pitchFamily="49" charset="0"/>
              </a:rPr>
              <a:t>right</a:t>
            </a:r>
            <a:r>
              <a:rPr lang="en-IN" sz="2800" dirty="0">
                <a:cs typeface="Courier New" panose="02070309020205020404" pitchFamily="49" charset="0"/>
              </a:rPr>
              <a:t> – Use to place a page break where the next page will be a right page</a:t>
            </a:r>
            <a:endParaRPr lang="en-US" sz="2800" dirty="0">
              <a:cs typeface="Courier New" panose="02070309020205020404" pitchFamily="49" charset="0"/>
            </a:endParaRPr>
          </a:p>
          <a:p>
            <a:pPr marL="800100" lvl="3" indent="-342900">
              <a:buClrTx/>
              <a:buSzTx/>
              <a:buFont typeface="Arial" charset="0"/>
              <a:buChar char="•"/>
            </a:pPr>
            <a:r>
              <a:rPr lang="en-IN" sz="2600" dirty="0">
                <a:latin typeface="Courier New" panose="02070309020205020404" pitchFamily="49" charset="0"/>
                <a:cs typeface="Courier New" panose="02070309020205020404" pitchFamily="49" charset="0"/>
              </a:rPr>
              <a:t>auto</a:t>
            </a:r>
            <a:r>
              <a:rPr lang="en-IN" sz="2800" dirty="0">
                <a:cs typeface="Courier New" panose="02070309020205020404" pitchFamily="49" charset="0"/>
              </a:rPr>
              <a:t> – Use to allow the printer to determine whether or not to insert a page break</a:t>
            </a:r>
          </a:p>
          <a:p>
            <a:pPr marL="800100" lvl="3" indent="-342900">
              <a:buClrTx/>
              <a:buSzTx/>
              <a:buFont typeface="Arial" charset="0"/>
              <a:buChar char="•"/>
            </a:pPr>
            <a:r>
              <a:rPr lang="en-IN" sz="2600" dirty="0">
                <a:latin typeface="Courier New" panose="02070309020205020404" pitchFamily="49" charset="0"/>
                <a:cs typeface="Courier New" panose="02070309020205020404" pitchFamily="49" charset="0"/>
              </a:rPr>
              <a:t>inherit</a:t>
            </a:r>
            <a:r>
              <a:rPr lang="en-IN" sz="2800" dirty="0">
                <a:cs typeface="Courier New" panose="02070309020205020404" pitchFamily="49" charset="0"/>
              </a:rPr>
              <a:t> – Use to insert the page break style from the parent element</a:t>
            </a:r>
            <a:endParaRPr lang="en-US"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278037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Preventing Page Breaks</a:t>
            </a:r>
          </a:p>
        </p:txBody>
      </p:sp>
      <p:sp>
        <p:nvSpPr>
          <p:cNvPr id="3" name="Text Placeholder 2"/>
          <p:cNvSpPr>
            <a:spLocks noGrp="1"/>
          </p:cNvSpPr>
          <p:nvPr>
            <p:ph type="body" sz="quarter" idx="17"/>
          </p:nvPr>
        </p:nvSpPr>
        <p:spPr/>
        <p:txBody>
          <a:bodyPr/>
          <a:lstStyle/>
          <a:p>
            <a:r>
              <a:rPr lang="en-IN" dirty="0"/>
              <a:t>Page breaks can be prevented by using the keyword </a:t>
            </a:r>
            <a:r>
              <a:rPr lang="en-IN" sz="2600" dirty="0">
                <a:latin typeface="Courier New" panose="02070309020205020404" pitchFamily="49" charset="0"/>
                <a:cs typeface="Courier New" panose="02070309020205020404" pitchFamily="49" charset="0"/>
              </a:rPr>
              <a:t>avoid</a:t>
            </a:r>
            <a:r>
              <a:rPr lang="en-IN" sz="2800" dirty="0">
                <a:latin typeface="Courier New" panose="02070309020205020404" pitchFamily="49" charset="0"/>
                <a:cs typeface="Courier New" panose="02070309020205020404" pitchFamily="49" charset="0"/>
              </a:rPr>
              <a:t> </a:t>
            </a:r>
            <a:r>
              <a:rPr lang="en-IN" dirty="0"/>
              <a:t>in the</a:t>
            </a:r>
            <a:r>
              <a:rPr lang="en-IN" sz="2600" dirty="0">
                <a:latin typeface="Courier New" panose="02070309020205020404" pitchFamily="49" charset="0"/>
                <a:cs typeface="Courier New" panose="02070309020205020404" pitchFamily="49" charset="0"/>
              </a:rPr>
              <a:t> page-break-after </a:t>
            </a:r>
            <a:r>
              <a:rPr lang="en-IN" dirty="0"/>
              <a:t>or </a:t>
            </a:r>
            <a:r>
              <a:rPr lang="en-IN" sz="2600" dirty="0">
                <a:latin typeface="Courier New" panose="02070309020205020404" pitchFamily="49" charset="0"/>
                <a:cs typeface="Courier New" panose="02070309020205020404" pitchFamily="49" charset="0"/>
              </a:rPr>
              <a:t>page-break-before</a:t>
            </a:r>
            <a:r>
              <a:rPr lang="en-IN" dirty="0"/>
              <a:t> properties</a:t>
            </a:r>
          </a:p>
          <a:p>
            <a:r>
              <a:rPr lang="en-IN" dirty="0"/>
              <a:t>For example, the following style rule prevents page breaks from being added after any heading</a:t>
            </a:r>
          </a:p>
          <a:p>
            <a:pPr marL="914400" lvl="2" indent="0">
              <a:buNone/>
            </a:pPr>
            <a:r>
              <a:rPr lang="en-IN" sz="2600" dirty="0">
                <a:latin typeface="Courier New" panose="02070309020205020404" pitchFamily="49" charset="0"/>
                <a:cs typeface="Courier New" panose="02070309020205020404" pitchFamily="49" charset="0"/>
              </a:rPr>
              <a:t>h1, h2, h3, h4, h5, h6 {</a:t>
            </a:r>
          </a:p>
          <a:p>
            <a:pPr marL="914400" lvl="2" indent="0">
              <a:buNone/>
            </a:pPr>
            <a:r>
              <a:rPr lang="en-IN" sz="2600" dirty="0">
                <a:latin typeface="Courier New" panose="02070309020205020404" pitchFamily="49" charset="0"/>
                <a:cs typeface="Courier New" panose="02070309020205020404" pitchFamily="49" charset="0"/>
              </a:rPr>
              <a:t>	page-break-after: avoid;</a:t>
            </a:r>
          </a:p>
          <a:p>
            <a:pPr marL="914400" lvl="2" indent="0">
              <a:buNone/>
            </a:pPr>
            <a:r>
              <a:rPr lang="en-IN" sz="2600" dirty="0">
                <a:latin typeface="Courier New" panose="02070309020205020404" pitchFamily="49" charset="0"/>
                <a:cs typeface="Courier New" panose="02070309020205020404" pitchFamily="49" charset="0"/>
              </a:rPr>
              <a:t>}</a:t>
            </a:r>
            <a:endParaRPr lang="en-US"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996154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Widows and Orphans</a:t>
            </a:r>
          </a:p>
        </p:txBody>
      </p:sp>
      <p:sp>
        <p:nvSpPr>
          <p:cNvPr id="3" name="Text Placeholder 2"/>
          <p:cNvSpPr>
            <a:spLocks noGrp="1"/>
          </p:cNvSpPr>
          <p:nvPr>
            <p:ph type="body" sz="quarter" idx="17"/>
          </p:nvPr>
        </p:nvSpPr>
        <p:spPr/>
        <p:txBody>
          <a:bodyPr/>
          <a:lstStyle/>
          <a:p>
            <a:r>
              <a:rPr lang="en-IN" dirty="0"/>
              <a:t>Page breaks within block elements, such as paragraphs, often leave behind widows and orphans</a:t>
            </a:r>
          </a:p>
          <a:p>
            <a:r>
              <a:rPr lang="en-IN" dirty="0"/>
              <a:t>A widow is a fragment of text left dangling at the top of a page</a:t>
            </a:r>
          </a:p>
          <a:p>
            <a:r>
              <a:rPr lang="en-IN" dirty="0"/>
              <a:t>An orphan is a text fragment left at the bottom of a page</a:t>
            </a:r>
            <a:endParaRPr lang="en-US" dirty="0"/>
          </a:p>
        </p:txBody>
      </p:sp>
    </p:spTree>
    <p:extLst>
      <p:ext uri="{BB962C8B-B14F-4D97-AF65-F5344CB8AC3E}">
        <p14:creationId xmlns:p14="http://schemas.microsoft.com/office/powerpoint/2010/main" val="34700431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Widows and Orphans (continued)</a:t>
            </a:r>
          </a:p>
        </p:txBody>
      </p:sp>
      <p:sp>
        <p:nvSpPr>
          <p:cNvPr id="6" name="Text Placeholder 5"/>
          <p:cNvSpPr>
            <a:spLocks noGrp="1"/>
          </p:cNvSpPr>
          <p:nvPr>
            <p:ph type="body" sz="quarter" idx="17"/>
          </p:nvPr>
        </p:nvSpPr>
        <p:spPr/>
        <p:txBody>
          <a:bodyPr/>
          <a:lstStyle/>
          <a:p>
            <a:r>
              <a:rPr lang="en-IN" dirty="0"/>
              <a:t>To control the size of widows and orphans, CSS supports the following properties:</a:t>
            </a:r>
          </a:p>
          <a:p>
            <a:pPr marL="914400" lvl="2" indent="0">
              <a:buNone/>
            </a:pPr>
            <a:r>
              <a:rPr lang="en-IN" sz="2600" dirty="0">
                <a:latin typeface="Courier New" panose="02070309020205020404" pitchFamily="49" charset="0"/>
                <a:cs typeface="Courier New" panose="02070309020205020404" pitchFamily="49" charset="0"/>
              </a:rPr>
              <a:t>widows: </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a:t>
            </a:r>
          </a:p>
          <a:p>
            <a:pPr marL="914400" lvl="2" indent="0">
              <a:buNone/>
            </a:pPr>
            <a:r>
              <a:rPr lang="en-IN" sz="2600" dirty="0">
                <a:latin typeface="Courier New" panose="02070309020205020404" pitchFamily="49" charset="0"/>
                <a:cs typeface="Courier New" panose="02070309020205020404" pitchFamily="49" charset="0"/>
              </a:rPr>
              <a:t>orphans: </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a:t>
            </a:r>
          </a:p>
          <a:p>
            <a:pPr marL="355600" lvl="2" indent="0">
              <a:buNone/>
            </a:pPr>
            <a:r>
              <a:rPr lang="en-IN" sz="3200"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value</a:t>
            </a:r>
            <a:r>
              <a:rPr lang="en-IN" sz="3200" dirty="0">
                <a:cs typeface="Courier New" panose="02070309020205020404" pitchFamily="49" charset="0"/>
              </a:rPr>
              <a:t> is the number of lines that must appear within the element before a page break can be inserted by printer</a:t>
            </a:r>
            <a:endParaRPr lang="en-US" sz="3200" dirty="0">
              <a:cs typeface="Courier New" panose="02070309020205020404" pitchFamily="49" charset="0"/>
            </a:endParaRPr>
          </a:p>
        </p:txBody>
      </p:sp>
    </p:spTree>
    <p:extLst>
      <p:ext uri="{BB962C8B-B14F-4D97-AF65-F5344CB8AC3E}">
        <p14:creationId xmlns:p14="http://schemas.microsoft.com/office/powerpoint/2010/main" val="2464382833"/>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3703</Words>
  <Application>Microsoft Office PowerPoint</Application>
  <PresentationFormat>On-screen Show (4:3)</PresentationFormat>
  <Paragraphs>379</Paragraphs>
  <Slides>76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76</vt:i4>
      </vt:variant>
    </vt:vector>
  </HeadingPairs>
  <TitlesOfParts>
    <vt:vector size="86" baseType="lpstr">
      <vt:lpstr>Arial</vt:lpstr>
      <vt:lpstr>Arial</vt:lpstr>
      <vt:lpstr>Calibri</vt:lpstr>
      <vt:lpstr>Courier New</vt:lpstr>
      <vt:lpstr>Helvetica</vt:lpstr>
      <vt:lpstr>LucidaGrande</vt:lpstr>
      <vt:lpstr>Open Sans</vt:lpstr>
      <vt:lpstr>Summer Font</vt:lpstr>
      <vt:lpstr>Times New Roman</vt:lpstr>
      <vt:lpstr>Office Theme</vt:lpstr>
      <vt:lpstr>Tutorial 05</vt:lpstr>
      <vt:lpstr>Objectives</vt:lpstr>
      <vt:lpstr>Objectives (continued)</vt:lpstr>
      <vt:lpstr>Introducing Responsive Design</vt:lpstr>
      <vt:lpstr>Introducing Responsive Design (continued)</vt:lpstr>
      <vt:lpstr>Introducing Media Queries</vt:lpstr>
      <vt:lpstr>Introducing Media Queries (continued)</vt:lpstr>
      <vt:lpstr>The @media Rule</vt:lpstr>
      <vt:lpstr>Media Queries and Device Features</vt:lpstr>
      <vt:lpstr>Media Queries and Device Features (continued)</vt:lpstr>
      <vt:lpstr>Applying Media Queries to a Style Sheet</vt:lpstr>
      <vt:lpstr>Applying Media Queries to a Style Sheet (continued)</vt:lpstr>
      <vt:lpstr>Exploring Viewports and Device Width</vt:lpstr>
      <vt:lpstr>Exploring Viewports and Device Width (continued)</vt:lpstr>
      <vt:lpstr>Creating a Mobile Design</vt:lpstr>
      <vt:lpstr>Creating a Pulldown Menu with CSS</vt:lpstr>
      <vt:lpstr>Creating a Pulldown Menu with CSS (continued 1)</vt:lpstr>
      <vt:lpstr>Creating a Pulldown Menu with CSS (continued 2)</vt:lpstr>
      <vt:lpstr>Creating a Pulldown Menu with CSS (continued 3)</vt:lpstr>
      <vt:lpstr>Testing Your Mobile Website</vt:lpstr>
      <vt:lpstr>Testing Your Mobile Website (continued)</vt:lpstr>
      <vt:lpstr>Creating a Tablet Design</vt:lpstr>
      <vt:lpstr>Creating a Desktop Design</vt:lpstr>
      <vt:lpstr>Creating a Desktop Design (continued)</vt:lpstr>
      <vt:lpstr>Defining a Flexible Box</vt:lpstr>
      <vt:lpstr>Defining a Flexible Box (continued 1)</vt:lpstr>
      <vt:lpstr>Defining a Flexible Box (continued 2)</vt:lpstr>
      <vt:lpstr>Cross-Browser Flexboxes</vt:lpstr>
      <vt:lpstr>Setting the Flexbox Flow</vt:lpstr>
      <vt:lpstr>Setting the Flexbox Flow (continued 1)</vt:lpstr>
      <vt:lpstr>Setting the Flexbox Flow (continued 2)</vt:lpstr>
      <vt:lpstr>Setting the Flexbox Flow (continued 3)</vt:lpstr>
      <vt:lpstr>Setting the Flexbox Flow (continued 4)</vt:lpstr>
      <vt:lpstr>Setting the Flex Basis</vt:lpstr>
      <vt:lpstr>Setting the Flex Basis (continued)</vt:lpstr>
      <vt:lpstr>Defining the Flex Growth</vt:lpstr>
      <vt:lpstr>Defining the Flex Growth (continued 1)</vt:lpstr>
      <vt:lpstr>Defining the Flex Growth (continued 2)</vt:lpstr>
      <vt:lpstr>Defining the Shrink Rate</vt:lpstr>
      <vt:lpstr>Defining the Shrink Rate (continued 1)</vt:lpstr>
      <vt:lpstr>Defining the Shrink Rate (continued 2)</vt:lpstr>
      <vt:lpstr>Defining the Shrink Rate (continued 3)</vt:lpstr>
      <vt:lpstr>The flex Property</vt:lpstr>
      <vt:lpstr>The flex Property (continued)</vt:lpstr>
      <vt:lpstr>Applying a Flexbox Layout</vt:lpstr>
      <vt:lpstr>Applying a Flexbox Layout (continued)</vt:lpstr>
      <vt:lpstr>Reordering Page Content with Flexboxes</vt:lpstr>
      <vt:lpstr>Reordering Page Content with Flexboxes (continued)</vt:lpstr>
      <vt:lpstr>Aligning Items along the Main Axis</vt:lpstr>
      <vt:lpstr>Aligning Items along the Main Axis (continued)</vt:lpstr>
      <vt:lpstr>Aligning Flex Lines</vt:lpstr>
      <vt:lpstr>Aligning Flex Lines (continued 1)</vt:lpstr>
      <vt:lpstr>Aligning Flex Lines (continued 2)</vt:lpstr>
      <vt:lpstr>Aligning Items along the Cross Axis</vt:lpstr>
      <vt:lpstr>Aligning Items along the Cross Axis (continued 1)</vt:lpstr>
      <vt:lpstr>Aligning Items along the Cross Axis (continued 2)</vt:lpstr>
      <vt:lpstr>Aligning Items along the Cross Axis (continued 3)</vt:lpstr>
      <vt:lpstr>Creating a Navicon Menu</vt:lpstr>
      <vt:lpstr>Creating a Navicon Menu (continued)</vt:lpstr>
      <vt:lpstr>Designing for Printed Media</vt:lpstr>
      <vt:lpstr>Applying a Media Query for Printed Output</vt:lpstr>
      <vt:lpstr>Applying a Media Query for Printed Output (continued)</vt:lpstr>
      <vt:lpstr>Working with the @page Rule</vt:lpstr>
      <vt:lpstr>Working with the @page Rule (continued)</vt:lpstr>
      <vt:lpstr>Setting the Page Size</vt:lpstr>
      <vt:lpstr>Using the Page Pseudo-Classes</vt:lpstr>
      <vt:lpstr>Page Names and the Page Property</vt:lpstr>
      <vt:lpstr>Page Names and the Page Property (continued)</vt:lpstr>
      <vt:lpstr>Formatting Hypertext Links for Printing</vt:lpstr>
      <vt:lpstr>Formatting Hypertext Links for Printing (continued 1)</vt:lpstr>
      <vt:lpstr>Formatting Hypertext Links for Printing (continued 2)</vt:lpstr>
      <vt:lpstr>Working with Page Breaks</vt:lpstr>
      <vt:lpstr>Working with Page Breaks (continued)</vt:lpstr>
      <vt:lpstr>Preventing Page Breaks</vt:lpstr>
      <vt:lpstr>Working with Widows and Orphans</vt:lpstr>
      <vt:lpstr>Working with Widows and Orphans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2019-11-07T19:20:46Z</dcterms:modified>
</cp:coreProperties>
</file>