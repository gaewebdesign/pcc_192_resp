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0" r:id="rId1"/>
  </p:sldMasterIdLst>
  <p:notesMasterIdLst>
    <p:notesMasterId r:id="rId86"/>
  </p:notesMasterIdLst>
  <p:handoutMasterIdLst>
    <p:handoutMasterId r:id="rId87"/>
  </p:handoutMasterIdLst>
  <p:sldIdLst>
    <p:sldId id="258" r:id="rId2"/>
    <p:sldId id="309" r:id="rId3"/>
    <p:sldId id="383" r:id="rId4"/>
    <p:sldId id="449" r:id="rId5"/>
    <p:sldId id="450" r:id="rId6"/>
    <p:sldId id="451" r:id="rId7"/>
    <p:sldId id="452" r:id="rId8"/>
    <p:sldId id="453" r:id="rId9"/>
    <p:sldId id="454" r:id="rId10"/>
    <p:sldId id="455" r:id="rId11"/>
    <p:sldId id="456" r:id="rId12"/>
    <p:sldId id="522" r:id="rId13"/>
    <p:sldId id="523" r:id="rId14"/>
    <p:sldId id="458" r:id="rId15"/>
    <p:sldId id="459" r:id="rId16"/>
    <p:sldId id="460" r:id="rId17"/>
    <p:sldId id="461" r:id="rId18"/>
    <p:sldId id="462" r:id="rId19"/>
    <p:sldId id="463" r:id="rId20"/>
    <p:sldId id="464" r:id="rId21"/>
    <p:sldId id="465" r:id="rId22"/>
    <p:sldId id="466" r:id="rId23"/>
    <p:sldId id="467" r:id="rId24"/>
    <p:sldId id="468" r:id="rId25"/>
    <p:sldId id="469" r:id="rId26"/>
    <p:sldId id="470" r:id="rId27"/>
    <p:sldId id="471" r:id="rId28"/>
    <p:sldId id="472" r:id="rId29"/>
    <p:sldId id="473" r:id="rId30"/>
    <p:sldId id="474" r:id="rId31"/>
    <p:sldId id="475" r:id="rId32"/>
    <p:sldId id="476" r:id="rId33"/>
    <p:sldId id="524" r:id="rId34"/>
    <p:sldId id="477" r:id="rId35"/>
    <p:sldId id="479" r:id="rId36"/>
    <p:sldId id="480" r:id="rId37"/>
    <p:sldId id="481" r:id="rId38"/>
    <p:sldId id="482" r:id="rId39"/>
    <p:sldId id="525" r:id="rId40"/>
    <p:sldId id="483" r:id="rId41"/>
    <p:sldId id="484" r:id="rId42"/>
    <p:sldId id="485" r:id="rId43"/>
    <p:sldId id="486" r:id="rId44"/>
    <p:sldId id="526" r:id="rId45"/>
    <p:sldId id="527" r:id="rId46"/>
    <p:sldId id="487" r:id="rId47"/>
    <p:sldId id="488" r:id="rId48"/>
    <p:sldId id="539" r:id="rId49"/>
    <p:sldId id="541" r:id="rId50"/>
    <p:sldId id="489" r:id="rId51"/>
    <p:sldId id="495" r:id="rId52"/>
    <p:sldId id="528" r:id="rId53"/>
    <p:sldId id="491" r:id="rId54"/>
    <p:sldId id="529" r:id="rId55"/>
    <p:sldId id="492" r:id="rId56"/>
    <p:sldId id="493" r:id="rId57"/>
    <p:sldId id="494" r:id="rId58"/>
    <p:sldId id="530" r:id="rId59"/>
    <p:sldId id="497" r:id="rId60"/>
    <p:sldId id="502" r:id="rId61"/>
    <p:sldId id="498" r:id="rId62"/>
    <p:sldId id="499" r:id="rId63"/>
    <p:sldId id="505" r:id="rId64"/>
    <p:sldId id="506" r:id="rId65"/>
    <p:sldId id="507" r:id="rId66"/>
    <p:sldId id="508" r:id="rId67"/>
    <p:sldId id="509" r:id="rId68"/>
    <p:sldId id="531" r:id="rId69"/>
    <p:sldId id="510" r:id="rId70"/>
    <p:sldId id="532" r:id="rId71"/>
    <p:sldId id="533" r:id="rId72"/>
    <p:sldId id="534" r:id="rId73"/>
    <p:sldId id="512" r:id="rId74"/>
    <p:sldId id="535" r:id="rId75"/>
    <p:sldId id="514" r:id="rId76"/>
    <p:sldId id="515" r:id="rId77"/>
    <p:sldId id="536" r:id="rId78"/>
    <p:sldId id="537" r:id="rId79"/>
    <p:sldId id="538" r:id="rId80"/>
    <p:sldId id="517" r:id="rId81"/>
    <p:sldId id="518" r:id="rId82"/>
    <p:sldId id="519" r:id="rId83"/>
    <p:sldId id="520" r:id="rId84"/>
    <p:sldId id="521" r:id="rId85"/>
  </p:sldIdLst>
  <p:sldSz cx="9144000" cy="6858000" type="screen4x3"/>
  <p:notesSz cx="7077075" cy="9363075"/>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Arial" charset="0"/>
      </a:defRPr>
    </a:lvl1pPr>
    <a:lvl2pPr marL="457200" algn="l" rtl="0" fontAlgn="base">
      <a:spcBef>
        <a:spcPct val="0"/>
      </a:spcBef>
      <a:spcAft>
        <a:spcPct val="0"/>
      </a:spcAft>
      <a:defRPr sz="2400" kern="1200">
        <a:solidFill>
          <a:schemeClr val="tx1"/>
        </a:solidFill>
        <a:latin typeface="Times New Roman" pitchFamily="18" charset="0"/>
        <a:ea typeface="+mn-ea"/>
        <a:cs typeface="Arial" charset="0"/>
      </a:defRPr>
    </a:lvl2pPr>
    <a:lvl3pPr marL="914400" algn="l" rtl="0" fontAlgn="base">
      <a:spcBef>
        <a:spcPct val="0"/>
      </a:spcBef>
      <a:spcAft>
        <a:spcPct val="0"/>
      </a:spcAft>
      <a:defRPr sz="2400" kern="1200">
        <a:solidFill>
          <a:schemeClr val="tx1"/>
        </a:solidFill>
        <a:latin typeface="Times New Roman" pitchFamily="18" charset="0"/>
        <a:ea typeface="+mn-ea"/>
        <a:cs typeface="Arial" charset="0"/>
      </a:defRPr>
    </a:lvl3pPr>
    <a:lvl4pPr marL="1371600" algn="l" rtl="0" fontAlgn="base">
      <a:spcBef>
        <a:spcPct val="0"/>
      </a:spcBef>
      <a:spcAft>
        <a:spcPct val="0"/>
      </a:spcAft>
      <a:defRPr sz="2400" kern="1200">
        <a:solidFill>
          <a:schemeClr val="tx1"/>
        </a:solidFill>
        <a:latin typeface="Times New Roman" pitchFamily="18" charset="0"/>
        <a:ea typeface="+mn-ea"/>
        <a:cs typeface="Arial" charset="0"/>
      </a:defRPr>
    </a:lvl4pPr>
    <a:lvl5pPr marL="1828800" algn="l" rtl="0" fontAlgn="base">
      <a:spcBef>
        <a:spcPct val="0"/>
      </a:spcBef>
      <a:spcAft>
        <a:spcPct val="0"/>
      </a:spcAft>
      <a:defRPr sz="2400" kern="1200">
        <a:solidFill>
          <a:schemeClr val="tx1"/>
        </a:solidFill>
        <a:latin typeface="Times New Roman" pitchFamily="18" charset="0"/>
        <a:ea typeface="+mn-ea"/>
        <a:cs typeface="Arial" charset="0"/>
      </a:defRPr>
    </a:lvl5pPr>
    <a:lvl6pPr marL="2286000" algn="l" defTabSz="914400" rtl="0" eaLnBrk="1" latinLnBrk="0" hangingPunct="1">
      <a:defRPr sz="2400" kern="1200">
        <a:solidFill>
          <a:schemeClr val="tx1"/>
        </a:solidFill>
        <a:latin typeface="Times New Roman" pitchFamily="18" charset="0"/>
        <a:ea typeface="+mn-ea"/>
        <a:cs typeface="Arial" charset="0"/>
      </a:defRPr>
    </a:lvl6pPr>
    <a:lvl7pPr marL="2743200" algn="l" defTabSz="914400" rtl="0" eaLnBrk="1" latinLnBrk="0" hangingPunct="1">
      <a:defRPr sz="2400" kern="1200">
        <a:solidFill>
          <a:schemeClr val="tx1"/>
        </a:solidFill>
        <a:latin typeface="Times New Roman" pitchFamily="18" charset="0"/>
        <a:ea typeface="+mn-ea"/>
        <a:cs typeface="Arial" charset="0"/>
      </a:defRPr>
    </a:lvl7pPr>
    <a:lvl8pPr marL="3200400" algn="l" defTabSz="914400" rtl="0" eaLnBrk="1" latinLnBrk="0" hangingPunct="1">
      <a:defRPr sz="2400" kern="1200">
        <a:solidFill>
          <a:schemeClr val="tx1"/>
        </a:solidFill>
        <a:latin typeface="Times New Roman" pitchFamily="18" charset="0"/>
        <a:ea typeface="+mn-ea"/>
        <a:cs typeface="Arial" charset="0"/>
      </a:defRPr>
    </a:lvl8pPr>
    <a:lvl9pPr marL="3657600" algn="l" defTabSz="914400" rtl="0" eaLnBrk="1" latinLnBrk="0" hangingPunct="1">
      <a:defRPr sz="2400"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298"/>
    <a:srgbClr val="000000"/>
    <a:srgbClr val="FFFF00"/>
    <a:srgbClr val="990033"/>
    <a:srgbClr val="CC0000"/>
    <a:srgbClr val="FFFFFF"/>
    <a:srgbClr val="EAEAEA"/>
    <a:srgbClr val="77777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34" autoAdjust="0"/>
    <p:restoredTop sz="85589" autoAdjust="0"/>
  </p:normalViewPr>
  <p:slideViewPr>
    <p:cSldViewPr snapToGrid="0">
      <p:cViewPr varScale="1">
        <p:scale>
          <a:sx n="60" d="100"/>
          <a:sy n="60" d="100"/>
        </p:scale>
        <p:origin x="1814" y="3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54" d="100"/>
          <a:sy n="54" d="100"/>
        </p:scale>
        <p:origin x="278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9780"/>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9780"/>
          </a:xfrm>
          <a:prstGeom prst="rect">
            <a:avLst/>
          </a:prstGeom>
        </p:spPr>
        <p:txBody>
          <a:bodyPr vert="horz" lIns="93936" tIns="46968" rIns="93936" bIns="46968" rtlCol="0"/>
          <a:lstStyle>
            <a:lvl1pPr algn="r">
              <a:defRPr sz="1200"/>
            </a:lvl1pPr>
          </a:lstStyle>
          <a:p>
            <a:fld id="{F828C31B-4A29-4AC7-BA5D-4D38F35C35BF}" type="datetimeFigureOut">
              <a:rPr lang="en-US" smtClean="0"/>
              <a:t>11/7/2019</a:t>
            </a:fld>
            <a:endParaRPr lang="en-US" dirty="0"/>
          </a:p>
        </p:txBody>
      </p:sp>
      <p:sp>
        <p:nvSpPr>
          <p:cNvPr id="4" name="Footer Placeholder 3"/>
          <p:cNvSpPr>
            <a:spLocks noGrp="1"/>
          </p:cNvSpPr>
          <p:nvPr>
            <p:ph type="ftr" sz="quarter" idx="2"/>
          </p:nvPr>
        </p:nvSpPr>
        <p:spPr>
          <a:xfrm>
            <a:off x="0" y="8893297"/>
            <a:ext cx="3066733" cy="469779"/>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7"/>
            <a:ext cx="3066733" cy="469779"/>
          </a:xfrm>
          <a:prstGeom prst="rect">
            <a:avLst/>
          </a:prstGeom>
        </p:spPr>
        <p:txBody>
          <a:bodyPr vert="horz" lIns="93936" tIns="46968" rIns="93936" bIns="46968" rtlCol="0" anchor="b"/>
          <a:lstStyle>
            <a:lvl1pPr algn="r">
              <a:defRPr sz="1200"/>
            </a:lvl1pPr>
          </a:lstStyle>
          <a:p>
            <a:fld id="{0737FAA5-A42F-4054-87F6-0DE43D98B245}" type="slidenum">
              <a:rPr lang="en-US" smtClean="0"/>
              <a:t>‹#›</a:t>
            </a:fld>
            <a:endParaRPr lang="en-US" dirty="0"/>
          </a:p>
        </p:txBody>
      </p:sp>
    </p:spTree>
    <p:extLst>
      <p:ext uri="{BB962C8B-B14F-4D97-AF65-F5344CB8AC3E}">
        <p14:creationId xmlns:p14="http://schemas.microsoft.com/office/powerpoint/2010/main" val="21093490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defRPr sz="1200">
                <a:cs typeface="+mn-cs"/>
              </a:defRPr>
            </a:lvl1pPr>
          </a:lstStyle>
          <a:p>
            <a:pPr>
              <a:defRPr/>
            </a:pPr>
            <a:endParaRPr lang="en-US" dirty="0"/>
          </a:p>
        </p:txBody>
      </p:sp>
      <p:sp>
        <p:nvSpPr>
          <p:cNvPr id="4099" name="Rectangle 3"/>
          <p:cNvSpPr>
            <a:spLocks noGrp="1" noChangeArrowheads="1"/>
          </p:cNvSpPr>
          <p:nvPr>
            <p:ph type="dt" idx="1"/>
          </p:nvPr>
        </p:nvSpPr>
        <p:spPr bwMode="auto">
          <a:xfrm>
            <a:off x="4008705" y="0"/>
            <a:ext cx="3066733" cy="46815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lvl1pPr algn="r">
              <a:defRPr sz="1200">
                <a:cs typeface="+mn-cs"/>
              </a:defRPr>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1196975" y="701675"/>
            <a:ext cx="4683125" cy="351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707708" y="4447461"/>
            <a:ext cx="5661660" cy="4213384"/>
          </a:xfrm>
          <a:prstGeom prst="rect">
            <a:avLst/>
          </a:prstGeom>
          <a:noFill/>
          <a:ln w="9525">
            <a:noFill/>
            <a:miter lim="800000"/>
            <a:headEnd/>
            <a:tailEnd/>
          </a:ln>
          <a:effectLst/>
        </p:spPr>
        <p:txBody>
          <a:bodyPr vert="horz" wrap="square" lIns="93936" tIns="46968" rIns="93936" bIns="4696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defRPr sz="1200">
                <a:cs typeface="+mn-cs"/>
              </a:defRPr>
            </a:lvl1pPr>
          </a:lstStyle>
          <a:p>
            <a:pPr>
              <a:defRPr/>
            </a:pPr>
            <a:endParaRPr lang="en-US" dirty="0"/>
          </a:p>
        </p:txBody>
      </p:sp>
      <p:sp>
        <p:nvSpPr>
          <p:cNvPr id="4103" name="Rectangle 7"/>
          <p:cNvSpPr>
            <a:spLocks noGrp="1" noChangeArrowheads="1"/>
          </p:cNvSpPr>
          <p:nvPr>
            <p:ph type="sldNum" sz="quarter" idx="5"/>
          </p:nvPr>
        </p:nvSpPr>
        <p:spPr bwMode="auto">
          <a:xfrm>
            <a:off x="4008705" y="8893296"/>
            <a:ext cx="3066733" cy="468154"/>
          </a:xfrm>
          <a:prstGeom prst="rect">
            <a:avLst/>
          </a:prstGeom>
          <a:noFill/>
          <a:ln w="9525">
            <a:noFill/>
            <a:miter lim="800000"/>
            <a:headEnd/>
            <a:tailEnd/>
          </a:ln>
          <a:effectLst/>
        </p:spPr>
        <p:txBody>
          <a:bodyPr vert="horz" wrap="square" lIns="93936" tIns="46968" rIns="93936" bIns="46968" numCol="1" anchor="b" anchorCtr="0" compatLnSpc="1">
            <a:prstTxWarp prst="textNoShape">
              <a:avLst/>
            </a:prstTxWarp>
          </a:bodyPr>
          <a:lstStyle>
            <a:lvl1pPr algn="r">
              <a:defRPr sz="1200">
                <a:cs typeface="+mn-cs"/>
              </a:defRPr>
            </a:lvl1pPr>
          </a:lstStyle>
          <a:p>
            <a:pPr>
              <a:defRPr/>
            </a:pPr>
            <a:fld id="{B8FD0BC6-8D0F-4AA6-92ED-A084BB254BA3}" type="slidenum">
              <a:rPr lang="en-US"/>
              <a:pPr>
                <a:defRPr/>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82</a:t>
            </a:fld>
            <a:endParaRPr lang="en-US" dirty="0"/>
          </a:p>
        </p:txBody>
      </p:sp>
    </p:spTree>
    <p:extLst>
      <p:ext uri="{BB962C8B-B14F-4D97-AF65-F5344CB8AC3E}">
        <p14:creationId xmlns:p14="http://schemas.microsoft.com/office/powerpoint/2010/main" val="2858875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83</a:t>
            </a:fld>
            <a:endParaRPr lang="en-US" dirty="0"/>
          </a:p>
        </p:txBody>
      </p:sp>
    </p:spTree>
    <p:extLst>
      <p:ext uri="{BB962C8B-B14F-4D97-AF65-F5344CB8AC3E}">
        <p14:creationId xmlns:p14="http://schemas.microsoft.com/office/powerpoint/2010/main" val="2830438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8FD0BC6-8D0F-4AA6-92ED-A084BB254BA3}" type="slidenum">
              <a:rPr lang="en-US" smtClean="0"/>
              <a:pPr>
                <a:defRPr/>
              </a:pPr>
              <a:t>84</a:t>
            </a:fld>
            <a:endParaRPr lang="en-US" dirty="0"/>
          </a:p>
        </p:txBody>
      </p:sp>
    </p:spTree>
    <p:extLst>
      <p:ext uri="{BB962C8B-B14F-4D97-AF65-F5344CB8AC3E}">
        <p14:creationId xmlns:p14="http://schemas.microsoft.com/office/powerpoint/2010/main" val="40857586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44" y="16"/>
            <a:ext cx="9143855" cy="6865874"/>
          </a:xfrm>
          <a:prstGeom prst="rect">
            <a:avLst/>
          </a:prstGeom>
        </p:spPr>
      </p:pic>
      <p:sp>
        <p:nvSpPr>
          <p:cNvPr id="2" name="Title 1"/>
          <p:cNvSpPr>
            <a:spLocks noGrp="1"/>
          </p:cNvSpPr>
          <p:nvPr>
            <p:ph type="title"/>
          </p:nvPr>
        </p:nvSpPr>
        <p:spPr>
          <a:xfrm>
            <a:off x="628650" y="2291187"/>
            <a:ext cx="78867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3650456" y="3619986"/>
            <a:ext cx="1843088" cy="597477"/>
          </a:xfrm>
        </p:spPr>
        <p:txBody>
          <a:bodyPr>
            <a:normAutofit/>
          </a:bodyPr>
          <a:lstStyle>
            <a:lvl1pPr marL="0" indent="0" algn="ctr">
              <a:buNone/>
              <a:defRPr sz="15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2668"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01151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nit Slide">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955931" y="2193424"/>
            <a:ext cx="7232139"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628650" y="3096123"/>
            <a:ext cx="7886700" cy="672105"/>
          </a:xfrm>
        </p:spPr>
        <p:txBody>
          <a:bodyPr/>
          <a:lstStyle>
            <a:lvl1pPr>
              <a:defRPr sz="3400">
                <a:solidFill>
                  <a:schemeClr val="bg1"/>
                </a:solidFill>
              </a:defRPr>
            </a:lvl1pPr>
          </a:lstStyle>
          <a:p>
            <a:r>
              <a:rPr lang="en-US" dirty="0"/>
              <a:t>Click to edit Master title style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1721231" y="6375089"/>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29245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Slide">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 y="16"/>
            <a:ext cx="9143855" cy="6865874"/>
          </a:xfrm>
          <a:prstGeom prst="rect">
            <a:avLst/>
          </a:prstGeom>
        </p:spPr>
      </p:pic>
      <p:sp>
        <p:nvSpPr>
          <p:cNvPr id="6" name="Text Placeholder 5"/>
          <p:cNvSpPr>
            <a:spLocks noGrp="1"/>
          </p:cNvSpPr>
          <p:nvPr>
            <p:ph type="body" sz="quarter" idx="11" hasCustomPrompt="1"/>
          </p:nvPr>
        </p:nvSpPr>
        <p:spPr>
          <a:xfrm>
            <a:off x="2997682" y="3112899"/>
            <a:ext cx="2473070" cy="618014"/>
          </a:xfrm>
        </p:spPr>
        <p:txBody>
          <a:bodyPr anchor="b">
            <a:noAutofit/>
          </a:bodyPr>
          <a:lstStyle>
            <a:lvl1pPr marL="0" indent="0" algn="l">
              <a:buNone/>
              <a:defRPr sz="2700" b="0" i="0">
                <a:solidFill>
                  <a:schemeClr val="bg1"/>
                </a:solidFill>
                <a:latin typeface="Arial" charset="0"/>
                <a:ea typeface="Arial" charset="0"/>
                <a:cs typeface="Arial"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2997683" y="4035475"/>
            <a:ext cx="4802013"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184548" y="314482"/>
            <a:ext cx="2507456" cy="4318000"/>
          </a:xfrm>
        </p:spPr>
        <p:txBody>
          <a:bodyPr/>
          <a:lstStyle/>
          <a:p>
            <a:r>
              <a:rPr lang="en-US" dirty="0"/>
              <a:t>Click icon to add picture</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8646" y="6356350"/>
            <a:ext cx="1274569"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1728837" y="6356350"/>
            <a:ext cx="6601252"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chemeClr val="bg1"/>
                </a:solidFill>
                <a:latin typeface="arial" charset="0"/>
              </a:defRPr>
            </a:lvl1pPr>
          </a:lstStyle>
          <a:p>
            <a:pPr defTabSz="685800"/>
            <a:r>
              <a:rPr lang="en-US" dirty="0">
                <a:solidFill>
                  <a:srgbClr val="FFFFFF"/>
                </a:solidFill>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415448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6" name="Text Placeholder 5"/>
          <p:cNvSpPr>
            <a:spLocks noGrp="1"/>
          </p:cNvSpPr>
          <p:nvPr>
            <p:ph type="body" sz="quarter" idx="15" hasCustomPrompt="1"/>
          </p:nvPr>
        </p:nvSpPr>
        <p:spPr>
          <a:xfrm>
            <a:off x="557683" y="1289684"/>
            <a:ext cx="8033657" cy="3732692"/>
          </a:xfrm>
        </p:spPr>
        <p:txBody>
          <a:bodyPr>
            <a:noAutofit/>
          </a:bodyPr>
          <a:lstStyle>
            <a:lvl1pPr marL="0" indent="0" algn="l">
              <a:buNone/>
              <a:defRPr sz="32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85280" y="6365707"/>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14119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557681" y="1290691"/>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557680" y="1737343"/>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557680" y="3389728"/>
            <a:ext cx="8033657" cy="348047"/>
          </a:xfrm>
        </p:spPr>
        <p:txBody>
          <a:bodyPr>
            <a:noAutofit/>
          </a:bodyPr>
          <a:lstStyle>
            <a:lvl1pPr marL="0" indent="0" algn="l">
              <a:buNone/>
              <a:defRPr sz="18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557680" y="3856204"/>
            <a:ext cx="8033657" cy="1462674"/>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52313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557682"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3813351" cy="3953578"/>
          </a:xfrm>
        </p:spPr>
        <p:txBody>
          <a:bodyPr>
            <a:normAutofit/>
          </a:bodyPr>
          <a:lstStyle>
            <a:lvl1pPr marL="171450" indent="-171450">
              <a:buClr>
                <a:srgbClr val="004A78"/>
              </a:buClr>
              <a:buFont typeface="Arial" charset="0"/>
              <a:buChar char="•"/>
              <a:defRPr sz="1350">
                <a:solidFill>
                  <a:srgbClr val="000000"/>
                </a:solidFill>
              </a:defRPr>
            </a:lvl1pPr>
            <a:lvl2pPr marL="514350" indent="-171450">
              <a:buClr>
                <a:srgbClr val="004A78"/>
              </a:buClr>
              <a:buFont typeface="Arial" charset="0"/>
              <a:buChar char="•"/>
              <a:defRPr sz="1350">
                <a:solidFill>
                  <a:srgbClr val="000000"/>
                </a:solidFill>
              </a:defRPr>
            </a:lvl2pPr>
            <a:lvl3pPr marL="857250" indent="-171450">
              <a:buClr>
                <a:srgbClr val="004A78"/>
              </a:buClr>
              <a:buFont typeface="Arial" charset="0"/>
              <a:buChar char="•"/>
              <a:defRPr sz="1350">
                <a:solidFill>
                  <a:srgbClr val="000000"/>
                </a:solidFill>
              </a:defRPr>
            </a:lvl3pPr>
            <a:lvl4pPr marL="1200150" indent="-171450">
              <a:buClr>
                <a:srgbClr val="004A78"/>
              </a:buClr>
              <a:buFont typeface="Arial" charset="0"/>
              <a:buChar char="•"/>
              <a:defRPr sz="1350">
                <a:solidFill>
                  <a:srgbClr val="000000"/>
                </a:solidFill>
              </a:defRPr>
            </a:lvl4pPr>
            <a:lvl5pPr marL="1543050" indent="-171450">
              <a:buClr>
                <a:srgbClr val="004A78"/>
              </a:buClr>
              <a:buFont typeface="Arial" charset="0"/>
              <a:buChar cha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4777988" y="1655961"/>
            <a:ext cx="3813351" cy="415498"/>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4777988" y="2202774"/>
            <a:ext cx="3813351" cy="3953578"/>
          </a:xfrm>
        </p:spPr>
        <p:txBody>
          <a:bodyPr>
            <a:normAutofit/>
          </a:bodyPr>
          <a:lstStyle>
            <a:lvl1pPr>
              <a:buClr>
                <a:srgbClr val="004A78"/>
              </a:buClr>
              <a:defRPr sz="1350">
                <a:solidFill>
                  <a:srgbClr val="000000"/>
                </a:solidFill>
              </a:defRPr>
            </a:lvl1pPr>
            <a:lvl2pPr marL="514350" indent="-171450">
              <a:buClr>
                <a:srgbClr val="004A78"/>
              </a:buClr>
              <a:buFontTx/>
              <a:buChar char="‒"/>
              <a:defRPr sz="1350">
                <a:solidFill>
                  <a:srgbClr val="000000"/>
                </a:solidFill>
              </a:defRPr>
            </a:lvl2pPr>
            <a:lvl3pPr>
              <a:buClr>
                <a:srgbClr val="004A78"/>
              </a:buClr>
              <a:defRPr sz="1350">
                <a:solidFill>
                  <a:srgbClr val="000000"/>
                </a:solidFill>
              </a:defRPr>
            </a:lvl3pPr>
            <a:lvl4pPr>
              <a:buClr>
                <a:srgbClr val="004A78"/>
              </a:buClr>
              <a:defRPr sz="1350">
                <a:solidFill>
                  <a:srgbClr val="000000"/>
                </a:solidFill>
              </a:defRPr>
            </a:lvl4pPr>
            <a:lvl5pPr>
              <a:buClr>
                <a:srgbClr val="004A78"/>
              </a:buClr>
              <a:defRPr sz="135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902074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557682"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557682"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3334349"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3334349"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6109465" y="1425128"/>
            <a:ext cx="2475302" cy="646331"/>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15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6116038" y="2202774"/>
            <a:ext cx="2475302" cy="3953578"/>
          </a:xfrm>
        </p:spPr>
        <p:txBody>
          <a:bodyPr>
            <a:normAutofit/>
          </a:bodyPr>
          <a:lstStyle>
            <a:lvl1pPr>
              <a:buClr>
                <a:srgbClr val="004A78"/>
              </a:buClr>
              <a:defRPr sz="1350">
                <a:solidFill>
                  <a:srgbClr val="000000"/>
                </a:solidFill>
              </a:defRPr>
            </a:lvl1pPr>
            <a:lvl2pPr marL="514350" indent="-171450">
              <a:buFontTx/>
              <a:buChar char="‒"/>
              <a:defRPr sz="1350"/>
            </a:lvl2pPr>
            <a:lvl3pPr>
              <a:defRPr sz="1350"/>
            </a:lvl3pPr>
            <a:lvl4pPr>
              <a:defRPr sz="1350"/>
            </a:lvl4pPr>
            <a:lvl5pPr>
              <a:defRPr sz="135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968935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557683" y="1289685"/>
            <a:ext cx="8033657" cy="2750053"/>
          </a:xfrm>
        </p:spPr>
        <p:txBody>
          <a:bodyPr>
            <a:noAutofit/>
          </a:bodyPr>
          <a:lstStyle>
            <a:lvl1pPr marL="0" indent="0" algn="l">
              <a:buNone/>
              <a:defRPr sz="18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a:t>
            </a:r>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555172" y="4846655"/>
            <a:ext cx="8033657" cy="825500"/>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709443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549839" y="1619557"/>
            <a:ext cx="485775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5609229" y="4070658"/>
            <a:ext cx="2982305" cy="1808163"/>
          </a:xfrm>
        </p:spPr>
        <p:txBody>
          <a:bodyPr/>
          <a:lstStyle>
            <a:lvl1pPr marL="0" marR="0" indent="0" algn="l" defTabSz="685800" rtl="0" eaLnBrk="0" fontAlgn="base" latinLnBrk="0" hangingPunct="0">
              <a:lnSpc>
                <a:spcPct val="100000"/>
              </a:lnSpc>
              <a:spcBef>
                <a:spcPct val="0"/>
              </a:spcBef>
              <a:spcAft>
                <a:spcPct val="0"/>
              </a:spcAft>
              <a:buClrTx/>
              <a:buSzTx/>
              <a:buFontTx/>
              <a:buNone/>
              <a:tabLst/>
              <a:defRPr sz="1350">
                <a:solidFill>
                  <a:srgbClr val="006298"/>
                </a:solidFill>
                <a:latin typeface="Arial" panose="020B0604020202020204" pitchFamily="34" charset="0"/>
                <a:cs typeface="Arial" panose="020B0604020202020204" pitchFamily="34" charset="0"/>
              </a:defRPr>
            </a:lvl1pPr>
          </a:lstStyle>
          <a:p>
            <a:pPr marL="0" marR="0" lvl="0" indent="0" algn="l" defTabSz="685800" rtl="0" eaLnBrk="0" fontAlgn="base" latinLnBrk="0" hangingPunct="0">
              <a:lnSpc>
                <a:spcPct val="100000"/>
              </a:lnSpc>
              <a:spcBef>
                <a:spcPct val="0"/>
              </a:spcBef>
              <a:spcAft>
                <a:spcPct val="0"/>
              </a:spcAft>
              <a:buClrTx/>
              <a:buSzTx/>
              <a:buFontTx/>
              <a:buNone/>
              <a:tabLst/>
              <a:defRPr/>
            </a:pP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35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35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p:nvSpPr>
        <p:spPr>
          <a:xfrm>
            <a:off x="1783079" y="6365706"/>
            <a:ext cx="6965770"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2353038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1737360" y="6337389"/>
            <a:ext cx="71441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565420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342900" indent="-342900">
              <a:buClr>
                <a:srgbClr val="004A78"/>
              </a:buClr>
              <a:buFont typeface="+mj-lt"/>
              <a:buAutoNum type="arabicPeriod"/>
              <a:defRPr sz="1500">
                <a:solidFill>
                  <a:srgbClr val="000000"/>
                </a:solidFill>
              </a:defRPr>
            </a:lvl1pPr>
            <a:lvl2pPr marL="514350" marR="0" indent="-171450" algn="l" defTabSz="685800" rtl="0" eaLnBrk="1" fontAlgn="base" latinLnBrk="0" hangingPunct="1">
              <a:lnSpc>
                <a:spcPct val="90000"/>
              </a:lnSpc>
              <a:spcBef>
                <a:spcPts val="375"/>
              </a:spcBef>
              <a:spcAft>
                <a:spcPct val="0"/>
              </a:spcAft>
              <a:buClr>
                <a:srgbClr val="FF6300"/>
              </a:buClr>
              <a:buSzTx/>
              <a:buFont typeface="Arial" charset="0"/>
              <a:buChar char="•"/>
              <a:tabLst/>
              <a:defRPr sz="1500" baseline="0"/>
            </a:lvl2pPr>
            <a:lvl3pPr marL="857250" indent="-171450">
              <a:buClr>
                <a:srgbClr val="000000"/>
              </a:buClr>
              <a:buFont typeface="Arial" charset="0"/>
              <a:buChar char="•"/>
              <a:defRPr sz="1500"/>
            </a:lvl3pPr>
            <a:lvl4pPr marL="1200150" indent="-171450">
              <a:buClr>
                <a:srgbClr val="000000"/>
              </a:buClr>
              <a:buSzPct val="50000"/>
              <a:buFont typeface="LucidaGrande" charset="0"/>
              <a:buChar char="▶"/>
              <a:defRPr sz="1500"/>
            </a:lvl4pPr>
            <a:lvl5pPr marL="1543050" indent="-171450">
              <a:buClr>
                <a:srgbClr val="000000"/>
              </a:buClr>
              <a:buFont typeface="Helvetica" charset="0"/>
              <a:buChar char="⁃"/>
              <a:defRPr sz="15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p:nvSpPr>
        <p:spPr>
          <a:xfrm>
            <a:off x="2255900" y="6431021"/>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8519888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a:t>Click to edit Master title style</a:t>
            </a:r>
          </a:p>
        </p:txBody>
      </p:sp>
      <p:sp>
        <p:nvSpPr>
          <p:cNvPr id="12" name="Text Placeholder 11"/>
          <p:cNvSpPr>
            <a:spLocks noGrp="1"/>
          </p:cNvSpPr>
          <p:nvPr>
            <p:ph type="body" sz="quarter" idx="17" hasCustomPrompt="1"/>
          </p:nvPr>
        </p:nvSpPr>
        <p:spPr>
          <a:xfrm>
            <a:off x="557683" y="1638300"/>
            <a:ext cx="8033657" cy="4394200"/>
          </a:xfrm>
        </p:spPr>
        <p:txBody>
          <a:bodyPr>
            <a:normAutofit/>
          </a:bodyPr>
          <a:lstStyle>
            <a:lvl1pPr marL="257175" indent="-257175">
              <a:buClr>
                <a:srgbClr val="004A78"/>
              </a:buClr>
              <a:buFont typeface="Arial" charset="0"/>
              <a:buChar char="•"/>
              <a:defRPr sz="3200">
                <a:solidFill>
                  <a:srgbClr val="004A78"/>
                </a:solidFill>
              </a:defRPr>
            </a:lvl1pPr>
            <a:lvl2pPr marL="514350" marR="0" indent="-171450" algn="l" defTabSz="685800" rtl="0" eaLnBrk="1" fontAlgn="base" latinLnBrk="0" hangingPunct="1">
              <a:lnSpc>
                <a:spcPct val="90000"/>
              </a:lnSpc>
              <a:spcBef>
                <a:spcPts val="375"/>
              </a:spcBef>
              <a:spcAft>
                <a:spcPct val="0"/>
              </a:spcAft>
              <a:buClr>
                <a:srgbClr val="004A78"/>
              </a:buClr>
              <a:buSzTx/>
              <a:buFont typeface="Arial" charset="0"/>
              <a:buChar char="•"/>
              <a:tabLst/>
              <a:defRPr sz="2800" baseline="0"/>
            </a:lvl2pPr>
            <a:lvl3pPr marL="857250" indent="-171450">
              <a:buClr>
                <a:srgbClr val="004A78"/>
              </a:buClr>
              <a:buFont typeface="Arial" charset="0"/>
              <a:buChar char="•"/>
              <a:defRPr sz="2400"/>
            </a:lvl3pPr>
            <a:lvl4pPr marL="1200150" indent="-171450">
              <a:buClr>
                <a:srgbClr val="004A78"/>
              </a:buClr>
              <a:buSzPct val="50000"/>
              <a:buFont typeface="LucidaGrande" charset="0"/>
              <a:buChar char="▶"/>
              <a:defRPr sz="2400"/>
            </a:lvl4pPr>
            <a:lvl5pPr marL="1543050" indent="-171450">
              <a:buClr>
                <a:srgbClr val="000000"/>
              </a:buClr>
              <a:buFont typeface="Helvetica" charset="0"/>
              <a:buChar char="⁃"/>
              <a:defRPr sz="24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7138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Table Placeholder 4"/>
          <p:cNvSpPr>
            <a:spLocks noGrp="1"/>
          </p:cNvSpPr>
          <p:nvPr>
            <p:ph type="tbl" sz="quarter" idx="10"/>
          </p:nvPr>
        </p:nvSpPr>
        <p:spPr>
          <a:xfrm>
            <a:off x="1421642" y="2019869"/>
            <a:ext cx="6096000" cy="3380095"/>
          </a:xfrm>
        </p:spPr>
        <p:txBody>
          <a:bodyPr/>
          <a:lstStyle/>
          <a:p>
            <a:r>
              <a:rPr lang="en-US" dirty="0"/>
              <a:t>Click icon to add table</a:t>
            </a:r>
          </a:p>
        </p:txBody>
      </p:sp>
      <p:sp>
        <p:nvSpPr>
          <p:cNvPr id="6" name="Footer"/>
          <p:cNvSpPr txBox="1"/>
          <p:nvPr/>
        </p:nvSpPr>
        <p:spPr>
          <a:xfrm>
            <a:off x="1777800" y="6369539"/>
            <a:ext cx="6717007"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224075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944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19600" y="1219200"/>
            <a:ext cx="4267200" cy="4906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cNvSpPr txBox="1"/>
          <p:nvPr userDrawn="1"/>
        </p:nvSpPr>
        <p:spPr>
          <a:xfrm>
            <a:off x="1783081" y="6363725"/>
            <a:ext cx="6808259" cy="369332"/>
          </a:xfrm>
          <a:prstGeom prst="rect">
            <a:avLst/>
          </a:prstGeom>
          <a:noFill/>
          <a:effectLst/>
        </p:spPr>
        <p:txBody>
          <a:bodyPr wrap="square" lIns="0" tIns="0" rIns="0" rtlCol="0" anchor="b">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4A78"/>
                </a:solidFill>
                <a:effectLst/>
                <a:uLnTx/>
                <a:uFillTx/>
                <a:latin typeface="arial" charset="0"/>
                <a:ea typeface="+mn-ea"/>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9050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6"/>
            <a:ext cx="78867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57632" y="6356351"/>
            <a:ext cx="118467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1744717" y="6310311"/>
            <a:ext cx="6770633"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050" b="0" i="0" u="none" strike="noStrike" baseline="0" smtClean="0">
                <a:solidFill>
                  <a:srgbClr val="006298"/>
                </a:solidFill>
                <a:latin typeface="arial" charset="0"/>
              </a:defRPr>
            </a:lvl1pPr>
          </a:lstStyle>
          <a:p>
            <a:pPr defTabSz="685800"/>
            <a:r>
              <a:rPr lang="en-US" dirty="0">
                <a:cs typeface="+mn-cs"/>
              </a:rPr>
              <a:t>Carey, HTML5 and CSS3, 8th Edition. © 2021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895987422"/>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Lst>
  <p:hf sldNum="0" hd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5pPr>
      <a:lvl6pPr marL="3429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6pPr>
      <a:lvl7pPr marL="6858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7pPr>
      <a:lvl8pPr marL="10287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8pPr>
      <a:lvl9pPr marL="1371600" algn="l" rtl="0" eaLnBrk="1" fontAlgn="base" hangingPunct="1">
        <a:lnSpc>
          <a:spcPct val="90000"/>
        </a:lnSpc>
        <a:spcBef>
          <a:spcPct val="0"/>
        </a:spcBef>
        <a:spcAft>
          <a:spcPct val="0"/>
        </a:spcAft>
        <a:defRPr sz="255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750"/>
        </a:spcBef>
        <a:spcAft>
          <a:spcPct val="0"/>
        </a:spcAft>
        <a:buFont typeface="Arial" charset="0"/>
        <a:buNone/>
        <a:defRPr sz="3200" kern="1200" baseline="0">
          <a:solidFill>
            <a:srgbClr val="000000"/>
          </a:solidFill>
          <a:latin typeface="Arial" charset="0"/>
          <a:ea typeface="Arial" charset="0"/>
          <a:cs typeface="Arial" charset="0"/>
        </a:defRPr>
      </a:lvl1pPr>
      <a:lvl2pPr marL="514350" indent="-171450" algn="l" rtl="0" eaLnBrk="1" fontAlgn="base" hangingPunct="1">
        <a:lnSpc>
          <a:spcPct val="90000"/>
        </a:lnSpc>
        <a:spcBef>
          <a:spcPts val="375"/>
        </a:spcBef>
        <a:spcAft>
          <a:spcPct val="0"/>
        </a:spcAft>
        <a:buFont typeface="Arial" charset="0"/>
        <a:buChar char="•"/>
        <a:defRPr sz="1800" kern="1200" baseline="0">
          <a:solidFill>
            <a:srgbClr val="004A78"/>
          </a:solidFill>
          <a:latin typeface="Arial" charset="0"/>
          <a:ea typeface="Arial" charset="0"/>
          <a:cs typeface="Arial" charset="0"/>
        </a:defRPr>
      </a:lvl2pPr>
      <a:lvl3pPr marL="857250" indent="-171450" algn="l" rtl="0" eaLnBrk="1" fontAlgn="base" hangingPunct="1">
        <a:lnSpc>
          <a:spcPct val="90000"/>
        </a:lnSpc>
        <a:spcBef>
          <a:spcPts val="375"/>
        </a:spcBef>
        <a:spcAft>
          <a:spcPct val="0"/>
        </a:spcAft>
        <a:buFont typeface="Arial" charset="0"/>
        <a:buChar char="•"/>
        <a:defRPr sz="1500" kern="1200" baseline="0">
          <a:solidFill>
            <a:srgbClr val="004A78"/>
          </a:solidFill>
          <a:latin typeface="Arial" charset="0"/>
          <a:ea typeface="Arial" charset="0"/>
          <a:cs typeface="Arial" charset="0"/>
        </a:defRPr>
      </a:lvl3pPr>
      <a:lvl4pPr marL="12001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4pPr>
      <a:lvl5pPr marL="1543050" indent="-171450" algn="l" rtl="0" eaLnBrk="1" fontAlgn="base" hangingPunct="1">
        <a:lnSpc>
          <a:spcPct val="90000"/>
        </a:lnSpc>
        <a:spcBef>
          <a:spcPts val="375"/>
        </a:spcBef>
        <a:spcAft>
          <a:spcPct val="0"/>
        </a:spcAft>
        <a:buFont typeface="Arial" charset="0"/>
        <a:buChar char="•"/>
        <a:defRPr kern="1200" baseline="0">
          <a:solidFill>
            <a:srgbClr val="004A78"/>
          </a:solidFill>
          <a:latin typeface="Arial" charset="0"/>
          <a:ea typeface="Arial" charset="0"/>
          <a:cs typeface="Arial" charset="0"/>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BB88C5-9CA0-4A23-82E3-0A057E3763D0}"/>
              </a:ext>
            </a:extLst>
          </p:cNvPr>
          <p:cNvSpPr>
            <a:spLocks noGrp="1"/>
          </p:cNvSpPr>
          <p:nvPr>
            <p:ph type="title"/>
          </p:nvPr>
        </p:nvSpPr>
        <p:spPr/>
        <p:txBody>
          <a:bodyPr/>
          <a:lstStyle/>
          <a:p>
            <a:r>
              <a:rPr lang="en-US" sz="5000" dirty="0"/>
              <a:t>Tutorial 09</a:t>
            </a:r>
          </a:p>
        </p:txBody>
      </p:sp>
      <p:sp>
        <p:nvSpPr>
          <p:cNvPr id="5" name="Text Placeholder 4">
            <a:extLst>
              <a:ext uri="{FF2B5EF4-FFF2-40B4-BE49-F238E27FC236}">
                <a16:creationId xmlns:a16="http://schemas.microsoft.com/office/drawing/2014/main" id="{6172A042-96CD-495D-921B-6FFE20D0BA08}"/>
              </a:ext>
            </a:extLst>
          </p:cNvPr>
          <p:cNvSpPr>
            <a:spLocks noGrp="1"/>
          </p:cNvSpPr>
          <p:nvPr>
            <p:ph type="body" sz="quarter" idx="10"/>
          </p:nvPr>
        </p:nvSpPr>
        <p:spPr>
          <a:xfrm>
            <a:off x="1384300" y="3619986"/>
            <a:ext cx="6464300" cy="597477"/>
          </a:xfrm>
        </p:spPr>
        <p:txBody>
          <a:bodyPr>
            <a:normAutofit lnSpcReduction="10000"/>
          </a:bodyPr>
          <a:lstStyle/>
          <a:p>
            <a:r>
              <a:rPr lang="en-US" sz="3400" b="1" dirty="0">
                <a:solidFill>
                  <a:srgbClr val="FFFFFF"/>
                </a:solidFill>
              </a:rPr>
              <a:t>Getting Started with JavaScript</a:t>
            </a:r>
            <a:br>
              <a:rPr lang="en-US" sz="3400" b="1" dirty="0">
                <a:solidFill>
                  <a:srgbClr val="FFFFFF"/>
                </a:solidFill>
              </a:rPr>
            </a:br>
            <a:endParaRPr lang="en-US" dirty="0"/>
          </a:p>
        </p:txBody>
      </p:sp>
      <p:sp>
        <p:nvSpPr>
          <p:cNvPr id="12" name="Footer Placeholder 11">
            <a:extLst>
              <a:ext uri="{FF2B5EF4-FFF2-40B4-BE49-F238E27FC236}">
                <a16:creationId xmlns:a16="http://schemas.microsoft.com/office/drawing/2014/main" id="{B8B256E9-DF2C-4D8F-A3CE-E53FEDA99FD5}"/>
              </a:ext>
            </a:extLst>
          </p:cNvPr>
          <p:cNvSpPr>
            <a:spLocks noGrp="1"/>
          </p:cNvSpPr>
          <p:nvPr>
            <p:ph type="ftr" sz="quarter" idx="3"/>
          </p:nvPr>
        </p:nvSpPr>
        <p:spPr/>
        <p:txBody>
          <a:bodyPr/>
          <a:lstStyle/>
          <a:p>
            <a:r>
              <a:rPr lang="en-US" dirty="0"/>
              <a:t>Carey, HTML5 and CSS3, 8th Edition. © 2021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a:t>
            </a:r>
          </a:p>
        </p:txBody>
      </p:sp>
      <p:sp>
        <p:nvSpPr>
          <p:cNvPr id="5" name="Text Placeholder 4"/>
          <p:cNvSpPr>
            <a:spLocks noGrp="1"/>
          </p:cNvSpPr>
          <p:nvPr>
            <p:ph type="body" sz="quarter" idx="17"/>
          </p:nvPr>
        </p:nvSpPr>
        <p:spPr/>
        <p:txBody>
          <a:bodyPr>
            <a:normAutofit/>
          </a:bodyPr>
          <a:lstStyle/>
          <a:p>
            <a:r>
              <a:rPr lang="en-US" dirty="0"/>
              <a:t>Insert a script element</a:t>
            </a:r>
          </a:p>
          <a:p>
            <a:r>
              <a:rPr lang="en-US" dirty="0"/>
              <a:t>Write JavaScript comments</a:t>
            </a:r>
          </a:p>
          <a:p>
            <a:r>
              <a:rPr lang="en-US" dirty="0"/>
              <a:t>Display an alert dialog box</a:t>
            </a:r>
          </a:p>
          <a:p>
            <a:r>
              <a:rPr lang="en-US" dirty="0"/>
              <a:t>Use browser debugging tools</a:t>
            </a:r>
          </a:p>
          <a:p>
            <a:r>
              <a:rPr lang="en-US" dirty="0"/>
              <a:t>Reference browser and page objects</a:t>
            </a:r>
          </a:p>
          <a:p>
            <a:r>
              <a:rPr lang="en-US" dirty="0"/>
              <a:t>Use JavaScript properties and methods</a:t>
            </a:r>
            <a:br>
              <a:rPr lang="en-US" dirty="0"/>
            </a:br>
            <a:endParaRPr lang="en-US" dirty="0"/>
          </a:p>
        </p:txBody>
      </p:sp>
    </p:spTree>
    <p:extLst>
      <p:ext uri="{BB962C8B-B14F-4D97-AF65-F5344CB8AC3E}">
        <p14:creationId xmlns:p14="http://schemas.microsoft.com/office/powerpoint/2010/main" val="1863907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Objectives (continued)</a:t>
            </a:r>
          </a:p>
        </p:txBody>
      </p:sp>
      <p:sp>
        <p:nvSpPr>
          <p:cNvPr id="5" name="Text Placeholder 4"/>
          <p:cNvSpPr>
            <a:spLocks noGrp="1"/>
          </p:cNvSpPr>
          <p:nvPr>
            <p:ph type="body" sz="quarter" idx="17"/>
          </p:nvPr>
        </p:nvSpPr>
        <p:spPr/>
        <p:txBody>
          <a:bodyPr/>
          <a:lstStyle/>
          <a:p>
            <a:r>
              <a:rPr lang="en-US" dirty="0"/>
              <a:t>Write HTML code and text content into a page</a:t>
            </a:r>
          </a:p>
          <a:p>
            <a:r>
              <a:rPr lang="en-US" dirty="0"/>
              <a:t>Work with a Date object</a:t>
            </a:r>
          </a:p>
          <a:p>
            <a:r>
              <a:rPr lang="en-US" dirty="0"/>
              <a:t>Use JavaScript operators</a:t>
            </a:r>
          </a:p>
          <a:p>
            <a:r>
              <a:rPr lang="en-US" dirty="0"/>
              <a:t>Create a JavaScript function</a:t>
            </a:r>
          </a:p>
          <a:p>
            <a:r>
              <a:rPr lang="en-US" dirty="0"/>
              <a:t>Create timed commands</a:t>
            </a:r>
          </a:p>
        </p:txBody>
      </p:sp>
    </p:spTree>
    <p:extLst>
      <p:ext uri="{BB962C8B-B14F-4D97-AF65-F5344CB8AC3E}">
        <p14:creationId xmlns:p14="http://schemas.microsoft.com/office/powerpoint/2010/main" val="261995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Server-Side and Client-Side Programming</a:t>
            </a:r>
          </a:p>
        </p:txBody>
      </p:sp>
      <p:sp>
        <p:nvSpPr>
          <p:cNvPr id="5" name="Text Placeholder 4"/>
          <p:cNvSpPr>
            <a:spLocks noGrp="1"/>
          </p:cNvSpPr>
          <p:nvPr>
            <p:ph type="body" sz="quarter" idx="17"/>
          </p:nvPr>
        </p:nvSpPr>
        <p:spPr/>
        <p:txBody>
          <a:bodyPr>
            <a:normAutofit lnSpcReduction="10000"/>
          </a:bodyPr>
          <a:lstStyle/>
          <a:p>
            <a:r>
              <a:rPr lang="en-US" b="1" dirty="0"/>
              <a:t>Server-side programming</a:t>
            </a:r>
            <a:r>
              <a:rPr lang="en-US" dirty="0"/>
              <a:t>: Program code runs from the server hosting the website</a:t>
            </a:r>
          </a:p>
          <a:p>
            <a:r>
              <a:rPr lang="en-US" dirty="0"/>
              <a:t>Advantage</a:t>
            </a:r>
          </a:p>
          <a:p>
            <a:pPr lvl="1"/>
            <a:r>
              <a:rPr lang="en-US" dirty="0"/>
              <a:t>Connects a server to an online database containing information not directly accessible to end users</a:t>
            </a:r>
          </a:p>
          <a:p>
            <a:r>
              <a:rPr lang="en-US" dirty="0"/>
              <a:t>Disadvantages</a:t>
            </a:r>
          </a:p>
          <a:p>
            <a:pPr lvl="1"/>
            <a:r>
              <a:rPr lang="en-US" dirty="0"/>
              <a:t>Use server resources and requires Internet access</a:t>
            </a:r>
          </a:p>
          <a:p>
            <a:pPr lvl="1"/>
            <a:r>
              <a:rPr lang="en-US" dirty="0"/>
              <a:t>Long delays in cases of system over-load</a:t>
            </a:r>
          </a:p>
        </p:txBody>
      </p:sp>
    </p:spTree>
    <p:extLst>
      <p:ext uri="{BB962C8B-B14F-4D97-AF65-F5344CB8AC3E}">
        <p14:creationId xmlns:p14="http://schemas.microsoft.com/office/powerpoint/2010/main" val="4285981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Server-Side and Client-Side Programming (continued 1)</a:t>
            </a:r>
          </a:p>
        </p:txBody>
      </p:sp>
      <p:pic>
        <p:nvPicPr>
          <p:cNvPr id="8" name="Picture Placeholder 7" descr="This figure shows the server-side programming.&#10;&#10;The figure consists of two rectangular boxes, two curved arrows, an image and three steps that represent the process flow.&#10;&#10;The two rectangular boxes are vertically positioned to represent two CPUs. An image of a user operating a computer is positioned at the bottom-left side of the two rectangular boxes. The first curved arrow starting from the two rectangular boxes points to the image. The first step that reads “1) user retrieves web page from the server” is positioned at the left side of the first curved arrow. The second arrow originating from the image points to the two rectangular boxes. The second curved arrow is positioned parallel to the first curved arrow. The second step that reads “2) information is sent to a program running on the server” is positioned at the bottom-right side of the second curved arrow.&#10;The third step that reads “3) a server-side program processes the information and may send additional feedback to the user” is positioned at the top-left side of the two rectangular boxes." title="Figure 9-1 Server-side programming"/>
          <p:cNvPicPr>
            <a:picLocks noGrp="1" noChangeAspect="1"/>
          </p:cNvPicPr>
          <p:nvPr>
            <p:ph type="pic" sz="quarter" idx="10"/>
          </p:nvPr>
        </p:nvPicPr>
        <p:blipFill>
          <a:blip r:embed="rId2"/>
          <a:stretch>
            <a:fillRect/>
          </a:stretch>
        </p:blipFill>
        <p:spPr>
          <a:xfrm>
            <a:off x="1341186" y="1816504"/>
            <a:ext cx="5943600" cy="4181475"/>
          </a:xfrm>
          <a:prstGeom prst="rect">
            <a:avLst/>
          </a:prstGeom>
        </p:spPr>
      </p:pic>
    </p:spTree>
    <p:extLst>
      <p:ext uri="{BB962C8B-B14F-4D97-AF65-F5344CB8AC3E}">
        <p14:creationId xmlns:p14="http://schemas.microsoft.com/office/powerpoint/2010/main" val="452204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Server-Side and Client-Side Programming (continued 2)</a:t>
            </a:r>
          </a:p>
        </p:txBody>
      </p:sp>
      <p:sp>
        <p:nvSpPr>
          <p:cNvPr id="6" name="Text Placeholder 5"/>
          <p:cNvSpPr>
            <a:spLocks noGrp="1"/>
          </p:cNvSpPr>
          <p:nvPr>
            <p:ph type="body" sz="quarter" idx="17"/>
          </p:nvPr>
        </p:nvSpPr>
        <p:spPr/>
        <p:txBody>
          <a:bodyPr/>
          <a:lstStyle/>
          <a:p>
            <a:r>
              <a:rPr lang="en-US" b="1" dirty="0"/>
              <a:t>Client-side programming</a:t>
            </a:r>
            <a:r>
              <a:rPr lang="en-US" dirty="0"/>
              <a:t>: Programs run on the user’s computer using downloaded scripts with HTML and CSS files</a:t>
            </a:r>
          </a:p>
          <a:p>
            <a:r>
              <a:rPr lang="en-US" dirty="0"/>
              <a:t>Distributes load to avoid overloading of program-related requests</a:t>
            </a:r>
          </a:p>
          <a:p>
            <a:r>
              <a:rPr lang="en-US" dirty="0"/>
              <a:t>Client-side programs can never replace server-side programming</a:t>
            </a:r>
          </a:p>
        </p:txBody>
      </p:sp>
    </p:spTree>
    <p:extLst>
      <p:ext uri="{BB962C8B-B14F-4D97-AF65-F5344CB8AC3E}">
        <p14:creationId xmlns:p14="http://schemas.microsoft.com/office/powerpoint/2010/main" val="3190021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Server-Side and Client-Side Programming (continued 3)</a:t>
            </a:r>
          </a:p>
        </p:txBody>
      </p:sp>
      <p:pic>
        <p:nvPicPr>
          <p:cNvPr id="4" name="Picture Placeholder 3" descr="This figure shows the client-side programming.&#10;&#10;The figure consists of two rectangular boxes, a curved arrow, an image and two steps that represent the process flow. The two rectangular boxes are vertically positioned to represent two CPUs. An image of a user operating a computer is positioned at the bottom-left side of the two rectangular boxes. A curved arrow starting from the two rectangular boxes points to the image. The first step that reads “1) user retrieves web page from the server” is positioned at the left side of the curved arrow. The second step that reads “2) user runs the program locally, receiving instant feedback” is positioned at the right side of the image." title="Figure 9-2 Client-side programming"/>
          <p:cNvPicPr>
            <a:picLocks noGrp="1" noChangeAspect="1"/>
          </p:cNvPicPr>
          <p:nvPr>
            <p:ph type="pic" sz="quarter" idx="10"/>
          </p:nvPr>
        </p:nvPicPr>
        <p:blipFill>
          <a:blip r:embed="rId2"/>
          <a:stretch>
            <a:fillRect/>
          </a:stretch>
        </p:blipFill>
        <p:spPr>
          <a:xfrm>
            <a:off x="1324638" y="1535151"/>
            <a:ext cx="6494724" cy="4544127"/>
          </a:xfrm>
          <a:prstGeom prst="rect">
            <a:avLst/>
          </a:prstGeom>
        </p:spPr>
      </p:pic>
    </p:spTree>
    <p:extLst>
      <p:ext uri="{BB962C8B-B14F-4D97-AF65-F5344CB8AC3E}">
        <p14:creationId xmlns:p14="http://schemas.microsoft.com/office/powerpoint/2010/main" val="2293994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Development of JavaScript</a:t>
            </a:r>
          </a:p>
        </p:txBody>
      </p:sp>
      <p:sp>
        <p:nvSpPr>
          <p:cNvPr id="5" name="Text Placeholder 4"/>
          <p:cNvSpPr>
            <a:spLocks noGrp="1"/>
          </p:cNvSpPr>
          <p:nvPr>
            <p:ph type="body" sz="quarter" idx="17"/>
          </p:nvPr>
        </p:nvSpPr>
        <p:spPr/>
        <p:txBody>
          <a:bodyPr/>
          <a:lstStyle/>
          <a:p>
            <a:r>
              <a:rPr lang="en-US" b="1" dirty="0"/>
              <a:t>JavaScript</a:t>
            </a:r>
            <a:r>
              <a:rPr lang="en-US" dirty="0"/>
              <a:t> is a programming language for client-side programs</a:t>
            </a:r>
          </a:p>
          <a:p>
            <a:r>
              <a:rPr lang="en-US" dirty="0"/>
              <a:t>It is an </a:t>
            </a:r>
            <a:r>
              <a:rPr lang="en-US" b="1" dirty="0"/>
              <a:t>interpreted language</a:t>
            </a:r>
            <a:r>
              <a:rPr lang="en-US" dirty="0"/>
              <a:t> that executes a program code without using an application</a:t>
            </a:r>
          </a:p>
          <a:p>
            <a:r>
              <a:rPr lang="en-US" b="1" dirty="0"/>
              <a:t>Compiler</a:t>
            </a:r>
            <a:r>
              <a:rPr lang="en-US" dirty="0"/>
              <a:t> is an application that translates a program code into machine language</a:t>
            </a:r>
          </a:p>
          <a:p>
            <a:r>
              <a:rPr lang="en-US" dirty="0"/>
              <a:t>JavaScript code can be directly inserted into or linked to an HTML file</a:t>
            </a:r>
          </a:p>
        </p:txBody>
      </p:sp>
    </p:spTree>
    <p:extLst>
      <p:ext uri="{BB962C8B-B14F-4D97-AF65-F5344CB8AC3E}">
        <p14:creationId xmlns:p14="http://schemas.microsoft.com/office/powerpoint/2010/main" val="3434577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the </a:t>
            </a:r>
            <a:r>
              <a:rPr lang="en-US" dirty="0">
                <a:latin typeface="Courier New" panose="02070309020205020404" pitchFamily="49" charset="0"/>
                <a:cs typeface="Courier New" panose="02070309020205020404" pitchFamily="49" charset="0"/>
              </a:rPr>
              <a:t>script</a:t>
            </a:r>
            <a:r>
              <a:rPr lang="en-US" dirty="0"/>
              <a:t> Element</a:t>
            </a:r>
          </a:p>
        </p:txBody>
      </p:sp>
      <p:sp>
        <p:nvSpPr>
          <p:cNvPr id="5" name="Text Placeholder 4"/>
          <p:cNvSpPr>
            <a:spLocks noGrp="1"/>
          </p:cNvSpPr>
          <p:nvPr>
            <p:ph type="body" sz="quarter" idx="17"/>
          </p:nvPr>
        </p:nvSpPr>
        <p:spPr/>
        <p:txBody>
          <a:bodyPr>
            <a:normAutofit fontScale="92500" lnSpcReduction="10000"/>
          </a:bodyPr>
          <a:lstStyle/>
          <a:p>
            <a:r>
              <a:rPr lang="en-US" dirty="0"/>
              <a:t>JavaScript code is attached to an HTML file using the </a:t>
            </a:r>
            <a:r>
              <a:rPr lang="en-US" sz="2600" dirty="0">
                <a:latin typeface="Courier New" panose="02070309020205020404" pitchFamily="49" charset="0"/>
                <a:cs typeface="Courier New" panose="02070309020205020404" pitchFamily="49" charset="0"/>
              </a:rPr>
              <a:t>script</a:t>
            </a:r>
            <a:r>
              <a:rPr lang="en-US" dirty="0"/>
              <a:t> element</a:t>
            </a:r>
          </a:p>
          <a:p>
            <a:pPr marL="520700" indent="0">
              <a:buNone/>
            </a:pPr>
            <a:r>
              <a:rPr lang="en-US" sz="2800" dirty="0">
                <a:latin typeface="Courier New" panose="02070309020205020404" pitchFamily="49" charset="0"/>
                <a:cs typeface="Courier New" panose="02070309020205020404" pitchFamily="49" charset="0"/>
              </a:rPr>
              <a:t>&lt;script src=”url”&gt;&lt;/script&gt;</a:t>
            </a:r>
          </a:p>
          <a:p>
            <a:pPr marL="520700" indent="0">
              <a:buNone/>
            </a:pPr>
            <a:r>
              <a:rPr lang="en-US" sz="3000" dirty="0"/>
              <a:t>where </a:t>
            </a:r>
            <a:r>
              <a:rPr lang="en-US" sz="2800" dirty="0">
                <a:latin typeface="Courier New" panose="02070309020205020404" pitchFamily="49" charset="0"/>
                <a:cs typeface="Courier New" panose="02070309020205020404" pitchFamily="49" charset="0"/>
              </a:rPr>
              <a:t>url</a:t>
            </a:r>
            <a:r>
              <a:rPr lang="en-US" sz="3000" dirty="0"/>
              <a:t> is the URL of the external file containing the JavaScript code</a:t>
            </a:r>
          </a:p>
          <a:p>
            <a:r>
              <a:rPr lang="en-US" dirty="0"/>
              <a:t>An </a:t>
            </a:r>
            <a:r>
              <a:rPr lang="en-US" b="1" dirty="0"/>
              <a:t>embedded scrip</a:t>
            </a:r>
            <a:r>
              <a:rPr lang="en-US" dirty="0"/>
              <a:t>t can be used instead of an external file by omitting the </a:t>
            </a:r>
            <a:r>
              <a:rPr lang="en-US" sz="2600" dirty="0">
                <a:latin typeface="Courier New" panose="02070309020205020404" pitchFamily="49" charset="0"/>
                <a:cs typeface="Courier New" panose="02070309020205020404" pitchFamily="49" charset="0"/>
              </a:rPr>
              <a:t>src</a:t>
            </a:r>
            <a:r>
              <a:rPr lang="en-US" dirty="0"/>
              <a:t> attribute</a:t>
            </a:r>
          </a:p>
          <a:p>
            <a:pPr marL="463550" indent="0">
              <a:buNone/>
            </a:pPr>
            <a:r>
              <a:rPr lang="en-US" sz="2800" dirty="0">
                <a:latin typeface="Courier New" panose="02070309020205020404" pitchFamily="49" charset="0"/>
                <a:cs typeface="Courier New" panose="02070309020205020404" pitchFamily="49" charset="0"/>
              </a:rPr>
              <a:t>&lt;script&gt;</a:t>
            </a:r>
          </a:p>
          <a:p>
            <a:pPr marL="914400" indent="0">
              <a:buNone/>
            </a:pPr>
            <a:r>
              <a:rPr lang="en-US" sz="2800" dirty="0">
                <a:latin typeface="Courier New" panose="02070309020205020404" pitchFamily="49" charset="0"/>
                <a:cs typeface="Courier New" panose="02070309020205020404" pitchFamily="49" charset="0"/>
              </a:rPr>
              <a:t>code</a:t>
            </a:r>
          </a:p>
          <a:p>
            <a:pPr marL="463550" indent="0">
              <a:buNone/>
            </a:pPr>
            <a:r>
              <a:rPr lang="en-US" sz="2800" dirty="0">
                <a:latin typeface="Courier New" panose="02070309020205020404" pitchFamily="49" charset="0"/>
                <a:cs typeface="Courier New" panose="02070309020205020404" pitchFamily="49" charset="0"/>
              </a:rPr>
              <a:t>&lt;/script&gt;</a:t>
            </a:r>
          </a:p>
        </p:txBody>
      </p:sp>
    </p:spTree>
    <p:extLst>
      <p:ext uri="{BB962C8B-B14F-4D97-AF65-F5344CB8AC3E}">
        <p14:creationId xmlns:p14="http://schemas.microsoft.com/office/powerpoint/2010/main" val="853757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the </a:t>
            </a:r>
            <a:r>
              <a:rPr lang="en-US" dirty="0">
                <a:latin typeface="Courier New" panose="02070309020205020404" pitchFamily="49" charset="0"/>
                <a:cs typeface="Courier New" panose="02070309020205020404" pitchFamily="49" charset="0"/>
              </a:rPr>
              <a:t>script</a:t>
            </a:r>
            <a:r>
              <a:rPr lang="en-US" dirty="0"/>
              <a:t> Element</a:t>
            </a:r>
          </a:p>
        </p:txBody>
      </p:sp>
      <p:sp>
        <p:nvSpPr>
          <p:cNvPr id="5" name="Text Placeholder 4"/>
          <p:cNvSpPr>
            <a:spLocks noGrp="1"/>
          </p:cNvSpPr>
          <p:nvPr>
            <p:ph type="body" sz="quarter" idx="17"/>
          </p:nvPr>
        </p:nvSpPr>
        <p:spPr/>
        <p:txBody>
          <a:bodyPr/>
          <a:lstStyle/>
          <a:p>
            <a:r>
              <a:rPr lang="en-US" dirty="0"/>
              <a:t>The </a:t>
            </a:r>
            <a:r>
              <a:rPr lang="en-US" sz="2600" dirty="0">
                <a:latin typeface="Courier New" panose="02070309020205020404" pitchFamily="49" charset="0"/>
                <a:cs typeface="Courier New" panose="02070309020205020404" pitchFamily="49" charset="0"/>
              </a:rPr>
              <a:t>script</a:t>
            </a:r>
            <a:r>
              <a:rPr lang="en-US" dirty="0"/>
              <a:t> element can be placed anywhere within an HTML document</a:t>
            </a:r>
          </a:p>
          <a:p>
            <a:r>
              <a:rPr lang="en-US" dirty="0"/>
              <a:t>When a browser encounters a script, it immediately stops loading the page and begins loading and then processing the script commands</a:t>
            </a:r>
          </a:p>
          <a:p>
            <a:r>
              <a:rPr lang="en-US" dirty="0"/>
              <a:t>The </a:t>
            </a:r>
            <a:r>
              <a:rPr lang="en-US" sz="2600" dirty="0">
                <a:latin typeface="Courier New" panose="02070309020205020404" pitchFamily="49" charset="0"/>
                <a:cs typeface="Courier New" panose="02070309020205020404" pitchFamily="49" charset="0"/>
              </a:rPr>
              <a:t>async</a:t>
            </a:r>
            <a:r>
              <a:rPr lang="en-US" dirty="0"/>
              <a:t> and </a:t>
            </a:r>
            <a:r>
              <a:rPr lang="en-US" sz="2600" dirty="0">
                <a:latin typeface="Courier New" panose="02070309020205020404" pitchFamily="49" charset="0"/>
                <a:cs typeface="Courier New" panose="02070309020205020404" pitchFamily="49" charset="0"/>
              </a:rPr>
              <a:t>defer</a:t>
            </a:r>
            <a:r>
              <a:rPr lang="en-US" dirty="0"/>
              <a:t> attributes can be added to </a:t>
            </a:r>
            <a:r>
              <a:rPr lang="en-US" sz="2600" dirty="0">
                <a:latin typeface="Courier New" panose="02070309020205020404" pitchFamily="49" charset="0"/>
                <a:cs typeface="Courier New" panose="02070309020205020404" pitchFamily="49" charset="0"/>
              </a:rPr>
              <a:t>script</a:t>
            </a:r>
            <a:r>
              <a:rPr lang="en-US" dirty="0"/>
              <a:t> element to modify its sequence of processing</a:t>
            </a:r>
          </a:p>
        </p:txBody>
      </p:sp>
    </p:spTree>
    <p:extLst>
      <p:ext uri="{BB962C8B-B14F-4D97-AF65-F5344CB8AC3E}">
        <p14:creationId xmlns:p14="http://schemas.microsoft.com/office/powerpoint/2010/main" val="3530233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Loading the </a:t>
            </a:r>
            <a:r>
              <a:rPr lang="en-US" dirty="0">
                <a:latin typeface="Courier New" panose="02070309020205020404" pitchFamily="49" charset="0"/>
                <a:cs typeface="Courier New" panose="02070309020205020404" pitchFamily="49" charset="0"/>
              </a:rPr>
              <a:t>script</a:t>
            </a:r>
            <a:r>
              <a:rPr lang="en-US" dirty="0"/>
              <a:t> Element (continued)</a:t>
            </a:r>
          </a:p>
        </p:txBody>
      </p:sp>
      <p:sp>
        <p:nvSpPr>
          <p:cNvPr id="6" name="Text Placeholder 5"/>
          <p:cNvSpPr>
            <a:spLocks noGrp="1"/>
          </p:cNvSpPr>
          <p:nvPr>
            <p:ph type="body" sz="quarter" idx="17"/>
          </p:nvPr>
        </p:nvSpPr>
        <p:spPr/>
        <p:txBody>
          <a:bodyPr/>
          <a:lstStyle/>
          <a:p>
            <a:r>
              <a:rPr lang="en-US" dirty="0"/>
              <a:t>The </a:t>
            </a:r>
            <a:r>
              <a:rPr lang="en-US" sz="2600" dirty="0">
                <a:latin typeface="Courier New" panose="02070309020205020404" pitchFamily="49" charset="0"/>
                <a:cs typeface="Courier New" panose="02070309020205020404" pitchFamily="49" charset="0"/>
              </a:rPr>
              <a:t>async</a:t>
            </a:r>
            <a:r>
              <a:rPr lang="en-US" dirty="0"/>
              <a:t> attribute tells a browser to parse the HTML and JavaScript code together</a:t>
            </a:r>
          </a:p>
          <a:p>
            <a:r>
              <a:rPr lang="en-US" dirty="0"/>
              <a:t>The </a:t>
            </a:r>
            <a:r>
              <a:rPr lang="en-US" sz="2600" dirty="0">
                <a:latin typeface="Courier New" panose="02070309020205020404" pitchFamily="49" charset="0"/>
                <a:cs typeface="Courier New" panose="02070309020205020404" pitchFamily="49" charset="0"/>
              </a:rPr>
              <a:t>defer</a:t>
            </a:r>
            <a:r>
              <a:rPr lang="en-US" dirty="0"/>
              <a:t> attribute defers script processing until after the page has been completely parsed and loaded</a:t>
            </a:r>
          </a:p>
          <a:p>
            <a:r>
              <a:rPr lang="en-US" dirty="0"/>
              <a:t>The </a:t>
            </a:r>
            <a:r>
              <a:rPr lang="en-US" sz="2600" dirty="0">
                <a:latin typeface="Courier New" panose="02070309020205020404" pitchFamily="49" charset="0"/>
                <a:cs typeface="Courier New" panose="02070309020205020404" pitchFamily="49" charset="0"/>
              </a:rPr>
              <a:t>async</a:t>
            </a:r>
            <a:r>
              <a:rPr lang="en-US" dirty="0"/>
              <a:t> and </a:t>
            </a:r>
            <a:r>
              <a:rPr lang="en-US" sz="2600" dirty="0">
                <a:latin typeface="Courier New" panose="02070309020205020404" pitchFamily="49" charset="0"/>
                <a:cs typeface="Courier New" panose="02070309020205020404" pitchFamily="49" charset="0"/>
              </a:rPr>
              <a:t>defer</a:t>
            </a:r>
            <a:r>
              <a:rPr lang="en-US" dirty="0"/>
              <a:t> attributes are ignored for embedded scripts</a:t>
            </a:r>
          </a:p>
        </p:txBody>
      </p:sp>
    </p:spTree>
    <p:extLst>
      <p:ext uri="{BB962C8B-B14F-4D97-AF65-F5344CB8AC3E}">
        <p14:creationId xmlns:p14="http://schemas.microsoft.com/office/powerpoint/2010/main" val="1230685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Inserting the </a:t>
            </a:r>
            <a:r>
              <a:rPr lang="en-US" dirty="0">
                <a:latin typeface="Courier New" panose="02070309020205020404" pitchFamily="49" charset="0"/>
                <a:cs typeface="Courier New" panose="02070309020205020404" pitchFamily="49" charset="0"/>
              </a:rPr>
              <a:t>script</a:t>
            </a:r>
            <a:r>
              <a:rPr lang="en-US" dirty="0"/>
              <a:t> Element</a:t>
            </a:r>
          </a:p>
        </p:txBody>
      </p:sp>
      <p:pic>
        <p:nvPicPr>
          <p:cNvPr id="8" name="Content Placeholder 5" descr="This figure explains the process of inserting the script element.&#10;The figure consists of two rectangular boxes and a few lines of code.&#10;The first line of the code reads “&lt;title&gt;Tulsa’s New Year’s Bash&lt;/title&gt;”. The second line of the code reads “&lt;link href=“tny_reset.css” rel=“stylesheet” /&gt;”. The third line of the code reads “&lt;link href=“tny_styles.css” rel=“stylesheet” /&gt;”. The fourth line of the code reads “&lt;script src=“tny_script.js” defer&gt;&lt;/script&gt;”. The fifth line of the code reads “&lt;/head&gt;”.&#10;The first rectangular box labeled “source of the JavaScript file” is positioned at the bottom of the code. An arrow originating from the rectangular box points to “src=“tny_script.js”” in the fourth line of the code. The second rectangular box labeled “defers loading the script file until after the rest of the page is loaded by the browser” is positioned at the right side of the first rectangular box. An arrow originating from the second rectangular box points to “defer” in the fourth line of the code." title="Figure 9-4 Inserting the script elemen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42070" y="1786598"/>
            <a:ext cx="7873280" cy="2774268"/>
          </a:xfrm>
          <a:prstGeom prst="rect">
            <a:avLst/>
          </a:prstGeom>
        </p:spPr>
      </p:pic>
    </p:spTree>
    <p:extLst>
      <p:ext uri="{BB962C8B-B14F-4D97-AF65-F5344CB8AC3E}">
        <p14:creationId xmlns:p14="http://schemas.microsoft.com/office/powerpoint/2010/main" val="2723772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Comments to your JavaScript Code</a:t>
            </a:r>
          </a:p>
        </p:txBody>
      </p:sp>
      <p:sp>
        <p:nvSpPr>
          <p:cNvPr id="7" name="Text Placeholder 6"/>
          <p:cNvSpPr>
            <a:spLocks noGrp="1"/>
          </p:cNvSpPr>
          <p:nvPr>
            <p:ph type="body" sz="quarter" idx="17"/>
          </p:nvPr>
        </p:nvSpPr>
        <p:spPr/>
        <p:txBody>
          <a:bodyPr/>
          <a:lstStyle/>
          <a:p>
            <a:r>
              <a:rPr lang="en-US" dirty="0"/>
              <a:t>A standard text editor can be used to create and edit JavaScript files</a:t>
            </a:r>
          </a:p>
          <a:p>
            <a:r>
              <a:rPr lang="en-US" dirty="0"/>
              <a:t>Adding comments to JavaScript code is an important programming practice</a:t>
            </a:r>
          </a:p>
          <a:p>
            <a:pPr lvl="1"/>
            <a:r>
              <a:rPr lang="en-US" dirty="0"/>
              <a:t>Comments help others understand the design and purpose of programs</a:t>
            </a:r>
          </a:p>
          <a:p>
            <a:r>
              <a:rPr lang="en-US" dirty="0"/>
              <a:t>JavaScript comments can be entered on single or multiple lines</a:t>
            </a:r>
          </a:p>
        </p:txBody>
      </p:sp>
    </p:spTree>
    <p:extLst>
      <p:ext uri="{BB962C8B-B14F-4D97-AF65-F5344CB8AC3E}">
        <p14:creationId xmlns:p14="http://schemas.microsoft.com/office/powerpoint/2010/main" val="2805176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Comments to your JavaScript Code (continued 1)</a:t>
            </a:r>
          </a:p>
        </p:txBody>
      </p:sp>
      <p:sp>
        <p:nvSpPr>
          <p:cNvPr id="5" name="Text Placeholder 4"/>
          <p:cNvSpPr>
            <a:spLocks noGrp="1"/>
          </p:cNvSpPr>
          <p:nvPr>
            <p:ph type="body" sz="quarter" idx="17"/>
          </p:nvPr>
        </p:nvSpPr>
        <p:spPr/>
        <p:txBody>
          <a:bodyPr>
            <a:normAutofit/>
          </a:bodyPr>
          <a:lstStyle/>
          <a:p>
            <a:r>
              <a:rPr lang="en-US" dirty="0"/>
              <a:t>Syntax of a single-line comment:</a:t>
            </a:r>
          </a:p>
          <a:p>
            <a:pPr marL="914400" indent="0">
              <a:buNone/>
            </a:pPr>
            <a:r>
              <a:rPr lang="en-US" sz="2600" dirty="0">
                <a:latin typeface="Courier New" panose="02070309020205020404" pitchFamily="49" charset="0"/>
                <a:cs typeface="Courier New" panose="02070309020205020404" pitchFamily="49" charset="0"/>
              </a:rPr>
              <a:t>// comment text</a:t>
            </a:r>
          </a:p>
          <a:p>
            <a:pPr marL="463550" indent="0">
              <a:buNone/>
            </a:pPr>
            <a:r>
              <a:rPr lang="en-US" sz="2800" dirty="0">
                <a:latin typeface="Arial" panose="020B0604020202020204" pitchFamily="34" charset="0"/>
                <a:cs typeface="Arial" panose="020B0604020202020204" pitchFamily="34" charset="0"/>
              </a:rPr>
              <a:t>or</a:t>
            </a:r>
          </a:p>
          <a:p>
            <a:pPr marL="914400" indent="0">
              <a:buNone/>
            </a:pPr>
            <a:r>
              <a:rPr lang="en-US" sz="2600" i="1" dirty="0">
                <a:latin typeface="Courier New" panose="02070309020205020404" pitchFamily="49" charset="0"/>
                <a:cs typeface="Courier New" panose="02070309020205020404" pitchFamily="49" charset="0"/>
              </a:rPr>
              <a:t>command; // comment text</a:t>
            </a:r>
            <a:r>
              <a:rPr lang="en-US" sz="2600" dirty="0">
                <a:latin typeface="Courier New" panose="02070309020205020404" pitchFamily="49" charset="0"/>
                <a:cs typeface="Courier New" panose="02070309020205020404" pitchFamily="49" charset="0"/>
              </a:rPr>
              <a:t> </a:t>
            </a:r>
          </a:p>
          <a:p>
            <a:r>
              <a:rPr lang="en-US" dirty="0"/>
              <a:t>Syntax of multiple-line comments:</a:t>
            </a:r>
          </a:p>
          <a:p>
            <a:pPr marL="914400" indent="0">
              <a:buNone/>
            </a:pPr>
            <a:r>
              <a:rPr lang="en-US" sz="2600" dirty="0">
                <a:latin typeface="Courier New" panose="02070309020205020404" pitchFamily="49" charset="0"/>
                <a:cs typeface="Courier New" panose="02070309020205020404" pitchFamily="49" charset="0"/>
              </a:rPr>
              <a:t>/*</a:t>
            </a:r>
          </a:p>
          <a:p>
            <a:pPr marL="914400" indent="0">
              <a:buNone/>
            </a:pPr>
            <a:r>
              <a:rPr lang="en-US" sz="2600" dirty="0">
                <a:latin typeface="Courier New" panose="02070309020205020404" pitchFamily="49" charset="0"/>
                <a:cs typeface="Courier New" panose="02070309020205020404" pitchFamily="49" charset="0"/>
              </a:rPr>
              <a:t>comment text spanning</a:t>
            </a:r>
          </a:p>
          <a:p>
            <a:pPr marL="914400" indent="0">
              <a:buNone/>
            </a:pPr>
            <a:r>
              <a:rPr lang="en-US" sz="2600" dirty="0">
                <a:latin typeface="Courier New" panose="02070309020205020404" pitchFamily="49" charset="0"/>
                <a:cs typeface="Courier New" panose="02070309020205020404" pitchFamily="49" charset="0"/>
              </a:rPr>
              <a:t>several lines</a:t>
            </a:r>
          </a:p>
          <a:p>
            <a:pPr marL="914400" indent="0">
              <a:buNone/>
            </a:pPr>
            <a:r>
              <a:rPr lang="en-US" sz="26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428009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Comments to your JavaScript Code (continued 2)</a:t>
            </a:r>
          </a:p>
        </p:txBody>
      </p:sp>
      <p:pic>
        <p:nvPicPr>
          <p:cNvPr id="6" name="Picture Placeholder 5" descr="This figure explains the process of adding a JavaScript comment.&#10;&#10;The figure consists of three rectangular boxes and a few lines of code.&#10;&#10;The first line of the code reads “/*”.  The second line of the code reads “New Perspectives on HTML5 and CSS3, 8th Edition”.  The third line of the code reads “Tutorial 9”.  The fourth line of the code reads “Tutorial Case”.  The fifth line of the code reads “Countdown Clock”.   The sixth line of the code reads “Author: Hector Sadler”.  The seventh line of the code reads “Date: 2022-03-01”.   The eighth line of the code reads “*/”.&#10;&#10;The first rectangular box that reads “marks the beginning of the comment” is positioned at the left side of the code. An arrow originating from this rectangular box points to the first line of the code.&#10;&#10;The second rectangular box labeled “comment text” is positioned below the first rectangular box. An arrow originating from the second rectangular box points from the second line to the seventh line of the code.&#10;&#10;The third rectangular box labeled “marks the end of the comment” is positioned below the second rectangular box. An arrow originating from the third rectangular box points to the eighth line of the code." title="Figure 9-6 Adding a JavaScript comment"/>
          <p:cNvPicPr>
            <a:picLocks noGrp="1" noChangeAspect="1"/>
          </p:cNvPicPr>
          <p:nvPr>
            <p:ph type="pic" sz="quarter" idx="10"/>
          </p:nvPr>
        </p:nvPicPr>
        <p:blipFill>
          <a:blip r:embed="rId2"/>
          <a:stretch>
            <a:fillRect/>
          </a:stretch>
        </p:blipFill>
        <p:spPr>
          <a:xfrm>
            <a:off x="431445" y="2074714"/>
            <a:ext cx="8281109" cy="3045925"/>
          </a:xfrm>
          <a:prstGeom prst="rect">
            <a:avLst/>
          </a:prstGeom>
        </p:spPr>
      </p:pic>
    </p:spTree>
    <p:extLst>
      <p:ext uri="{BB962C8B-B14F-4D97-AF65-F5344CB8AC3E}">
        <p14:creationId xmlns:p14="http://schemas.microsoft.com/office/powerpoint/2010/main" val="26734096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a JavaScript Command</a:t>
            </a:r>
          </a:p>
        </p:txBody>
      </p:sp>
      <p:sp>
        <p:nvSpPr>
          <p:cNvPr id="7" name="Text Placeholder 6"/>
          <p:cNvSpPr>
            <a:spLocks noGrp="1"/>
          </p:cNvSpPr>
          <p:nvPr>
            <p:ph type="body" sz="quarter" idx="17"/>
          </p:nvPr>
        </p:nvSpPr>
        <p:spPr/>
        <p:txBody>
          <a:bodyPr/>
          <a:lstStyle/>
          <a:p>
            <a:r>
              <a:rPr lang="en-US" dirty="0"/>
              <a:t>Every JavaScript program consists of a series of commands or statements</a:t>
            </a:r>
          </a:p>
          <a:p>
            <a:r>
              <a:rPr lang="en-US" dirty="0"/>
              <a:t>Each command is a single line that indicates an action for the browser to take</a:t>
            </a:r>
          </a:p>
          <a:p>
            <a:r>
              <a:rPr lang="en-US" dirty="0"/>
              <a:t>A command should end in a semicolon, employing the following syntax:</a:t>
            </a:r>
          </a:p>
          <a:p>
            <a:pPr marL="0" indent="0">
              <a:buNone/>
            </a:pPr>
            <a:endParaRPr lang="en-US" dirty="0"/>
          </a:p>
          <a:p>
            <a:pPr marL="914400" lvl="1" indent="0">
              <a:buNone/>
            </a:pPr>
            <a:r>
              <a:rPr lang="en-US" sz="2600" dirty="0">
                <a:latin typeface="Courier New" panose="02070309020205020404" pitchFamily="49" charset="0"/>
                <a:cs typeface="Courier New" panose="02070309020205020404" pitchFamily="49" charset="0"/>
              </a:rPr>
              <a:t>JavaScript command;</a:t>
            </a:r>
          </a:p>
        </p:txBody>
      </p:sp>
    </p:spTree>
    <p:extLst>
      <p:ext uri="{BB962C8B-B14F-4D97-AF65-F5344CB8AC3E}">
        <p14:creationId xmlns:p14="http://schemas.microsoft.com/office/powerpoint/2010/main" val="20222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a JavaScript Command (continued 1)</a:t>
            </a:r>
          </a:p>
        </p:txBody>
      </p:sp>
      <p:pic>
        <p:nvPicPr>
          <p:cNvPr id="5" name="Picture Placeholder 4" descr="This figure explains the process of displaying a dialog box.&#10;The figure consists of two rectangular boxes and two lines of code.&#10;The first line of the code reads “*/”. The second line of the code reads “window.alert(“Welcome to Tulsa”)”.&#10;The first rectangular box labeled “runs an alert dialog box in the browser window” is positioned below the code. An arrow originating from the first rectangular box points to “window.alert” in the second line of the code. The second rectangular box labeled “text displayed in the dialog box” is positioned at the right side of the first rectangular box. An arrow originating from the second rectangular box points to “Welcome to Tulsa” in the second line of the code." title="Figure 9-7 Displaying a dialog box"/>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589994" y="2076759"/>
            <a:ext cx="7964011" cy="2686425"/>
          </a:xfrm>
          <a:prstGeom prst="rect">
            <a:avLst/>
          </a:prstGeom>
        </p:spPr>
      </p:pic>
    </p:spTree>
    <p:extLst>
      <p:ext uri="{BB962C8B-B14F-4D97-AF65-F5344CB8AC3E}">
        <p14:creationId xmlns:p14="http://schemas.microsoft.com/office/powerpoint/2010/main" val="1146421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a JavaScript Command (continued 2)</a:t>
            </a:r>
          </a:p>
        </p:txBody>
      </p:sp>
      <p:pic>
        <p:nvPicPr>
          <p:cNvPr id="4" name="Content Placeholder 5" descr="This figure shows a Google Chrome dialog box.&#10;The figure consists of two rectangular boxes and a square box.&#10;The first rectangular box is a dialog box. A text that reads “This page says:” is positioned at the top-left corner inside the rectangular box. A text that reads “Welcome to Tulsa” is positioned below the first line of text. A small square box is positioned below the second line of text. A text that reads “Prevent this page from creating additional dialogs.” is positioned at the right side of the square box. The second rectangular box labeled “OK” is positioned at the bottom-right corner inside the first rectangular box. The cross symbol is positioned at the top-right corner inside the first rectangular box." title="Figure 9-8 Google Chrome dialog box"/>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32810" y="2098313"/>
            <a:ext cx="8278380" cy="2448267"/>
          </a:xfrm>
          <a:prstGeom prst="rect">
            <a:avLst/>
          </a:prstGeom>
        </p:spPr>
      </p:pic>
    </p:spTree>
    <p:extLst>
      <p:ext uri="{BB962C8B-B14F-4D97-AF65-F5344CB8AC3E}">
        <p14:creationId xmlns:p14="http://schemas.microsoft.com/office/powerpoint/2010/main" val="999380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JavaScript Syntax</a:t>
            </a:r>
          </a:p>
        </p:txBody>
      </p:sp>
      <p:sp>
        <p:nvSpPr>
          <p:cNvPr id="7" name="Text Placeholder 6"/>
          <p:cNvSpPr>
            <a:spLocks noGrp="1"/>
          </p:cNvSpPr>
          <p:nvPr>
            <p:ph type="body" sz="quarter" idx="17"/>
          </p:nvPr>
        </p:nvSpPr>
        <p:spPr/>
        <p:txBody>
          <a:bodyPr/>
          <a:lstStyle/>
          <a:p>
            <a:r>
              <a:rPr lang="en-US" dirty="0"/>
              <a:t>Syntax rules for JavaScript commands</a:t>
            </a:r>
          </a:p>
          <a:p>
            <a:pPr lvl="1"/>
            <a:r>
              <a:rPr lang="en-US" dirty="0"/>
              <a:t>JavaScript is case sensitive</a:t>
            </a:r>
          </a:p>
          <a:p>
            <a:pPr lvl="1"/>
            <a:r>
              <a:rPr lang="en-US" dirty="0"/>
              <a:t>Extra white space between commands is ignored</a:t>
            </a:r>
          </a:p>
          <a:p>
            <a:pPr lvl="1"/>
            <a:r>
              <a:rPr lang="en-US" dirty="0"/>
              <a:t>Line breaks placed within the name of a JavaScript command or a quoted text string cause an error</a:t>
            </a:r>
          </a:p>
        </p:txBody>
      </p:sp>
    </p:spTree>
    <p:extLst>
      <p:ext uri="{BB962C8B-B14F-4D97-AF65-F5344CB8AC3E}">
        <p14:creationId xmlns:p14="http://schemas.microsoft.com/office/powerpoint/2010/main" val="151684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Debugging Your Code</a:t>
            </a:r>
          </a:p>
        </p:txBody>
      </p:sp>
      <p:sp>
        <p:nvSpPr>
          <p:cNvPr id="5" name="Text Placeholder 4"/>
          <p:cNvSpPr>
            <a:spLocks noGrp="1"/>
          </p:cNvSpPr>
          <p:nvPr>
            <p:ph type="body" sz="quarter" idx="17"/>
          </p:nvPr>
        </p:nvSpPr>
        <p:spPr/>
        <p:txBody>
          <a:bodyPr/>
          <a:lstStyle/>
          <a:p>
            <a:r>
              <a:rPr lang="en-US" b="1" dirty="0"/>
              <a:t>Debugging</a:t>
            </a:r>
            <a:r>
              <a:rPr lang="en-US" dirty="0"/>
              <a:t>: Process of locating and fixing a programming error</a:t>
            </a:r>
          </a:p>
          <a:p>
            <a:r>
              <a:rPr lang="en-US" dirty="0"/>
              <a:t>Types of errors</a:t>
            </a:r>
          </a:p>
          <a:p>
            <a:pPr lvl="1"/>
            <a:r>
              <a:rPr lang="en-US" b="1" dirty="0"/>
              <a:t>Load-time errors </a:t>
            </a:r>
            <a:r>
              <a:rPr lang="en-US" dirty="0"/>
              <a:t>– occur when a script is first loaded by a browser</a:t>
            </a:r>
          </a:p>
          <a:p>
            <a:pPr lvl="1"/>
            <a:r>
              <a:rPr lang="en-US" b="1" dirty="0"/>
              <a:t>Run-time errors </a:t>
            </a:r>
            <a:r>
              <a:rPr lang="en-US" dirty="0"/>
              <a:t>– occur during execution of a script without syntax errors</a:t>
            </a:r>
          </a:p>
          <a:p>
            <a:pPr lvl="1"/>
            <a:r>
              <a:rPr lang="en-US" b="1" dirty="0"/>
              <a:t>Logical errors </a:t>
            </a:r>
            <a:r>
              <a:rPr lang="en-US" dirty="0"/>
              <a:t>– </a:t>
            </a:r>
            <a:r>
              <a:rPr lang="en-IN" dirty="0"/>
              <a:t>are free from syntax and executable mistakes but result in an incorrect output</a:t>
            </a:r>
          </a:p>
        </p:txBody>
      </p:sp>
    </p:spTree>
    <p:extLst>
      <p:ext uri="{BB962C8B-B14F-4D97-AF65-F5344CB8AC3E}">
        <p14:creationId xmlns:p14="http://schemas.microsoft.com/office/powerpoint/2010/main" val="13416408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Opening a Debugger</a:t>
            </a:r>
          </a:p>
        </p:txBody>
      </p:sp>
      <p:sp>
        <p:nvSpPr>
          <p:cNvPr id="5" name="Text Placeholder 4"/>
          <p:cNvSpPr>
            <a:spLocks noGrp="1"/>
          </p:cNvSpPr>
          <p:nvPr>
            <p:ph type="body" sz="quarter" idx="17"/>
          </p:nvPr>
        </p:nvSpPr>
        <p:spPr/>
        <p:txBody>
          <a:bodyPr/>
          <a:lstStyle/>
          <a:p>
            <a:r>
              <a:rPr lang="en-US" dirty="0"/>
              <a:t>Debugging tools locate and fix errors in JavaScript codes</a:t>
            </a:r>
          </a:p>
          <a:p>
            <a:r>
              <a:rPr lang="en-US" dirty="0"/>
              <a:t>Shortcut to open a debugging tool is F12 key</a:t>
            </a:r>
          </a:p>
          <a:p>
            <a:r>
              <a:rPr lang="en-US" dirty="0"/>
              <a:t>The tools can also be opened by selecting Developer Tools from the browser menu</a:t>
            </a:r>
          </a:p>
        </p:txBody>
      </p:sp>
    </p:spTree>
    <p:extLst>
      <p:ext uri="{BB962C8B-B14F-4D97-AF65-F5344CB8AC3E}">
        <p14:creationId xmlns:p14="http://schemas.microsoft.com/office/powerpoint/2010/main" val="12262033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Inserting a Breakpoint</a:t>
            </a:r>
          </a:p>
        </p:txBody>
      </p:sp>
      <p:sp>
        <p:nvSpPr>
          <p:cNvPr id="5" name="Text Placeholder 4"/>
          <p:cNvSpPr>
            <a:spLocks noGrp="1"/>
          </p:cNvSpPr>
          <p:nvPr>
            <p:ph type="body" sz="quarter" idx="17"/>
          </p:nvPr>
        </p:nvSpPr>
        <p:spPr/>
        <p:txBody>
          <a:bodyPr/>
          <a:lstStyle/>
          <a:p>
            <a:r>
              <a:rPr lang="en-US" dirty="0"/>
              <a:t>A useful technique to locate the source of an error is to set up </a:t>
            </a:r>
            <a:r>
              <a:rPr lang="en-US" b="1" dirty="0"/>
              <a:t>breakpoints</a:t>
            </a:r>
          </a:p>
          <a:p>
            <a:r>
              <a:rPr lang="en-US" b="1" dirty="0"/>
              <a:t>Breakpoints</a:t>
            </a:r>
            <a:r>
              <a:rPr lang="en-US" dirty="0"/>
              <a:t> are locations where a browser pauses a program to determine whether an error has occurred at that point during execution</a:t>
            </a:r>
          </a:p>
          <a:p>
            <a:endParaRPr lang="en-US" dirty="0"/>
          </a:p>
        </p:txBody>
      </p:sp>
    </p:spTree>
    <p:extLst>
      <p:ext uri="{BB962C8B-B14F-4D97-AF65-F5344CB8AC3E}">
        <p14:creationId xmlns:p14="http://schemas.microsoft.com/office/powerpoint/2010/main" val="3854125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Inserting a Breakpoint (continued)</a:t>
            </a:r>
          </a:p>
        </p:txBody>
      </p:sp>
      <p:pic>
        <p:nvPicPr>
          <p:cNvPr id="4" name="Picture Placeholder 3" descr="This figure shows the edit pane for a JavaScript file called tny_script.js file. The right side of the edit pane displays 12 lines of JavaScript source code. The twelfth line of code is a JavaScript command line that reads “window.alert(Welcome to Tulsa);. The line has been “clicked on” by a user resulting in a blue arrow highlighting the line, which indicates that a breakpoint has been established at this location in the script." title="Figure 9-10 Setting a breakpoint in Google Chrome"/>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7896" r="7896"/>
          <a:stretch>
            <a:fillRect/>
          </a:stretch>
        </p:blipFill>
        <p:spPr>
          <a:xfrm>
            <a:off x="1379833" y="936590"/>
            <a:ext cx="6005706" cy="5265788"/>
          </a:xfrm>
        </p:spPr>
      </p:pic>
    </p:spTree>
    <p:extLst>
      <p:ext uri="{BB962C8B-B14F-4D97-AF65-F5344CB8AC3E}">
        <p14:creationId xmlns:p14="http://schemas.microsoft.com/office/powerpoint/2010/main" val="2898551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Strict Usage of JavaScript</a:t>
            </a:r>
          </a:p>
        </p:txBody>
      </p:sp>
      <p:sp>
        <p:nvSpPr>
          <p:cNvPr id="3" name="Text Placeholder 2"/>
          <p:cNvSpPr>
            <a:spLocks noGrp="1"/>
          </p:cNvSpPr>
          <p:nvPr>
            <p:ph type="body" sz="quarter" idx="17"/>
          </p:nvPr>
        </p:nvSpPr>
        <p:spPr/>
        <p:txBody>
          <a:bodyPr/>
          <a:lstStyle/>
          <a:p>
            <a:r>
              <a:rPr lang="en-US" b="1" dirty="0"/>
              <a:t>Strict mode </a:t>
            </a:r>
            <a:r>
              <a:rPr lang="en-US" dirty="0"/>
              <a:t>enables all lapses in syntax to result in load-time or run-time errors</a:t>
            </a:r>
          </a:p>
          <a:p>
            <a:r>
              <a:rPr lang="en-US" dirty="0"/>
              <a:t>To run a script in strict mode, add the following statement to the first line of the file:</a:t>
            </a:r>
          </a:p>
          <a:p>
            <a:pPr marL="914400" indent="0">
              <a:buNone/>
            </a:pPr>
            <a:r>
              <a:rPr lang="en-US" sz="2600" dirty="0">
                <a:latin typeface="Courier New" panose="02070309020205020404" pitchFamily="49" charset="0"/>
                <a:cs typeface="Courier New" panose="02070309020205020404" pitchFamily="49" charset="0"/>
              </a:rPr>
              <a:t>“use strict”;</a:t>
            </a:r>
          </a:p>
        </p:txBody>
      </p:sp>
    </p:spTree>
    <p:extLst>
      <p:ext uri="{BB962C8B-B14F-4D97-AF65-F5344CB8AC3E}">
        <p14:creationId xmlns:p14="http://schemas.microsoft.com/office/powerpoint/2010/main" val="5450106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Objects</a:t>
            </a:r>
          </a:p>
        </p:txBody>
      </p:sp>
      <p:sp>
        <p:nvSpPr>
          <p:cNvPr id="3" name="Text Placeholder 2"/>
          <p:cNvSpPr>
            <a:spLocks noGrp="1"/>
          </p:cNvSpPr>
          <p:nvPr>
            <p:ph type="body" sz="quarter" idx="17"/>
          </p:nvPr>
        </p:nvSpPr>
        <p:spPr/>
        <p:txBody>
          <a:bodyPr/>
          <a:lstStyle/>
          <a:p>
            <a:r>
              <a:rPr lang="en-US" b="1" dirty="0"/>
              <a:t>Object</a:t>
            </a:r>
            <a:r>
              <a:rPr lang="en-US" dirty="0"/>
              <a:t>: Entity within a browser or web page that has </a:t>
            </a:r>
            <a:r>
              <a:rPr lang="en-US" b="1" dirty="0"/>
              <a:t>properties</a:t>
            </a:r>
            <a:r>
              <a:rPr lang="en-US" dirty="0"/>
              <a:t> and </a:t>
            </a:r>
            <a:r>
              <a:rPr lang="en-US" b="1" dirty="0"/>
              <a:t>methods</a:t>
            </a:r>
          </a:p>
          <a:p>
            <a:r>
              <a:rPr lang="en-US" b="1" dirty="0"/>
              <a:t>Properties</a:t>
            </a:r>
            <a:r>
              <a:rPr lang="en-US" dirty="0"/>
              <a:t>: Define objects</a:t>
            </a:r>
          </a:p>
          <a:p>
            <a:r>
              <a:rPr lang="en-US" b="1" dirty="0"/>
              <a:t>Methods</a:t>
            </a:r>
            <a:r>
              <a:rPr lang="en-US" dirty="0"/>
              <a:t>: Act upon objects</a:t>
            </a:r>
          </a:p>
          <a:p>
            <a:r>
              <a:rPr lang="en-US" dirty="0"/>
              <a:t>JavaScript is an </a:t>
            </a:r>
            <a:r>
              <a:rPr lang="en-US" b="1" dirty="0"/>
              <a:t>object-based language </a:t>
            </a:r>
            <a:r>
              <a:rPr lang="en-US" dirty="0"/>
              <a:t>that manipulates an object by changing one or more of its properties</a:t>
            </a:r>
          </a:p>
        </p:txBody>
      </p:sp>
    </p:spTree>
    <p:extLst>
      <p:ext uri="{BB962C8B-B14F-4D97-AF65-F5344CB8AC3E}">
        <p14:creationId xmlns:p14="http://schemas.microsoft.com/office/powerpoint/2010/main" val="424142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Objects (continued 1)</a:t>
            </a:r>
          </a:p>
        </p:txBody>
      </p:sp>
      <p:sp>
        <p:nvSpPr>
          <p:cNvPr id="4" name="Text Placeholder 3"/>
          <p:cNvSpPr>
            <a:spLocks noGrp="1"/>
          </p:cNvSpPr>
          <p:nvPr>
            <p:ph type="body" sz="quarter" idx="17"/>
          </p:nvPr>
        </p:nvSpPr>
        <p:spPr/>
        <p:txBody>
          <a:bodyPr>
            <a:normAutofit lnSpcReduction="10000"/>
          </a:bodyPr>
          <a:lstStyle/>
          <a:p>
            <a:r>
              <a:rPr lang="en-US" dirty="0"/>
              <a:t>Types of JavaScript objects</a:t>
            </a:r>
          </a:p>
          <a:p>
            <a:pPr lvl="1"/>
            <a:r>
              <a:rPr lang="en-US" b="1" dirty="0"/>
              <a:t>Built-in objects </a:t>
            </a:r>
            <a:r>
              <a:rPr lang="en-US" dirty="0"/>
              <a:t>– intrinsic to JavaScript language</a:t>
            </a:r>
          </a:p>
          <a:p>
            <a:pPr lvl="1"/>
            <a:r>
              <a:rPr lang="en-US" b="1" dirty="0"/>
              <a:t>Browser objects </a:t>
            </a:r>
            <a:r>
              <a:rPr lang="en-US" dirty="0"/>
              <a:t>– part of browser</a:t>
            </a:r>
          </a:p>
          <a:p>
            <a:pPr lvl="1"/>
            <a:r>
              <a:rPr lang="en-US" b="1" dirty="0"/>
              <a:t>Document objects</a:t>
            </a:r>
            <a:r>
              <a:rPr lang="en-US" dirty="0"/>
              <a:t> – part of web document</a:t>
            </a:r>
          </a:p>
          <a:p>
            <a:pPr lvl="1"/>
            <a:r>
              <a:rPr lang="en-US" b="1" dirty="0"/>
              <a:t>Customized objects</a:t>
            </a:r>
            <a:r>
              <a:rPr lang="en-US" dirty="0"/>
              <a:t> – created by a programmer to use in an application</a:t>
            </a:r>
          </a:p>
          <a:p>
            <a:r>
              <a:rPr lang="en-US" b="1" dirty="0"/>
              <a:t>Browser object model (BOM)</a:t>
            </a:r>
            <a:r>
              <a:rPr lang="en-US" dirty="0"/>
              <a:t> and </a:t>
            </a:r>
            <a:r>
              <a:rPr lang="en-US" b="1" dirty="0"/>
              <a:t>document object model (DOM) </a:t>
            </a:r>
            <a:r>
              <a:rPr lang="en-US" dirty="0"/>
              <a:t>organize browser and document objects in hierarchical structures, respectively</a:t>
            </a:r>
          </a:p>
        </p:txBody>
      </p:sp>
    </p:spTree>
    <p:extLst>
      <p:ext uri="{BB962C8B-B14F-4D97-AF65-F5344CB8AC3E}">
        <p14:creationId xmlns:p14="http://schemas.microsoft.com/office/powerpoint/2010/main" val="1489048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Introducing Objects (continued 2)</a:t>
            </a:r>
          </a:p>
        </p:txBody>
      </p:sp>
      <p:pic>
        <p:nvPicPr>
          <p:cNvPr id="9" name="Content Placeholder 2" descr="This figure shows the object hierarchy.&#10;The figure consists of a hierarchy tree with eighteen round-sided rectangular boxes.&#10;The first round-sided rectangular box labeled “window” is the root of the hierarchy tree. The second round-sided rectangular box labeled “document” is positioned at the left side below the first round-sided rectangular box. The third round-sided rectangular box labeled “history” is positioned at the right side of the second round-sided rectangular box. The fourth round-sided rectangular box labeled “screen” is positioned at the right side of the third round-sided rectangular box. The fifth round-sided rectangular box labeled “navigator” is positioned at the right side of the fourth round-sided rectangular box. The sixth round-sided rectangular box labeled “location” is positioned at the right side of the fifth round-sided rectangular box. The second round-sided rectangular box branches out connecting to ten round-sided rectangular boxes. The seventh round-sided rectangular box labeled “anchors” is positioned at the left side in the branch of the second round-sided rectangular box. The eighth round-sided rectangular box labeled “embeds” is positioned below the seventh round-sided rectangular box. The ninth round-sided rectangular box labeled “frames” is positioned below the eighth round-sided rectangular box. The tenth round-sided rectangular box labeled “links” is positioned below the ninth round-sided rectangular box. The eleventh round-sided rectangular box labeled “scripts” is positioned below the tenth round-sided rectangular box. The twelfth round-sided rectangular box labeled “applets” is positioned at the right side in the branch of the second round-sided rectangular box. The thirteenth round-sided rectangular box labeled “forms” is positioned below the twelfth round-sided rectangular box. The fourteenth round-sided rectangular box labeled “images” is positioned below the thirteenth round-sided rectangular box. The fifteenth round-sided rectangular box labeled “plugins” is positioned below the fourteenth round-sided rectangular box. The sixteenth round-sided rectangular box labeled “stylesheets” is positioned below the fifteenth round-sided rectangular box.&#10;The fifth round-sided rectangular box braches out connecting to two rectangular box. The seventeenth round-sided rectangular box labeled “plugins” is positioned at the left side in the branch of the fifth round-sided rectangular box. The eighteenth round-sided rectangular box labeled “mimeTypes” is positioned at the right side in the branch of the fifth round-sided rectangular box." title="Figure 9-12 Object hierarchy"/>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279324" y="1037231"/>
            <a:ext cx="6585352" cy="5223509"/>
          </a:xfrm>
          <a:prstGeom prst="rect">
            <a:avLst/>
          </a:prstGeom>
        </p:spPr>
      </p:pic>
    </p:spTree>
    <p:extLst>
      <p:ext uri="{BB962C8B-B14F-4D97-AF65-F5344CB8AC3E}">
        <p14:creationId xmlns:p14="http://schemas.microsoft.com/office/powerpoint/2010/main" val="5645439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References</a:t>
            </a:r>
          </a:p>
        </p:txBody>
      </p:sp>
      <p:sp>
        <p:nvSpPr>
          <p:cNvPr id="5" name="Text Placeholder 4"/>
          <p:cNvSpPr>
            <a:spLocks noGrp="1"/>
          </p:cNvSpPr>
          <p:nvPr>
            <p:ph type="body" sz="quarter" idx="17"/>
          </p:nvPr>
        </p:nvSpPr>
        <p:spPr/>
        <p:txBody>
          <a:bodyPr/>
          <a:lstStyle/>
          <a:p>
            <a:r>
              <a:rPr lang="en-US" dirty="0"/>
              <a:t>Objects within the object hierarchy are referenced by their object names such as </a:t>
            </a:r>
            <a:r>
              <a:rPr lang="en-US" sz="2600" dirty="0">
                <a:latin typeface="Courier New" panose="02070309020205020404" pitchFamily="49" charset="0"/>
                <a:cs typeface="Courier New" panose="02070309020205020404" pitchFamily="49" charset="0"/>
              </a:rPr>
              <a:t>window</a:t>
            </a:r>
            <a:r>
              <a:rPr lang="en-US" dirty="0"/>
              <a:t>, </a:t>
            </a:r>
            <a:r>
              <a:rPr lang="en-US" sz="2600" dirty="0">
                <a:latin typeface="Courier New" panose="02070309020205020404" pitchFamily="49" charset="0"/>
                <a:cs typeface="Courier New" panose="02070309020205020404" pitchFamily="49" charset="0"/>
              </a:rPr>
              <a:t>document</a:t>
            </a:r>
            <a:r>
              <a:rPr lang="en-US" dirty="0"/>
              <a:t>, or </a:t>
            </a:r>
            <a:r>
              <a:rPr lang="en-US" sz="2600" dirty="0">
                <a:latin typeface="Courier New" panose="02070309020205020404" pitchFamily="49" charset="0"/>
                <a:cs typeface="Courier New" panose="02070309020205020404" pitchFamily="49" charset="0"/>
              </a:rPr>
              <a:t>navigator</a:t>
            </a:r>
          </a:p>
          <a:p>
            <a:r>
              <a:rPr lang="en-US" dirty="0"/>
              <a:t>Objects can be referenced using the notation</a:t>
            </a:r>
          </a:p>
          <a:p>
            <a:pPr marL="463550" indent="0">
              <a:buNone/>
            </a:pPr>
            <a:r>
              <a:rPr lang="en-US" sz="2600" dirty="0">
                <a:latin typeface="Courier New" panose="02070309020205020404" pitchFamily="49" charset="0"/>
                <a:cs typeface="Courier New" panose="02070309020205020404" pitchFamily="49" charset="0"/>
              </a:rPr>
              <a:t>object1.object2.object3 ...</a:t>
            </a:r>
          </a:p>
          <a:p>
            <a:pPr marL="463550" indent="0">
              <a:buNone/>
            </a:pPr>
            <a:r>
              <a:rPr lang="en-US" sz="2800" dirty="0"/>
              <a:t>where </a:t>
            </a:r>
            <a:r>
              <a:rPr lang="en-US" sz="2600" dirty="0">
                <a:latin typeface="Courier New" panose="02070309020205020404" pitchFamily="49" charset="0"/>
                <a:cs typeface="Courier New" panose="02070309020205020404" pitchFamily="49" charset="0"/>
              </a:rPr>
              <a:t>object1</a:t>
            </a:r>
            <a:r>
              <a:rPr lang="en-US" sz="2800" dirty="0"/>
              <a:t> is at the top of the hierarchy, </a:t>
            </a:r>
            <a:r>
              <a:rPr lang="en-US" sz="2600" dirty="0">
                <a:latin typeface="Courier New" panose="02070309020205020404" pitchFamily="49" charset="0"/>
                <a:cs typeface="Courier New" panose="02070309020205020404" pitchFamily="49" charset="0"/>
              </a:rPr>
              <a:t>object2</a:t>
            </a:r>
            <a:r>
              <a:rPr lang="en-US" sz="2800" dirty="0"/>
              <a:t> is a child of </a:t>
            </a:r>
            <a:r>
              <a:rPr lang="en-US" sz="2600" dirty="0">
                <a:latin typeface="Courier New" panose="02070309020205020404" pitchFamily="49" charset="0"/>
                <a:cs typeface="Courier New" panose="02070309020205020404" pitchFamily="49" charset="0"/>
              </a:rPr>
              <a:t>object1</a:t>
            </a:r>
            <a:r>
              <a:rPr lang="en-US" sz="2800" dirty="0"/>
              <a:t>, and so on</a:t>
            </a:r>
          </a:p>
        </p:txBody>
      </p:sp>
    </p:spTree>
    <p:extLst>
      <p:ext uri="{BB962C8B-B14F-4D97-AF65-F5344CB8AC3E}">
        <p14:creationId xmlns:p14="http://schemas.microsoft.com/office/powerpoint/2010/main" val="1358206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Referencing Object Collections</a:t>
            </a:r>
          </a:p>
        </p:txBody>
      </p:sp>
      <p:sp>
        <p:nvSpPr>
          <p:cNvPr id="3" name="Text Placeholder 2"/>
          <p:cNvSpPr>
            <a:spLocks noGrp="1"/>
          </p:cNvSpPr>
          <p:nvPr>
            <p:ph type="body" sz="quarter" idx="17"/>
          </p:nvPr>
        </p:nvSpPr>
        <p:spPr/>
        <p:txBody>
          <a:bodyPr/>
          <a:lstStyle/>
          <a:p>
            <a:r>
              <a:rPr lang="en-US" b="1" dirty="0"/>
              <a:t>Object collections</a:t>
            </a:r>
            <a:r>
              <a:rPr lang="en-US" dirty="0"/>
              <a:t>: Objects organized into groups</a:t>
            </a:r>
          </a:p>
          <a:p>
            <a:r>
              <a:rPr lang="en-US" dirty="0"/>
              <a:t>To reference a specific member of an object collection, use</a:t>
            </a:r>
          </a:p>
          <a:p>
            <a:pPr marL="858838" indent="0">
              <a:buNone/>
            </a:pPr>
            <a:r>
              <a:rPr lang="en-US" sz="2600" i="1" dirty="0">
                <a:latin typeface="Courier New" panose="02070309020205020404" pitchFamily="49" charset="0"/>
                <a:cs typeface="Courier New" panose="02070309020205020404" pitchFamily="49" charset="0"/>
              </a:rPr>
              <a:t>collection[idref]</a:t>
            </a:r>
          </a:p>
          <a:p>
            <a:pPr marL="280988" indent="0">
              <a:buNone/>
            </a:pPr>
            <a:r>
              <a:rPr lang="en-US" dirty="0"/>
              <a:t> </a:t>
            </a:r>
            <a:r>
              <a:rPr lang="en-US" sz="2800" dirty="0"/>
              <a:t>or</a:t>
            </a:r>
            <a:r>
              <a:rPr lang="en-US" dirty="0"/>
              <a:t> </a:t>
            </a:r>
            <a:r>
              <a:rPr lang="en-US" sz="2600" i="1" dirty="0">
                <a:latin typeface="Courier New" panose="02070309020205020404" pitchFamily="49" charset="0"/>
                <a:cs typeface="Courier New" panose="02070309020205020404" pitchFamily="49" charset="0"/>
              </a:rPr>
              <a:t>collection.idref</a:t>
            </a:r>
          </a:p>
          <a:p>
            <a:pPr marL="463550" indent="0">
              <a:buNone/>
            </a:pPr>
            <a:r>
              <a:rPr lang="en-US" sz="2800" dirty="0">
                <a:latin typeface="Arial" panose="020B0604020202020204" pitchFamily="34" charset="0"/>
                <a:cs typeface="Arial" panose="020B0604020202020204" pitchFamily="34" charset="0"/>
              </a:rPr>
              <a:t>where </a:t>
            </a:r>
            <a:r>
              <a:rPr lang="en-US" sz="2600" i="1" dirty="0">
                <a:latin typeface="Courier New" panose="02070309020205020404" pitchFamily="49" charset="0"/>
                <a:cs typeface="Courier New" panose="02070309020205020404" pitchFamily="49" charset="0"/>
              </a:rPr>
              <a:t>collection</a:t>
            </a:r>
            <a:r>
              <a:rPr lang="en-US" sz="2800" dirty="0">
                <a:latin typeface="Arial" panose="020B0604020202020204" pitchFamily="34" charset="0"/>
                <a:cs typeface="Arial" panose="020B0604020202020204" pitchFamily="34" charset="0"/>
              </a:rPr>
              <a:t> is a reference to the object collection and </a:t>
            </a:r>
            <a:r>
              <a:rPr lang="en-US" sz="2600" i="1" dirty="0">
                <a:latin typeface="Courier New" panose="02070309020205020404" pitchFamily="49" charset="0"/>
                <a:cs typeface="Courier New" panose="02070309020205020404" pitchFamily="49" charset="0"/>
              </a:rPr>
              <a:t>idref</a:t>
            </a:r>
            <a:r>
              <a:rPr lang="en-US" sz="2800" dirty="0">
                <a:latin typeface="Arial" panose="020B0604020202020204" pitchFamily="34" charset="0"/>
                <a:cs typeface="Arial" panose="020B0604020202020204" pitchFamily="34" charset="0"/>
              </a:rPr>
              <a:t> is either an index number or the value of </a:t>
            </a:r>
            <a:r>
              <a:rPr lang="en-US" sz="2600" dirty="0">
                <a:latin typeface="Courier New" panose="02070309020205020404" pitchFamily="49" charset="0"/>
                <a:cs typeface="Courier New" panose="02070309020205020404" pitchFamily="49" charset="0"/>
              </a:rPr>
              <a:t>id</a:t>
            </a:r>
            <a:r>
              <a:rPr lang="en-US" sz="2800" dirty="0">
                <a:latin typeface="Arial" panose="020B0604020202020204" pitchFamily="34" charset="0"/>
                <a:cs typeface="Arial" panose="020B0604020202020204" pitchFamily="34" charset="0"/>
              </a:rPr>
              <a:t> attribute</a:t>
            </a:r>
          </a:p>
        </p:txBody>
      </p:sp>
    </p:spTree>
    <p:extLst>
      <p:ext uri="{BB962C8B-B14F-4D97-AF65-F5344CB8AC3E}">
        <p14:creationId xmlns:p14="http://schemas.microsoft.com/office/powerpoint/2010/main" val="1999014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Referencing Object Collections (continued)</a:t>
            </a:r>
          </a:p>
        </p:txBody>
      </p:sp>
      <p:graphicFrame>
        <p:nvGraphicFramePr>
          <p:cNvPr id="8" name="Table Placeholder 7"/>
          <p:cNvGraphicFramePr>
            <a:graphicFrameLocks noGrp="1"/>
          </p:cNvGraphicFramePr>
          <p:nvPr>
            <p:ph type="tbl" sz="quarter" idx="10"/>
            <p:extLst>
              <p:ext uri="{D42A27DB-BD31-4B8C-83A1-F6EECF244321}">
                <p14:modId xmlns:p14="http://schemas.microsoft.com/office/powerpoint/2010/main" val="1459248939"/>
              </p:ext>
            </p:extLst>
          </p:nvPr>
        </p:nvGraphicFramePr>
        <p:xfrm>
          <a:off x="1092010" y="1595535"/>
          <a:ext cx="6959979" cy="3957320"/>
        </p:xfrm>
        <a:graphic>
          <a:graphicData uri="http://schemas.openxmlformats.org/drawingml/2006/table">
            <a:tbl>
              <a:tblPr firstRow="1"/>
              <a:tblGrid>
                <a:gridCol w="3063387">
                  <a:extLst>
                    <a:ext uri="{9D8B030D-6E8A-4147-A177-3AD203B41FA5}">
                      <a16:colId xmlns:a16="http://schemas.microsoft.com/office/drawing/2014/main" val="20000"/>
                    </a:ext>
                  </a:extLst>
                </a:gridCol>
                <a:gridCol w="3896592">
                  <a:extLst>
                    <a:ext uri="{9D8B030D-6E8A-4147-A177-3AD203B41FA5}">
                      <a16:colId xmlns:a16="http://schemas.microsoft.com/office/drawing/2014/main" val="20001"/>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Object Collection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References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document.anchors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elements marked with the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&lt;a&gt;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tag</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document.applets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applet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document.embeds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embed</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9465">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document.forms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web forms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document.frames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frame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document.images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inline images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document.links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hypertext links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document.plugins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plug-ins supported by the browser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document.scripts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script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document.styleSheets</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All </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stylesheet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elements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80178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Referencing an Object by ID and Name</a:t>
            </a:r>
          </a:p>
        </p:txBody>
      </p:sp>
      <p:sp>
        <p:nvSpPr>
          <p:cNvPr id="5" name="Text Placeholder 4"/>
          <p:cNvSpPr>
            <a:spLocks noGrp="1"/>
          </p:cNvSpPr>
          <p:nvPr>
            <p:ph type="body" sz="quarter" idx="17"/>
          </p:nvPr>
        </p:nvSpPr>
        <p:spPr/>
        <p:txBody>
          <a:bodyPr/>
          <a:lstStyle/>
          <a:p>
            <a:r>
              <a:rPr lang="en-US" dirty="0"/>
              <a:t>An efficient approach to reference an element is to use its </a:t>
            </a:r>
            <a:r>
              <a:rPr lang="en-US" sz="2600" dirty="0">
                <a:latin typeface="Courier New" panose="02070309020205020404" pitchFamily="49" charset="0"/>
                <a:cs typeface="Courier New" panose="02070309020205020404" pitchFamily="49" charset="0"/>
              </a:rPr>
              <a:t>id</a:t>
            </a:r>
            <a:r>
              <a:rPr lang="en-US" dirty="0"/>
              <a:t> attribute using the expression</a:t>
            </a:r>
          </a:p>
          <a:p>
            <a:pPr marL="463550" indent="0">
              <a:buNone/>
            </a:pPr>
            <a:r>
              <a:rPr lang="en-US" sz="2600" dirty="0">
                <a:latin typeface="Courier New" panose="02070309020205020404" pitchFamily="49" charset="0"/>
                <a:cs typeface="Courier New" panose="02070309020205020404" pitchFamily="49" charset="0"/>
              </a:rPr>
              <a:t>document.getElementById(</a:t>
            </a:r>
            <a:r>
              <a:rPr lang="en-US" sz="2600" i="1" dirty="0">
                <a:latin typeface="Courier New" panose="02070309020205020404" pitchFamily="49" charset="0"/>
                <a:cs typeface="Courier New" panose="02070309020205020404" pitchFamily="49" charset="0"/>
              </a:rPr>
              <a:t>id</a:t>
            </a:r>
            <a:r>
              <a:rPr lang="en-US" sz="2600" dirty="0">
                <a:latin typeface="Courier New" panose="02070309020205020404" pitchFamily="49" charset="0"/>
                <a:cs typeface="Courier New" panose="02070309020205020404" pitchFamily="49" charset="0"/>
              </a:rPr>
              <a:t>)</a:t>
            </a:r>
          </a:p>
          <a:p>
            <a:pPr marL="463550" indent="0">
              <a:buNone/>
            </a:pPr>
            <a:r>
              <a:rPr lang="en-US" sz="2800" dirty="0"/>
              <a:t>where </a:t>
            </a:r>
            <a:r>
              <a:rPr lang="en-US" sz="2600" i="1" dirty="0">
                <a:latin typeface="Courier New" panose="02070309020205020404" pitchFamily="49" charset="0"/>
                <a:cs typeface="Courier New" panose="02070309020205020404" pitchFamily="49" charset="0"/>
              </a:rPr>
              <a:t>id</a:t>
            </a:r>
            <a:r>
              <a:rPr lang="en-US" sz="2800" dirty="0"/>
              <a:t> is the value of </a:t>
            </a:r>
            <a:r>
              <a:rPr lang="en-US" sz="2600" dirty="0">
                <a:latin typeface="Courier New" panose="02070309020205020404" pitchFamily="49" charset="0"/>
                <a:cs typeface="Courier New" panose="02070309020205020404" pitchFamily="49" charset="0"/>
              </a:rPr>
              <a:t>id</a:t>
            </a:r>
            <a:r>
              <a:rPr lang="en-US" sz="2800" dirty="0"/>
              <a:t> attribute</a:t>
            </a:r>
          </a:p>
        </p:txBody>
      </p:sp>
    </p:spTree>
    <p:extLst>
      <p:ext uri="{BB962C8B-B14F-4D97-AF65-F5344CB8AC3E}">
        <p14:creationId xmlns:p14="http://schemas.microsoft.com/office/powerpoint/2010/main" val="2003492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Changing Properties and Applying Methods</a:t>
            </a:r>
          </a:p>
        </p:txBody>
      </p:sp>
      <p:sp>
        <p:nvSpPr>
          <p:cNvPr id="4" name="Text Placeholder 3"/>
          <p:cNvSpPr>
            <a:spLocks noGrp="1"/>
          </p:cNvSpPr>
          <p:nvPr>
            <p:ph type="body" sz="quarter" idx="17"/>
          </p:nvPr>
        </p:nvSpPr>
        <p:spPr/>
        <p:txBody>
          <a:bodyPr/>
          <a:lstStyle/>
          <a:p>
            <a:r>
              <a:rPr lang="en-US" dirty="0"/>
              <a:t>An object can be modified in two ways:</a:t>
            </a:r>
          </a:p>
          <a:p>
            <a:pPr lvl="1"/>
            <a:r>
              <a:rPr lang="en-US" dirty="0"/>
              <a:t>By changing the object’s properties</a:t>
            </a:r>
          </a:p>
          <a:p>
            <a:pPr lvl="1"/>
            <a:r>
              <a:rPr lang="en-US" dirty="0"/>
              <a:t>By applying a method</a:t>
            </a:r>
          </a:p>
        </p:txBody>
      </p:sp>
    </p:spTree>
    <p:extLst>
      <p:ext uri="{BB962C8B-B14F-4D97-AF65-F5344CB8AC3E}">
        <p14:creationId xmlns:p14="http://schemas.microsoft.com/office/powerpoint/2010/main" val="3223607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Properties</a:t>
            </a:r>
          </a:p>
        </p:txBody>
      </p:sp>
      <p:sp>
        <p:nvSpPr>
          <p:cNvPr id="5" name="Text Placeholder 4"/>
          <p:cNvSpPr>
            <a:spLocks noGrp="1"/>
          </p:cNvSpPr>
          <p:nvPr>
            <p:ph type="body" sz="quarter" idx="17"/>
          </p:nvPr>
        </p:nvSpPr>
        <p:spPr/>
        <p:txBody>
          <a:bodyPr/>
          <a:lstStyle/>
          <a:p>
            <a:r>
              <a:rPr lang="en-US" dirty="0"/>
              <a:t>Object property is accessed using:</a:t>
            </a:r>
          </a:p>
          <a:p>
            <a:pPr marL="914400" indent="0">
              <a:buNone/>
            </a:pPr>
            <a:r>
              <a:rPr lang="en-US" sz="2600" i="1" dirty="0">
                <a:latin typeface="Courier New" panose="02070309020205020404" pitchFamily="49" charset="0"/>
                <a:cs typeface="Courier New" panose="02070309020205020404" pitchFamily="49" charset="0"/>
              </a:rPr>
              <a:t>object.property</a:t>
            </a:r>
          </a:p>
          <a:p>
            <a:pPr marL="914400" indent="0">
              <a:buNone/>
            </a:pPr>
            <a:r>
              <a:rPr lang="en-US" sz="2800" dirty="0"/>
              <a:t>where </a:t>
            </a:r>
            <a:r>
              <a:rPr lang="en-US" sz="2600" i="1" dirty="0">
                <a:latin typeface="Courier New" panose="02070309020205020404" pitchFamily="49" charset="0"/>
                <a:cs typeface="Courier New" panose="02070309020205020404" pitchFamily="49" charset="0"/>
              </a:rPr>
              <a:t>object</a:t>
            </a:r>
            <a:r>
              <a:rPr lang="en-US" sz="2800" dirty="0"/>
              <a:t> is a reference to an object and </a:t>
            </a:r>
            <a:r>
              <a:rPr lang="en-US" sz="2600" i="1" dirty="0">
                <a:latin typeface="Courier New" panose="02070309020205020404" pitchFamily="49" charset="0"/>
                <a:cs typeface="Courier New" panose="02070309020205020404" pitchFamily="49" charset="0"/>
              </a:rPr>
              <a:t>property</a:t>
            </a:r>
            <a:r>
              <a:rPr lang="en-US" sz="2800" dirty="0"/>
              <a:t> is a property associated with that object</a:t>
            </a:r>
          </a:p>
          <a:p>
            <a:r>
              <a:rPr lang="en-US" b="1" dirty="0"/>
              <a:t>Read-only properties</a:t>
            </a:r>
            <a:r>
              <a:rPr lang="en-US" dirty="0"/>
              <a:t> cannot be modified</a:t>
            </a:r>
          </a:p>
        </p:txBody>
      </p:sp>
    </p:spTree>
    <p:extLst>
      <p:ext uri="{BB962C8B-B14F-4D97-AF65-F5344CB8AC3E}">
        <p14:creationId xmlns:p14="http://schemas.microsoft.com/office/powerpoint/2010/main" val="4292882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a Method</a:t>
            </a:r>
          </a:p>
        </p:txBody>
      </p:sp>
      <p:sp>
        <p:nvSpPr>
          <p:cNvPr id="3" name="Text Placeholder 2"/>
          <p:cNvSpPr>
            <a:spLocks noGrp="1"/>
          </p:cNvSpPr>
          <p:nvPr>
            <p:ph type="body" sz="quarter" idx="17"/>
          </p:nvPr>
        </p:nvSpPr>
        <p:spPr/>
        <p:txBody>
          <a:bodyPr/>
          <a:lstStyle/>
          <a:p>
            <a:r>
              <a:rPr lang="en-US" dirty="0"/>
              <a:t>Objects can be modified using methods</a:t>
            </a:r>
          </a:p>
          <a:p>
            <a:r>
              <a:rPr lang="en-US" dirty="0"/>
              <a:t>Methods are applied using the expression:</a:t>
            </a:r>
          </a:p>
          <a:p>
            <a:pPr marL="914400" indent="0">
              <a:buNone/>
            </a:pPr>
            <a:r>
              <a:rPr lang="en-US" sz="2600" i="1" dirty="0">
                <a:latin typeface="Courier New" panose="02070309020205020404" pitchFamily="49" charset="0"/>
                <a:cs typeface="Courier New" panose="02070309020205020404" pitchFamily="49" charset="0"/>
              </a:rPr>
              <a:t>object.method(values)</a:t>
            </a:r>
          </a:p>
          <a:p>
            <a:pPr marL="914400" indent="0">
              <a:buNone/>
            </a:pPr>
            <a:r>
              <a:rPr lang="en-US" sz="2800" dirty="0"/>
              <a:t>where </a:t>
            </a:r>
            <a:r>
              <a:rPr lang="en-US" sz="2600" i="1" dirty="0">
                <a:latin typeface="Courier New" panose="02070309020205020404" pitchFamily="49" charset="0"/>
                <a:cs typeface="Courier New" panose="02070309020205020404" pitchFamily="49" charset="0"/>
              </a:rPr>
              <a:t>object</a:t>
            </a:r>
            <a:r>
              <a:rPr lang="en-US" sz="2800" dirty="0"/>
              <a:t> is a reference to an object, </a:t>
            </a:r>
            <a:r>
              <a:rPr lang="en-US" sz="2600" i="1" dirty="0">
                <a:latin typeface="Courier New" panose="02070309020205020404" pitchFamily="49" charset="0"/>
                <a:cs typeface="Courier New" panose="02070309020205020404" pitchFamily="49" charset="0"/>
              </a:rPr>
              <a:t>method</a:t>
            </a:r>
            <a:r>
              <a:rPr lang="en-US" sz="2800" dirty="0"/>
              <a:t> is the name of the method applied to the object, and </a:t>
            </a:r>
            <a:r>
              <a:rPr lang="en-US" sz="2600" i="1" dirty="0">
                <a:latin typeface="Courier New" panose="02070309020205020404" pitchFamily="49" charset="0"/>
                <a:cs typeface="Courier New" panose="02070309020205020404" pitchFamily="49" charset="0"/>
              </a:rPr>
              <a:t>values</a:t>
            </a:r>
            <a:r>
              <a:rPr lang="en-US" sz="2800" dirty="0"/>
              <a:t> is a comma-separated list of values associated with the method</a:t>
            </a:r>
          </a:p>
        </p:txBody>
      </p:sp>
    </p:spTree>
    <p:extLst>
      <p:ext uri="{BB962C8B-B14F-4D97-AF65-F5344CB8AC3E}">
        <p14:creationId xmlns:p14="http://schemas.microsoft.com/office/powerpoint/2010/main" val="865402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HTML Code</a:t>
            </a:r>
          </a:p>
        </p:txBody>
      </p:sp>
      <p:sp>
        <p:nvSpPr>
          <p:cNvPr id="6" name="Text Placeholder 5"/>
          <p:cNvSpPr>
            <a:spLocks noGrp="1"/>
          </p:cNvSpPr>
          <p:nvPr>
            <p:ph type="body" sz="quarter" idx="17"/>
          </p:nvPr>
        </p:nvSpPr>
        <p:spPr/>
        <p:txBody>
          <a:bodyPr>
            <a:normAutofit/>
          </a:bodyPr>
          <a:lstStyle/>
          <a:p>
            <a:r>
              <a:rPr lang="en-US" dirty="0"/>
              <a:t>HTML code stored within a page element is referenced using</a:t>
            </a:r>
          </a:p>
          <a:p>
            <a:pPr marL="463550" indent="0">
              <a:buNone/>
            </a:pPr>
            <a:r>
              <a:rPr lang="en-US" sz="2600" i="1" dirty="0" err="1">
                <a:latin typeface="Courier New" panose="02070309020205020404" pitchFamily="49" charset="0"/>
                <a:cs typeface="Courier New" panose="02070309020205020404" pitchFamily="49" charset="0"/>
              </a:rPr>
              <a:t>element</a:t>
            </a:r>
            <a:r>
              <a:rPr lang="en-US" sz="2600" dirty="0" err="1">
                <a:latin typeface="Courier New" panose="02070309020205020404" pitchFamily="49" charset="0"/>
                <a:cs typeface="Courier New" panose="02070309020205020404" pitchFamily="49" charset="0"/>
              </a:rPr>
              <a:t>.innerHTML</a:t>
            </a:r>
            <a:endParaRPr lang="en-US" sz="2600" dirty="0">
              <a:latin typeface="Courier New" panose="02070309020205020404" pitchFamily="49" charset="0"/>
              <a:cs typeface="Courier New" panose="02070309020205020404" pitchFamily="49" charset="0"/>
            </a:endParaRPr>
          </a:p>
          <a:p>
            <a:pPr marL="463550" indent="0">
              <a:buNone/>
            </a:pPr>
            <a:r>
              <a:rPr lang="en-US" sz="2800" dirty="0"/>
              <a:t>where </a:t>
            </a:r>
            <a:r>
              <a:rPr lang="en-US" sz="2600" i="1" dirty="0">
                <a:latin typeface="Courier New" panose="02070309020205020404" pitchFamily="49" charset="0"/>
                <a:cs typeface="Courier New" panose="02070309020205020404" pitchFamily="49" charset="0"/>
              </a:rPr>
              <a:t>element</a:t>
            </a:r>
            <a:r>
              <a:rPr lang="en-US" sz="2800" dirty="0"/>
              <a:t> is an object reference to an element within a web document</a:t>
            </a:r>
          </a:p>
          <a:p>
            <a:r>
              <a:rPr lang="en-US" dirty="0"/>
              <a:t>For example:</a:t>
            </a:r>
          </a:p>
          <a:p>
            <a:pPr marL="55563" indent="0">
              <a:buNone/>
            </a:pPr>
            <a:r>
              <a:rPr lang="en-US" sz="2600" dirty="0">
                <a:latin typeface="Courier New" panose="02070309020205020404" pitchFamily="49" charset="0"/>
                <a:cs typeface="Courier New" panose="02070309020205020404" pitchFamily="49" charset="0"/>
              </a:rPr>
              <a:t>/* Display the current date and time */</a:t>
            </a:r>
          </a:p>
          <a:p>
            <a:pPr marL="55563" indent="0">
              <a:buNone/>
            </a:pPr>
            <a:r>
              <a:rPr lang="en-US" sz="2600" dirty="0">
                <a:latin typeface="Courier New" panose="02070309020205020404" pitchFamily="49" charset="0"/>
                <a:cs typeface="Courier New" panose="02070309020205020404" pitchFamily="49" charset="0"/>
              </a:rPr>
              <a:t>document.getElementById(“dateNow”).innerHTML = “m/d/y&lt;br /&gt;h:m:s”;</a:t>
            </a:r>
          </a:p>
        </p:txBody>
      </p:sp>
    </p:spTree>
    <p:extLst>
      <p:ext uri="{BB962C8B-B14F-4D97-AF65-F5344CB8AC3E}">
        <p14:creationId xmlns:p14="http://schemas.microsoft.com/office/powerpoint/2010/main" val="4154157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HTML Code (continued 1)</a:t>
            </a:r>
          </a:p>
        </p:txBody>
      </p:sp>
      <p:pic>
        <p:nvPicPr>
          <p:cNvPr id="9" name="Content Placeholder 2" descr="This figure shows the revised data and time content in a web page.&#10;The figure consists of an image on a web page and a rectangular box.&#10;Three lines of text are positioned at the top-left corner on the image in a web page. The first line of the text reads “Current Time”. The second line of the text reads “m/d/y”. The third line of the text reads “h:m:s”. A rectangular box labeled “content written with JavaScript” is positioned at the left side of the image. An arrow originating from the rectangular box points to the second and third line of the text." title="Figure 9-15 Revised date and time conten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731273" y="2018027"/>
            <a:ext cx="7681453" cy="3197893"/>
          </a:xfrm>
          <a:prstGeom prst="rect">
            <a:avLst/>
          </a:prstGeom>
        </p:spPr>
      </p:pic>
    </p:spTree>
    <p:extLst>
      <p:ext uri="{BB962C8B-B14F-4D97-AF65-F5344CB8AC3E}">
        <p14:creationId xmlns:p14="http://schemas.microsoft.com/office/powerpoint/2010/main" val="2339519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HTML Code (continued 2)</a:t>
            </a:r>
          </a:p>
        </p:txBody>
      </p:sp>
      <p:graphicFrame>
        <p:nvGraphicFramePr>
          <p:cNvPr id="5" name="Table Placeholder 4"/>
          <p:cNvGraphicFramePr>
            <a:graphicFrameLocks noGrp="1"/>
          </p:cNvGraphicFramePr>
          <p:nvPr>
            <p:ph type="tbl" sz="quarter" idx="10"/>
            <p:extLst>
              <p:ext uri="{D42A27DB-BD31-4B8C-83A1-F6EECF244321}">
                <p14:modId xmlns:p14="http://schemas.microsoft.com/office/powerpoint/2010/main" val="3288446382"/>
              </p:ext>
            </p:extLst>
          </p:nvPr>
        </p:nvGraphicFramePr>
        <p:xfrm>
          <a:off x="575335" y="1624428"/>
          <a:ext cx="7993329" cy="3835400"/>
        </p:xfrm>
        <a:graphic>
          <a:graphicData uri="http://schemas.openxmlformats.org/drawingml/2006/table">
            <a:tbl>
              <a:tblPr firstRow="1"/>
              <a:tblGrid>
                <a:gridCol w="3491667">
                  <a:extLst>
                    <a:ext uri="{9D8B030D-6E8A-4147-A177-3AD203B41FA5}">
                      <a16:colId xmlns:a16="http://schemas.microsoft.com/office/drawing/2014/main" val="20000"/>
                    </a:ext>
                  </a:extLst>
                </a:gridCol>
                <a:gridCol w="4501662">
                  <a:extLst>
                    <a:ext uri="{9D8B030D-6E8A-4147-A177-3AD203B41FA5}">
                      <a16:colId xmlns:a16="http://schemas.microsoft.com/office/drawing/2014/main" val="20001"/>
                    </a:ext>
                  </a:extLst>
                </a:gridCol>
              </a:tblGrid>
              <a:tr h="0">
                <a:tc>
                  <a:txBody>
                    <a:bodyPr/>
                    <a:lstStyle/>
                    <a:p>
                      <a:pPr marL="9144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Property or 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9144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9144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.innerHTML</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HTML code within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9144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.outerHTML</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HTML code within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as well as the HTML code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itself</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9144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.textContent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text within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disregarding any HTML tags</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9144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.insertAdjacentHTML(</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position, text</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Inserts HTML code defined by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text</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into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element</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position</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spc="-5"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position</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one of the </a:t>
                      </a:r>
                      <a:r>
                        <a:rPr lang="en-US" sz="1600" spc="-5"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following:</a:t>
                      </a:r>
                      <a:r>
                        <a:rPr lang="en-US" sz="1600" spc="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US" sz="1600" spc="-5"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beforeBegin</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(before the element’s opening tag), </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US" sz="1600" spc="-5"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afterBegin</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(right after the element’s opening tag), </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US" sz="1600" spc="-5"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beforeEnd</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(just before the element’s closing tag), or </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US" sz="1600" spc="-5" dirty="0" err="1">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afterEnd</a:t>
                      </a:r>
                      <a:r>
                        <a:rPr lang="en-US" sz="1600" spc="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r>
                        <a:rPr lang="en-US" sz="1600" spc="-5"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(after the element’s closing tag)</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02142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Variables</a:t>
            </a:r>
          </a:p>
        </p:txBody>
      </p:sp>
      <p:sp>
        <p:nvSpPr>
          <p:cNvPr id="5" name="Text Placeholder 4"/>
          <p:cNvSpPr>
            <a:spLocks noGrp="1"/>
          </p:cNvSpPr>
          <p:nvPr>
            <p:ph type="body" sz="quarter" idx="17"/>
          </p:nvPr>
        </p:nvSpPr>
        <p:spPr/>
        <p:txBody>
          <a:bodyPr>
            <a:normAutofit lnSpcReduction="10000"/>
          </a:bodyPr>
          <a:lstStyle/>
          <a:p>
            <a:r>
              <a:rPr lang="en-US" dirty="0"/>
              <a:t>JavaScript is much more powerful and versatile when used in conjunction with variables</a:t>
            </a:r>
          </a:p>
          <a:p>
            <a:r>
              <a:rPr lang="en-US" dirty="0"/>
              <a:t>A </a:t>
            </a:r>
            <a:r>
              <a:rPr lang="en-US" b="1" dirty="0"/>
              <a:t>variable</a:t>
            </a:r>
            <a:r>
              <a:rPr lang="en-US" dirty="0"/>
              <a:t> is a named item in a program that stores a data value, such as a number or text string, or an object, such as a part of the web browser or browser window</a:t>
            </a:r>
          </a:p>
          <a:p>
            <a:r>
              <a:rPr lang="en-US" dirty="0"/>
              <a:t>Variables are useful because they can store information created in one part of the script and use that information elsewhere</a:t>
            </a:r>
          </a:p>
        </p:txBody>
      </p:sp>
    </p:spTree>
    <p:extLst>
      <p:ext uri="{BB962C8B-B14F-4D97-AF65-F5344CB8AC3E}">
        <p14:creationId xmlns:p14="http://schemas.microsoft.com/office/powerpoint/2010/main" val="912070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Declaring a Variable</a:t>
            </a:r>
          </a:p>
        </p:txBody>
      </p:sp>
      <p:sp>
        <p:nvSpPr>
          <p:cNvPr id="5" name="Text Placeholder 4"/>
          <p:cNvSpPr>
            <a:spLocks noGrp="1"/>
          </p:cNvSpPr>
          <p:nvPr>
            <p:ph type="body" sz="quarter" idx="17"/>
          </p:nvPr>
        </p:nvSpPr>
        <p:spPr/>
        <p:txBody>
          <a:bodyPr>
            <a:normAutofit fontScale="92500"/>
          </a:bodyPr>
          <a:lstStyle/>
          <a:p>
            <a:r>
              <a:rPr lang="en-US" dirty="0"/>
              <a:t>Introduced into a script by </a:t>
            </a:r>
            <a:r>
              <a:rPr lang="en-US" b="1" dirty="0"/>
              <a:t>declaring</a:t>
            </a:r>
            <a:r>
              <a:rPr lang="en-US" dirty="0"/>
              <a:t> the variable using the </a:t>
            </a:r>
            <a:r>
              <a:rPr lang="en-US" sz="2600" dirty="0">
                <a:latin typeface="Courier New" panose="02070309020205020404" pitchFamily="49" charset="0"/>
                <a:cs typeface="Courier New" panose="02070309020205020404" pitchFamily="49" charset="0"/>
              </a:rPr>
              <a:t>var</a:t>
            </a:r>
            <a:r>
              <a:rPr lang="en-US" dirty="0"/>
              <a:t> keyword</a:t>
            </a:r>
          </a:p>
          <a:p>
            <a:pPr marL="914400" indent="0">
              <a:buNone/>
            </a:pPr>
            <a:r>
              <a:rPr lang="en-US" sz="2600" dirty="0">
                <a:latin typeface="Courier New" panose="02070309020205020404" pitchFamily="49" charset="0"/>
                <a:cs typeface="Courier New" panose="02070309020205020404" pitchFamily="49" charset="0"/>
              </a:rPr>
              <a:t>var </a:t>
            </a:r>
            <a:r>
              <a:rPr lang="en-US" sz="2600" i="1" dirty="0">
                <a:latin typeface="Courier New" panose="02070309020205020404" pitchFamily="49" charset="0"/>
                <a:cs typeface="Courier New" panose="02070309020205020404" pitchFamily="49" charset="0"/>
              </a:rPr>
              <a:t>variable</a:t>
            </a:r>
            <a:r>
              <a:rPr lang="en-US" sz="2600" dirty="0">
                <a:latin typeface="Courier New" panose="02070309020205020404" pitchFamily="49" charset="0"/>
                <a:cs typeface="Courier New" panose="02070309020205020404" pitchFamily="49" charset="0"/>
              </a:rPr>
              <a:t> = </a:t>
            </a:r>
            <a:r>
              <a:rPr lang="en-US" sz="2600" i="1" dirty="0">
                <a:latin typeface="Courier New" panose="02070309020205020404" pitchFamily="49" charset="0"/>
                <a:cs typeface="Courier New" panose="02070309020205020404" pitchFamily="49" charset="0"/>
              </a:rPr>
              <a:t>value</a:t>
            </a:r>
            <a:r>
              <a:rPr lang="en-US" sz="2600" dirty="0">
                <a:latin typeface="Courier New" panose="02070309020205020404" pitchFamily="49" charset="0"/>
                <a:cs typeface="Courier New" panose="02070309020205020404" pitchFamily="49" charset="0"/>
              </a:rPr>
              <a:t>;</a:t>
            </a:r>
          </a:p>
          <a:p>
            <a:pPr marL="914400" indent="0">
              <a:buNone/>
            </a:pPr>
            <a:r>
              <a:rPr lang="en-US" sz="2800" dirty="0"/>
              <a:t>where </a:t>
            </a:r>
            <a:r>
              <a:rPr lang="en-US" sz="2600" i="1" dirty="0">
                <a:latin typeface="Courier New" panose="02070309020205020404" pitchFamily="49" charset="0"/>
                <a:cs typeface="Courier New" panose="02070309020205020404" pitchFamily="49" charset="0"/>
              </a:rPr>
              <a:t>variable</a:t>
            </a:r>
            <a:r>
              <a:rPr lang="en-US" sz="2800" dirty="0"/>
              <a:t> is the name assigned to the variable and </a:t>
            </a:r>
            <a:r>
              <a:rPr lang="en-US" sz="2600" i="1" dirty="0">
                <a:latin typeface="Courier New" panose="02070309020205020404" pitchFamily="49" charset="0"/>
                <a:cs typeface="Courier New" panose="02070309020205020404" pitchFamily="49" charset="0"/>
              </a:rPr>
              <a:t>value</a:t>
            </a:r>
            <a:r>
              <a:rPr lang="en-US" sz="2800" dirty="0"/>
              <a:t> is the variable’s initial value</a:t>
            </a:r>
          </a:p>
          <a:p>
            <a:r>
              <a:rPr lang="en-US" dirty="0"/>
              <a:t>An initial value does not have to be supplied to a variable</a:t>
            </a:r>
          </a:p>
          <a:p>
            <a:r>
              <a:rPr lang="en-US" dirty="0"/>
              <a:t>Multiple variables can be declared by entering the variable names in a comma separated list</a:t>
            </a:r>
          </a:p>
          <a:p>
            <a:endParaRPr lang="en-US" dirty="0"/>
          </a:p>
        </p:txBody>
      </p:sp>
    </p:spTree>
    <p:extLst>
      <p:ext uri="{BB962C8B-B14F-4D97-AF65-F5344CB8AC3E}">
        <p14:creationId xmlns:p14="http://schemas.microsoft.com/office/powerpoint/2010/main" val="1396677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Declaring a Variable (continued)</a:t>
            </a:r>
          </a:p>
        </p:txBody>
      </p:sp>
      <p:sp>
        <p:nvSpPr>
          <p:cNvPr id="3" name="Text Placeholder 2"/>
          <p:cNvSpPr>
            <a:spLocks noGrp="1"/>
          </p:cNvSpPr>
          <p:nvPr>
            <p:ph type="body" sz="quarter" idx="17"/>
          </p:nvPr>
        </p:nvSpPr>
        <p:spPr/>
        <p:txBody>
          <a:bodyPr/>
          <a:lstStyle/>
          <a:p>
            <a:r>
              <a:rPr lang="en-US" dirty="0"/>
              <a:t>Conditions to assign variable names in JavaScript</a:t>
            </a:r>
          </a:p>
          <a:p>
            <a:pPr lvl="1"/>
            <a:r>
              <a:rPr lang="en-US" dirty="0"/>
              <a:t>First character must be either a letter or an underscore character ( _ )</a:t>
            </a:r>
          </a:p>
          <a:p>
            <a:pPr lvl="1"/>
            <a:r>
              <a:rPr lang="en-US" dirty="0"/>
              <a:t>The characters after the first character can be letters, numbers, or underscore characters</a:t>
            </a:r>
          </a:p>
          <a:p>
            <a:pPr lvl="1"/>
            <a:r>
              <a:rPr lang="en-US" dirty="0"/>
              <a:t>No spaces</a:t>
            </a:r>
          </a:p>
          <a:p>
            <a:pPr lvl="1"/>
            <a:r>
              <a:rPr lang="en-US" dirty="0"/>
              <a:t>No using names that are part of JavaScript language</a:t>
            </a:r>
          </a:p>
          <a:p>
            <a:endParaRPr lang="en-US" dirty="0"/>
          </a:p>
        </p:txBody>
      </p:sp>
    </p:spTree>
    <p:extLst>
      <p:ext uri="{BB962C8B-B14F-4D97-AF65-F5344CB8AC3E}">
        <p14:creationId xmlns:p14="http://schemas.microsoft.com/office/powerpoint/2010/main" val="1818989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and Data Types</a:t>
            </a:r>
          </a:p>
        </p:txBody>
      </p:sp>
      <p:sp>
        <p:nvSpPr>
          <p:cNvPr id="3" name="Text Placeholder 2"/>
          <p:cNvSpPr>
            <a:spLocks noGrp="1"/>
          </p:cNvSpPr>
          <p:nvPr>
            <p:ph type="body" sz="quarter" idx="17"/>
          </p:nvPr>
        </p:nvSpPr>
        <p:spPr/>
        <p:txBody>
          <a:bodyPr/>
          <a:lstStyle/>
          <a:p>
            <a:r>
              <a:rPr lang="en-US" b="1" dirty="0"/>
              <a:t>Data type</a:t>
            </a:r>
            <a:r>
              <a:rPr lang="en-US" dirty="0"/>
              <a:t>: Type of information stored in a variable</a:t>
            </a:r>
          </a:p>
          <a:p>
            <a:r>
              <a:rPr lang="en-US" dirty="0"/>
              <a:t>Supported data types</a:t>
            </a:r>
          </a:p>
          <a:p>
            <a:pPr lvl="1"/>
            <a:r>
              <a:rPr lang="en-US" dirty="0"/>
              <a:t>Numeric value</a:t>
            </a:r>
          </a:p>
          <a:p>
            <a:pPr lvl="1"/>
            <a:r>
              <a:rPr lang="en-US" dirty="0"/>
              <a:t>Text string </a:t>
            </a:r>
          </a:p>
          <a:p>
            <a:pPr lvl="1"/>
            <a:r>
              <a:rPr lang="en-US" dirty="0"/>
              <a:t>Boolean value</a:t>
            </a:r>
          </a:p>
          <a:p>
            <a:pPr lvl="1"/>
            <a:r>
              <a:rPr lang="en-US" dirty="0"/>
              <a:t>Object </a:t>
            </a:r>
          </a:p>
          <a:p>
            <a:pPr lvl="1"/>
            <a:r>
              <a:rPr lang="en-US" dirty="0"/>
              <a:t>null value</a:t>
            </a:r>
          </a:p>
        </p:txBody>
      </p:sp>
    </p:spTree>
    <p:extLst>
      <p:ext uri="{BB962C8B-B14F-4D97-AF65-F5344CB8AC3E}">
        <p14:creationId xmlns:p14="http://schemas.microsoft.com/office/powerpoint/2010/main" val="36696111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and Data Types</a:t>
            </a:r>
            <a:br>
              <a:rPr lang="en-US" dirty="0"/>
            </a:br>
            <a:r>
              <a:rPr lang="en-US" dirty="0"/>
              <a:t>(continued 1)</a:t>
            </a:r>
          </a:p>
        </p:txBody>
      </p:sp>
      <p:sp>
        <p:nvSpPr>
          <p:cNvPr id="6" name="Text Placeholder 5"/>
          <p:cNvSpPr>
            <a:spLocks noGrp="1"/>
          </p:cNvSpPr>
          <p:nvPr>
            <p:ph type="body" sz="quarter" idx="17"/>
          </p:nvPr>
        </p:nvSpPr>
        <p:spPr/>
        <p:txBody>
          <a:bodyPr/>
          <a:lstStyle/>
          <a:p>
            <a:r>
              <a:rPr lang="en-US" b="1" dirty="0"/>
              <a:t>Numeric value</a:t>
            </a:r>
            <a:r>
              <a:rPr lang="en-US" dirty="0"/>
              <a:t>: Any number</a:t>
            </a:r>
          </a:p>
          <a:p>
            <a:r>
              <a:rPr lang="en-US" b="1" dirty="0"/>
              <a:t>Text string</a:t>
            </a:r>
            <a:r>
              <a:rPr lang="en-US" dirty="0"/>
              <a:t>: Group of characters enclosed within either double or single quotation marks</a:t>
            </a:r>
          </a:p>
          <a:p>
            <a:r>
              <a:rPr lang="en-US" b="1" dirty="0"/>
              <a:t>Boolean value</a:t>
            </a:r>
            <a:r>
              <a:rPr lang="en-US" dirty="0"/>
              <a:t>: Indicates the truth or falsity of a statement</a:t>
            </a:r>
          </a:p>
        </p:txBody>
      </p:sp>
    </p:spTree>
    <p:extLst>
      <p:ext uri="{BB962C8B-B14F-4D97-AF65-F5344CB8AC3E}">
        <p14:creationId xmlns:p14="http://schemas.microsoft.com/office/powerpoint/2010/main" val="909629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Variables and Data Types</a:t>
            </a:r>
            <a:br>
              <a:rPr lang="en-US" dirty="0"/>
            </a:br>
            <a:r>
              <a:rPr lang="en-US" dirty="0"/>
              <a:t>(continued 2)</a:t>
            </a:r>
          </a:p>
        </p:txBody>
      </p:sp>
      <p:sp>
        <p:nvSpPr>
          <p:cNvPr id="5" name="Text Placeholder 4"/>
          <p:cNvSpPr>
            <a:spLocks noGrp="1"/>
          </p:cNvSpPr>
          <p:nvPr>
            <p:ph type="body" sz="quarter" idx="17"/>
          </p:nvPr>
        </p:nvSpPr>
        <p:spPr/>
        <p:txBody>
          <a:bodyPr/>
          <a:lstStyle/>
          <a:p>
            <a:r>
              <a:rPr lang="en-US" dirty="0"/>
              <a:t>Object – Simplifies code by removing the need to rewrite complicated object references</a:t>
            </a:r>
          </a:p>
          <a:p>
            <a:r>
              <a:rPr lang="en-US" sz="2600" dirty="0">
                <a:latin typeface="Courier New" panose="02070309020205020404" pitchFamily="49" charset="0"/>
                <a:cs typeface="Courier New" panose="02070309020205020404" pitchFamily="49" charset="0"/>
              </a:rPr>
              <a:t>null</a:t>
            </a:r>
            <a:r>
              <a:rPr lang="en-US" dirty="0"/>
              <a:t> value – Indicates that no value has yet been assigned to a variable</a:t>
            </a:r>
          </a:p>
        </p:txBody>
      </p:sp>
    </p:spTree>
    <p:extLst>
      <p:ext uri="{BB962C8B-B14F-4D97-AF65-F5344CB8AC3E}">
        <p14:creationId xmlns:p14="http://schemas.microsoft.com/office/powerpoint/2010/main" val="586985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 Variable</a:t>
            </a:r>
          </a:p>
        </p:txBody>
      </p:sp>
      <p:sp>
        <p:nvSpPr>
          <p:cNvPr id="3" name="Text Placeholder 2"/>
          <p:cNvSpPr>
            <a:spLocks noGrp="1"/>
          </p:cNvSpPr>
          <p:nvPr>
            <p:ph type="body" sz="quarter" idx="17"/>
          </p:nvPr>
        </p:nvSpPr>
        <p:spPr/>
        <p:txBody>
          <a:bodyPr>
            <a:normAutofit/>
          </a:bodyPr>
          <a:lstStyle/>
          <a:p>
            <a:r>
              <a:rPr lang="en-US" dirty="0"/>
              <a:t>After a variable is created, it can be used in JavaScript statements in place of the value it contains</a:t>
            </a:r>
          </a:p>
          <a:p>
            <a:pPr lvl="1"/>
            <a:r>
              <a:rPr lang="en-US" dirty="0"/>
              <a:t>Inserting the variable name into a command or expression</a:t>
            </a:r>
            <a:endParaRPr lang="en-US" sz="2800" dirty="0">
              <a:latin typeface="Courier New" panose="02070309020205020404" pitchFamily="49" charset="0"/>
              <a:cs typeface="Courier New" panose="02070309020205020404" pitchFamily="49" charset="0"/>
            </a:endParaRPr>
          </a:p>
          <a:p>
            <a:r>
              <a:rPr lang="en-US" dirty="0"/>
              <a:t>Example:</a:t>
            </a:r>
          </a:p>
          <a:p>
            <a:pPr marL="463550" indent="0">
              <a:buNone/>
            </a:pPr>
            <a:r>
              <a:rPr lang="en-US" sz="2600" dirty="0">
                <a:latin typeface="Courier New" panose="02070309020205020404" pitchFamily="49" charset="0"/>
                <a:cs typeface="Courier New" panose="02070309020205020404" pitchFamily="49" charset="0"/>
              </a:rPr>
              <a:t>var dateDiv = document.getElementById("dateNow");</a:t>
            </a:r>
          </a:p>
          <a:p>
            <a:pPr marL="463550" indent="0">
              <a:buNone/>
            </a:pP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dateDiv.innerHTML = "May 3, 2021"; </a:t>
            </a:r>
          </a:p>
        </p:txBody>
      </p:sp>
    </p:spTree>
    <p:extLst>
      <p:ext uri="{BB962C8B-B14F-4D97-AF65-F5344CB8AC3E}">
        <p14:creationId xmlns:p14="http://schemas.microsoft.com/office/powerpoint/2010/main" val="9237796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 Variable (continued)</a:t>
            </a:r>
          </a:p>
        </p:txBody>
      </p:sp>
      <p:sp>
        <p:nvSpPr>
          <p:cNvPr id="3" name="Text Placeholder 2"/>
          <p:cNvSpPr>
            <a:spLocks noGrp="1"/>
          </p:cNvSpPr>
          <p:nvPr>
            <p:ph type="body" sz="quarter" idx="17"/>
          </p:nvPr>
        </p:nvSpPr>
        <p:spPr/>
        <p:txBody>
          <a:bodyPr>
            <a:normAutofit/>
          </a:bodyPr>
          <a:lstStyle/>
          <a:p>
            <a:r>
              <a:rPr lang="en-US" dirty="0"/>
              <a:t>Obtain the same effect as if the following command had been inserted into the program:</a:t>
            </a:r>
          </a:p>
          <a:p>
            <a:pPr marL="463550" indent="0">
              <a:buNone/>
            </a:pPr>
            <a:r>
              <a:rPr lang="en-US" sz="2600" dirty="0">
                <a:latin typeface="Courier New" panose="02070309020205020404" pitchFamily="49" charset="0"/>
                <a:cs typeface="Courier New" panose="02070309020205020404" pitchFamily="49" charset="0"/>
              </a:rPr>
              <a:t>document.getElementById("dateNow").innerHTML = "May 3, 2021";</a:t>
            </a:r>
          </a:p>
          <a:p>
            <a:r>
              <a:rPr lang="en-US" dirty="0"/>
              <a:t>Advantage of defining the </a:t>
            </a:r>
            <a:r>
              <a:rPr lang="en-US" sz="2600" dirty="0">
                <a:latin typeface="Courier New" panose="02070309020205020404" pitchFamily="49" charset="0"/>
                <a:cs typeface="Courier New" panose="02070309020205020404" pitchFamily="49" charset="0"/>
              </a:rPr>
              <a:t>dateDiv</a:t>
            </a:r>
            <a:r>
              <a:rPr lang="en-US" dirty="0"/>
              <a:t> variable</a:t>
            </a:r>
          </a:p>
          <a:p>
            <a:pPr lvl="1"/>
            <a:r>
              <a:rPr lang="en-US" dirty="0"/>
              <a:t>Can be used throughout the program</a:t>
            </a:r>
          </a:p>
          <a:p>
            <a:pPr lvl="1"/>
            <a:r>
              <a:rPr lang="en-US" dirty="0"/>
              <a:t>Speeds up the execution of the code</a:t>
            </a:r>
          </a:p>
          <a:p>
            <a:pPr lvl="1"/>
            <a:r>
              <a:rPr lang="en-US" dirty="0"/>
              <a:t>Makes program easier to read and manage </a:t>
            </a:r>
            <a:br>
              <a:rPr lang="en-US" dirty="0"/>
            </a:br>
            <a:endParaRPr lang="en-US" dirty="0"/>
          </a:p>
        </p:txBody>
      </p:sp>
    </p:spTree>
    <p:extLst>
      <p:ext uri="{BB962C8B-B14F-4D97-AF65-F5344CB8AC3E}">
        <p14:creationId xmlns:p14="http://schemas.microsoft.com/office/powerpoint/2010/main" val="41444292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Working with </a:t>
            </a:r>
            <a:r>
              <a:rPr lang="en-US" dirty="0">
                <a:latin typeface="Arial" panose="020B0604020202020204" pitchFamily="34" charset="0"/>
                <a:cs typeface="Arial" panose="020B0604020202020204" pitchFamily="34" charset="0"/>
              </a:rPr>
              <a:t>Date</a:t>
            </a:r>
            <a:r>
              <a:rPr lang="en-US" dirty="0"/>
              <a:t> Objects</a:t>
            </a:r>
          </a:p>
        </p:txBody>
      </p:sp>
      <p:sp>
        <p:nvSpPr>
          <p:cNvPr id="3" name="Text Placeholder 2"/>
          <p:cNvSpPr>
            <a:spLocks noGrp="1"/>
          </p:cNvSpPr>
          <p:nvPr>
            <p:ph type="body" sz="quarter" idx="17"/>
          </p:nvPr>
        </p:nvSpPr>
        <p:spPr/>
        <p:txBody>
          <a:bodyPr>
            <a:normAutofit/>
          </a:bodyPr>
          <a:lstStyle/>
          <a:p>
            <a:r>
              <a:rPr lang="en-US" b="1" dirty="0"/>
              <a:t>Date object</a:t>
            </a:r>
            <a:r>
              <a:rPr lang="en-US" dirty="0"/>
              <a:t>: Built-in JavaScript object used to store information about dates and times</a:t>
            </a:r>
          </a:p>
          <a:p>
            <a:r>
              <a:rPr lang="en-US" dirty="0"/>
              <a:t>Defined using the following expression:</a:t>
            </a:r>
          </a:p>
          <a:p>
            <a:pPr marL="463550" indent="0">
              <a:buNone/>
            </a:pPr>
            <a:r>
              <a:rPr lang="en-US" sz="2600" dirty="0">
                <a:latin typeface="Courier New" panose="02070309020205020404" pitchFamily="49" charset="0"/>
                <a:cs typeface="Courier New" panose="02070309020205020404" pitchFamily="49" charset="0"/>
              </a:rPr>
              <a:t>new Date("</a:t>
            </a:r>
            <a:r>
              <a:rPr lang="en-US" sz="2600" i="1" dirty="0">
                <a:latin typeface="Courier New" panose="02070309020205020404" pitchFamily="49" charset="0"/>
                <a:cs typeface="Courier New" panose="02070309020205020404" pitchFamily="49" charset="0"/>
              </a:rPr>
              <a:t>month day, year hrs:mins:secs</a:t>
            </a:r>
            <a:r>
              <a:rPr lang="en-US" sz="2600" dirty="0">
                <a:latin typeface="Courier New" panose="02070309020205020404" pitchFamily="49" charset="0"/>
                <a:cs typeface="Courier New" panose="02070309020205020404" pitchFamily="49" charset="0"/>
              </a:rPr>
              <a:t>");</a:t>
            </a:r>
          </a:p>
          <a:p>
            <a:pPr marL="463550" indent="0">
              <a:buNone/>
            </a:pPr>
            <a:r>
              <a:rPr lang="en-US" sz="2800" dirty="0"/>
              <a:t>where </a:t>
            </a:r>
            <a:r>
              <a:rPr lang="en-US" sz="2600" i="1" dirty="0">
                <a:latin typeface="Courier New" panose="02070309020205020404" pitchFamily="49" charset="0"/>
                <a:cs typeface="Courier New" panose="02070309020205020404" pitchFamily="49" charset="0"/>
              </a:rPr>
              <a:t>month</a:t>
            </a:r>
            <a:r>
              <a:rPr lang="en-US" sz="2800" dirty="0"/>
              <a:t>, </a:t>
            </a:r>
            <a:r>
              <a:rPr lang="en-US" sz="2600" i="1" dirty="0">
                <a:latin typeface="Courier New" panose="02070309020205020404" pitchFamily="49" charset="0"/>
                <a:cs typeface="Courier New" panose="02070309020205020404" pitchFamily="49" charset="0"/>
              </a:rPr>
              <a:t>day</a:t>
            </a:r>
            <a:r>
              <a:rPr lang="en-US" sz="2800" dirty="0"/>
              <a:t>, </a:t>
            </a:r>
            <a:r>
              <a:rPr lang="en-US" sz="2600" i="1" dirty="0">
                <a:latin typeface="Courier New" panose="02070309020205020404" pitchFamily="49" charset="0"/>
                <a:cs typeface="Courier New" panose="02070309020205020404" pitchFamily="49" charset="0"/>
              </a:rPr>
              <a:t>year</a:t>
            </a:r>
            <a:r>
              <a:rPr lang="en-US" sz="2800" dirty="0"/>
              <a:t>, </a:t>
            </a:r>
            <a:r>
              <a:rPr lang="en-US" sz="2600" i="1" dirty="0">
                <a:latin typeface="Courier New" panose="02070309020205020404" pitchFamily="49" charset="0"/>
                <a:cs typeface="Courier New" panose="02070309020205020404" pitchFamily="49" charset="0"/>
              </a:rPr>
              <a:t>hrs</a:t>
            </a:r>
            <a:r>
              <a:rPr lang="en-US" sz="2800" dirty="0"/>
              <a:t>, </a:t>
            </a:r>
            <a:r>
              <a:rPr lang="en-US" sz="2600" i="1" dirty="0">
                <a:latin typeface="Courier New" panose="02070309020205020404" pitchFamily="49" charset="0"/>
                <a:cs typeface="Courier New" panose="02070309020205020404" pitchFamily="49" charset="0"/>
              </a:rPr>
              <a:t>mins</a:t>
            </a:r>
            <a:r>
              <a:rPr lang="en-US" sz="2800" dirty="0"/>
              <a:t>, and </a:t>
            </a:r>
            <a:r>
              <a:rPr lang="en-US" sz="2600" i="1" dirty="0">
                <a:latin typeface="Courier New" panose="02070309020205020404" pitchFamily="49" charset="0"/>
                <a:cs typeface="Courier New" panose="02070309020205020404" pitchFamily="49" charset="0"/>
              </a:rPr>
              <a:t>secs</a:t>
            </a:r>
            <a:r>
              <a:rPr lang="en-US" sz="2800" dirty="0"/>
              <a:t> provide the Date object’s date and time</a:t>
            </a:r>
            <a:endParaRPr lang="en-US" dirty="0"/>
          </a:p>
        </p:txBody>
      </p:sp>
    </p:spTree>
    <p:extLst>
      <p:ext uri="{BB962C8B-B14F-4D97-AF65-F5344CB8AC3E}">
        <p14:creationId xmlns:p14="http://schemas.microsoft.com/office/powerpoint/2010/main" val="36759358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Creating a </a:t>
            </a:r>
            <a:r>
              <a:rPr lang="en-US" dirty="0">
                <a:latin typeface="Courier New" panose="02070309020205020404" pitchFamily="49" charset="0"/>
                <a:cs typeface="Courier New" panose="02070309020205020404" pitchFamily="49" charset="0"/>
              </a:rPr>
              <a:t>Date</a:t>
            </a:r>
            <a:r>
              <a:rPr lang="en-US" dirty="0"/>
              <a:t> Object</a:t>
            </a:r>
          </a:p>
        </p:txBody>
      </p:sp>
      <p:pic>
        <p:nvPicPr>
          <p:cNvPr id="3" name="Picture Placeholder 2" descr="This figure explains the process of creating a Date object.&#10;&#10;The figure consists of a few lines of code and three rectangular boxes.&#10;&#10;The first line of the code reads “*/”. The second line of the code reads “/* Store the current date and time */”. The third line of the code reads “var currentDay = new Date(“May 23, 2021 14:35:05”);”. &#10;&#10;The first rectangular box labeled “declares the currentDay variable” is positioned below the code. An arrow originating from the rectangular box points to “currentDay” in the third line of the code. &#10;&#10;The second rectangular box labeled “creates a Date object” is positioned at the right side of the first rectangular box. An arrow originating from the second rectangular box points to new Date” in the third line of the code.&#10;&#10;The third rectangular box labeled “date and time stored in the Date object” is positioned at the right side of the second rectangular box. An arrow originating from the third rectangular box points to “(“May 23, 2021 14:35:05”)” in the third line of the code." title="Figure 9-19 Creating a Date object"/>
          <p:cNvPicPr>
            <a:picLocks noGrp="1" noChangeAspect="1"/>
          </p:cNvPicPr>
          <p:nvPr>
            <p:ph type="pic" sz="quarter" idx="10"/>
          </p:nvPr>
        </p:nvPicPr>
        <p:blipFill>
          <a:blip r:embed="rId2"/>
          <a:stretch>
            <a:fillRect/>
          </a:stretch>
        </p:blipFill>
        <p:spPr>
          <a:xfrm>
            <a:off x="323850" y="2297474"/>
            <a:ext cx="8496300" cy="2543175"/>
          </a:xfrm>
          <a:prstGeom prst="rect">
            <a:avLst/>
          </a:prstGeom>
        </p:spPr>
      </p:pic>
    </p:spTree>
    <p:extLst>
      <p:ext uri="{BB962C8B-B14F-4D97-AF65-F5344CB8AC3E}">
        <p14:creationId xmlns:p14="http://schemas.microsoft.com/office/powerpoint/2010/main" val="5985802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Date Methods</a:t>
            </a:r>
          </a:p>
        </p:txBody>
      </p:sp>
      <p:sp>
        <p:nvSpPr>
          <p:cNvPr id="3" name="Text Placeholder 2">
            <a:extLst>
              <a:ext uri="{FF2B5EF4-FFF2-40B4-BE49-F238E27FC236}">
                <a16:creationId xmlns:a16="http://schemas.microsoft.com/office/drawing/2014/main" id="{F45F7873-BCA8-4BB3-891D-577FB1FCFBAE}"/>
              </a:ext>
            </a:extLst>
          </p:cNvPr>
          <p:cNvSpPr>
            <a:spLocks noGrp="1"/>
          </p:cNvSpPr>
          <p:nvPr>
            <p:ph type="body" sz="quarter" idx="11"/>
          </p:nvPr>
        </p:nvSpPr>
        <p:spPr>
          <a:xfrm>
            <a:off x="826700" y="1200643"/>
            <a:ext cx="7490593" cy="1338604"/>
          </a:xfrm>
        </p:spPr>
        <p:txBody>
          <a:bodyPr/>
          <a:lstStyle/>
          <a:p>
            <a:pPr lvl="0" eaLnBrk="1" fontAlgn="auto" hangingPunct="1">
              <a:spcBef>
                <a:spcPts val="0"/>
              </a:spcBef>
              <a:spcAft>
                <a:spcPts val="0"/>
              </a:spcAft>
              <a:defRPr/>
            </a:pPr>
            <a:r>
              <a:rPr lang="en-US" sz="3200" dirty="0"/>
              <a:t>Assume the following code:</a:t>
            </a:r>
          </a:p>
          <a:p>
            <a:pPr lvl="0" eaLnBrk="1" fontAlgn="auto" hangingPunct="1">
              <a:spcBef>
                <a:spcPts val="0"/>
              </a:spcBef>
              <a:spcAft>
                <a:spcPts val="0"/>
              </a:spcAft>
              <a:defRPr/>
            </a:pPr>
            <a:r>
              <a:rPr lang="en-US" sz="2600" dirty="0">
                <a:latin typeface="Courier New" panose="02070309020205020404" pitchFamily="49" charset="0"/>
                <a:cs typeface="Courier New" panose="02070309020205020404" pitchFamily="49" charset="0"/>
              </a:rPr>
              <a:t>var </a:t>
            </a:r>
            <a:r>
              <a:rPr lang="en-US" sz="2600" dirty="0" err="1">
                <a:latin typeface="Courier New" panose="02070309020205020404" pitchFamily="49" charset="0"/>
                <a:cs typeface="Courier New" panose="02070309020205020404" pitchFamily="49" charset="0"/>
              </a:rPr>
              <a:t>thisDay</a:t>
            </a:r>
            <a:r>
              <a:rPr lang="en-US" sz="2600" dirty="0">
                <a:latin typeface="Courier New" panose="02070309020205020404" pitchFamily="49" charset="0"/>
                <a:cs typeface="Courier New" panose="02070309020205020404" pitchFamily="49" charset="0"/>
              </a:rPr>
              <a:t> = new Date(“May 23, 2021 14:35:05”);</a:t>
            </a:r>
            <a:endParaRPr lang="en-US" sz="2600" dirty="0">
              <a:latin typeface="Courier New" panose="02070309020205020404" pitchFamily="49" charset="0"/>
              <a:ea typeface="Calibri" panose="020F0502020204030204" pitchFamily="34" charset="0"/>
              <a:cs typeface="Courier New" panose="02070309020205020404" pitchFamily="49" charset="0"/>
            </a:endParaRPr>
          </a:p>
        </p:txBody>
      </p:sp>
      <p:graphicFrame>
        <p:nvGraphicFramePr>
          <p:cNvPr id="4" name="Table Placeholder 3"/>
          <p:cNvGraphicFramePr>
            <a:graphicFrameLocks noGrp="1"/>
          </p:cNvGraphicFramePr>
          <p:nvPr>
            <p:ph type="pic" sz="quarter" idx="10"/>
            <p:extLst>
              <p:ext uri="{D42A27DB-BD31-4B8C-83A1-F6EECF244321}">
                <p14:modId xmlns:p14="http://schemas.microsoft.com/office/powerpoint/2010/main" val="1172725219"/>
              </p:ext>
            </p:extLst>
          </p:nvPr>
        </p:nvGraphicFramePr>
        <p:xfrm>
          <a:off x="826699" y="2702659"/>
          <a:ext cx="7490593" cy="3118110"/>
        </p:xfrm>
        <a:graphic>
          <a:graphicData uri="http://schemas.openxmlformats.org/drawingml/2006/table">
            <a:tbl>
              <a:tblPr firstRow="1" firstCol="1" bandRow="1"/>
              <a:tblGrid>
                <a:gridCol w="2790498">
                  <a:extLst>
                    <a:ext uri="{9D8B030D-6E8A-4147-A177-3AD203B41FA5}">
                      <a16:colId xmlns:a16="http://schemas.microsoft.com/office/drawing/2014/main" val="20001"/>
                    </a:ext>
                  </a:extLst>
                </a:gridCol>
                <a:gridCol w="3294993">
                  <a:extLst>
                    <a:ext uri="{9D8B030D-6E8A-4147-A177-3AD203B41FA5}">
                      <a16:colId xmlns:a16="http://schemas.microsoft.com/office/drawing/2014/main" val="20002"/>
                    </a:ext>
                  </a:extLst>
                </a:gridCol>
                <a:gridCol w="1405102">
                  <a:extLst>
                    <a:ext uri="{9D8B030D-6E8A-4147-A177-3AD203B41FA5}">
                      <a16:colId xmlns:a16="http://schemas.microsoft.com/office/drawing/2014/main" val="20003"/>
                    </a:ext>
                  </a:extLst>
                </a:gridCol>
              </a:tblGrid>
              <a:tr h="218931">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889" marR="4088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00"/>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889" marR="4088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00"/>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Results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889" marR="4088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00"/>
                    </a:solidFill>
                  </a:tcPr>
                </a:tc>
                <a:extLst>
                  <a:ext uri="{0D108BD9-81ED-4DB2-BD59-A6C34878D82A}">
                    <a16:rowId xmlns:a16="http://schemas.microsoft.com/office/drawing/2014/main" val="10000"/>
                  </a:ext>
                </a:extLst>
              </a:tr>
              <a:tr h="687129">
                <a:tc>
                  <a:txBody>
                    <a:bodyPr/>
                    <a:lstStyle/>
                    <a:p>
                      <a:pPr marL="0" marR="0">
                        <a:lnSpc>
                          <a:spcPct val="100000"/>
                        </a:lnSpc>
                        <a:spcBef>
                          <a:spcPts val="0"/>
                        </a:spcBef>
                        <a:spcAft>
                          <a:spcPts val="0"/>
                        </a:spcAft>
                      </a:pP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thisDay.getSeconds</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seconds</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2407">
                <a:tc>
                  <a:txBody>
                    <a:bodyPr/>
                    <a:lstStyle/>
                    <a:p>
                      <a:pPr marL="0" marR="0">
                        <a:lnSpc>
                          <a:spcPct val="100000"/>
                        </a:lnSpc>
                        <a:spcBef>
                          <a:spcPts val="0"/>
                        </a:spcBef>
                        <a:spcAft>
                          <a:spcPts val="0"/>
                        </a:spcAft>
                      </a:pP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thisDay.getMinutes</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minutes</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35</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2407">
                <a:tc>
                  <a:txBody>
                    <a:bodyPr/>
                    <a:lstStyle/>
                    <a:p>
                      <a:pPr marL="0" marR="0">
                        <a:lnSpc>
                          <a:spcPct val="100000"/>
                        </a:lnSpc>
                        <a:spcBef>
                          <a:spcPts val="0"/>
                        </a:spcBef>
                        <a:spcAft>
                          <a:spcPts val="0"/>
                        </a:spcAft>
                      </a:pP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thisDay.getHours</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hours</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14</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2407">
                <a:tc>
                  <a:txBody>
                    <a:bodyPr/>
                    <a:lstStyle/>
                    <a:p>
                      <a:pPr marL="0" marR="0">
                        <a:lnSpc>
                          <a:spcPct val="100000"/>
                        </a:lnSpc>
                        <a:spcBef>
                          <a:spcPts val="0"/>
                        </a:spcBef>
                        <a:spcAft>
                          <a:spcPts val="0"/>
                        </a:spcAft>
                      </a:pP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thisDay.getDate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day of the month</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23</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49440">
                <a:tc>
                  <a:txBody>
                    <a:bodyPr/>
                    <a:lstStyle/>
                    <a:p>
                      <a:pPr marL="0" marR="0">
                        <a:lnSpc>
                          <a:spcPct val="100000"/>
                        </a:lnSpc>
                        <a:spcBef>
                          <a:spcPts val="0"/>
                        </a:spcBef>
                        <a:spcAft>
                          <a:spcPts val="0"/>
                        </a:spcAft>
                      </a:pP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thisDay.getMonth</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month number, where January = 0, February =1, etc.</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p>
                  </a:txBody>
                  <a:tcPr marL="42601" marR="4260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632537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Date Methods</a:t>
            </a:r>
            <a:br>
              <a:rPr lang="en-US" dirty="0"/>
            </a:br>
            <a:r>
              <a:rPr lang="en-US" dirty="0"/>
              <a:t>(continued 1)</a:t>
            </a:r>
          </a:p>
        </p:txBody>
      </p:sp>
      <p:sp>
        <p:nvSpPr>
          <p:cNvPr id="3" name="Text Placeholder 2">
            <a:extLst>
              <a:ext uri="{FF2B5EF4-FFF2-40B4-BE49-F238E27FC236}">
                <a16:creationId xmlns:a16="http://schemas.microsoft.com/office/drawing/2014/main" id="{F45F7873-BCA8-4BB3-891D-577FB1FCFBAE}"/>
              </a:ext>
            </a:extLst>
          </p:cNvPr>
          <p:cNvSpPr>
            <a:spLocks noGrp="1"/>
          </p:cNvSpPr>
          <p:nvPr>
            <p:ph type="body" sz="quarter" idx="11"/>
          </p:nvPr>
        </p:nvSpPr>
        <p:spPr>
          <a:xfrm>
            <a:off x="826699" y="1411859"/>
            <a:ext cx="7490592" cy="1641583"/>
          </a:xfrm>
        </p:spPr>
        <p:txBody>
          <a:bodyPr/>
          <a:lstStyle/>
          <a:p>
            <a:pPr lvl="0" eaLnBrk="1" fontAlgn="auto" hangingPunct="1">
              <a:spcBef>
                <a:spcPts val="0"/>
              </a:spcBef>
              <a:spcAft>
                <a:spcPts val="0"/>
              </a:spcAft>
              <a:defRPr/>
            </a:pPr>
            <a:r>
              <a:rPr lang="en-US" sz="3200" dirty="0"/>
              <a:t>Assume the following code:</a:t>
            </a:r>
          </a:p>
          <a:p>
            <a:pPr lvl="0" eaLnBrk="1" fontAlgn="auto" hangingPunct="1">
              <a:spcBef>
                <a:spcPts val="0"/>
              </a:spcBef>
              <a:spcAft>
                <a:spcPts val="0"/>
              </a:spcAft>
              <a:defRPr/>
            </a:pPr>
            <a:r>
              <a:rPr lang="en-US" sz="2600" dirty="0">
                <a:latin typeface="Courier New" panose="02070309020205020404" pitchFamily="49" charset="0"/>
                <a:cs typeface="Courier New" panose="02070309020205020404" pitchFamily="49" charset="0"/>
              </a:rPr>
              <a:t>var </a:t>
            </a:r>
            <a:r>
              <a:rPr lang="en-US" sz="2600" dirty="0" err="1">
                <a:latin typeface="Courier New" panose="02070309020205020404" pitchFamily="49" charset="0"/>
                <a:cs typeface="Courier New" panose="02070309020205020404" pitchFamily="49" charset="0"/>
              </a:rPr>
              <a:t>thisDay</a:t>
            </a:r>
            <a:r>
              <a:rPr lang="en-US" sz="2600" dirty="0">
                <a:latin typeface="Courier New" panose="02070309020205020404" pitchFamily="49" charset="0"/>
                <a:cs typeface="Courier New" panose="02070309020205020404" pitchFamily="49" charset="0"/>
              </a:rPr>
              <a:t> = new Date(“May 23, 2021 14:35:05”);</a:t>
            </a:r>
            <a:endParaRPr lang="en-US" sz="2600" dirty="0">
              <a:latin typeface="Courier New" panose="02070309020205020404" pitchFamily="49" charset="0"/>
              <a:ea typeface="Calibri" panose="020F0502020204030204" pitchFamily="34" charset="0"/>
              <a:cs typeface="Courier New" panose="02070309020205020404" pitchFamily="49" charset="0"/>
            </a:endParaRPr>
          </a:p>
          <a:p>
            <a:pPr lvl="0" eaLnBrk="1" fontAlgn="auto" hangingPunct="1">
              <a:spcBef>
                <a:spcPts val="0"/>
              </a:spcBef>
              <a:spcAft>
                <a:spcPts val="0"/>
              </a:spcAft>
              <a:defRPr/>
            </a:pPr>
            <a:endParaRPr lang="en-US" sz="1400" dirty="0">
              <a:solidFill>
                <a:srgbClr val="000000"/>
              </a:solidFill>
              <a:latin typeface="Courier New" panose="02070309020205020404" pitchFamily="49" charset="0"/>
              <a:ea typeface="Calibri" panose="020F0502020204030204" pitchFamily="34" charset="0"/>
              <a:cs typeface="Courier New" panose="02070309020205020404" pitchFamily="49" charset="0"/>
            </a:endParaRPr>
          </a:p>
        </p:txBody>
      </p:sp>
      <p:graphicFrame>
        <p:nvGraphicFramePr>
          <p:cNvPr id="4" name="Table Placeholder 3"/>
          <p:cNvGraphicFramePr>
            <a:graphicFrameLocks noGrp="1"/>
          </p:cNvGraphicFramePr>
          <p:nvPr>
            <p:ph type="pic" sz="quarter" idx="10"/>
            <p:extLst>
              <p:ext uri="{D42A27DB-BD31-4B8C-83A1-F6EECF244321}">
                <p14:modId xmlns:p14="http://schemas.microsoft.com/office/powerpoint/2010/main" val="1072150143"/>
              </p:ext>
            </p:extLst>
          </p:nvPr>
        </p:nvGraphicFramePr>
        <p:xfrm>
          <a:off x="826698" y="3175057"/>
          <a:ext cx="7490593" cy="2468670"/>
        </p:xfrm>
        <a:graphic>
          <a:graphicData uri="http://schemas.openxmlformats.org/drawingml/2006/table">
            <a:tbl>
              <a:tblPr firstRow="1" firstCol="1" bandRow="1"/>
              <a:tblGrid>
                <a:gridCol w="2790498">
                  <a:extLst>
                    <a:ext uri="{9D8B030D-6E8A-4147-A177-3AD203B41FA5}">
                      <a16:colId xmlns:a16="http://schemas.microsoft.com/office/drawing/2014/main" val="20001"/>
                    </a:ext>
                  </a:extLst>
                </a:gridCol>
                <a:gridCol w="3294993">
                  <a:extLst>
                    <a:ext uri="{9D8B030D-6E8A-4147-A177-3AD203B41FA5}">
                      <a16:colId xmlns:a16="http://schemas.microsoft.com/office/drawing/2014/main" val="20002"/>
                    </a:ext>
                  </a:extLst>
                </a:gridCol>
                <a:gridCol w="1405102">
                  <a:extLst>
                    <a:ext uri="{9D8B030D-6E8A-4147-A177-3AD203B41FA5}">
                      <a16:colId xmlns:a16="http://schemas.microsoft.com/office/drawing/2014/main" val="20003"/>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889" marR="4088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00"/>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889" marR="4088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00"/>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Results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40889" marR="4088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8000"/>
                    </a:solidFill>
                  </a:tcPr>
                </a:tc>
                <a:extLst>
                  <a:ext uri="{0D108BD9-81ED-4DB2-BD59-A6C34878D82A}">
                    <a16:rowId xmlns:a16="http://schemas.microsoft.com/office/drawing/2014/main" val="10000"/>
                  </a:ext>
                </a:extLst>
              </a:tr>
              <a:tr h="687129">
                <a:tc>
                  <a:txBody>
                    <a:bodyPr/>
                    <a:lstStyle/>
                    <a:p>
                      <a:pPr marL="0" marR="0">
                        <a:lnSpc>
                          <a:spcPct val="100000"/>
                        </a:lnSpc>
                        <a:spcBef>
                          <a:spcPts val="0"/>
                        </a:spcBef>
                        <a:spcAft>
                          <a:spcPts val="0"/>
                        </a:spcAft>
                      </a:pP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thisDay.getFullYear</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year</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2021</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2407">
                <a:tc>
                  <a:txBody>
                    <a:bodyPr/>
                    <a:lstStyle/>
                    <a:p>
                      <a:pPr marL="0" marR="0">
                        <a:lnSpc>
                          <a:spcPct val="100000"/>
                        </a:lnSpc>
                        <a:spcBef>
                          <a:spcPts val="0"/>
                        </a:spcBef>
                        <a:spcAft>
                          <a:spcPts val="0"/>
                        </a:spcAft>
                      </a:pPr>
                      <a:r>
                        <a:rPr lang="en-US" sz="16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thisDay.getDay</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day of the week, where Sunday = 0, Monday = 1, etc.</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02407">
                <a:tc>
                  <a:txBody>
                    <a:bodyPr/>
                    <a:lstStyle/>
                    <a:p>
                      <a:pPr marL="0" marR="0">
                        <a:lnSpc>
                          <a:spcPct val="100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thisDay.toLocaleDateString()</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text of the date using local conventions</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“5/23/2021”</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02407">
                <a:tc>
                  <a:txBody>
                    <a:bodyPr/>
                    <a:lstStyle/>
                    <a:p>
                      <a:pPr marL="0" marR="0">
                        <a:lnSpc>
                          <a:spcPct val="100000"/>
                        </a:lnSpc>
                        <a:spcBef>
                          <a:spcPts val="0"/>
                        </a:spcBef>
                        <a:spcAft>
                          <a:spcPts val="0"/>
                        </a:spcAft>
                      </a:pPr>
                      <a:r>
                        <a:rPr lang="en-US"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thisDay.toLocaleTimeString()</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text of the time using local conventions</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“2:35:05 PM”</a:t>
                      </a:r>
                    </a:p>
                  </a:txBody>
                  <a:tcPr marL="65824" marR="6582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45665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Applying Date Methods</a:t>
            </a:r>
            <a:br>
              <a:rPr lang="en-US" dirty="0"/>
            </a:br>
            <a:r>
              <a:rPr lang="en-US" dirty="0"/>
              <a:t>(continued 2)</a:t>
            </a:r>
          </a:p>
        </p:txBody>
      </p:sp>
      <p:pic>
        <p:nvPicPr>
          <p:cNvPr id="6" name="Content Placeholder 6" descr="This figure explains the process of displaying dates and times in a web pagepage using Date objects and methods.&#10;The figure consists of a few lines of code and seven rectangular boxes.&#10;The first line of the code reads “/* Store the current date and time */”. The second line of the code reads “var currentDay = new Date(“May 23, 2018 14:35:05”);”. The third line of the code reads “var dateStr = currentDay.toLocaleDateString();”. The fourth line of the code reads “var timeStr = currentDay.toLocaleTimeString();”. The fifth line of the code reads “/* Display the current date and time */”. The sixth line of the code reads “document.getElementById(“dateNow”).innerHTML = dateStr + “&lt;br /&gt;” + timeeStr;”.&#10;The first rectangular box labeled “the toLocaleDateString() method returns the text of the current date using local conventions” is positioned at the top of the code. An arrow originating from this rectangular box points to “toLocaleDateString()” in the third line of the code. The second rectangular box labeled “declares the dateStr variable containing the text string of the current date” is positioned at the left side of the code. An arrow originating from this rectangular box points to “var dateStr” in the third line of the code. The third rectangular box labeled “declares the timeStr variable containing the text string of the current time” is positioned below the second rectangular box. An arrow originating from the third rectangular box points to “var timeStr” in the fourth line of the code. The fourth rectangular box labeled “displays the value of the dateStr variable” is positioned below the third rectangular box. An arrow originating from the fourth rectangular box points to “dateStr” in the sixth line of the code. The fifth rectangular box labeled “the + symbol combines multiple text strings into a single text string” is positioned at the right side of the fourth rectangular box, below the code. Two arrows originating from the fifth rectangular box points to “+” that appears twice in the sixth line of the code. The sixth rectangular box labeled “displays the value of the timeStr variable” is positioned at the right side of the fifth rectangular box. An arrow originating from the sixth rectangular box points to “timeStr” in the sixth line of the code. The seventh rectangular box labeled “the toLocaleTimeString() method returns the text of the current time using local conventions” is positioned at the right side of the sixth rectangular box. An arrow originating from the seventh rectangular box points to “toLocaleTimeString()” in the fourth line of the code." title="Figure 9-21 Displaying dates and times"/>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15570" y="1804851"/>
            <a:ext cx="8312859" cy="4050258"/>
          </a:xfrm>
          <a:prstGeom prst="rect">
            <a:avLst/>
          </a:prstGeom>
        </p:spPr>
      </p:pic>
    </p:spTree>
    <p:extLst>
      <p:ext uri="{BB962C8B-B14F-4D97-AF65-F5344CB8AC3E}">
        <p14:creationId xmlns:p14="http://schemas.microsoft.com/office/powerpoint/2010/main" val="25771609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Date and Time Values</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1973958944"/>
              </p:ext>
            </p:extLst>
          </p:nvPr>
        </p:nvGraphicFramePr>
        <p:xfrm>
          <a:off x="274320" y="2064173"/>
          <a:ext cx="8595360" cy="2860040"/>
        </p:xfrm>
        <a:graphic>
          <a:graphicData uri="http://schemas.openxmlformats.org/drawingml/2006/table">
            <a:tbl>
              <a:tblPr firstRow="1"/>
              <a:tblGrid>
                <a:gridCol w="3481754">
                  <a:extLst>
                    <a:ext uri="{9D8B030D-6E8A-4147-A177-3AD203B41FA5}">
                      <a16:colId xmlns:a16="http://schemas.microsoft.com/office/drawing/2014/main" val="20000"/>
                    </a:ext>
                  </a:extLst>
                </a:gridCol>
                <a:gridCol w="5113606">
                  <a:extLst>
                    <a:ext uri="{9D8B030D-6E8A-4147-A177-3AD203B41FA5}">
                      <a16:colId xmlns:a16="http://schemas.microsoft.com/office/drawing/2014/main" val="20001"/>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Date 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.setDate(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day of the month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 ranging from 1 up to 31 (for some months)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.setFullYear(</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four-digit year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.setHours(</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24-hour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 ranging from 0 to 23</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.setMilliseconds(</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millisecond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 between 9 and 999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557430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Date and Time Values</a:t>
            </a:r>
            <a:br>
              <a:rPr lang="en-US" dirty="0"/>
            </a:br>
            <a:r>
              <a:rPr lang="en-US" dirty="0"/>
              <a:t>(continued)</a:t>
            </a:r>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2719483297"/>
              </p:ext>
            </p:extLst>
          </p:nvPr>
        </p:nvGraphicFramePr>
        <p:xfrm>
          <a:off x="274320" y="2078241"/>
          <a:ext cx="8595360" cy="3103880"/>
        </p:xfrm>
        <a:graphic>
          <a:graphicData uri="http://schemas.openxmlformats.org/drawingml/2006/table">
            <a:tbl>
              <a:tblPr firstRow="1"/>
              <a:tblGrid>
                <a:gridCol w="3481754">
                  <a:extLst>
                    <a:ext uri="{9D8B030D-6E8A-4147-A177-3AD203B41FA5}">
                      <a16:colId xmlns:a16="http://schemas.microsoft.com/office/drawing/2014/main" val="20000"/>
                    </a:ext>
                  </a:extLst>
                </a:gridCol>
                <a:gridCol w="5113606">
                  <a:extLst>
                    <a:ext uri="{9D8B030D-6E8A-4147-A177-3AD203B41FA5}">
                      <a16:colId xmlns:a16="http://schemas.microsoft.com/office/drawing/2014/main" val="20001"/>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Date 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.setMinutes(</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minutes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 ranging from 0 to 59</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.setMonth(</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month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 ranging from 0 (January) to 11 (December)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.setSeconds(</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seconds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 ranging from 0 to 59</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.setTime(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Sets the time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date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where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an integer representing the number of milliseconds since midnight on January 1, 1970</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1906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Operators and Operands</a:t>
            </a:r>
          </a:p>
        </p:txBody>
      </p:sp>
      <p:sp>
        <p:nvSpPr>
          <p:cNvPr id="5" name="Text Placeholder 4"/>
          <p:cNvSpPr>
            <a:spLocks noGrp="1"/>
          </p:cNvSpPr>
          <p:nvPr>
            <p:ph type="body" sz="quarter" idx="17"/>
          </p:nvPr>
        </p:nvSpPr>
        <p:spPr/>
        <p:txBody>
          <a:bodyPr>
            <a:normAutofit/>
          </a:bodyPr>
          <a:lstStyle/>
          <a:p>
            <a:r>
              <a:rPr lang="en-US" b="1" dirty="0"/>
              <a:t>Operator</a:t>
            </a:r>
            <a:r>
              <a:rPr lang="en-US" dirty="0"/>
              <a:t>: Symbol used to act upon an item or a variable within an expression</a:t>
            </a:r>
          </a:p>
          <a:p>
            <a:r>
              <a:rPr lang="en-US" b="1" dirty="0"/>
              <a:t>Operands</a:t>
            </a:r>
            <a:r>
              <a:rPr lang="en-US" dirty="0"/>
              <a:t>: Variables or expressions that operators act upon</a:t>
            </a:r>
          </a:p>
          <a:p>
            <a:r>
              <a:rPr lang="en-US" dirty="0"/>
              <a:t>The + operator functions</a:t>
            </a:r>
          </a:p>
          <a:p>
            <a:pPr lvl="1"/>
            <a:r>
              <a:rPr lang="en-US" dirty="0"/>
              <a:t>Can be used to add two or more numbers to calculate a sum</a:t>
            </a:r>
          </a:p>
          <a:p>
            <a:pPr lvl="1"/>
            <a:r>
              <a:rPr lang="en-US" dirty="0"/>
              <a:t>Can be used to combine two or more text strings into a single text string</a:t>
            </a:r>
          </a:p>
        </p:txBody>
      </p:sp>
    </p:spTree>
    <p:extLst>
      <p:ext uri="{BB962C8B-B14F-4D97-AF65-F5344CB8AC3E}">
        <p14:creationId xmlns:p14="http://schemas.microsoft.com/office/powerpoint/2010/main" val="41187592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Operators and Operands (continued 1)</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2602757011"/>
              </p:ext>
            </p:extLst>
          </p:nvPr>
        </p:nvGraphicFramePr>
        <p:xfrm>
          <a:off x="808892" y="1639473"/>
          <a:ext cx="7336301" cy="3762088"/>
        </p:xfrm>
        <a:graphic>
          <a:graphicData uri="http://schemas.openxmlformats.org/drawingml/2006/table">
            <a:tbl>
              <a:tblPr firstRow="1"/>
              <a:tblGrid>
                <a:gridCol w="1426549">
                  <a:extLst>
                    <a:ext uri="{9D8B030D-6E8A-4147-A177-3AD203B41FA5}">
                      <a16:colId xmlns:a16="http://schemas.microsoft.com/office/drawing/2014/main" val="20000"/>
                    </a:ext>
                  </a:extLst>
                </a:gridCol>
                <a:gridCol w="2913524">
                  <a:extLst>
                    <a:ext uri="{9D8B030D-6E8A-4147-A177-3AD203B41FA5}">
                      <a16:colId xmlns:a16="http://schemas.microsoft.com/office/drawing/2014/main" val="20001"/>
                    </a:ext>
                  </a:extLst>
                </a:gridCol>
                <a:gridCol w="1490986">
                  <a:extLst>
                    <a:ext uri="{9D8B030D-6E8A-4147-A177-3AD203B41FA5}">
                      <a16:colId xmlns:a16="http://schemas.microsoft.com/office/drawing/2014/main" val="20002"/>
                    </a:ext>
                  </a:extLst>
                </a:gridCol>
                <a:gridCol w="1505242">
                  <a:extLst>
                    <a:ext uri="{9D8B030D-6E8A-4147-A177-3AD203B41FA5}">
                      <a16:colId xmlns:a16="http://schemas.microsoft.com/office/drawing/2014/main" val="20003"/>
                    </a:ext>
                  </a:extLst>
                </a:gridCol>
              </a:tblGrid>
              <a:tr h="524104">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Operator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4961" marR="74961" marT="187403" marB="3748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6247" marR="6247" marT="187403" marB="3748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Expression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146174" marR="74961" marT="187403" marB="3748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ts val="1200"/>
                        </a:lnSpc>
                        <a:spcBef>
                          <a:spcPts val="120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4961" marT="187403" marB="37481"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299845">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4961" marR="74961"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Combines or adds two items</a:t>
                      </a:r>
                    </a:p>
                  </a:txBody>
                  <a:tcPr marL="6247" marR="6247"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 + 3</a:t>
                      </a:r>
                    </a:p>
                  </a:txBody>
                  <a:tcPr marL="0" marR="653412"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15</a:t>
                      </a:r>
                    </a:p>
                  </a:txBody>
                  <a:tcPr marL="0" marR="1063200"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9101">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4961" marR="74961"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Subtracts one item from another</a:t>
                      </a:r>
                    </a:p>
                  </a:txBody>
                  <a:tcPr marL="6247" marR="6247"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 – 3</a:t>
                      </a:r>
                    </a:p>
                  </a:txBody>
                  <a:tcPr marL="0" marR="653412"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9</a:t>
                      </a:r>
                    </a:p>
                  </a:txBody>
                  <a:tcPr marL="0" marR="1063200"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9845">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4961" marR="74961"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Multiplies two items</a:t>
                      </a:r>
                    </a:p>
                  </a:txBody>
                  <a:tcPr marL="6247" marR="6247"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12*3</a:t>
                      </a:r>
                    </a:p>
                  </a:txBody>
                  <a:tcPr marL="0" marR="653412"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36</a:t>
                      </a:r>
                    </a:p>
                  </a:txBody>
                  <a:tcPr marL="0" marR="1063200"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9845">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4961" marR="74961"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Divides one item by another</a:t>
                      </a:r>
                    </a:p>
                  </a:txBody>
                  <a:tcPr marL="6247" marR="6247"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12/3</a:t>
                      </a:r>
                    </a:p>
                  </a:txBody>
                  <a:tcPr marL="0" marR="653412"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p>
                  </a:txBody>
                  <a:tcPr marL="0" marR="1063200"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9101">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4961" marR="74961"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remainder after dividing one item by another</a:t>
                      </a:r>
                    </a:p>
                  </a:txBody>
                  <a:tcPr marL="6247" marR="6247"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18%5</a:t>
                      </a:r>
                    </a:p>
                  </a:txBody>
                  <a:tcPr marL="0" marR="653412"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L="0" marR="1063200"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9845">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4961" marR="74961"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Increases a value by 1</a:t>
                      </a:r>
                    </a:p>
                  </a:txBody>
                  <a:tcPr marL="6247" marR="6247"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a:t>
                      </a:r>
                    </a:p>
                  </a:txBody>
                  <a:tcPr marL="0" marR="653412"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13</a:t>
                      </a:r>
                    </a:p>
                  </a:txBody>
                  <a:tcPr marL="0" marR="1063200"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9845">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p>
                  </a:txBody>
                  <a:tcPr marL="74961" marR="74961"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Decreases a value by 1</a:t>
                      </a:r>
                    </a:p>
                  </a:txBody>
                  <a:tcPr marL="6247" marR="6247"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 –</a:t>
                      </a:r>
                    </a:p>
                  </a:txBody>
                  <a:tcPr marL="0" marR="653412"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11</a:t>
                      </a:r>
                    </a:p>
                  </a:txBody>
                  <a:tcPr marL="0" marR="1063200"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9845">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4961" marR="74961"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Changes the sign of a value</a:t>
                      </a:r>
                    </a:p>
                  </a:txBody>
                  <a:tcPr marL="6247" marR="6247"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a:t>
                      </a:r>
                    </a:p>
                  </a:txBody>
                  <a:tcPr marL="0" marR="653412"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gn="ctr">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–12</a:t>
                      </a:r>
                    </a:p>
                  </a:txBody>
                  <a:tcPr marL="0" marR="1063200" marT="49974" marB="49974">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1210486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Operators and Operands (continued 2)</a:t>
            </a:r>
          </a:p>
        </p:txBody>
      </p:sp>
      <p:sp>
        <p:nvSpPr>
          <p:cNvPr id="5" name="Text Placeholder 4"/>
          <p:cNvSpPr>
            <a:spLocks noGrp="1"/>
          </p:cNvSpPr>
          <p:nvPr>
            <p:ph type="body" sz="quarter" idx="17"/>
          </p:nvPr>
        </p:nvSpPr>
        <p:spPr/>
        <p:txBody>
          <a:bodyPr/>
          <a:lstStyle/>
          <a:p>
            <a:r>
              <a:rPr lang="en-US" dirty="0"/>
              <a:t>Types of operators</a:t>
            </a:r>
          </a:p>
          <a:p>
            <a:pPr lvl="1"/>
            <a:r>
              <a:rPr lang="en-US" b="1" dirty="0"/>
              <a:t>Binary operators </a:t>
            </a:r>
            <a:r>
              <a:rPr lang="en-US" dirty="0"/>
              <a:t>– require two operands in an expression</a:t>
            </a:r>
          </a:p>
          <a:p>
            <a:pPr lvl="1"/>
            <a:r>
              <a:rPr lang="en-US" b="1" dirty="0"/>
              <a:t>Unary operators </a:t>
            </a:r>
            <a:r>
              <a:rPr lang="en-US" dirty="0"/>
              <a:t>– require only one operand</a:t>
            </a:r>
          </a:p>
          <a:p>
            <a:pPr lvl="2"/>
            <a:r>
              <a:rPr lang="en-US" b="1" dirty="0"/>
              <a:t>Increment operator (++) </a:t>
            </a:r>
            <a:r>
              <a:rPr lang="en-US" dirty="0"/>
              <a:t>– increases the value of an operand by 1</a:t>
            </a:r>
          </a:p>
          <a:p>
            <a:pPr lvl="2"/>
            <a:r>
              <a:rPr lang="en-US" b="1" dirty="0"/>
              <a:t>Decrement operator (--) </a:t>
            </a:r>
            <a:r>
              <a:rPr lang="en-US" dirty="0"/>
              <a:t>– decreases the value of an operand by 1</a:t>
            </a:r>
          </a:p>
        </p:txBody>
      </p:sp>
    </p:spTree>
    <p:extLst>
      <p:ext uri="{BB962C8B-B14F-4D97-AF65-F5344CB8AC3E}">
        <p14:creationId xmlns:p14="http://schemas.microsoft.com/office/powerpoint/2010/main" val="31394893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Assignment Operators</a:t>
            </a:r>
          </a:p>
        </p:txBody>
      </p:sp>
      <p:sp>
        <p:nvSpPr>
          <p:cNvPr id="5" name="Text Placeholder 4"/>
          <p:cNvSpPr>
            <a:spLocks noGrp="1"/>
          </p:cNvSpPr>
          <p:nvPr>
            <p:ph type="body" sz="quarter" idx="17"/>
          </p:nvPr>
        </p:nvSpPr>
        <p:spPr/>
        <p:txBody>
          <a:bodyPr>
            <a:normAutofit lnSpcReduction="10000"/>
          </a:bodyPr>
          <a:lstStyle/>
          <a:p>
            <a:r>
              <a:rPr lang="en-US" b="1" dirty="0"/>
              <a:t>Assignment operator</a:t>
            </a:r>
            <a:r>
              <a:rPr lang="en-US" dirty="0"/>
              <a:t> assigns a value to an item</a:t>
            </a:r>
          </a:p>
          <a:p>
            <a:r>
              <a:rPr lang="en-US" dirty="0"/>
              <a:t>Most common assignment operator is the equal sign ( = )	</a:t>
            </a:r>
          </a:p>
          <a:p>
            <a:pPr lvl="1"/>
            <a:r>
              <a:rPr lang="en-US" dirty="0"/>
              <a:t>Assigns the value of one expression to another</a:t>
            </a:r>
          </a:p>
          <a:p>
            <a:r>
              <a:rPr lang="en-US" dirty="0"/>
              <a:t>The act of assigning a value and changing a value within a single operator can be combined in JavaScript</a:t>
            </a:r>
          </a:p>
          <a:p>
            <a:pPr marL="914400" indent="0">
              <a:buNone/>
            </a:pPr>
            <a:r>
              <a:rPr lang="en-US" sz="2600" dirty="0">
                <a:latin typeface="Courier New" panose="02070309020205020404" pitchFamily="49" charset="0"/>
                <a:cs typeface="Courier New" panose="02070309020205020404" pitchFamily="49" charset="0"/>
              </a:rPr>
              <a:t>x = x + 2;</a:t>
            </a:r>
            <a:br>
              <a:rPr lang="en-US" sz="2600" dirty="0">
                <a:latin typeface="Courier New" panose="02070309020205020404" pitchFamily="49" charset="0"/>
                <a:cs typeface="Courier New" panose="02070309020205020404" pitchFamily="49" charset="0"/>
              </a:rPr>
            </a:br>
            <a:r>
              <a:rPr lang="en-US" sz="2600" dirty="0">
                <a:latin typeface="Courier New" panose="02070309020205020404" pitchFamily="49" charset="0"/>
                <a:cs typeface="Courier New" panose="02070309020205020404" pitchFamily="49" charset="0"/>
              </a:rPr>
              <a:t>x += 2; </a:t>
            </a:r>
          </a:p>
        </p:txBody>
      </p:sp>
    </p:spTree>
    <p:extLst>
      <p:ext uri="{BB962C8B-B14F-4D97-AF65-F5344CB8AC3E}">
        <p14:creationId xmlns:p14="http://schemas.microsoft.com/office/powerpoint/2010/main" val="14720054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Assignment Operators (continued)</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2584896474"/>
              </p:ext>
            </p:extLst>
          </p:nvPr>
        </p:nvGraphicFramePr>
        <p:xfrm>
          <a:off x="2089785" y="2049999"/>
          <a:ext cx="4964430" cy="2575560"/>
        </p:xfrm>
        <a:graphic>
          <a:graphicData uri="http://schemas.openxmlformats.org/drawingml/2006/table">
            <a:tbl>
              <a:tblPr firstRow="1"/>
              <a:tblGrid>
                <a:gridCol w="1654810">
                  <a:extLst>
                    <a:ext uri="{9D8B030D-6E8A-4147-A177-3AD203B41FA5}">
                      <a16:colId xmlns:a16="http://schemas.microsoft.com/office/drawing/2014/main" val="20000"/>
                    </a:ext>
                  </a:extLst>
                </a:gridCol>
                <a:gridCol w="1654810">
                  <a:extLst>
                    <a:ext uri="{9D8B030D-6E8A-4147-A177-3AD203B41FA5}">
                      <a16:colId xmlns:a16="http://schemas.microsoft.com/office/drawing/2014/main" val="20001"/>
                    </a:ext>
                  </a:extLst>
                </a:gridCol>
                <a:gridCol w="1654810">
                  <a:extLst>
                    <a:ext uri="{9D8B030D-6E8A-4147-A177-3AD203B41FA5}">
                      <a16:colId xmlns:a16="http://schemas.microsoft.com/office/drawing/2014/main" val="20002"/>
                    </a:ext>
                  </a:extLst>
                </a:gridCol>
              </a:tblGrid>
              <a:tr h="0">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Operator</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Equivalent To</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x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 = x % y</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826069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the Math Object</a:t>
            </a:r>
          </a:p>
        </p:txBody>
      </p:sp>
      <p:sp>
        <p:nvSpPr>
          <p:cNvPr id="3" name="Text Placeholder 2"/>
          <p:cNvSpPr>
            <a:spLocks noGrp="1"/>
          </p:cNvSpPr>
          <p:nvPr>
            <p:ph type="body" sz="quarter" idx="17"/>
          </p:nvPr>
        </p:nvSpPr>
        <p:spPr/>
        <p:txBody>
          <a:bodyPr/>
          <a:lstStyle/>
          <a:p>
            <a:r>
              <a:rPr lang="en-US" b="1" dirty="0"/>
              <a:t>Math object</a:t>
            </a:r>
            <a:r>
              <a:rPr lang="en-US" dirty="0"/>
              <a:t>: Built-in object used to perform mathematical tasks and store mathematical values</a:t>
            </a:r>
          </a:p>
          <a:p>
            <a:r>
              <a:rPr lang="en-US" dirty="0"/>
              <a:t>Syntax to apply a Math method:</a:t>
            </a:r>
          </a:p>
          <a:p>
            <a:pPr marL="463550" indent="0">
              <a:buNone/>
            </a:pPr>
            <a:r>
              <a:rPr lang="en-US" sz="2600" dirty="0">
                <a:latin typeface="Courier New" panose="02070309020205020404" pitchFamily="49" charset="0"/>
                <a:cs typeface="Courier New" panose="02070309020205020404" pitchFamily="49" charset="0"/>
              </a:rPr>
              <a:t>Math.</a:t>
            </a:r>
            <a:r>
              <a:rPr lang="en-US" sz="2600" i="1" dirty="0">
                <a:latin typeface="Courier New" panose="02070309020205020404" pitchFamily="49" charset="0"/>
                <a:cs typeface="Courier New" panose="02070309020205020404" pitchFamily="49" charset="0"/>
              </a:rPr>
              <a:t>method</a:t>
            </a:r>
            <a:r>
              <a:rPr lang="en-US" sz="2600" dirty="0">
                <a:latin typeface="Courier New" panose="02070309020205020404" pitchFamily="49" charset="0"/>
                <a:cs typeface="Courier New" panose="02070309020205020404" pitchFamily="49" charset="0"/>
              </a:rPr>
              <a:t>(</a:t>
            </a:r>
            <a:r>
              <a:rPr lang="en-US" sz="2600" i="1" dirty="0">
                <a:latin typeface="Courier New" panose="02070309020205020404" pitchFamily="49" charset="0"/>
                <a:cs typeface="Courier New" panose="02070309020205020404" pitchFamily="49" charset="0"/>
              </a:rPr>
              <a:t>expression</a:t>
            </a:r>
            <a:r>
              <a:rPr lang="en-US" sz="2600" dirty="0">
                <a:latin typeface="Courier New" panose="02070309020205020404" pitchFamily="49" charset="0"/>
                <a:cs typeface="Courier New" panose="02070309020205020404" pitchFamily="49" charset="0"/>
              </a:rPr>
              <a:t>)</a:t>
            </a:r>
          </a:p>
          <a:p>
            <a:pPr marL="463550" indent="0">
              <a:buNone/>
            </a:pPr>
            <a:r>
              <a:rPr lang="en-US" sz="2800" dirty="0"/>
              <a:t>where </a:t>
            </a:r>
            <a:r>
              <a:rPr lang="en-US" sz="2800" i="1" dirty="0">
                <a:latin typeface="Courier New" panose="02070309020205020404" pitchFamily="49" charset="0"/>
                <a:cs typeface="Courier New" panose="02070309020205020404" pitchFamily="49" charset="0"/>
              </a:rPr>
              <a:t>method</a:t>
            </a:r>
            <a:r>
              <a:rPr lang="en-US" sz="2800" dirty="0"/>
              <a:t> is the method applied to a mathematical expression</a:t>
            </a:r>
          </a:p>
        </p:txBody>
      </p:sp>
    </p:spTree>
    <p:extLst>
      <p:ext uri="{BB962C8B-B14F-4D97-AF65-F5344CB8AC3E}">
        <p14:creationId xmlns:p14="http://schemas.microsoft.com/office/powerpoint/2010/main" val="20751234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the Math Object (continued 1)</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1371832599"/>
              </p:ext>
            </p:extLst>
          </p:nvPr>
        </p:nvGraphicFramePr>
        <p:xfrm>
          <a:off x="337626" y="1675748"/>
          <a:ext cx="8454682" cy="4242527"/>
        </p:xfrm>
        <a:graphic>
          <a:graphicData uri="http://schemas.openxmlformats.org/drawingml/2006/table">
            <a:tbl>
              <a:tblPr firstRow="1"/>
              <a:tblGrid>
                <a:gridCol w="1927272">
                  <a:extLst>
                    <a:ext uri="{9D8B030D-6E8A-4147-A177-3AD203B41FA5}">
                      <a16:colId xmlns:a16="http://schemas.microsoft.com/office/drawing/2014/main" val="20000"/>
                    </a:ext>
                  </a:extLst>
                </a:gridCol>
                <a:gridCol w="1968292">
                  <a:extLst>
                    <a:ext uri="{9D8B030D-6E8A-4147-A177-3AD203B41FA5}">
                      <a16:colId xmlns:a16="http://schemas.microsoft.com/office/drawing/2014/main" val="20001"/>
                    </a:ext>
                  </a:extLst>
                </a:gridCol>
                <a:gridCol w="2209813">
                  <a:extLst>
                    <a:ext uri="{9D8B030D-6E8A-4147-A177-3AD203B41FA5}">
                      <a16:colId xmlns:a16="http://schemas.microsoft.com/office/drawing/2014/main" val="20002"/>
                    </a:ext>
                  </a:extLst>
                </a:gridCol>
                <a:gridCol w="2349305">
                  <a:extLst>
                    <a:ext uri="{9D8B030D-6E8A-4147-A177-3AD203B41FA5}">
                      <a16:colId xmlns:a16="http://schemas.microsoft.com/office/drawing/2014/main" val="20003"/>
                    </a:ext>
                  </a:extLst>
                </a:gridCol>
              </a:tblGrid>
              <a:tr h="362857">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2571" marR="72571" marT="181429" marB="3628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2571" marR="72571" marT="181429" marB="3628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2571" marR="72571" marT="181429" marB="3628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2571" marR="72571" marT="181429" marB="3628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Math.abs(</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absolute value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Math.abs(–5)</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Math.ceil(</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Rounds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up to the next highest integer</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Math.ceil(3.58)</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Math.exp(</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Raises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to the power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Math.exp(2)</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a:t>
                      </a:r>
                      <a:r>
                        <a:rPr lang="en-US" sz="1600" baseline="30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(approximately 7.389)</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Math.floor(</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Rounds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down to the next lowest integer</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Math.floor(3.58)</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Math.log(</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natural logarithm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Math.log(2)</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0.693</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Math.max(</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larger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and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Math.max(3, 5)</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5</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499355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the Math Object (continued 2)</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37178090"/>
              </p:ext>
            </p:extLst>
          </p:nvPr>
        </p:nvGraphicFramePr>
        <p:xfrm>
          <a:off x="337626" y="1675748"/>
          <a:ext cx="8454682" cy="3658085"/>
        </p:xfrm>
        <a:graphic>
          <a:graphicData uri="http://schemas.openxmlformats.org/drawingml/2006/table">
            <a:tbl>
              <a:tblPr firstRow="1"/>
              <a:tblGrid>
                <a:gridCol w="1927272">
                  <a:extLst>
                    <a:ext uri="{9D8B030D-6E8A-4147-A177-3AD203B41FA5}">
                      <a16:colId xmlns:a16="http://schemas.microsoft.com/office/drawing/2014/main" val="20000"/>
                    </a:ext>
                  </a:extLst>
                </a:gridCol>
                <a:gridCol w="1968292">
                  <a:extLst>
                    <a:ext uri="{9D8B030D-6E8A-4147-A177-3AD203B41FA5}">
                      <a16:colId xmlns:a16="http://schemas.microsoft.com/office/drawing/2014/main" val="20001"/>
                    </a:ext>
                  </a:extLst>
                </a:gridCol>
                <a:gridCol w="2209813">
                  <a:extLst>
                    <a:ext uri="{9D8B030D-6E8A-4147-A177-3AD203B41FA5}">
                      <a16:colId xmlns:a16="http://schemas.microsoft.com/office/drawing/2014/main" val="20002"/>
                    </a:ext>
                  </a:extLst>
                </a:gridCol>
                <a:gridCol w="2349305">
                  <a:extLst>
                    <a:ext uri="{9D8B030D-6E8A-4147-A177-3AD203B41FA5}">
                      <a16:colId xmlns:a16="http://schemas.microsoft.com/office/drawing/2014/main" val="20003"/>
                    </a:ext>
                  </a:extLst>
                </a:gridCol>
              </a:tblGrid>
              <a:tr h="362857">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2571" marR="72571" marT="181429" marB="3628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2571" marR="72571" marT="181429" marB="3628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Example</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2571" marR="72571" marT="181429" marB="3628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2571" marR="72571" marT="181429" marB="36286"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Math.min(</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smaller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and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Math.min(3, 5)</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Math.pow(</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raised to the power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y</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Math.pow(2,3)</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a:t>
                      </a:r>
                      <a:r>
                        <a:rPr lang="en-US" sz="1600" baseline="300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(or 8)</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Math.rand()</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a random number between 0 and 1</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Math.rand()</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Random number between 0 and 1</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Math.round(</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Rounds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to the nearest integer</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Math.round(3.58)</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981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Math.sqrt(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the square root of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x</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Math.sqrt(2)</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approximately 1.414</a:t>
                      </a:r>
                    </a:p>
                  </a:txBody>
                  <a:tcPr marL="72571" marR="72571" marT="48381" marB="48381">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692071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the Math Object (continued 3)</a:t>
            </a:r>
          </a:p>
        </p:txBody>
      </p:sp>
      <p:pic>
        <p:nvPicPr>
          <p:cNvPr id="6" name="Picture Placeholder 5" descr="This figure explains the process of calculating the number of hours left in the current day.&#10;The figure consists of a few lines of code and two rectangular boxes.&#10;The first line of the code reads “var daysLeft = (newYear – currentDay)/(1000*60*60*24);”. The second line of the code reads “/* Calculate the hours left in the current day */”. The third line of the code reads “var hrsLeft = (daysLeft – Math.floor(daysLeft)) *24;”. The fourth line of the code reads “/* Display the time until New Year’s Eve */”. The fifth line of the code reads “document.getElementById(“days”.textContent = Math.floor(daysLeft);”. The sixth line of the code reads “document.getElementById(“hrs”).textContent = “”Math.floor(hrsLeft);”. The seventh line of the code reads “document.getElementById(“mins”).textContent = “mm”;”. The eighth line of the code reads “document.getElementById(“secs”).textContent = “ss”;”.&#10;The first rectangular box labeled “calculates the fractional part of the current day in terms of hours” is positioned at the left side of the code. An arrow originating from the rectangular box points to “Mathh.floor(daysLeft)” in the third line of the code. The second rectangular box labeled “displays the integer part of hours left” is positioned at the bottom of the code. An arrow originating from the rectangular box points to “Math.floor(hrsLeft)” in the sixth line of the code." title="Figure 9-30 Calculating the hours left in the current day"/>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70757" y="2067950"/>
            <a:ext cx="8202485" cy="3249638"/>
          </a:xfrm>
          <a:prstGeom prst="rect">
            <a:avLst/>
          </a:prstGeom>
        </p:spPr>
      </p:pic>
    </p:spTree>
    <p:extLst>
      <p:ext uri="{BB962C8B-B14F-4D97-AF65-F5344CB8AC3E}">
        <p14:creationId xmlns:p14="http://schemas.microsoft.com/office/powerpoint/2010/main" val="22330886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the Math Object (continued 4)</a:t>
            </a:r>
          </a:p>
        </p:txBody>
      </p:sp>
      <p:pic>
        <p:nvPicPr>
          <p:cNvPr id="4" name="Content Placeholder 6" descr="This figure shows the number of days and hours left until January 1st.&#10;The figure consists of three rectangular boxes. The first rectangular box is a portion of a web page. A text that reads “222”, “10”, “MM”, and “55” is positioned inside the first rectangular box. A text that reads “DAYS”, “HOURS”, “MINUTES”, and “SECONDS” is positioned below the first line of the text, where each word is positioned below each number in the first line of the text.&#10;The second rectangular box labeled “number of hours left in the current day” is positioned at the left side of the first rectangular box. An arrow originating from the second rectangular box points to “10” in the first line of the text. The third rectangular box labeled “number of days left in the current year” is positioned below the second rectangular box. An arrow originating from the third rectangular box points to “222” in the first line of the text.&#10;The source is mentioned below the figure, which reads “www.1001fonts.com”." title="Figure 9-31 Days and hours left until January 1s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33208" y="2053883"/>
            <a:ext cx="8277583" cy="2259884"/>
          </a:xfrm>
          <a:prstGeom prst="rect">
            <a:avLst/>
          </a:prstGeom>
        </p:spPr>
      </p:pic>
    </p:spTree>
    <p:extLst>
      <p:ext uri="{BB962C8B-B14F-4D97-AF65-F5344CB8AC3E}">
        <p14:creationId xmlns:p14="http://schemas.microsoft.com/office/powerpoint/2010/main" val="21322931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Math Constants</a:t>
            </a:r>
          </a:p>
        </p:txBody>
      </p:sp>
      <p:sp>
        <p:nvSpPr>
          <p:cNvPr id="5" name="Text Placeholder 4"/>
          <p:cNvSpPr>
            <a:spLocks noGrp="1"/>
          </p:cNvSpPr>
          <p:nvPr>
            <p:ph type="body" sz="quarter" idx="17"/>
          </p:nvPr>
        </p:nvSpPr>
        <p:spPr/>
        <p:txBody>
          <a:bodyPr/>
          <a:lstStyle/>
          <a:p>
            <a:r>
              <a:rPr lang="en-US" dirty="0"/>
              <a:t>Math functions refer to built-in constants stored in JavaScript Math object</a:t>
            </a:r>
          </a:p>
          <a:p>
            <a:r>
              <a:rPr lang="en-US" dirty="0"/>
              <a:t>Syntax to access mathematical constants is</a:t>
            </a:r>
          </a:p>
          <a:p>
            <a:pPr marL="463550" indent="0">
              <a:buNone/>
            </a:pPr>
            <a:r>
              <a:rPr lang="en-US" sz="2600" dirty="0">
                <a:latin typeface="Courier New" panose="02070309020205020404" pitchFamily="49" charset="0"/>
                <a:cs typeface="Courier New" panose="02070309020205020404" pitchFamily="49" charset="0"/>
              </a:rPr>
              <a:t>Math.</a:t>
            </a:r>
            <a:r>
              <a:rPr lang="en-US" sz="2600" i="1" dirty="0">
                <a:latin typeface="Courier New" panose="02070309020205020404" pitchFamily="49" charset="0"/>
                <a:cs typeface="Courier New" panose="02070309020205020404" pitchFamily="49" charset="0"/>
              </a:rPr>
              <a:t>CONSTANT</a:t>
            </a:r>
          </a:p>
          <a:p>
            <a:pPr marL="463550" indent="0">
              <a:buNone/>
            </a:pPr>
            <a:r>
              <a:rPr lang="en-US" sz="2800" dirty="0"/>
              <a:t>where </a:t>
            </a:r>
            <a:r>
              <a:rPr lang="en-US" sz="2600" i="1" dirty="0">
                <a:latin typeface="Courier New" panose="02070309020205020404" pitchFamily="49" charset="0"/>
                <a:cs typeface="Courier New" panose="02070309020205020404" pitchFamily="49" charset="0"/>
              </a:rPr>
              <a:t>CONSTANT</a:t>
            </a:r>
            <a:r>
              <a:rPr lang="en-US" sz="2800" dirty="0"/>
              <a:t> is the name of one of the mathematical constants supported by </a:t>
            </a:r>
            <a:r>
              <a:rPr lang="en-US" sz="2600" dirty="0">
                <a:latin typeface="Courier New" panose="02070309020205020404" pitchFamily="49" charset="0"/>
                <a:cs typeface="Courier New" panose="02070309020205020404" pitchFamily="49" charset="0"/>
              </a:rPr>
              <a:t>Math</a:t>
            </a:r>
            <a:r>
              <a:rPr lang="en-US" sz="2800" dirty="0"/>
              <a:t> object</a:t>
            </a:r>
          </a:p>
        </p:txBody>
      </p:sp>
    </p:spTree>
    <p:extLst>
      <p:ext uri="{BB962C8B-B14F-4D97-AF65-F5344CB8AC3E}">
        <p14:creationId xmlns:p14="http://schemas.microsoft.com/office/powerpoint/2010/main" val="3738637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Math Constants (continued)</a:t>
            </a:r>
          </a:p>
        </p:txBody>
      </p:sp>
      <p:graphicFrame>
        <p:nvGraphicFramePr>
          <p:cNvPr id="8" name="Table Placeholder 7"/>
          <p:cNvGraphicFramePr>
            <a:graphicFrameLocks noGrp="1"/>
          </p:cNvGraphicFramePr>
          <p:nvPr>
            <p:ph type="tbl" sz="quarter" idx="10"/>
            <p:extLst>
              <p:ext uri="{D42A27DB-BD31-4B8C-83A1-F6EECF244321}">
                <p14:modId xmlns:p14="http://schemas.microsoft.com/office/powerpoint/2010/main" val="1331590017"/>
              </p:ext>
            </p:extLst>
          </p:nvPr>
        </p:nvGraphicFramePr>
        <p:xfrm>
          <a:off x="1189721" y="1653954"/>
          <a:ext cx="6764558" cy="3754120"/>
        </p:xfrm>
        <a:graphic>
          <a:graphicData uri="http://schemas.openxmlformats.org/drawingml/2006/table">
            <a:tbl>
              <a:tblPr firstRow="1"/>
              <a:tblGrid>
                <a:gridCol w="2698903">
                  <a:extLst>
                    <a:ext uri="{9D8B030D-6E8A-4147-A177-3AD203B41FA5}">
                      <a16:colId xmlns:a16="http://schemas.microsoft.com/office/drawing/2014/main" val="20000"/>
                    </a:ext>
                  </a:extLst>
                </a:gridCol>
                <a:gridCol w="4065655">
                  <a:extLst>
                    <a:ext uri="{9D8B030D-6E8A-4147-A177-3AD203B41FA5}">
                      <a16:colId xmlns:a16="http://schemas.microsoft.com/office/drawing/2014/main" val="20001"/>
                    </a:ext>
                  </a:extLst>
                </a:gridCol>
              </a:tblGrid>
              <a:tr h="0">
                <a:tc>
                  <a:txBody>
                    <a:bodyPr/>
                    <a:lstStyle/>
                    <a:p>
                      <a:pPr marL="9144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Constant</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9144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Math.E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base of the natural logarithms (2.71828…)</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Math.LN10</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natural logarithm of 10 (2.3026…)</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Math.LN2</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natural logarithm of 2 (0.6931…)</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Math.LOG10E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base 10 logarithm of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(0.4343…)</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Math.LOG2E</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base 2 logarithm of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(1.4427…)</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Math.PI</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value of </a:t>
                      </a:r>
                      <a:r>
                        <a:rPr lang="en-US" sz="1600" i="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π</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(3.14159…)</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Math.SQRT1_2</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value of 1 divided by the square root of 2 (0.7071…)</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Math.SQRT2</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9144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 square root of 2 (1.4142 …)</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9703278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JavaScript Functions</a:t>
            </a:r>
          </a:p>
        </p:txBody>
      </p:sp>
      <p:sp>
        <p:nvSpPr>
          <p:cNvPr id="3" name="Text Placeholder 2"/>
          <p:cNvSpPr>
            <a:spLocks noGrp="1"/>
          </p:cNvSpPr>
          <p:nvPr>
            <p:ph type="body" sz="quarter" idx="17"/>
          </p:nvPr>
        </p:nvSpPr>
        <p:spPr/>
        <p:txBody>
          <a:bodyPr/>
          <a:lstStyle/>
          <a:p>
            <a:r>
              <a:rPr lang="en-US" b="1" dirty="0"/>
              <a:t>Function</a:t>
            </a:r>
            <a:r>
              <a:rPr lang="en-US" dirty="0"/>
              <a:t>: Collection of commands that performs an action or returns a value</a:t>
            </a:r>
          </a:p>
          <a:p>
            <a:r>
              <a:rPr lang="en-US" dirty="0"/>
              <a:t>A function name identifies a function and a set of commands that are run when the function is called</a:t>
            </a:r>
          </a:p>
          <a:p>
            <a:r>
              <a:rPr lang="en-US" b="1" dirty="0"/>
              <a:t>Parameters</a:t>
            </a:r>
            <a:r>
              <a:rPr lang="en-US" dirty="0"/>
              <a:t>: Variables associated with the function</a:t>
            </a:r>
          </a:p>
        </p:txBody>
      </p:sp>
    </p:spTree>
    <p:extLst>
      <p:ext uri="{BB962C8B-B14F-4D97-AF65-F5344CB8AC3E}">
        <p14:creationId xmlns:p14="http://schemas.microsoft.com/office/powerpoint/2010/main" val="10484518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JavaScript Functions</a:t>
            </a:r>
            <a:br>
              <a:rPr lang="en-US" dirty="0"/>
            </a:br>
            <a:r>
              <a:rPr lang="en-US" dirty="0"/>
              <a:t>(continued)</a:t>
            </a:r>
          </a:p>
        </p:txBody>
      </p:sp>
      <p:sp>
        <p:nvSpPr>
          <p:cNvPr id="4" name="Text Placeholder 3"/>
          <p:cNvSpPr>
            <a:spLocks noGrp="1"/>
          </p:cNvSpPr>
          <p:nvPr>
            <p:ph type="body" sz="quarter" idx="17"/>
          </p:nvPr>
        </p:nvSpPr>
        <p:spPr/>
        <p:txBody>
          <a:bodyPr>
            <a:normAutofit lnSpcReduction="10000"/>
          </a:bodyPr>
          <a:lstStyle/>
          <a:p>
            <a:r>
              <a:rPr lang="en-US" dirty="0"/>
              <a:t>General syntax of a JavaScript function is:</a:t>
            </a:r>
          </a:p>
          <a:p>
            <a:pPr marL="463550" indent="0">
              <a:buNone/>
            </a:pPr>
            <a:r>
              <a:rPr lang="en-US" sz="2600" dirty="0">
                <a:latin typeface="Courier New" panose="02070309020205020404" pitchFamily="49" charset="0"/>
                <a:cs typeface="Courier New" panose="02070309020205020404" pitchFamily="49" charset="0"/>
              </a:rPr>
              <a:t>function </a:t>
            </a:r>
            <a:r>
              <a:rPr lang="en-US" sz="2600" i="1" dirty="0">
                <a:latin typeface="Courier New" panose="02070309020205020404" pitchFamily="49" charset="0"/>
                <a:cs typeface="Courier New" panose="02070309020205020404" pitchFamily="49" charset="0"/>
              </a:rPr>
              <a:t>function_name</a:t>
            </a:r>
            <a:r>
              <a:rPr lang="en-US" sz="2600" dirty="0">
                <a:latin typeface="Courier New" panose="02070309020205020404" pitchFamily="49" charset="0"/>
                <a:cs typeface="Courier New" panose="02070309020205020404" pitchFamily="49" charset="0"/>
              </a:rPr>
              <a:t>(</a:t>
            </a:r>
            <a:r>
              <a:rPr lang="en-US" sz="2600" i="1" dirty="0">
                <a:latin typeface="Courier New" panose="02070309020205020404" pitchFamily="49" charset="0"/>
                <a:cs typeface="Courier New" panose="02070309020205020404" pitchFamily="49" charset="0"/>
              </a:rPr>
              <a:t>parameters</a:t>
            </a:r>
            <a:r>
              <a:rPr lang="en-US" sz="2600" dirty="0">
                <a:latin typeface="Courier New" panose="02070309020205020404" pitchFamily="49" charset="0"/>
                <a:cs typeface="Courier New" panose="02070309020205020404" pitchFamily="49" charset="0"/>
              </a:rPr>
              <a:t>){</a:t>
            </a:r>
          </a:p>
          <a:p>
            <a:pPr marL="914400" indent="0">
              <a:buNone/>
            </a:pPr>
            <a:r>
              <a:rPr lang="en-US" sz="2600" i="1" dirty="0">
                <a:latin typeface="Courier New" panose="02070309020205020404" pitchFamily="49" charset="0"/>
                <a:cs typeface="Courier New" panose="02070309020205020404" pitchFamily="49" charset="0"/>
              </a:rPr>
              <a:t>commands</a:t>
            </a:r>
          </a:p>
          <a:p>
            <a:pPr marL="463550" indent="0">
              <a:buNone/>
            </a:pPr>
            <a:r>
              <a:rPr lang="en-US" sz="2600" dirty="0">
                <a:latin typeface="Courier New" panose="02070309020205020404" pitchFamily="49" charset="0"/>
                <a:cs typeface="Courier New" panose="02070309020205020404" pitchFamily="49" charset="0"/>
              </a:rPr>
              <a:t>}</a:t>
            </a:r>
          </a:p>
          <a:p>
            <a:pPr marL="463550" indent="0">
              <a:buNone/>
            </a:pPr>
            <a:r>
              <a:rPr lang="en-US" sz="2800" dirty="0"/>
              <a:t>where,</a:t>
            </a:r>
          </a:p>
          <a:p>
            <a:pPr marL="914400"/>
            <a:r>
              <a:rPr lang="en-US" sz="2600" i="1" dirty="0">
                <a:latin typeface="Courier New" panose="02070309020205020404" pitchFamily="49" charset="0"/>
                <a:cs typeface="Courier New" panose="02070309020205020404" pitchFamily="49" charset="0"/>
              </a:rPr>
              <a:t>function_name</a:t>
            </a:r>
            <a:r>
              <a:rPr lang="en-US" sz="2800" dirty="0"/>
              <a:t> is the name of the function</a:t>
            </a:r>
          </a:p>
          <a:p>
            <a:pPr marL="914400"/>
            <a:r>
              <a:rPr lang="en-US" sz="2600" i="1" dirty="0">
                <a:latin typeface="Courier New" panose="02070309020205020404" pitchFamily="49" charset="0"/>
                <a:cs typeface="Courier New" panose="02070309020205020404" pitchFamily="49" charset="0"/>
              </a:rPr>
              <a:t>parameters</a:t>
            </a:r>
            <a:r>
              <a:rPr lang="en-US" sz="2800" dirty="0"/>
              <a:t> is a comma-separated list of variables used in the function </a:t>
            </a:r>
          </a:p>
          <a:p>
            <a:pPr marL="914400"/>
            <a:r>
              <a:rPr lang="en-US" sz="2600" i="1" dirty="0">
                <a:latin typeface="Courier New" panose="02070309020205020404" pitchFamily="49" charset="0"/>
                <a:cs typeface="Courier New" panose="02070309020205020404" pitchFamily="49" charset="0"/>
              </a:rPr>
              <a:t>commands</a:t>
            </a:r>
            <a:r>
              <a:rPr lang="en-US" sz="2800" dirty="0"/>
              <a:t> is the set of statements run by the function</a:t>
            </a:r>
          </a:p>
        </p:txBody>
      </p:sp>
    </p:spTree>
    <p:extLst>
      <p:ext uri="{BB962C8B-B14F-4D97-AF65-F5344CB8AC3E}">
        <p14:creationId xmlns:p14="http://schemas.microsoft.com/office/powerpoint/2010/main" val="42339919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Calling a Function</a:t>
            </a:r>
          </a:p>
        </p:txBody>
      </p:sp>
      <p:sp>
        <p:nvSpPr>
          <p:cNvPr id="6" name="Text Placeholder 5"/>
          <p:cNvSpPr>
            <a:spLocks noGrp="1"/>
          </p:cNvSpPr>
          <p:nvPr>
            <p:ph type="body" sz="quarter" idx="17"/>
          </p:nvPr>
        </p:nvSpPr>
        <p:spPr/>
        <p:txBody>
          <a:bodyPr>
            <a:normAutofit/>
          </a:bodyPr>
          <a:lstStyle/>
          <a:p>
            <a:r>
              <a:rPr lang="en-US" dirty="0"/>
              <a:t>A function must be called to run</a:t>
            </a:r>
          </a:p>
          <a:p>
            <a:pPr lvl="1"/>
            <a:r>
              <a:rPr lang="en-US" dirty="0"/>
              <a:t>If it has parameters, the initial values of the parameters are set when the function is called</a:t>
            </a:r>
          </a:p>
          <a:p>
            <a:r>
              <a:rPr lang="en-US" dirty="0"/>
              <a:t>Expression to call a function and run it:</a:t>
            </a:r>
          </a:p>
          <a:p>
            <a:pPr marL="463550" indent="0">
              <a:buNone/>
            </a:pPr>
            <a:r>
              <a:rPr lang="en-US" sz="2600" i="1" dirty="0">
                <a:latin typeface="Courier New" panose="02070309020205020404" pitchFamily="49" charset="0"/>
                <a:cs typeface="Courier New" panose="02070309020205020404" pitchFamily="49" charset="0"/>
              </a:rPr>
              <a:t>function_name(parameter values)</a:t>
            </a:r>
          </a:p>
          <a:p>
            <a:pPr marL="463550" indent="0">
              <a:buNone/>
            </a:pPr>
            <a:r>
              <a:rPr lang="en-US" sz="2800" dirty="0">
                <a:latin typeface="Arial" panose="020B0604020202020204" pitchFamily="34" charset="0"/>
                <a:cs typeface="Arial" panose="020B0604020202020204" pitchFamily="34" charset="0"/>
              </a:rPr>
              <a:t>where </a:t>
            </a:r>
            <a:r>
              <a:rPr lang="en-US" sz="2600" i="1" dirty="0">
                <a:latin typeface="Courier New" panose="02070309020205020404" pitchFamily="49" charset="0"/>
                <a:cs typeface="Courier New" panose="02070309020205020404" pitchFamily="49" charset="0"/>
              </a:rPr>
              <a:t>function_name</a:t>
            </a:r>
            <a:r>
              <a:rPr lang="en-US" sz="2800" dirty="0">
                <a:latin typeface="Arial" panose="020B0604020202020204" pitchFamily="34" charset="0"/>
                <a:cs typeface="Arial" panose="020B0604020202020204" pitchFamily="34" charset="0"/>
              </a:rPr>
              <a:t> is the name of the function and </a:t>
            </a:r>
            <a:r>
              <a:rPr lang="en-US" sz="2600" i="1" dirty="0">
                <a:latin typeface="Courier New" panose="02070309020205020404" pitchFamily="49" charset="0"/>
                <a:cs typeface="Courier New" panose="02070309020205020404" pitchFamily="49" charset="0"/>
              </a:rPr>
              <a:t>parameter values</a:t>
            </a:r>
            <a:r>
              <a:rPr lang="en-US" sz="2800" dirty="0">
                <a:latin typeface="Arial" panose="020B0604020202020204" pitchFamily="34" charset="0"/>
                <a:cs typeface="Arial" panose="020B0604020202020204" pitchFamily="34" charset="0"/>
              </a:rPr>
              <a:t> is a comma-separated list of values that match the parameters of the function</a:t>
            </a:r>
          </a:p>
        </p:txBody>
      </p:sp>
    </p:spTree>
    <p:extLst>
      <p:ext uri="{BB962C8B-B14F-4D97-AF65-F5344CB8AC3E}">
        <p14:creationId xmlns:p14="http://schemas.microsoft.com/office/powerpoint/2010/main" val="26566298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Calling a Function (continued)</a:t>
            </a:r>
          </a:p>
        </p:txBody>
      </p:sp>
      <p:pic>
        <p:nvPicPr>
          <p:cNvPr id="8" name="Content Placeholder 5" descr="This figure explains the process of calling the runClock() function.&#10;The figure consists of a few lines of code and a rectangular box.&#10;The first line of the code reads “/* Execute the function to run and display the countdown clock */”. The second line of the code reads “runClock();”. The third line of the code reads “/* Function to create and run the countdown clock */”. The fourth line of the code reads “function runClock() {”. The fifth line of the code reads “”/* Store the current date and time */”. A rectangular box that reads “command to execute the runClock() function” is positioned at the left side of the code. An arrow originating from the rectangular box points to “runClock()” in the second line of the code." title="Figure 9-37 Calling the runClock() functio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445770" y="1969477"/>
            <a:ext cx="8252459" cy="1801594"/>
          </a:xfrm>
          <a:prstGeom prst="rect">
            <a:avLst/>
          </a:prstGeom>
        </p:spPr>
      </p:pic>
    </p:spTree>
    <p:extLst>
      <p:ext uri="{BB962C8B-B14F-4D97-AF65-F5344CB8AC3E}">
        <p14:creationId xmlns:p14="http://schemas.microsoft.com/office/powerpoint/2010/main" val="78405214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Function to Return a Value</a:t>
            </a:r>
          </a:p>
        </p:txBody>
      </p:sp>
      <p:sp>
        <p:nvSpPr>
          <p:cNvPr id="5" name="Text Placeholder 4"/>
          <p:cNvSpPr>
            <a:spLocks noGrp="1"/>
          </p:cNvSpPr>
          <p:nvPr>
            <p:ph type="body" sz="quarter" idx="17"/>
          </p:nvPr>
        </p:nvSpPr>
        <p:spPr/>
        <p:txBody>
          <a:bodyPr>
            <a:normAutofit/>
          </a:bodyPr>
          <a:lstStyle/>
          <a:p>
            <a:r>
              <a:rPr lang="en-US" dirty="0"/>
              <a:t>Functions return values using the </a:t>
            </a:r>
            <a:r>
              <a:rPr lang="en-US" sz="2600" dirty="0">
                <a:latin typeface="Courier New" panose="02070309020205020404" pitchFamily="49" charset="0"/>
                <a:cs typeface="Courier New" panose="02070309020205020404" pitchFamily="49" charset="0"/>
              </a:rPr>
              <a:t>return</a:t>
            </a:r>
            <a:r>
              <a:rPr lang="en-US" dirty="0"/>
              <a:t> statement</a:t>
            </a:r>
          </a:p>
          <a:p>
            <a:pPr marL="463550" indent="0">
              <a:buNone/>
            </a:pPr>
            <a:r>
              <a:rPr lang="en-US" sz="2600" dirty="0">
                <a:latin typeface="Courier New" panose="02070309020205020404" pitchFamily="49" charset="0"/>
                <a:cs typeface="Courier New" panose="02070309020205020404" pitchFamily="49" charset="0"/>
              </a:rPr>
              <a:t>function </a:t>
            </a:r>
            <a:r>
              <a:rPr lang="en-US" sz="2600" i="1" dirty="0">
                <a:latin typeface="Courier New" panose="02070309020205020404" pitchFamily="49" charset="0"/>
                <a:cs typeface="Courier New" panose="02070309020205020404" pitchFamily="49" charset="0"/>
              </a:rPr>
              <a:t>function_name</a:t>
            </a:r>
            <a:r>
              <a:rPr lang="en-US" sz="2600" dirty="0">
                <a:latin typeface="Courier New" panose="02070309020205020404" pitchFamily="49" charset="0"/>
                <a:cs typeface="Courier New" panose="02070309020205020404" pitchFamily="49" charset="0"/>
              </a:rPr>
              <a:t>(</a:t>
            </a:r>
            <a:r>
              <a:rPr lang="en-US" sz="2600" i="1" dirty="0">
                <a:latin typeface="Courier New" panose="02070309020205020404" pitchFamily="49" charset="0"/>
                <a:cs typeface="Courier New" panose="02070309020205020404" pitchFamily="49" charset="0"/>
              </a:rPr>
              <a:t>parameters</a:t>
            </a:r>
            <a:r>
              <a:rPr lang="en-US" sz="2600" dirty="0">
                <a:latin typeface="Courier New" panose="02070309020205020404" pitchFamily="49" charset="0"/>
                <a:cs typeface="Courier New" panose="02070309020205020404" pitchFamily="49" charset="0"/>
              </a:rPr>
              <a:t>){</a:t>
            </a:r>
          </a:p>
          <a:p>
            <a:pPr marL="914400" indent="0">
              <a:buNone/>
            </a:pPr>
            <a:r>
              <a:rPr lang="en-US" sz="2600" i="1" dirty="0">
                <a:latin typeface="Courier New" panose="02070309020205020404" pitchFamily="49" charset="0"/>
                <a:cs typeface="Courier New" panose="02070309020205020404" pitchFamily="49" charset="0"/>
              </a:rPr>
              <a:t>commands</a:t>
            </a:r>
          </a:p>
          <a:p>
            <a:pPr marL="463550" indent="0">
              <a:buNone/>
            </a:pPr>
            <a:r>
              <a:rPr lang="en-US" sz="2600" dirty="0">
                <a:latin typeface="Courier New" panose="02070309020205020404" pitchFamily="49" charset="0"/>
                <a:cs typeface="Courier New" panose="02070309020205020404" pitchFamily="49" charset="0"/>
              </a:rPr>
              <a:t>return </a:t>
            </a:r>
            <a:r>
              <a:rPr lang="en-US" sz="2600" i="1" dirty="0">
                <a:latin typeface="Courier New" panose="02070309020205020404" pitchFamily="49" charset="0"/>
                <a:cs typeface="Courier New" panose="02070309020205020404" pitchFamily="49" charset="0"/>
              </a:rPr>
              <a:t>value</a:t>
            </a:r>
            <a:r>
              <a:rPr lang="en-US" sz="2600" dirty="0">
                <a:latin typeface="Courier New" panose="02070309020205020404" pitchFamily="49" charset="0"/>
                <a:cs typeface="Courier New" panose="02070309020205020404" pitchFamily="49" charset="0"/>
              </a:rPr>
              <a:t>;</a:t>
            </a:r>
          </a:p>
          <a:p>
            <a:pPr marL="463550" indent="0">
              <a:buNone/>
            </a:pPr>
            <a:r>
              <a:rPr lang="en-US" sz="2600" dirty="0">
                <a:latin typeface="Courier New" panose="02070309020205020404" pitchFamily="49" charset="0"/>
                <a:cs typeface="Courier New" panose="02070309020205020404" pitchFamily="49" charset="0"/>
              </a:rPr>
              <a:t>}</a:t>
            </a:r>
          </a:p>
          <a:p>
            <a:pPr marL="463550" indent="0">
              <a:buNone/>
            </a:pPr>
            <a:r>
              <a:rPr lang="en-US" sz="2800" dirty="0"/>
              <a:t>where </a:t>
            </a:r>
            <a:r>
              <a:rPr lang="en-US" sz="2600" i="1" dirty="0">
                <a:latin typeface="Courier New" panose="02070309020205020404" pitchFamily="49" charset="0"/>
                <a:cs typeface="Courier New" panose="02070309020205020404" pitchFamily="49" charset="0"/>
              </a:rPr>
              <a:t>value</a:t>
            </a:r>
            <a:r>
              <a:rPr lang="en-US" sz="2800" dirty="0"/>
              <a:t> is the calculated value that is returned by the function</a:t>
            </a:r>
          </a:p>
        </p:txBody>
      </p:sp>
    </p:spTree>
    <p:extLst>
      <p:ext uri="{BB962C8B-B14F-4D97-AF65-F5344CB8AC3E}">
        <p14:creationId xmlns:p14="http://schemas.microsoft.com/office/powerpoint/2010/main" val="25898871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Timed Commands</a:t>
            </a:r>
          </a:p>
        </p:txBody>
      </p:sp>
      <p:sp>
        <p:nvSpPr>
          <p:cNvPr id="3" name="Text Placeholder 2"/>
          <p:cNvSpPr>
            <a:spLocks noGrp="1"/>
          </p:cNvSpPr>
          <p:nvPr>
            <p:ph type="body" sz="quarter" idx="17"/>
          </p:nvPr>
        </p:nvSpPr>
        <p:spPr/>
        <p:txBody>
          <a:bodyPr/>
          <a:lstStyle/>
          <a:p>
            <a:r>
              <a:rPr lang="en-US" dirty="0"/>
              <a:t>Two ways to update the current time and the remaining time constantly</a:t>
            </a:r>
          </a:p>
          <a:p>
            <a:pPr lvl="1"/>
            <a:r>
              <a:rPr lang="en-US" dirty="0"/>
              <a:t>Time-delayed commands</a:t>
            </a:r>
          </a:p>
          <a:p>
            <a:pPr lvl="1"/>
            <a:r>
              <a:rPr lang="en-US" dirty="0"/>
              <a:t>Timed-interval commands</a:t>
            </a:r>
          </a:p>
        </p:txBody>
      </p:sp>
    </p:spTree>
    <p:extLst>
      <p:ext uri="{BB962C8B-B14F-4D97-AF65-F5344CB8AC3E}">
        <p14:creationId xmlns:p14="http://schemas.microsoft.com/office/powerpoint/2010/main" val="22215724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Time-Delayed Commands</a:t>
            </a:r>
          </a:p>
        </p:txBody>
      </p:sp>
      <p:sp>
        <p:nvSpPr>
          <p:cNvPr id="5" name="Text Placeholder 4"/>
          <p:cNvSpPr>
            <a:spLocks noGrp="1"/>
          </p:cNvSpPr>
          <p:nvPr>
            <p:ph type="body" sz="quarter" idx="17"/>
          </p:nvPr>
        </p:nvSpPr>
        <p:spPr/>
        <p:txBody>
          <a:bodyPr>
            <a:normAutofit/>
          </a:bodyPr>
          <a:lstStyle/>
          <a:p>
            <a:r>
              <a:rPr lang="en-US" b="1" dirty="0"/>
              <a:t>Time-delayed command</a:t>
            </a:r>
            <a:r>
              <a:rPr lang="en-US" dirty="0"/>
              <a:t> - run after a specified amount of time has passed</a:t>
            </a:r>
          </a:p>
          <a:p>
            <a:r>
              <a:rPr lang="en-US" dirty="0"/>
              <a:t>Time delay is defined using the following:</a:t>
            </a:r>
          </a:p>
          <a:p>
            <a:pPr marL="463550" indent="0">
              <a:buNone/>
            </a:pPr>
            <a:r>
              <a:rPr lang="en-US" sz="2600" dirty="0">
                <a:latin typeface="Courier New" panose="02070309020205020404" pitchFamily="49" charset="0"/>
                <a:cs typeface="Courier New" panose="02070309020205020404" pitchFamily="49" charset="0"/>
              </a:rPr>
              <a:t>setTimeout(“</a:t>
            </a:r>
            <a:r>
              <a:rPr lang="en-US" sz="2600" i="1" dirty="0">
                <a:latin typeface="Courier New" panose="02070309020205020404" pitchFamily="49" charset="0"/>
                <a:cs typeface="Courier New" panose="02070309020205020404" pitchFamily="49" charset="0"/>
              </a:rPr>
              <a:t>command</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delay</a:t>
            </a:r>
            <a:r>
              <a:rPr lang="en-US" sz="2600" dirty="0">
                <a:latin typeface="Courier New" panose="02070309020205020404" pitchFamily="49" charset="0"/>
                <a:cs typeface="Courier New" panose="02070309020205020404" pitchFamily="49" charset="0"/>
              </a:rPr>
              <a:t>);</a:t>
            </a:r>
          </a:p>
          <a:p>
            <a:pPr marL="463550" indent="0">
              <a:buNone/>
            </a:pPr>
            <a:r>
              <a:rPr lang="en-US" sz="2800" dirty="0"/>
              <a:t>where </a:t>
            </a:r>
            <a:r>
              <a:rPr lang="en-US" sz="2600" i="1" dirty="0">
                <a:latin typeface="Courier New" panose="02070309020205020404" pitchFamily="49" charset="0"/>
                <a:cs typeface="Courier New" panose="02070309020205020404" pitchFamily="49" charset="0"/>
              </a:rPr>
              <a:t>command</a:t>
            </a:r>
            <a:r>
              <a:rPr lang="en-US" sz="2800" dirty="0"/>
              <a:t> is a JavaScript command and </a:t>
            </a:r>
            <a:r>
              <a:rPr lang="en-US" sz="2600" i="1" dirty="0">
                <a:latin typeface="Courier New" panose="02070309020205020404" pitchFamily="49" charset="0"/>
                <a:cs typeface="Courier New" panose="02070309020205020404" pitchFamily="49" charset="0"/>
              </a:rPr>
              <a:t>delay</a:t>
            </a:r>
            <a:r>
              <a:rPr lang="en-US" sz="2800" dirty="0"/>
              <a:t> is the delay time in milliseconds before a browser runs the command</a:t>
            </a:r>
          </a:p>
          <a:p>
            <a:r>
              <a:rPr lang="en-US" dirty="0"/>
              <a:t>The command must be placed within either double or single quotation marks</a:t>
            </a:r>
          </a:p>
        </p:txBody>
      </p:sp>
    </p:spTree>
    <p:extLst>
      <p:ext uri="{BB962C8B-B14F-4D97-AF65-F5344CB8AC3E}">
        <p14:creationId xmlns:p14="http://schemas.microsoft.com/office/powerpoint/2010/main" val="41426203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with Time-Delayed Commands (continued)</a:t>
            </a:r>
          </a:p>
        </p:txBody>
      </p:sp>
      <p:sp>
        <p:nvSpPr>
          <p:cNvPr id="5" name="Text Placeholder 4"/>
          <p:cNvSpPr>
            <a:spLocks noGrp="1"/>
          </p:cNvSpPr>
          <p:nvPr>
            <p:ph type="body" sz="quarter" idx="17"/>
          </p:nvPr>
        </p:nvSpPr>
        <p:spPr/>
        <p:txBody>
          <a:bodyPr>
            <a:normAutofit lnSpcReduction="10000"/>
          </a:bodyPr>
          <a:lstStyle/>
          <a:p>
            <a:r>
              <a:rPr lang="en-US" dirty="0"/>
              <a:t>To cancel a time-delayed command:</a:t>
            </a:r>
          </a:p>
          <a:p>
            <a:pPr marL="914400" indent="0">
              <a:buNone/>
            </a:pPr>
            <a:r>
              <a:rPr lang="en-US" sz="2600" dirty="0">
                <a:latin typeface="Courier New" panose="02070309020205020404" pitchFamily="49" charset="0"/>
                <a:cs typeface="Courier New" panose="02070309020205020404" pitchFamily="49" charset="0"/>
              </a:rPr>
              <a:t>clearTimeout();</a:t>
            </a:r>
          </a:p>
          <a:p>
            <a:r>
              <a:rPr lang="en-US" dirty="0"/>
              <a:t>Browser can process unlimited number of time-delayed commands</a:t>
            </a:r>
          </a:p>
          <a:p>
            <a:r>
              <a:rPr lang="en-US" dirty="0"/>
              <a:t>Can assign a unique identification number to distinguish commands</a:t>
            </a:r>
          </a:p>
          <a:p>
            <a:pPr marL="914400" indent="0">
              <a:buNone/>
            </a:pPr>
            <a:r>
              <a:rPr lang="en-US" sz="2600" dirty="0">
                <a:latin typeface="Courier New" panose="02070309020205020404" pitchFamily="49" charset="0"/>
                <a:cs typeface="Courier New" panose="02070309020205020404" pitchFamily="49" charset="0"/>
              </a:rPr>
              <a:t>var </a:t>
            </a:r>
            <a:r>
              <a:rPr lang="en-US" sz="2600" i="1" dirty="0">
                <a:latin typeface="Courier New" panose="02070309020205020404" pitchFamily="49" charset="0"/>
                <a:cs typeface="Courier New" panose="02070309020205020404" pitchFamily="49" charset="0"/>
              </a:rPr>
              <a:t>timeID</a:t>
            </a:r>
            <a:r>
              <a:rPr lang="en-US" sz="2600" dirty="0">
                <a:latin typeface="Courier New" panose="02070309020205020404" pitchFamily="49" charset="0"/>
                <a:cs typeface="Courier New" panose="02070309020205020404" pitchFamily="49" charset="0"/>
              </a:rPr>
              <a:t> = setTimeout("</a:t>
            </a:r>
            <a:r>
              <a:rPr lang="en-US" sz="2600" i="1" dirty="0">
                <a:latin typeface="Courier New" panose="02070309020205020404" pitchFamily="49" charset="0"/>
                <a:cs typeface="Courier New" panose="02070309020205020404" pitchFamily="49" charset="0"/>
              </a:rPr>
              <a:t>command</a:t>
            </a:r>
            <a:r>
              <a:rPr lang="en-US" sz="2600" dirty="0">
                <a:latin typeface="Courier New" panose="02070309020205020404" pitchFamily="49" charset="0"/>
                <a:cs typeface="Courier New" panose="02070309020205020404" pitchFamily="49" charset="0"/>
              </a:rPr>
              <a:t>", </a:t>
            </a:r>
            <a:r>
              <a:rPr lang="en-US" sz="2600" i="1" dirty="0">
                <a:latin typeface="Courier New" panose="02070309020205020404" pitchFamily="49" charset="0"/>
                <a:cs typeface="Courier New" panose="02070309020205020404" pitchFamily="49" charset="0"/>
              </a:rPr>
              <a:t>delay</a:t>
            </a:r>
            <a:r>
              <a:rPr lang="en-US" sz="2600" dirty="0">
                <a:latin typeface="Courier New" panose="02070309020205020404" pitchFamily="49" charset="0"/>
                <a:cs typeface="Courier New" panose="02070309020205020404" pitchFamily="49" charset="0"/>
              </a:rPr>
              <a:t>);</a:t>
            </a:r>
          </a:p>
          <a:p>
            <a:pPr marL="914400" indent="0">
              <a:buNone/>
            </a:pPr>
            <a:r>
              <a:rPr lang="en-US" sz="2800" dirty="0">
                <a:latin typeface="Arial" panose="020B0604020202020204" pitchFamily="34" charset="0"/>
                <a:cs typeface="Arial" panose="020B0604020202020204" pitchFamily="34" charset="0"/>
              </a:rPr>
              <a:t>where </a:t>
            </a:r>
            <a:r>
              <a:rPr lang="en-US" sz="2600" i="1" dirty="0">
                <a:latin typeface="Courier New" panose="02070309020205020404" pitchFamily="49" charset="0"/>
                <a:cs typeface="Courier New" panose="02070309020205020404" pitchFamily="49" charset="0"/>
              </a:rPr>
              <a:t>timeID</a:t>
            </a:r>
            <a:r>
              <a:rPr lang="en-US" sz="2800" dirty="0">
                <a:latin typeface="Arial" panose="020B0604020202020204" pitchFamily="34" charset="0"/>
                <a:cs typeface="Arial" panose="020B0604020202020204" pitchFamily="34" charset="0"/>
              </a:rPr>
              <a:t> is a variable that stores the ID of the time-delayed command</a:t>
            </a:r>
          </a:p>
        </p:txBody>
      </p:sp>
    </p:spTree>
    <p:extLst>
      <p:ext uri="{BB962C8B-B14F-4D97-AF65-F5344CB8AC3E}">
        <p14:creationId xmlns:p14="http://schemas.microsoft.com/office/powerpoint/2010/main" val="36875565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Commands at Specified Intervals</a:t>
            </a:r>
          </a:p>
        </p:txBody>
      </p:sp>
      <p:sp>
        <p:nvSpPr>
          <p:cNvPr id="5" name="Text Placeholder 4"/>
          <p:cNvSpPr>
            <a:spLocks noGrp="1"/>
          </p:cNvSpPr>
          <p:nvPr>
            <p:ph type="body" sz="quarter" idx="17"/>
          </p:nvPr>
        </p:nvSpPr>
        <p:spPr/>
        <p:txBody>
          <a:bodyPr>
            <a:normAutofit fontScale="92500" lnSpcReduction="20000"/>
          </a:bodyPr>
          <a:lstStyle/>
          <a:p>
            <a:r>
              <a:rPr lang="en-US" sz="3500" dirty="0"/>
              <a:t>A timed-interval command instructs browsers to run a command repeatedly at a specified interval</a:t>
            </a:r>
          </a:p>
          <a:p>
            <a:r>
              <a:rPr lang="en-US" sz="3500" dirty="0"/>
              <a:t>Timed-interval command syntax:</a:t>
            </a:r>
          </a:p>
          <a:p>
            <a:pPr marL="858838" indent="0">
              <a:buNone/>
            </a:pPr>
            <a:r>
              <a:rPr lang="en-US" sz="2800" dirty="0">
                <a:latin typeface="Courier New" panose="02070309020205020404" pitchFamily="49" charset="0"/>
                <a:cs typeface="Courier New" panose="02070309020205020404" pitchFamily="49" charset="0"/>
              </a:rPr>
              <a:t>setInterval("</a:t>
            </a:r>
            <a:r>
              <a:rPr lang="en-US" sz="2800" i="1" dirty="0">
                <a:latin typeface="Courier New" panose="02070309020205020404" pitchFamily="49" charset="0"/>
                <a:cs typeface="Courier New" panose="02070309020205020404" pitchFamily="49" charset="0"/>
              </a:rPr>
              <a:t>command</a:t>
            </a:r>
            <a:r>
              <a:rPr lang="en-US" sz="2800" dirty="0">
                <a:latin typeface="Courier New" panose="02070309020205020404" pitchFamily="49" charset="0"/>
                <a:cs typeface="Courier New" panose="02070309020205020404" pitchFamily="49" charset="0"/>
              </a:rPr>
              <a:t>", </a:t>
            </a:r>
            <a:r>
              <a:rPr lang="en-US" sz="2800" i="1" dirty="0">
                <a:latin typeface="Courier New" panose="02070309020205020404" pitchFamily="49" charset="0"/>
                <a:cs typeface="Courier New" panose="02070309020205020404" pitchFamily="49" charset="0"/>
              </a:rPr>
              <a:t>interval</a:t>
            </a:r>
            <a:r>
              <a:rPr lang="en-US" sz="2800" dirty="0">
                <a:latin typeface="Courier New" panose="02070309020205020404" pitchFamily="49" charset="0"/>
                <a:cs typeface="Courier New" panose="02070309020205020404" pitchFamily="49" charset="0"/>
              </a:rPr>
              <a:t>);</a:t>
            </a:r>
          </a:p>
          <a:p>
            <a:pPr marL="914400" indent="0">
              <a:buNone/>
            </a:pPr>
            <a:r>
              <a:rPr lang="en-US" sz="3000" dirty="0"/>
              <a:t>where </a:t>
            </a:r>
            <a:r>
              <a:rPr lang="en-US" sz="2800" i="1" dirty="0">
                <a:latin typeface="Courier New" panose="02070309020205020404" pitchFamily="49" charset="0"/>
                <a:cs typeface="Courier New" panose="02070309020205020404" pitchFamily="49" charset="0"/>
              </a:rPr>
              <a:t>interval</a:t>
            </a:r>
            <a:r>
              <a:rPr lang="en-US" sz="3000" dirty="0"/>
              <a:t> is the interval in milliseconds before the command is run again</a:t>
            </a:r>
          </a:p>
          <a:p>
            <a:r>
              <a:rPr lang="en-US" sz="3500" dirty="0"/>
              <a:t>Timed-interval commands are halted using the following statement:</a:t>
            </a:r>
          </a:p>
          <a:p>
            <a:pPr marL="914400" indent="0">
              <a:buNone/>
            </a:pPr>
            <a:r>
              <a:rPr lang="en-US" sz="2800" dirty="0">
                <a:latin typeface="Courier New" panose="02070309020205020404" pitchFamily="49" charset="0"/>
                <a:cs typeface="Courier New" panose="02070309020205020404" pitchFamily="49" charset="0"/>
              </a:rPr>
              <a:t>clearInterval();</a:t>
            </a:r>
          </a:p>
        </p:txBody>
      </p:sp>
    </p:spTree>
    <p:extLst>
      <p:ext uri="{BB962C8B-B14F-4D97-AF65-F5344CB8AC3E}">
        <p14:creationId xmlns:p14="http://schemas.microsoft.com/office/powerpoint/2010/main" val="32541165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Commands at Specified Intervals (continued 1)</a:t>
            </a:r>
          </a:p>
        </p:txBody>
      </p:sp>
      <p:sp>
        <p:nvSpPr>
          <p:cNvPr id="8" name="Text Placeholder 7"/>
          <p:cNvSpPr>
            <a:spLocks noGrp="1"/>
          </p:cNvSpPr>
          <p:nvPr>
            <p:ph type="body" sz="quarter" idx="17"/>
          </p:nvPr>
        </p:nvSpPr>
        <p:spPr/>
        <p:txBody>
          <a:bodyPr>
            <a:normAutofit/>
          </a:bodyPr>
          <a:lstStyle/>
          <a:p>
            <a:r>
              <a:rPr lang="en-US" dirty="0"/>
              <a:t>Distinguish one timed-interval command from another by storing the time ID in a variable</a:t>
            </a:r>
          </a:p>
          <a:p>
            <a:pPr marL="914400" indent="0">
              <a:buNone/>
            </a:pPr>
            <a:r>
              <a:rPr lang="en-US" sz="2600" dirty="0">
                <a:latin typeface="Courier New" panose="02070309020205020404" pitchFamily="49" charset="0"/>
                <a:cs typeface="Courier New" panose="02070309020205020404" pitchFamily="49" charset="0"/>
              </a:rPr>
              <a:t>var timeID = setInterval("command", interval);</a:t>
            </a:r>
          </a:p>
          <a:p>
            <a:r>
              <a:rPr lang="en-US" dirty="0"/>
              <a:t>Halt the timed-interval command by applying the </a:t>
            </a:r>
            <a:r>
              <a:rPr lang="en-US" sz="2600" dirty="0">
                <a:latin typeface="Courier New" panose="02070309020205020404" pitchFamily="49" charset="0"/>
                <a:cs typeface="Courier New" panose="02070309020205020404" pitchFamily="49" charset="0"/>
              </a:rPr>
              <a:t>clearInterval() </a:t>
            </a:r>
            <a:r>
              <a:rPr lang="en-US" dirty="0"/>
              <a:t>method with</a:t>
            </a:r>
            <a:br>
              <a:rPr lang="en-US" dirty="0"/>
            </a:br>
            <a:r>
              <a:rPr lang="en-US" sz="2600" i="1" dirty="0">
                <a:latin typeface="Courier New" panose="02070309020205020404" pitchFamily="49" charset="0"/>
                <a:cs typeface="Courier New" panose="02070309020205020404" pitchFamily="49" charset="0"/>
              </a:rPr>
              <a:t>timeID</a:t>
            </a:r>
            <a:r>
              <a:rPr lang="en-US" i="1" dirty="0"/>
              <a:t> </a:t>
            </a:r>
            <a:r>
              <a:rPr lang="en-US" dirty="0"/>
              <a:t>as the parameter value:</a:t>
            </a:r>
          </a:p>
          <a:p>
            <a:pPr marL="914400" indent="0">
              <a:buNone/>
            </a:pPr>
            <a:r>
              <a:rPr lang="en-US" sz="2600" dirty="0">
                <a:latin typeface="Courier New" panose="02070309020205020404" pitchFamily="49" charset="0"/>
                <a:cs typeface="Courier New" panose="02070309020205020404" pitchFamily="49" charset="0"/>
              </a:rPr>
              <a:t>clearInterval(</a:t>
            </a:r>
            <a:r>
              <a:rPr lang="en-US" sz="2600" i="1" dirty="0">
                <a:latin typeface="Courier New" panose="02070309020205020404" pitchFamily="49" charset="0"/>
                <a:cs typeface="Courier New" panose="02070309020205020404" pitchFamily="49" charset="0"/>
              </a:rPr>
              <a:t>timeID</a:t>
            </a:r>
            <a:r>
              <a:rPr lang="en-US" sz="2600" dirty="0">
                <a:latin typeface="Courier New" panose="02070309020205020404" pitchFamily="49" charset="0"/>
                <a:cs typeface="Courier New" panose="02070309020205020404" pitchFamily="49" charset="0"/>
              </a:rPr>
              <a:t>);</a:t>
            </a:r>
          </a:p>
          <a:p>
            <a:endParaRPr lang="en-US" dirty="0"/>
          </a:p>
        </p:txBody>
      </p:sp>
    </p:spTree>
    <p:extLst>
      <p:ext uri="{BB962C8B-B14F-4D97-AF65-F5344CB8AC3E}">
        <p14:creationId xmlns:p14="http://schemas.microsoft.com/office/powerpoint/2010/main" val="26135540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Commands at Specified Intervals (continued 2)</a:t>
            </a:r>
          </a:p>
        </p:txBody>
      </p:sp>
      <p:pic>
        <p:nvPicPr>
          <p:cNvPr id="7" name="Content Placeholder 2" descr="This figure explains the process of repeating the runClock() function.&#10;The figure consists of a few lines of code and a rectangular box.&#10;The first line of the code reads “/* Executing the function to run and display the countdown clock */”. The second line of the code reads “runClock();”. The third line of the code reads “setInterval(“runClock()”, 1000);”. A rectangular box labeled “repeats the runClock() function every second” is positioned below the code. An arrow originating from the rectangular box points to “runClock()” in the third line of the code." title="Figure 9-38 Repeating the runClock() functio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607765" y="2039814"/>
            <a:ext cx="7928470" cy="1961293"/>
          </a:xfrm>
          <a:prstGeom prst="rect">
            <a:avLst/>
          </a:prstGeom>
        </p:spPr>
      </p:pic>
    </p:spTree>
    <p:extLst>
      <p:ext uri="{BB962C8B-B14F-4D97-AF65-F5344CB8AC3E}">
        <p14:creationId xmlns:p14="http://schemas.microsoft.com/office/powerpoint/2010/main" val="6389018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Illegal Operations</a:t>
            </a:r>
          </a:p>
        </p:txBody>
      </p:sp>
      <p:sp>
        <p:nvSpPr>
          <p:cNvPr id="5" name="Text Placeholder 4"/>
          <p:cNvSpPr>
            <a:spLocks noGrp="1"/>
          </p:cNvSpPr>
          <p:nvPr>
            <p:ph type="body" sz="quarter" idx="17"/>
          </p:nvPr>
        </p:nvSpPr>
        <p:spPr/>
        <p:txBody>
          <a:bodyPr/>
          <a:lstStyle/>
          <a:p>
            <a:r>
              <a:rPr lang="en-US" dirty="0"/>
              <a:t>Mathematical operations can return results that are not numeric values</a:t>
            </a:r>
          </a:p>
          <a:p>
            <a:r>
              <a:rPr lang="en-US" dirty="0"/>
              <a:t>JavaScript returns </a:t>
            </a:r>
            <a:r>
              <a:rPr lang="en-US" sz="2600" dirty="0">
                <a:latin typeface="Courier New" panose="02070309020205020404" pitchFamily="49" charset="0"/>
                <a:cs typeface="Courier New" panose="02070309020205020404" pitchFamily="49" charset="0"/>
              </a:rPr>
              <a:t>NaN</a:t>
            </a:r>
            <a:r>
              <a:rPr lang="en-US" dirty="0"/>
              <a:t> value</a:t>
            </a:r>
          </a:p>
          <a:p>
            <a:pPr lvl="1"/>
            <a:r>
              <a:rPr lang="en-US" dirty="0"/>
              <a:t>Stands for “Not A Number”</a:t>
            </a:r>
          </a:p>
          <a:p>
            <a:pPr lvl="1"/>
            <a:r>
              <a:rPr lang="en-US" dirty="0"/>
              <a:t>Indicates an illegal operation that should involve only numeric values</a:t>
            </a:r>
          </a:p>
        </p:txBody>
      </p:sp>
    </p:spTree>
    <p:extLst>
      <p:ext uri="{BB962C8B-B14F-4D97-AF65-F5344CB8AC3E}">
        <p14:creationId xmlns:p14="http://schemas.microsoft.com/office/powerpoint/2010/main" val="30525528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Illegal Operations (continued 1)</a:t>
            </a:r>
          </a:p>
        </p:txBody>
      </p:sp>
      <p:sp>
        <p:nvSpPr>
          <p:cNvPr id="3" name="Text Placeholder 2"/>
          <p:cNvSpPr>
            <a:spLocks noGrp="1"/>
          </p:cNvSpPr>
          <p:nvPr>
            <p:ph type="body" sz="quarter" idx="17"/>
          </p:nvPr>
        </p:nvSpPr>
        <p:spPr/>
        <p:txBody>
          <a:bodyPr>
            <a:normAutofit/>
          </a:bodyPr>
          <a:lstStyle/>
          <a:p>
            <a:r>
              <a:rPr lang="en-US" dirty="0"/>
              <a:t>Check for the nonnumeric results error using the </a:t>
            </a:r>
            <a:r>
              <a:rPr lang="en-US" sz="2600" dirty="0">
                <a:latin typeface="Courier New" panose="02070309020205020404" pitchFamily="49" charset="0"/>
                <a:cs typeface="Courier New" panose="02070309020205020404" pitchFamily="49" charset="0"/>
              </a:rPr>
              <a:t>isNaN()</a:t>
            </a:r>
            <a:r>
              <a:rPr lang="en-US" dirty="0">
                <a:latin typeface="Arial" panose="020B0604020202020204" pitchFamily="34" charset="0"/>
                <a:cs typeface="Arial" panose="020B0604020202020204" pitchFamily="34" charset="0"/>
              </a:rPr>
              <a:t> </a:t>
            </a:r>
            <a:r>
              <a:rPr lang="en-US" dirty="0"/>
              <a:t>function</a:t>
            </a:r>
          </a:p>
          <a:p>
            <a:pPr marL="463550" indent="0">
              <a:buNone/>
            </a:pPr>
            <a:r>
              <a:rPr lang="en-US" sz="2600" dirty="0">
                <a:latin typeface="Courier New" panose="02070309020205020404" pitchFamily="49" charset="0"/>
                <a:cs typeface="Courier New" panose="02070309020205020404" pitchFamily="49" charset="0"/>
              </a:rPr>
              <a:t>isNaN(</a:t>
            </a:r>
            <a:r>
              <a:rPr lang="en-US" sz="2600" i="1" dirty="0">
                <a:latin typeface="Courier New" panose="02070309020205020404" pitchFamily="49" charset="0"/>
                <a:cs typeface="Courier New" panose="02070309020205020404" pitchFamily="49" charset="0"/>
              </a:rPr>
              <a:t>value</a:t>
            </a:r>
            <a:r>
              <a:rPr lang="en-US" sz="2600" dirty="0">
                <a:latin typeface="Courier New" panose="02070309020205020404" pitchFamily="49" charset="0"/>
                <a:cs typeface="Courier New" panose="02070309020205020404" pitchFamily="49" charset="0"/>
              </a:rPr>
              <a:t>)</a:t>
            </a:r>
          </a:p>
          <a:p>
            <a:pPr marL="463550" indent="0">
              <a:buNone/>
            </a:pPr>
            <a:r>
              <a:rPr lang="en-US" sz="2800" dirty="0">
                <a:latin typeface="Arial" panose="020B0604020202020204" pitchFamily="34" charset="0"/>
                <a:cs typeface="Arial" panose="020B0604020202020204" pitchFamily="34" charset="0"/>
              </a:rPr>
              <a:t>where </a:t>
            </a:r>
            <a:r>
              <a:rPr lang="en-US" sz="2600" i="1" dirty="0">
                <a:latin typeface="Courier New" panose="02070309020205020404" pitchFamily="49" charset="0"/>
                <a:cs typeface="Courier New" panose="02070309020205020404" pitchFamily="49" charset="0"/>
              </a:rPr>
              <a:t>value</a:t>
            </a:r>
            <a:r>
              <a:rPr lang="en-US" sz="2800" dirty="0">
                <a:latin typeface="Arial" panose="020B0604020202020204" pitchFamily="34" charset="0"/>
                <a:cs typeface="Arial" panose="020B0604020202020204" pitchFamily="34" charset="0"/>
              </a:rPr>
              <a:t> is the value or variable to test for being numeric</a:t>
            </a:r>
          </a:p>
          <a:p>
            <a:r>
              <a:rPr lang="en-US" sz="2600" dirty="0">
                <a:latin typeface="Courier New" panose="02070309020205020404" pitchFamily="49" charset="0"/>
                <a:cs typeface="Courier New" panose="02070309020205020404" pitchFamily="49" charset="0"/>
              </a:rPr>
              <a:t>isNaN()</a:t>
            </a:r>
            <a:r>
              <a:rPr lang="en-US" dirty="0">
                <a:latin typeface="Arial" panose="020B0604020202020204" pitchFamily="34" charset="0"/>
                <a:cs typeface="Arial" panose="020B0604020202020204" pitchFamily="34" charset="0"/>
              </a:rPr>
              <a:t> </a:t>
            </a:r>
            <a:r>
              <a:rPr lang="en-US" dirty="0"/>
              <a:t>function returns a Boolean value</a:t>
            </a:r>
          </a:p>
          <a:p>
            <a:pPr lvl="1"/>
            <a:r>
              <a:rPr lang="en-US" sz="2200" dirty="0">
                <a:latin typeface="Courier New" panose="02070309020205020404" pitchFamily="49" charset="0"/>
                <a:cs typeface="Courier New" panose="02070309020205020404" pitchFamily="49" charset="0"/>
              </a:rPr>
              <a:t>True</a:t>
            </a:r>
            <a:r>
              <a:rPr lang="en-US" dirty="0"/>
              <a:t> if the value is not numeric</a:t>
            </a:r>
          </a:p>
          <a:p>
            <a:pPr lvl="1"/>
            <a:r>
              <a:rPr lang="en-US" sz="2200" dirty="0">
                <a:latin typeface="Courier New" panose="02070309020205020404" pitchFamily="49" charset="0"/>
                <a:cs typeface="Courier New" panose="02070309020205020404" pitchFamily="49" charset="0"/>
              </a:rPr>
              <a:t>False</a:t>
            </a:r>
            <a:r>
              <a:rPr lang="en-US" dirty="0"/>
              <a:t> otherwise</a:t>
            </a:r>
          </a:p>
        </p:txBody>
      </p:sp>
    </p:spTree>
    <p:extLst>
      <p:ext uri="{BB962C8B-B14F-4D97-AF65-F5344CB8AC3E}">
        <p14:creationId xmlns:p14="http://schemas.microsoft.com/office/powerpoint/2010/main" val="165859949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Illegal Operations (continued 2)</a:t>
            </a:r>
          </a:p>
        </p:txBody>
      </p:sp>
      <p:sp>
        <p:nvSpPr>
          <p:cNvPr id="6" name="Text Placeholder 5"/>
          <p:cNvSpPr>
            <a:spLocks noGrp="1"/>
          </p:cNvSpPr>
          <p:nvPr>
            <p:ph type="body" sz="quarter" idx="17"/>
          </p:nvPr>
        </p:nvSpPr>
        <p:spPr/>
        <p:txBody>
          <a:bodyPr/>
          <a:lstStyle/>
          <a:p>
            <a:r>
              <a:rPr lang="en-US" sz="2600" dirty="0">
                <a:latin typeface="Courier New" panose="02070309020205020404" pitchFamily="49" charset="0"/>
                <a:cs typeface="Courier New" panose="02070309020205020404" pitchFamily="49" charset="0"/>
              </a:rPr>
              <a:t>Infinity</a:t>
            </a:r>
            <a:r>
              <a:rPr lang="en-US" dirty="0"/>
              <a:t> value</a:t>
            </a:r>
          </a:p>
          <a:p>
            <a:pPr lvl="1"/>
            <a:r>
              <a:rPr lang="en-US" dirty="0"/>
              <a:t>Generated for an operation whose result is less than the smallest numeric value and greater than the largest numeric value supported by JavaScript</a:t>
            </a:r>
          </a:p>
          <a:p>
            <a:r>
              <a:rPr lang="en-US" dirty="0"/>
              <a:t>Can check for this outcome using:</a:t>
            </a:r>
          </a:p>
          <a:p>
            <a:pPr marL="914400" indent="0">
              <a:buNone/>
            </a:pPr>
            <a:r>
              <a:rPr lang="en-US" sz="2600" dirty="0">
                <a:latin typeface="Courier New" panose="02070309020205020404" pitchFamily="49" charset="0"/>
                <a:cs typeface="Courier New" panose="02070309020205020404" pitchFamily="49" charset="0"/>
              </a:rPr>
              <a:t>isFinite(</a:t>
            </a:r>
            <a:r>
              <a:rPr lang="en-US" sz="2600" i="1" dirty="0">
                <a:latin typeface="Courier New" panose="02070309020205020404" pitchFamily="49" charset="0"/>
                <a:cs typeface="Courier New" panose="02070309020205020404" pitchFamily="49" charset="0"/>
              </a:rPr>
              <a:t>value</a:t>
            </a:r>
            <a:r>
              <a:rPr lang="en-US" sz="2600" dirty="0">
                <a:latin typeface="Courier New" panose="02070309020205020404" pitchFamily="49" charset="0"/>
                <a:cs typeface="Courier New" panose="02070309020205020404" pitchFamily="49" charset="0"/>
              </a:rPr>
              <a:t>)</a:t>
            </a:r>
          </a:p>
          <a:p>
            <a:pPr marL="914400" indent="0">
              <a:buNone/>
            </a:pPr>
            <a:r>
              <a:rPr lang="en-US" sz="2800" dirty="0">
                <a:latin typeface="Arial" panose="020B0604020202020204" pitchFamily="34" charset="0"/>
                <a:cs typeface="Arial" panose="020B0604020202020204" pitchFamily="34" charset="0"/>
              </a:rPr>
              <a:t>where</a:t>
            </a:r>
            <a:r>
              <a:rPr lang="en-US" dirty="0">
                <a:latin typeface="Arial" panose="020B0604020202020204" pitchFamily="34" charset="0"/>
                <a:cs typeface="Arial" panose="020B0604020202020204" pitchFamily="34" charset="0"/>
              </a:rPr>
              <a:t> </a:t>
            </a:r>
            <a:r>
              <a:rPr lang="en-US" sz="2600" i="1" dirty="0">
                <a:latin typeface="Courier New" panose="02070309020205020404" pitchFamily="49" charset="0"/>
                <a:cs typeface="Courier New" panose="02070309020205020404" pitchFamily="49" charset="0"/>
              </a:rPr>
              <a:t>value</a:t>
            </a:r>
            <a:r>
              <a:rPr lang="en-US"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is the value you want to test for being finite</a:t>
            </a:r>
          </a:p>
        </p:txBody>
      </p:sp>
    </p:spTree>
    <p:extLst>
      <p:ext uri="{BB962C8B-B14F-4D97-AF65-F5344CB8AC3E}">
        <p14:creationId xmlns:p14="http://schemas.microsoft.com/office/powerpoint/2010/main" val="13131198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Illegal Operations (continued 3)</a:t>
            </a:r>
          </a:p>
        </p:txBody>
      </p:sp>
      <p:sp>
        <p:nvSpPr>
          <p:cNvPr id="5" name="Text Placeholder 4"/>
          <p:cNvSpPr>
            <a:spLocks noGrp="1"/>
          </p:cNvSpPr>
          <p:nvPr>
            <p:ph type="body" sz="quarter" idx="17"/>
          </p:nvPr>
        </p:nvSpPr>
        <p:spPr/>
        <p:txBody>
          <a:bodyPr/>
          <a:lstStyle/>
          <a:p>
            <a:r>
              <a:rPr lang="en-US" sz="2600" dirty="0">
                <a:latin typeface="Courier New" panose="02070309020205020404" pitchFamily="49" charset="0"/>
                <a:cs typeface="Courier New" panose="02070309020205020404" pitchFamily="49" charset="0"/>
              </a:rPr>
              <a:t>isFinite()</a:t>
            </a:r>
            <a:r>
              <a:rPr lang="en-US" dirty="0"/>
              <a:t> function returns a Boolean value</a:t>
            </a:r>
          </a:p>
          <a:p>
            <a:pPr lvl="1"/>
            <a:r>
              <a:rPr lang="en-US" sz="2600" dirty="0">
                <a:latin typeface="Courier New" panose="02070309020205020404" pitchFamily="49" charset="0"/>
                <a:cs typeface="Courier New" panose="02070309020205020404" pitchFamily="49" charset="0"/>
              </a:rPr>
              <a:t>True</a:t>
            </a:r>
            <a:r>
              <a:rPr lang="en-US" dirty="0"/>
              <a:t> if the value is a finite number falling within JavaScript’s acceptable range</a:t>
            </a:r>
          </a:p>
          <a:p>
            <a:pPr lvl="1"/>
            <a:r>
              <a:rPr lang="en-US" sz="2600" dirty="0">
                <a:latin typeface="Courier New" panose="02070309020205020404" pitchFamily="49" charset="0"/>
                <a:cs typeface="Courier New" panose="02070309020205020404" pitchFamily="49" charset="0"/>
              </a:rPr>
              <a:t>False</a:t>
            </a:r>
            <a:r>
              <a:rPr lang="en-US" dirty="0"/>
              <a:t> if the numeric value falls outside that range or if the value is not a number at all</a:t>
            </a:r>
          </a:p>
        </p:txBody>
      </p:sp>
    </p:spTree>
    <p:extLst>
      <p:ext uri="{BB962C8B-B14F-4D97-AF65-F5344CB8AC3E}">
        <p14:creationId xmlns:p14="http://schemas.microsoft.com/office/powerpoint/2010/main" val="31408044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Number Format</a:t>
            </a:r>
          </a:p>
        </p:txBody>
      </p:sp>
      <p:sp>
        <p:nvSpPr>
          <p:cNvPr id="5" name="Text Placeholder 4"/>
          <p:cNvSpPr>
            <a:spLocks noGrp="1"/>
          </p:cNvSpPr>
          <p:nvPr>
            <p:ph type="body" sz="quarter" idx="17"/>
          </p:nvPr>
        </p:nvSpPr>
        <p:spPr/>
        <p:txBody>
          <a:bodyPr/>
          <a:lstStyle/>
          <a:p>
            <a:r>
              <a:rPr lang="en-US" dirty="0"/>
              <a:t>JavaScript stores a numeric value to 16 decimal places of accuracy</a:t>
            </a:r>
          </a:p>
          <a:p>
            <a:r>
              <a:rPr lang="en-US" dirty="0"/>
              <a:t>The number of digits displayed by browsers is controlled using </a:t>
            </a:r>
            <a:r>
              <a:rPr lang="en-US" sz="2600" dirty="0">
                <a:latin typeface="Courier New" panose="02070309020205020404" pitchFamily="49" charset="0"/>
                <a:cs typeface="Courier New" panose="02070309020205020404" pitchFamily="49" charset="0"/>
              </a:rPr>
              <a:t>toFixed()</a:t>
            </a:r>
            <a:r>
              <a:rPr lang="en-US" dirty="0">
                <a:latin typeface="Courier New" panose="02070309020205020404" pitchFamily="49" charset="0"/>
                <a:cs typeface="Courier New" panose="02070309020205020404" pitchFamily="49" charset="0"/>
              </a:rPr>
              <a:t> </a:t>
            </a:r>
            <a:r>
              <a:rPr lang="en-US" dirty="0"/>
              <a:t>method</a:t>
            </a:r>
          </a:p>
          <a:p>
            <a:pPr marL="463550" indent="0">
              <a:buNone/>
            </a:pPr>
            <a:r>
              <a:rPr lang="en-US" sz="2600" i="1" dirty="0">
                <a:latin typeface="Courier New" panose="02070309020205020404" pitchFamily="49" charset="0"/>
                <a:cs typeface="Courier New" panose="02070309020205020404" pitchFamily="49" charset="0"/>
              </a:rPr>
              <a:t>value</a:t>
            </a:r>
            <a:r>
              <a:rPr lang="en-US" sz="2600" dirty="0">
                <a:latin typeface="Courier New" panose="02070309020205020404" pitchFamily="49" charset="0"/>
                <a:cs typeface="Courier New" panose="02070309020205020404" pitchFamily="49" charset="0"/>
              </a:rPr>
              <a:t>.toFixed(</a:t>
            </a:r>
            <a:r>
              <a:rPr lang="en-US" sz="2600" i="1" dirty="0">
                <a:latin typeface="Courier New" panose="02070309020205020404" pitchFamily="49" charset="0"/>
                <a:cs typeface="Courier New" panose="02070309020205020404" pitchFamily="49" charset="0"/>
              </a:rPr>
              <a:t>n</a:t>
            </a:r>
            <a:r>
              <a:rPr lang="en-US" sz="2600" dirty="0">
                <a:latin typeface="Courier New" panose="02070309020205020404" pitchFamily="49" charset="0"/>
                <a:cs typeface="Courier New" panose="02070309020205020404" pitchFamily="49" charset="0"/>
              </a:rPr>
              <a:t>)</a:t>
            </a:r>
          </a:p>
          <a:p>
            <a:pPr marL="463550" indent="0">
              <a:buNone/>
            </a:pPr>
            <a:r>
              <a:rPr lang="en-US" sz="2800" dirty="0"/>
              <a:t>where </a:t>
            </a:r>
            <a:r>
              <a:rPr lang="en-US" sz="2600" i="1" dirty="0">
                <a:latin typeface="Courier New" panose="02070309020205020404" pitchFamily="49" charset="0"/>
                <a:cs typeface="Courier New" panose="02070309020205020404" pitchFamily="49" charset="0"/>
              </a:rPr>
              <a:t>value</a:t>
            </a:r>
            <a:r>
              <a:rPr lang="en-US" sz="2800" dirty="0"/>
              <a:t> is the value or variable and </a:t>
            </a:r>
            <a:r>
              <a:rPr lang="en-US" sz="2600" i="1" dirty="0">
                <a:latin typeface="Courier New" panose="02070309020205020404" pitchFamily="49" charset="0"/>
                <a:cs typeface="Courier New" panose="02070309020205020404" pitchFamily="49" charset="0"/>
              </a:rPr>
              <a:t>n</a:t>
            </a:r>
            <a:r>
              <a:rPr lang="en-US" sz="2800" dirty="0"/>
              <a:t> is the number of decimal places displayed in the output</a:t>
            </a:r>
          </a:p>
        </p:txBody>
      </p:sp>
    </p:spTree>
    <p:extLst>
      <p:ext uri="{BB962C8B-B14F-4D97-AF65-F5344CB8AC3E}">
        <p14:creationId xmlns:p14="http://schemas.microsoft.com/office/powerpoint/2010/main" val="14364030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 Number Format (continued)</a:t>
            </a:r>
          </a:p>
        </p:txBody>
      </p:sp>
      <p:sp>
        <p:nvSpPr>
          <p:cNvPr id="3" name="Text Placeholder 2"/>
          <p:cNvSpPr>
            <a:spLocks noGrp="1"/>
          </p:cNvSpPr>
          <p:nvPr>
            <p:ph type="body" sz="quarter" idx="17"/>
          </p:nvPr>
        </p:nvSpPr>
        <p:spPr/>
        <p:txBody>
          <a:bodyPr/>
          <a:lstStyle/>
          <a:p>
            <a:r>
              <a:rPr lang="en-US" sz="2600" dirty="0">
                <a:latin typeface="Courier New" panose="02070309020205020404" pitchFamily="49" charset="0"/>
                <a:cs typeface="Courier New" panose="02070309020205020404" pitchFamily="49" charset="0"/>
              </a:rPr>
              <a:t>toFixed() </a:t>
            </a:r>
            <a:r>
              <a:rPr lang="en-US" dirty="0"/>
              <a:t>limits the number of decimals displayed by a value and converts the value into a text string</a:t>
            </a:r>
          </a:p>
          <a:p>
            <a:r>
              <a:rPr lang="en-US" sz="2600" dirty="0">
                <a:latin typeface="Courier New" panose="02070309020205020404" pitchFamily="49" charset="0"/>
                <a:cs typeface="Courier New" panose="02070309020205020404" pitchFamily="49" charset="0"/>
              </a:rPr>
              <a:t>toFixed()</a:t>
            </a:r>
            <a:r>
              <a:rPr lang="en-US" dirty="0"/>
              <a:t> rounds the last digit in an expression rather than truncating it</a:t>
            </a:r>
          </a:p>
        </p:txBody>
      </p:sp>
    </p:spTree>
    <p:extLst>
      <p:ext uri="{BB962C8B-B14F-4D97-AF65-F5344CB8AC3E}">
        <p14:creationId xmlns:p14="http://schemas.microsoft.com/office/powerpoint/2010/main" val="63165296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Between Numbers and Text</a:t>
            </a:r>
          </a:p>
        </p:txBody>
      </p:sp>
      <p:sp>
        <p:nvSpPr>
          <p:cNvPr id="5" name="Text Placeholder 4"/>
          <p:cNvSpPr>
            <a:spLocks noGrp="1"/>
          </p:cNvSpPr>
          <p:nvPr>
            <p:ph type="body" sz="quarter" idx="17"/>
          </p:nvPr>
        </p:nvSpPr>
        <p:spPr/>
        <p:txBody>
          <a:bodyPr/>
          <a:lstStyle/>
          <a:p>
            <a:r>
              <a:rPr lang="en-US" dirty="0">
                <a:latin typeface="Arial" panose="020B0604020202020204" pitchFamily="34" charset="0"/>
                <a:cs typeface="Arial" panose="020B0604020202020204" pitchFamily="34" charset="0"/>
              </a:rPr>
              <a:t>+ </a:t>
            </a:r>
            <a:r>
              <a:rPr lang="en-US" dirty="0"/>
              <a:t>operator adds a text string to a number</a:t>
            </a:r>
          </a:p>
          <a:p>
            <a:r>
              <a:rPr lang="en-US" dirty="0"/>
              <a:t>For example,</a:t>
            </a:r>
          </a:p>
          <a:p>
            <a:pPr marL="463550" indent="0">
              <a:buNone/>
            </a:pPr>
            <a:r>
              <a:rPr lang="en-US" sz="2600" dirty="0">
                <a:latin typeface="Courier New" panose="02070309020205020404" pitchFamily="49" charset="0"/>
                <a:cs typeface="Courier New" panose="02070309020205020404" pitchFamily="49" charset="0"/>
              </a:rPr>
              <a:t>testNumber = 123; // numeric value</a:t>
            </a:r>
          </a:p>
          <a:p>
            <a:pPr marL="463550" indent="0">
              <a:buNone/>
            </a:pPr>
            <a:r>
              <a:rPr lang="en-US" sz="2600" dirty="0">
                <a:latin typeface="Courier New" panose="02070309020205020404" pitchFamily="49" charset="0"/>
                <a:cs typeface="Courier New" panose="02070309020205020404" pitchFamily="49" charset="0"/>
              </a:rPr>
              <a:t>testString = testNumber + “”; // text string</a:t>
            </a:r>
          </a:p>
          <a:p>
            <a:pPr marL="280988" indent="0">
              <a:buNone/>
            </a:pPr>
            <a:r>
              <a:rPr lang="en-US" sz="2800" dirty="0">
                <a:latin typeface="Arial" panose="020B0604020202020204" pitchFamily="34" charset="0"/>
                <a:cs typeface="Arial" panose="020B0604020202020204" pitchFamily="34" charset="0"/>
              </a:rPr>
              <a:t>where + operator </a:t>
            </a:r>
            <a:r>
              <a:rPr lang="en-US" sz="2800" dirty="0"/>
              <a:t>concatenates a numeric value with an empty text string resulting in a text string</a:t>
            </a:r>
          </a:p>
        </p:txBody>
      </p:sp>
    </p:spTree>
    <p:extLst>
      <p:ext uri="{BB962C8B-B14F-4D97-AF65-F5344CB8AC3E}">
        <p14:creationId xmlns:p14="http://schemas.microsoft.com/office/powerpoint/2010/main" val="28181774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Between Numbers and Text (continued 1)</a:t>
            </a:r>
          </a:p>
        </p:txBody>
      </p:sp>
      <p:sp>
        <p:nvSpPr>
          <p:cNvPr id="3" name="Text Placeholder 2"/>
          <p:cNvSpPr>
            <a:spLocks noGrp="1"/>
          </p:cNvSpPr>
          <p:nvPr>
            <p:ph type="body" sz="quarter" idx="17"/>
          </p:nvPr>
        </p:nvSpPr>
        <p:spPr/>
        <p:txBody>
          <a:bodyPr>
            <a:normAutofit/>
          </a:bodyPr>
          <a:lstStyle/>
          <a:p>
            <a:r>
              <a:rPr lang="en-US" dirty="0"/>
              <a:t>The </a:t>
            </a:r>
            <a:r>
              <a:rPr lang="en-US" sz="2600" dirty="0">
                <a:latin typeface="Courier New" panose="02070309020205020404" pitchFamily="49" charset="0"/>
                <a:cs typeface="Courier New" panose="02070309020205020404" pitchFamily="49" charset="0"/>
              </a:rPr>
              <a:t>parseInt()</a:t>
            </a:r>
            <a:r>
              <a:rPr lang="en-US" dirty="0">
                <a:latin typeface="Arial" panose="020B0604020202020204" pitchFamily="34" charset="0"/>
                <a:cs typeface="Arial" panose="020B0604020202020204" pitchFamily="34" charset="0"/>
              </a:rPr>
              <a:t> </a:t>
            </a:r>
            <a:r>
              <a:rPr lang="en-US" dirty="0"/>
              <a:t>function </a:t>
            </a:r>
            <a:r>
              <a:rPr lang="en-IN" dirty="0"/>
              <a:t>extracts the leading integer value from a text string </a:t>
            </a:r>
          </a:p>
          <a:p>
            <a:pPr lvl="1"/>
            <a:r>
              <a:rPr lang="en-IN" dirty="0"/>
              <a:t>Returns the integer value from the text string by discarding any non-integer characters</a:t>
            </a:r>
          </a:p>
          <a:p>
            <a:r>
              <a:rPr lang="en-US" dirty="0"/>
              <a:t>Example:</a:t>
            </a:r>
          </a:p>
          <a:p>
            <a:pPr marL="225425" indent="0">
              <a:buNone/>
            </a:pPr>
            <a:r>
              <a:rPr lang="en-US" sz="2600" dirty="0">
                <a:latin typeface="Courier New" panose="02070309020205020404" pitchFamily="49" charset="0"/>
                <a:cs typeface="Courier New" panose="02070309020205020404" pitchFamily="49" charset="0"/>
              </a:rPr>
              <a:t>parseInt(“120.88 lbs”); // returns 120</a:t>
            </a:r>
          </a:p>
          <a:p>
            <a:pPr marL="225425" indent="0">
              <a:buNone/>
            </a:pPr>
            <a:r>
              <a:rPr lang="en-US" sz="2600" dirty="0">
                <a:latin typeface="Courier New" panose="02070309020205020404" pitchFamily="49" charset="0"/>
                <a:cs typeface="Courier New" panose="02070309020205020404" pitchFamily="49" charset="0"/>
              </a:rPr>
              <a:t>parseInt(“weight equals 120 lbs”); // returns NaN</a:t>
            </a:r>
          </a:p>
        </p:txBody>
      </p:sp>
    </p:spTree>
    <p:extLst>
      <p:ext uri="{BB962C8B-B14F-4D97-AF65-F5344CB8AC3E}">
        <p14:creationId xmlns:p14="http://schemas.microsoft.com/office/powerpoint/2010/main" val="26292933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Converting Between Numbers and Text (continued 2)</a:t>
            </a:r>
          </a:p>
        </p:txBody>
      </p:sp>
      <p:graphicFrame>
        <p:nvGraphicFramePr>
          <p:cNvPr id="6" name="Table Placeholder 5"/>
          <p:cNvGraphicFramePr>
            <a:graphicFrameLocks noGrp="1"/>
          </p:cNvGraphicFramePr>
          <p:nvPr>
            <p:ph type="tbl" sz="quarter" idx="10"/>
            <p:extLst>
              <p:ext uri="{D42A27DB-BD31-4B8C-83A1-F6EECF244321}">
                <p14:modId xmlns:p14="http://schemas.microsoft.com/office/powerpoint/2010/main" val="3763188237"/>
              </p:ext>
            </p:extLst>
          </p:nvPr>
        </p:nvGraphicFramePr>
        <p:xfrm>
          <a:off x="511272" y="1728910"/>
          <a:ext cx="8121455" cy="4028440"/>
        </p:xfrm>
        <a:graphic>
          <a:graphicData uri="http://schemas.openxmlformats.org/drawingml/2006/table">
            <a:tbl>
              <a:tblPr firstRow="1"/>
              <a:tblGrid>
                <a:gridCol w="2879042">
                  <a:extLst>
                    <a:ext uri="{9D8B030D-6E8A-4147-A177-3AD203B41FA5}">
                      <a16:colId xmlns:a16="http://schemas.microsoft.com/office/drawing/2014/main" val="20000"/>
                    </a:ext>
                  </a:extLst>
                </a:gridCol>
                <a:gridCol w="5242413">
                  <a:extLst>
                    <a:ext uri="{9D8B030D-6E8A-4147-A177-3AD203B41FA5}">
                      <a16:colId xmlns:a16="http://schemas.microsoft.com/office/drawing/2014/main" val="20001"/>
                    </a:ext>
                  </a:extLst>
                </a:gridCol>
              </a:tblGrid>
              <a:tr h="319405">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Numerical Function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190500" marB="381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0"/>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isFinite(</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whether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finite and a real number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isNaN(</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Indicates whether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is a number</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parseFloat(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string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Extracts the first numeric value from the text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string</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marR="0">
                        <a:lnSpc>
                          <a:spcPct val="100000"/>
                        </a:lnSpc>
                        <a:spcBef>
                          <a:spcPts val="0"/>
                        </a:spcBef>
                        <a:spcAft>
                          <a:spcPts val="0"/>
                        </a:spcAft>
                      </a:pP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parseInt(</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string</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Extracts the first integer value from the text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string</a:t>
                      </a:r>
                      <a:endPar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9405">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Numerical Method</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76200" marR="76200" marT="50800" marB="508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tc>
                  <a:txBody>
                    <a:bodyPr/>
                    <a:lstStyle/>
                    <a:p>
                      <a:pPr marL="0" marR="0">
                        <a:lnSpc>
                          <a:spcPct val="100000"/>
                        </a:lnSpc>
                        <a:spcBef>
                          <a:spcPts val="0"/>
                        </a:spcBef>
                        <a:spcAft>
                          <a:spcPts val="0"/>
                        </a:spcAft>
                      </a:pPr>
                      <a:r>
                        <a:rPr lang="en-US"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Description</a:t>
                      </a:r>
                      <a:endParaRPr lang="en-US"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50800" marB="50800" anchor="b">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8A841"/>
                    </a:solidFill>
                  </a:tcPr>
                </a:tc>
                <a:extLst>
                  <a:ext uri="{0D108BD9-81ED-4DB2-BD59-A6C34878D82A}">
                    <a16:rowId xmlns:a16="http://schemas.microsoft.com/office/drawing/2014/main" val="10005"/>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.toExponential(</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a text string displaying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in exponential notation with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digits to the right of the decimal point</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.toFixed(</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a text string displaying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to </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decimal places</a:t>
                      </a: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marR="0">
                        <a:lnSpc>
                          <a:spcPct val="100000"/>
                        </a:lnSpc>
                        <a:spcBef>
                          <a:spcPts val="0"/>
                        </a:spcBef>
                        <a:spcAft>
                          <a:spcPts val="0"/>
                        </a:spcAft>
                      </a:pP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.toPrecision(</a:t>
                      </a:r>
                      <a:r>
                        <a:rPr lang="en-US" sz="1600" i="1"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a:t>
                      </a:r>
                    </a:p>
                  </a:txBody>
                  <a:tcPr marL="7620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tc>
                  <a:txBody>
                    <a:bodyPr/>
                    <a:lstStyle/>
                    <a:p>
                      <a:pPr marL="0" marR="0">
                        <a:lnSpc>
                          <a:spcPct val="100000"/>
                        </a:lnSpc>
                        <a:spcBef>
                          <a:spcPts val="0"/>
                        </a:spcBef>
                        <a:spcAft>
                          <a:spcPts val="0"/>
                        </a:spcAft>
                      </a:pP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Returns a text string displaying </a:t>
                      </a:r>
                      <a:r>
                        <a:rPr lang="en-US" sz="1600" i="1" spc="-1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value</a:t>
                      </a: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to </a:t>
                      </a:r>
                      <a:r>
                        <a:rPr lang="en-US" sz="1600" i="1" spc="-10" dirty="0">
                          <a:solidFill>
                            <a:srgbClr val="000000"/>
                          </a:solidFill>
                          <a:effectLst/>
                          <a:latin typeface="Courier New" panose="02070309020205020404" pitchFamily="49" charset="0"/>
                          <a:ea typeface="Times New Roman" panose="02020603050405020304" pitchFamily="18" charset="0"/>
                          <a:cs typeface="Courier New" panose="02070309020205020404" pitchFamily="49" charset="0"/>
                        </a:rPr>
                        <a:t>n</a:t>
                      </a:r>
                      <a:r>
                        <a:rPr lang="en-US" sz="1600" spc="-1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significant digits either to the left or to the right of the decimal point</a:t>
                      </a:r>
                      <a:endParaRPr lang="en-US"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endParaRPr>
                    </a:p>
                  </a:txBody>
                  <a:tcPr marL="0" marR="76200" marT="50800" marB="50800">
                    <a:lnL w="12700" cap="flat" cmpd="sng" algn="ctr">
                      <a:solidFill>
                        <a:srgbClr val="BFE2C9"/>
                      </a:solidFill>
                      <a:prstDash val="solid"/>
                      <a:round/>
                      <a:headEnd type="none" w="med" len="med"/>
                      <a:tailEnd type="none" w="med" len="med"/>
                    </a:lnL>
                    <a:lnR w="12700" cap="flat" cmpd="sng" algn="ctr">
                      <a:solidFill>
                        <a:srgbClr val="BFE2C9"/>
                      </a:solidFill>
                      <a:prstDash val="solid"/>
                      <a:round/>
                      <a:headEnd type="none" w="med" len="med"/>
                      <a:tailEnd type="none" w="med" len="med"/>
                    </a:lnR>
                    <a:lnT w="12700" cap="flat" cmpd="sng" algn="ctr">
                      <a:solidFill>
                        <a:srgbClr val="BFE2C9"/>
                      </a:solidFill>
                      <a:prstDash val="solid"/>
                      <a:round/>
                      <a:headEnd type="none" w="med" len="med"/>
                      <a:tailEnd type="none" w="med" len="med"/>
                    </a:lnT>
                    <a:lnB w="12700" cap="flat" cmpd="sng" algn="ctr">
                      <a:solidFill>
                        <a:srgbClr val="BFE2C9"/>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75495229"/>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Presentation1" id="{276F6C23-6457-4163-906F-9FD71B1D340C}" vid="{9A4A37B5-06EA-4573-8274-FD94E47E4E80}"/>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4063</Words>
  <Application>Microsoft Office PowerPoint</Application>
  <PresentationFormat>On-screen Show (4:3)</PresentationFormat>
  <Paragraphs>581</Paragraphs>
  <Slides>84</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84</vt:i4>
      </vt:variant>
    </vt:vector>
  </HeadingPairs>
  <TitlesOfParts>
    <vt:vector size="93" baseType="lpstr">
      <vt:lpstr>arial</vt:lpstr>
      <vt:lpstr>arial</vt:lpstr>
      <vt:lpstr>Courier New</vt:lpstr>
      <vt:lpstr>Helvetica</vt:lpstr>
      <vt:lpstr>LucidaGrande</vt:lpstr>
      <vt:lpstr>Open Sans</vt:lpstr>
      <vt:lpstr>Summer Font</vt:lpstr>
      <vt:lpstr>Times New Roman</vt:lpstr>
      <vt:lpstr>Office Theme</vt:lpstr>
      <vt:lpstr>Tutorial 09</vt:lpstr>
      <vt:lpstr>Objectives</vt:lpstr>
      <vt:lpstr>Objectives (continued)</vt:lpstr>
      <vt:lpstr>Server-Side and Client-Side Programming</vt:lpstr>
      <vt:lpstr>Server-Side and Client-Side Programming (continued 1)</vt:lpstr>
      <vt:lpstr>Server-Side and Client-Side Programming (continued 2)</vt:lpstr>
      <vt:lpstr>Server-Side and Client-Side Programming (continued 3)</vt:lpstr>
      <vt:lpstr>The Development of JavaScript</vt:lpstr>
      <vt:lpstr>Working with the script Element</vt:lpstr>
      <vt:lpstr>Loading the script Element</vt:lpstr>
      <vt:lpstr>Loading the script Element (continued)</vt:lpstr>
      <vt:lpstr>Inserting the script Element</vt:lpstr>
      <vt:lpstr>Adding Comments to your JavaScript Code</vt:lpstr>
      <vt:lpstr>Adding Comments to your JavaScript Code (continued 1)</vt:lpstr>
      <vt:lpstr>Adding Comments to your JavaScript Code (continued 2)</vt:lpstr>
      <vt:lpstr>Writing a JavaScript Command</vt:lpstr>
      <vt:lpstr>Writing a JavaScript Command (continued 1)</vt:lpstr>
      <vt:lpstr>Writing a JavaScript Command (continued 2)</vt:lpstr>
      <vt:lpstr>Understanding JavaScript Syntax</vt:lpstr>
      <vt:lpstr>Debugging Your Code</vt:lpstr>
      <vt:lpstr>Opening a Debugger</vt:lpstr>
      <vt:lpstr>Inserting a Breakpoint</vt:lpstr>
      <vt:lpstr>Inserting a Breakpoint (continued)</vt:lpstr>
      <vt:lpstr>Applying Strict Usage of JavaScript</vt:lpstr>
      <vt:lpstr>Introducing Objects</vt:lpstr>
      <vt:lpstr>Introducing Objects (continued 1)</vt:lpstr>
      <vt:lpstr>Introducing Objects (continued 2)</vt:lpstr>
      <vt:lpstr>Object References</vt:lpstr>
      <vt:lpstr>Referencing Object Collections</vt:lpstr>
      <vt:lpstr>Referencing Object Collections (continued)</vt:lpstr>
      <vt:lpstr>Referencing an Object by ID and Name</vt:lpstr>
      <vt:lpstr>Changing Properties and Applying Methods</vt:lpstr>
      <vt:lpstr>Object Properties</vt:lpstr>
      <vt:lpstr>Applying a Method</vt:lpstr>
      <vt:lpstr>Writing HTML Code</vt:lpstr>
      <vt:lpstr>Writing HTML Code (continued 1)</vt:lpstr>
      <vt:lpstr>Writing HTML Code (continued 2)</vt:lpstr>
      <vt:lpstr>Working with Variables</vt:lpstr>
      <vt:lpstr>Declaring a Variable</vt:lpstr>
      <vt:lpstr>Declaring a Variable (continued)</vt:lpstr>
      <vt:lpstr>Variables and Data Types</vt:lpstr>
      <vt:lpstr>Variables and Data Types (continued 1)</vt:lpstr>
      <vt:lpstr>Variables and Data Types (continued 2)</vt:lpstr>
      <vt:lpstr>Using a Variable</vt:lpstr>
      <vt:lpstr>Using a Variable (continued)</vt:lpstr>
      <vt:lpstr>Working with Date Objects</vt:lpstr>
      <vt:lpstr>Creating a Date Object</vt:lpstr>
      <vt:lpstr>Applying Date Methods</vt:lpstr>
      <vt:lpstr>Applying Date Methods (continued 1)</vt:lpstr>
      <vt:lpstr>Applying Date Methods (continued 2)</vt:lpstr>
      <vt:lpstr>Setting Date and Time Values</vt:lpstr>
      <vt:lpstr>Setting Date and Time Values (continued)</vt:lpstr>
      <vt:lpstr>Working with Operators and Operands</vt:lpstr>
      <vt:lpstr>Working with Operators and Operands (continued 1)</vt:lpstr>
      <vt:lpstr>Working with Operators and Operands (continued 2)</vt:lpstr>
      <vt:lpstr>Using Assignment Operators</vt:lpstr>
      <vt:lpstr>Using Assignment Operators (continued)</vt:lpstr>
      <vt:lpstr>Working with the Math Object</vt:lpstr>
      <vt:lpstr>Working with the Math Object (continued 1)</vt:lpstr>
      <vt:lpstr>Working with the Math Object (continued 2)</vt:lpstr>
      <vt:lpstr>Working with the Math Object (continued 3)</vt:lpstr>
      <vt:lpstr>Working with the Math Object (continued 4)</vt:lpstr>
      <vt:lpstr>Using Math Constants</vt:lpstr>
      <vt:lpstr>Using Math Constants (continued)</vt:lpstr>
      <vt:lpstr>Working with JavaScript Functions</vt:lpstr>
      <vt:lpstr>Working with JavaScript Functions (continued)</vt:lpstr>
      <vt:lpstr>Calling a Function</vt:lpstr>
      <vt:lpstr>Calling a Function (continued)</vt:lpstr>
      <vt:lpstr>Creating a Function to Return a Value</vt:lpstr>
      <vt:lpstr>Running Timed Commands</vt:lpstr>
      <vt:lpstr>Working with Time-Delayed Commands</vt:lpstr>
      <vt:lpstr>Working with Time-Delayed Commands (continued)</vt:lpstr>
      <vt:lpstr>Running Commands at Specified Intervals</vt:lpstr>
      <vt:lpstr>Running Commands at Specified Intervals (continued 1)</vt:lpstr>
      <vt:lpstr>Running Commands at Specified Intervals (continued 2)</vt:lpstr>
      <vt:lpstr>Handling Illegal Operations</vt:lpstr>
      <vt:lpstr>Handling Illegal Operations (continued 1)</vt:lpstr>
      <vt:lpstr>Handling Illegal Operations (continued 2)</vt:lpstr>
      <vt:lpstr>Handling Illegal Operations (continued 3)</vt:lpstr>
      <vt:lpstr>Defining a Number Format</vt:lpstr>
      <vt:lpstr>Defining a Number Format (continued)</vt:lpstr>
      <vt:lpstr>Converting Between Numbers and Text</vt:lpstr>
      <vt:lpstr>Converting Between Numbers and Text (continued 1)</vt:lpstr>
      <vt:lpstr>Converting Between Numbers and Text (continued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2019-11-07T19:31:34Z</dcterms:modified>
</cp:coreProperties>
</file>