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700" r:id="rId1"/>
  </p:sldMasterIdLst>
  <p:notesMasterIdLst>
    <p:notesMasterId r:id="rId81"/>
  </p:notesMasterIdLst>
  <p:handoutMasterIdLst>
    <p:handoutMasterId r:id="rId82"/>
  </p:handoutMasterIdLst>
  <p:sldIdLst>
    <p:sldId id="258" r:id="rId2"/>
    <p:sldId id="309" r:id="rId3"/>
    <p:sldId id="383" r:id="rId4"/>
    <p:sldId id="448" r:id="rId5"/>
    <p:sldId id="449" r:id="rId6"/>
    <p:sldId id="450" r:id="rId7"/>
    <p:sldId id="451" r:id="rId8"/>
    <p:sldId id="452" r:id="rId9"/>
    <p:sldId id="453" r:id="rId10"/>
    <p:sldId id="454" r:id="rId11"/>
    <p:sldId id="455" r:id="rId12"/>
    <p:sldId id="456" r:id="rId13"/>
    <p:sldId id="457" r:id="rId14"/>
    <p:sldId id="458" r:id="rId15"/>
    <p:sldId id="461" r:id="rId16"/>
    <p:sldId id="459" r:id="rId17"/>
    <p:sldId id="462" r:id="rId18"/>
    <p:sldId id="463" r:id="rId19"/>
    <p:sldId id="464" r:id="rId20"/>
    <p:sldId id="465" r:id="rId21"/>
    <p:sldId id="466" r:id="rId22"/>
    <p:sldId id="467" r:id="rId23"/>
    <p:sldId id="468" r:id="rId24"/>
    <p:sldId id="469" r:id="rId25"/>
    <p:sldId id="470" r:id="rId26"/>
    <p:sldId id="471" r:id="rId27"/>
    <p:sldId id="472" r:id="rId28"/>
    <p:sldId id="473" r:id="rId29"/>
    <p:sldId id="474" r:id="rId30"/>
    <p:sldId id="475" r:id="rId31"/>
    <p:sldId id="476" r:id="rId32"/>
    <p:sldId id="477" r:id="rId33"/>
    <p:sldId id="480" r:id="rId34"/>
    <p:sldId id="478" r:id="rId35"/>
    <p:sldId id="479" r:id="rId36"/>
    <p:sldId id="481" r:id="rId37"/>
    <p:sldId id="482" r:id="rId38"/>
    <p:sldId id="483" r:id="rId39"/>
    <p:sldId id="484" r:id="rId40"/>
    <p:sldId id="485" r:id="rId41"/>
    <p:sldId id="486" r:id="rId42"/>
    <p:sldId id="487" r:id="rId43"/>
    <p:sldId id="488" r:id="rId44"/>
    <p:sldId id="489" r:id="rId45"/>
    <p:sldId id="490" r:id="rId46"/>
    <p:sldId id="491" r:id="rId47"/>
    <p:sldId id="492" r:id="rId48"/>
    <p:sldId id="493" r:id="rId49"/>
    <p:sldId id="498" r:id="rId50"/>
    <p:sldId id="499" r:id="rId51"/>
    <p:sldId id="500" r:id="rId52"/>
    <p:sldId id="497" r:id="rId53"/>
    <p:sldId id="501" r:id="rId54"/>
    <p:sldId id="502" r:id="rId55"/>
    <p:sldId id="503" r:id="rId56"/>
    <p:sldId id="504" r:id="rId57"/>
    <p:sldId id="505" r:id="rId58"/>
    <p:sldId id="508" r:id="rId59"/>
    <p:sldId id="509" r:id="rId60"/>
    <p:sldId id="510" r:id="rId61"/>
    <p:sldId id="511" r:id="rId62"/>
    <p:sldId id="512" r:id="rId63"/>
    <p:sldId id="513" r:id="rId64"/>
    <p:sldId id="514" r:id="rId65"/>
    <p:sldId id="515" r:id="rId66"/>
    <p:sldId id="517" r:id="rId67"/>
    <p:sldId id="518" r:id="rId68"/>
    <p:sldId id="519" r:id="rId69"/>
    <p:sldId id="520" r:id="rId70"/>
    <p:sldId id="521" r:id="rId71"/>
    <p:sldId id="522" r:id="rId72"/>
    <p:sldId id="523" r:id="rId73"/>
    <p:sldId id="525" r:id="rId74"/>
    <p:sldId id="526" r:id="rId75"/>
    <p:sldId id="524" r:id="rId76"/>
    <p:sldId id="527" r:id="rId77"/>
    <p:sldId id="528" r:id="rId78"/>
    <p:sldId id="529" r:id="rId79"/>
    <p:sldId id="531" r:id="rId80"/>
  </p:sldIdLst>
  <p:sldSz cx="9144000" cy="6858000" type="screen4x3"/>
  <p:notesSz cx="7077075" cy="9363075"/>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Arial" charset="0"/>
      </a:defRPr>
    </a:lvl1pPr>
    <a:lvl2pPr marL="457200" algn="l" rtl="0" fontAlgn="base">
      <a:spcBef>
        <a:spcPct val="0"/>
      </a:spcBef>
      <a:spcAft>
        <a:spcPct val="0"/>
      </a:spcAft>
      <a:defRPr sz="2400" kern="1200">
        <a:solidFill>
          <a:schemeClr val="tx1"/>
        </a:solidFill>
        <a:latin typeface="Times New Roman" pitchFamily="18" charset="0"/>
        <a:ea typeface="+mn-ea"/>
        <a:cs typeface="Arial" charset="0"/>
      </a:defRPr>
    </a:lvl2pPr>
    <a:lvl3pPr marL="914400" algn="l" rtl="0" fontAlgn="base">
      <a:spcBef>
        <a:spcPct val="0"/>
      </a:spcBef>
      <a:spcAft>
        <a:spcPct val="0"/>
      </a:spcAft>
      <a:defRPr sz="2400" kern="1200">
        <a:solidFill>
          <a:schemeClr val="tx1"/>
        </a:solidFill>
        <a:latin typeface="Times New Roman" pitchFamily="18" charset="0"/>
        <a:ea typeface="+mn-ea"/>
        <a:cs typeface="Arial" charset="0"/>
      </a:defRPr>
    </a:lvl3pPr>
    <a:lvl4pPr marL="1371600" algn="l" rtl="0" fontAlgn="base">
      <a:spcBef>
        <a:spcPct val="0"/>
      </a:spcBef>
      <a:spcAft>
        <a:spcPct val="0"/>
      </a:spcAft>
      <a:defRPr sz="2400" kern="1200">
        <a:solidFill>
          <a:schemeClr val="tx1"/>
        </a:solidFill>
        <a:latin typeface="Times New Roman" pitchFamily="18" charset="0"/>
        <a:ea typeface="+mn-ea"/>
        <a:cs typeface="Arial" charset="0"/>
      </a:defRPr>
    </a:lvl4pPr>
    <a:lvl5pPr marL="1828800" algn="l" rtl="0" fontAlgn="base">
      <a:spcBef>
        <a:spcPct val="0"/>
      </a:spcBef>
      <a:spcAft>
        <a:spcPct val="0"/>
      </a:spcAft>
      <a:defRPr sz="2400" kern="1200">
        <a:solidFill>
          <a:schemeClr val="tx1"/>
        </a:solidFill>
        <a:latin typeface="Times New Roman" pitchFamily="18" charset="0"/>
        <a:ea typeface="+mn-ea"/>
        <a:cs typeface="Arial" charset="0"/>
      </a:defRPr>
    </a:lvl5pPr>
    <a:lvl6pPr marL="2286000" algn="l" defTabSz="914400" rtl="0" eaLnBrk="1" latinLnBrk="0" hangingPunct="1">
      <a:defRPr sz="2400" kern="1200">
        <a:solidFill>
          <a:schemeClr val="tx1"/>
        </a:solidFill>
        <a:latin typeface="Times New Roman" pitchFamily="18" charset="0"/>
        <a:ea typeface="+mn-ea"/>
        <a:cs typeface="Arial" charset="0"/>
      </a:defRPr>
    </a:lvl6pPr>
    <a:lvl7pPr marL="2743200" algn="l" defTabSz="914400" rtl="0" eaLnBrk="1" latinLnBrk="0" hangingPunct="1">
      <a:defRPr sz="2400" kern="1200">
        <a:solidFill>
          <a:schemeClr val="tx1"/>
        </a:solidFill>
        <a:latin typeface="Times New Roman" pitchFamily="18" charset="0"/>
        <a:ea typeface="+mn-ea"/>
        <a:cs typeface="Arial" charset="0"/>
      </a:defRPr>
    </a:lvl7pPr>
    <a:lvl8pPr marL="3200400" algn="l" defTabSz="914400" rtl="0" eaLnBrk="1" latinLnBrk="0" hangingPunct="1">
      <a:defRPr sz="2400" kern="1200">
        <a:solidFill>
          <a:schemeClr val="tx1"/>
        </a:solidFill>
        <a:latin typeface="Times New Roman" pitchFamily="18" charset="0"/>
        <a:ea typeface="+mn-ea"/>
        <a:cs typeface="Arial" charset="0"/>
      </a:defRPr>
    </a:lvl8pPr>
    <a:lvl9pPr marL="3657600" algn="l" defTabSz="914400" rtl="0" eaLnBrk="1" latinLnBrk="0" hangingPunct="1">
      <a:defRPr sz="2400" kern="1200">
        <a:solidFill>
          <a:schemeClr val="tx1"/>
        </a:solidFill>
        <a:latin typeface="Times New Roman" pitchFamily="18"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00"/>
    <a:srgbClr val="990033"/>
    <a:srgbClr val="CC0000"/>
    <a:srgbClr val="FFFFFF"/>
    <a:srgbClr val="EAEAEA"/>
    <a:srgbClr val="7777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099" autoAdjust="0"/>
    <p:restoredTop sz="94200" autoAdjust="0"/>
  </p:normalViewPr>
  <p:slideViewPr>
    <p:cSldViewPr snapToGrid="0">
      <p:cViewPr varScale="1">
        <p:scale>
          <a:sx n="65" d="100"/>
          <a:sy n="65" d="100"/>
        </p:scale>
        <p:origin x="1224" y="5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56" d="100"/>
        <a:sy n="156" d="100"/>
      </p:scale>
      <p:origin x="0" y="-36792"/>
    </p:cViewPr>
  </p:sorterViewPr>
  <p:notesViewPr>
    <p:cSldViewPr snapToGrid="0">
      <p:cViewPr varScale="1">
        <p:scale>
          <a:sx n="54" d="100"/>
          <a:sy n="54" d="100"/>
        </p:scale>
        <p:origin x="2784" y="7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66733" cy="469780"/>
          </a:xfrm>
          <a:prstGeom prst="rect">
            <a:avLst/>
          </a:prstGeom>
        </p:spPr>
        <p:txBody>
          <a:bodyPr vert="horz" lIns="93936" tIns="46968" rIns="93936" bIns="46968" rtlCol="0"/>
          <a:lstStyle>
            <a:lvl1pPr algn="l">
              <a:defRPr sz="1200"/>
            </a:lvl1pPr>
          </a:lstStyle>
          <a:p>
            <a:endParaRPr lang="en-US" dirty="0"/>
          </a:p>
        </p:txBody>
      </p:sp>
      <p:sp>
        <p:nvSpPr>
          <p:cNvPr id="3" name="Date Placeholder 2"/>
          <p:cNvSpPr>
            <a:spLocks noGrp="1"/>
          </p:cNvSpPr>
          <p:nvPr>
            <p:ph type="dt" sz="quarter" idx="1"/>
          </p:nvPr>
        </p:nvSpPr>
        <p:spPr>
          <a:xfrm>
            <a:off x="4008705" y="0"/>
            <a:ext cx="3066733" cy="469780"/>
          </a:xfrm>
          <a:prstGeom prst="rect">
            <a:avLst/>
          </a:prstGeom>
        </p:spPr>
        <p:txBody>
          <a:bodyPr vert="horz" lIns="93936" tIns="46968" rIns="93936" bIns="46968" rtlCol="0"/>
          <a:lstStyle>
            <a:lvl1pPr algn="r">
              <a:defRPr sz="1200"/>
            </a:lvl1pPr>
          </a:lstStyle>
          <a:p>
            <a:fld id="{F828C31B-4A29-4AC7-BA5D-4D38F35C35BF}" type="datetimeFigureOut">
              <a:rPr lang="en-US" smtClean="0"/>
              <a:t>11/7/2019</a:t>
            </a:fld>
            <a:endParaRPr lang="en-US" dirty="0"/>
          </a:p>
        </p:txBody>
      </p:sp>
      <p:sp>
        <p:nvSpPr>
          <p:cNvPr id="4" name="Footer Placeholder 3"/>
          <p:cNvSpPr>
            <a:spLocks noGrp="1"/>
          </p:cNvSpPr>
          <p:nvPr>
            <p:ph type="ftr" sz="quarter" idx="2"/>
          </p:nvPr>
        </p:nvSpPr>
        <p:spPr>
          <a:xfrm>
            <a:off x="0" y="8893297"/>
            <a:ext cx="3066733" cy="469779"/>
          </a:xfrm>
          <a:prstGeom prst="rect">
            <a:avLst/>
          </a:prstGeom>
        </p:spPr>
        <p:txBody>
          <a:bodyPr vert="horz" lIns="93936" tIns="46968" rIns="93936" bIns="46968" rtlCol="0" anchor="b"/>
          <a:lstStyle>
            <a:lvl1pPr algn="l">
              <a:defRPr sz="1200"/>
            </a:lvl1pPr>
          </a:lstStyle>
          <a:p>
            <a:endParaRPr lang="en-US" dirty="0"/>
          </a:p>
        </p:txBody>
      </p:sp>
      <p:sp>
        <p:nvSpPr>
          <p:cNvPr id="5" name="Slide Number Placeholder 4"/>
          <p:cNvSpPr>
            <a:spLocks noGrp="1"/>
          </p:cNvSpPr>
          <p:nvPr>
            <p:ph type="sldNum" sz="quarter" idx="3"/>
          </p:nvPr>
        </p:nvSpPr>
        <p:spPr>
          <a:xfrm>
            <a:off x="4008705" y="8893297"/>
            <a:ext cx="3066733" cy="469779"/>
          </a:xfrm>
          <a:prstGeom prst="rect">
            <a:avLst/>
          </a:prstGeom>
        </p:spPr>
        <p:txBody>
          <a:bodyPr vert="horz" lIns="93936" tIns="46968" rIns="93936" bIns="46968" rtlCol="0" anchor="b"/>
          <a:lstStyle>
            <a:lvl1pPr algn="r">
              <a:defRPr sz="1200"/>
            </a:lvl1pPr>
          </a:lstStyle>
          <a:p>
            <a:fld id="{0737FAA5-A42F-4054-87F6-0DE43D98B245}" type="slidenum">
              <a:rPr lang="en-US" smtClean="0"/>
              <a:t>‹#›</a:t>
            </a:fld>
            <a:endParaRPr lang="en-US" dirty="0"/>
          </a:p>
        </p:txBody>
      </p:sp>
    </p:spTree>
    <p:extLst>
      <p:ext uri="{BB962C8B-B14F-4D97-AF65-F5344CB8AC3E}">
        <p14:creationId xmlns:p14="http://schemas.microsoft.com/office/powerpoint/2010/main" val="21093490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66733" cy="46815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lvl1pPr>
              <a:defRPr sz="1200">
                <a:cs typeface="+mn-cs"/>
              </a:defRPr>
            </a:lvl1pPr>
          </a:lstStyle>
          <a:p>
            <a:pPr>
              <a:defRPr/>
            </a:pPr>
            <a:endParaRPr lang="en-US" dirty="0"/>
          </a:p>
        </p:txBody>
      </p:sp>
      <p:sp>
        <p:nvSpPr>
          <p:cNvPr id="4099" name="Rectangle 3"/>
          <p:cNvSpPr>
            <a:spLocks noGrp="1" noChangeArrowheads="1"/>
          </p:cNvSpPr>
          <p:nvPr>
            <p:ph type="dt" idx="1"/>
          </p:nvPr>
        </p:nvSpPr>
        <p:spPr bwMode="auto">
          <a:xfrm>
            <a:off x="4008705" y="0"/>
            <a:ext cx="3066733" cy="46815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lvl1pPr algn="r">
              <a:defRPr sz="1200">
                <a:cs typeface="+mn-cs"/>
              </a:defRPr>
            </a:lvl1pPr>
          </a:lstStyle>
          <a:p>
            <a:pPr>
              <a:defRPr/>
            </a:pPr>
            <a:endParaRPr lang="en-US" dirty="0"/>
          </a:p>
        </p:txBody>
      </p:sp>
      <p:sp>
        <p:nvSpPr>
          <p:cNvPr id="25604" name="Rectangle 4"/>
          <p:cNvSpPr>
            <a:spLocks noGrp="1" noRot="1" noChangeAspect="1" noChangeArrowheads="1" noTextEdit="1"/>
          </p:cNvSpPr>
          <p:nvPr>
            <p:ph type="sldImg" idx="2"/>
          </p:nvPr>
        </p:nvSpPr>
        <p:spPr bwMode="auto">
          <a:xfrm>
            <a:off x="1196975" y="701675"/>
            <a:ext cx="4683125" cy="35115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707708" y="4447461"/>
            <a:ext cx="5661660" cy="421338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893296"/>
            <a:ext cx="3066733" cy="468154"/>
          </a:xfrm>
          <a:prstGeom prst="rect">
            <a:avLst/>
          </a:prstGeom>
          <a:noFill/>
          <a:ln w="9525">
            <a:noFill/>
            <a:miter lim="800000"/>
            <a:headEnd/>
            <a:tailEnd/>
          </a:ln>
          <a:effectLst/>
        </p:spPr>
        <p:txBody>
          <a:bodyPr vert="horz" wrap="square" lIns="93936" tIns="46968" rIns="93936" bIns="46968" numCol="1" anchor="b" anchorCtr="0" compatLnSpc="1">
            <a:prstTxWarp prst="textNoShape">
              <a:avLst/>
            </a:prstTxWarp>
          </a:bodyPr>
          <a:lstStyle>
            <a:lvl1pPr>
              <a:defRPr sz="1200">
                <a:cs typeface="+mn-cs"/>
              </a:defRPr>
            </a:lvl1pPr>
          </a:lstStyle>
          <a:p>
            <a:pPr>
              <a:defRPr/>
            </a:pPr>
            <a:endParaRPr lang="en-US" dirty="0"/>
          </a:p>
        </p:txBody>
      </p:sp>
      <p:sp>
        <p:nvSpPr>
          <p:cNvPr id="4103" name="Rectangle 7"/>
          <p:cNvSpPr>
            <a:spLocks noGrp="1" noChangeArrowheads="1"/>
          </p:cNvSpPr>
          <p:nvPr>
            <p:ph type="sldNum" sz="quarter" idx="5"/>
          </p:nvPr>
        </p:nvSpPr>
        <p:spPr bwMode="auto">
          <a:xfrm>
            <a:off x="4008705" y="8893296"/>
            <a:ext cx="3066733" cy="468154"/>
          </a:xfrm>
          <a:prstGeom prst="rect">
            <a:avLst/>
          </a:prstGeom>
          <a:noFill/>
          <a:ln w="9525">
            <a:noFill/>
            <a:miter lim="800000"/>
            <a:headEnd/>
            <a:tailEnd/>
          </a:ln>
          <a:effectLst/>
        </p:spPr>
        <p:txBody>
          <a:bodyPr vert="horz" wrap="square" lIns="93936" tIns="46968" rIns="93936" bIns="46968" numCol="1" anchor="b" anchorCtr="0" compatLnSpc="1">
            <a:prstTxWarp prst="textNoShape">
              <a:avLst/>
            </a:prstTxWarp>
          </a:bodyPr>
          <a:lstStyle>
            <a:lvl1pPr algn="r">
              <a:defRPr sz="1200">
                <a:cs typeface="+mn-cs"/>
              </a:defRPr>
            </a:lvl1pPr>
          </a:lstStyle>
          <a:p>
            <a:pPr>
              <a:defRPr/>
            </a:pPr>
            <a:fld id="{B8FD0BC6-8D0F-4AA6-92ED-A084BB254BA3}" type="slidenum">
              <a:rPr lang="en-US"/>
              <a:pPr>
                <a:defRPr/>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144" y="16"/>
            <a:ext cx="9143855" cy="6865874"/>
          </a:xfrm>
          <a:prstGeom prst="rect">
            <a:avLst/>
          </a:prstGeom>
        </p:spPr>
      </p:pic>
      <p:sp>
        <p:nvSpPr>
          <p:cNvPr id="2" name="Title 1"/>
          <p:cNvSpPr>
            <a:spLocks noGrp="1"/>
          </p:cNvSpPr>
          <p:nvPr>
            <p:ph type="title"/>
          </p:nvPr>
        </p:nvSpPr>
        <p:spPr>
          <a:xfrm>
            <a:off x="628650" y="2291187"/>
            <a:ext cx="7886700" cy="684026"/>
          </a:xfrm>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sz="quarter" idx="10" hasCustomPrompt="1"/>
          </p:nvPr>
        </p:nvSpPr>
        <p:spPr>
          <a:xfrm>
            <a:off x="3650456" y="3619986"/>
            <a:ext cx="1843088" cy="597477"/>
          </a:xfrm>
        </p:spPr>
        <p:txBody>
          <a:bodyPr>
            <a:normAutofit/>
          </a:bodyPr>
          <a:lstStyle>
            <a:lvl1pPr marL="0" indent="0" algn="ctr">
              <a:buNone/>
              <a:defRPr sz="15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1722668" y="6375089"/>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01151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Unit Slide">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144" y="16"/>
            <a:ext cx="9143855" cy="6865874"/>
          </a:xfrm>
          <a:prstGeom prst="rect">
            <a:avLst/>
          </a:prstGeom>
        </p:spPr>
      </p:pic>
      <p:sp>
        <p:nvSpPr>
          <p:cNvPr id="6" name="Text Placeholder 5"/>
          <p:cNvSpPr>
            <a:spLocks noGrp="1"/>
          </p:cNvSpPr>
          <p:nvPr>
            <p:ph type="body" sz="quarter" idx="11" hasCustomPrompt="1"/>
          </p:nvPr>
        </p:nvSpPr>
        <p:spPr>
          <a:xfrm>
            <a:off x="955931" y="2193424"/>
            <a:ext cx="7232139"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628650" y="3096123"/>
            <a:ext cx="7886700" cy="672105"/>
          </a:xfrm>
        </p:spPr>
        <p:txBody>
          <a:bodyPr/>
          <a:lstStyle>
            <a:lvl1pPr>
              <a:defRPr sz="3400">
                <a:solidFill>
                  <a:schemeClr val="bg1"/>
                </a:solidFill>
              </a:defRPr>
            </a:lvl1pPr>
          </a:lstStyle>
          <a:p>
            <a:r>
              <a:rPr lang="en-US" dirty="0"/>
              <a:t>Click to edit Master title style</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1721231" y="6375089"/>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292457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apter Slide">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4" y="16"/>
            <a:ext cx="9143855" cy="6865874"/>
          </a:xfrm>
          <a:prstGeom prst="rect">
            <a:avLst/>
          </a:prstGeom>
        </p:spPr>
      </p:pic>
      <p:sp>
        <p:nvSpPr>
          <p:cNvPr id="6" name="Text Placeholder 5"/>
          <p:cNvSpPr>
            <a:spLocks noGrp="1"/>
          </p:cNvSpPr>
          <p:nvPr>
            <p:ph type="body" sz="quarter" idx="11" hasCustomPrompt="1"/>
          </p:nvPr>
        </p:nvSpPr>
        <p:spPr>
          <a:xfrm>
            <a:off x="2997682" y="3112899"/>
            <a:ext cx="2473070" cy="618014"/>
          </a:xfrm>
        </p:spPr>
        <p:txBody>
          <a:bodyPr anchor="b">
            <a:noAutofit/>
          </a:bodyPr>
          <a:lstStyle>
            <a:lvl1pPr marL="0" indent="0" algn="l">
              <a:buNone/>
              <a:defRPr sz="2700" b="0" i="0">
                <a:solidFill>
                  <a:schemeClr val="bg1"/>
                </a:solidFill>
                <a:latin typeface="Arial" charset="0"/>
                <a:ea typeface="Arial" charset="0"/>
                <a:cs typeface="Arial"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Chapter 1</a:t>
            </a:r>
          </a:p>
        </p:txBody>
      </p:sp>
      <p:sp>
        <p:nvSpPr>
          <p:cNvPr id="5" name="Title 4"/>
          <p:cNvSpPr>
            <a:spLocks noGrp="1"/>
          </p:cNvSpPr>
          <p:nvPr>
            <p:ph type="title"/>
          </p:nvPr>
        </p:nvSpPr>
        <p:spPr>
          <a:xfrm>
            <a:off x="2997683" y="4035475"/>
            <a:ext cx="4802013" cy="672105"/>
          </a:xfrm>
        </p:spPr>
        <p:txBody>
          <a:bodyPr/>
          <a:lstStyle>
            <a:lvl1pPr algn="l">
              <a:defRPr>
                <a:solidFill>
                  <a:schemeClr val="bg1"/>
                </a:solidFill>
              </a:defRPr>
            </a:lvl1pPr>
          </a:lstStyle>
          <a:p>
            <a:r>
              <a:rPr lang="en-US"/>
              <a:t>Click to edit Master title style</a:t>
            </a:r>
            <a:endParaRPr lang="en-US" dirty="0"/>
          </a:p>
        </p:txBody>
      </p:sp>
      <p:sp>
        <p:nvSpPr>
          <p:cNvPr id="9" name="Picture Placeholder 8"/>
          <p:cNvSpPr>
            <a:spLocks noGrp="1"/>
          </p:cNvSpPr>
          <p:nvPr>
            <p:ph type="pic" sz="quarter" idx="12"/>
          </p:nvPr>
        </p:nvSpPr>
        <p:spPr>
          <a:xfrm>
            <a:off x="184548" y="314482"/>
            <a:ext cx="2507456" cy="4318000"/>
          </a:xfrm>
        </p:spPr>
        <p:txBody>
          <a:bodyPr/>
          <a:lstStyle/>
          <a:p>
            <a:r>
              <a:rPr lang="en-US" dirty="0"/>
              <a:t>Click icon to add picture</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1728837" y="6356350"/>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415448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6" name="Text Placeholder 5"/>
          <p:cNvSpPr>
            <a:spLocks noGrp="1"/>
          </p:cNvSpPr>
          <p:nvPr>
            <p:ph type="body" sz="quarter" idx="15" hasCustomPrompt="1"/>
          </p:nvPr>
        </p:nvSpPr>
        <p:spPr>
          <a:xfrm>
            <a:off x="557683" y="1289684"/>
            <a:ext cx="8033657" cy="3732692"/>
          </a:xfrm>
        </p:spPr>
        <p:txBody>
          <a:bodyPr>
            <a:noAutofit/>
          </a:bodyPr>
          <a:lstStyle>
            <a:lvl1pPr marL="0" indent="0" algn="l">
              <a:buNone/>
              <a:defRPr sz="32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a:t>
            </a:r>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1785280" y="6365707"/>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814119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557681" y="1290691"/>
            <a:ext cx="8033657" cy="348047"/>
          </a:xfrm>
        </p:spPr>
        <p:txBody>
          <a:bodyPr>
            <a:noAutofit/>
          </a:bodyPr>
          <a:lstStyle>
            <a:lvl1pPr marL="0" indent="0" algn="l">
              <a:buNone/>
              <a:defRPr sz="18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557680" y="1737343"/>
            <a:ext cx="8033657" cy="1462674"/>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557680" y="3389728"/>
            <a:ext cx="8033657" cy="348047"/>
          </a:xfrm>
        </p:spPr>
        <p:txBody>
          <a:bodyPr>
            <a:noAutofit/>
          </a:bodyPr>
          <a:lstStyle>
            <a:lvl1pPr marL="0" indent="0" algn="l">
              <a:buNone/>
              <a:defRPr sz="18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557680" y="3856204"/>
            <a:ext cx="8033657" cy="1462674"/>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523130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557682" y="1655961"/>
            <a:ext cx="3813351" cy="415498"/>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557682" y="2202774"/>
            <a:ext cx="3813351" cy="3953578"/>
          </a:xfrm>
        </p:spPr>
        <p:txBody>
          <a:bodyPr>
            <a:normAutofit/>
          </a:bodyPr>
          <a:lstStyle>
            <a:lvl1pPr marL="171450" indent="-171450">
              <a:buClr>
                <a:srgbClr val="004A78"/>
              </a:buClr>
              <a:buFont typeface="Arial" charset="0"/>
              <a:buChar char="•"/>
              <a:defRPr sz="1350">
                <a:solidFill>
                  <a:srgbClr val="000000"/>
                </a:solidFill>
              </a:defRPr>
            </a:lvl1pPr>
            <a:lvl2pPr marL="514350" indent="-171450">
              <a:buClr>
                <a:srgbClr val="004A78"/>
              </a:buClr>
              <a:buFont typeface="Arial" charset="0"/>
              <a:buChar char="•"/>
              <a:defRPr sz="1350">
                <a:solidFill>
                  <a:srgbClr val="000000"/>
                </a:solidFill>
              </a:defRPr>
            </a:lvl2pPr>
            <a:lvl3pPr marL="857250" indent="-171450">
              <a:buClr>
                <a:srgbClr val="004A78"/>
              </a:buClr>
              <a:buFont typeface="Arial" charset="0"/>
              <a:buChar char="•"/>
              <a:defRPr sz="1350">
                <a:solidFill>
                  <a:srgbClr val="000000"/>
                </a:solidFill>
              </a:defRPr>
            </a:lvl3pPr>
            <a:lvl4pPr marL="1200150" indent="-171450">
              <a:buClr>
                <a:srgbClr val="004A78"/>
              </a:buClr>
              <a:buFont typeface="Arial" charset="0"/>
              <a:buChar char="•"/>
              <a:defRPr sz="1350">
                <a:solidFill>
                  <a:srgbClr val="000000"/>
                </a:solidFill>
              </a:defRPr>
            </a:lvl4pPr>
            <a:lvl5pPr marL="1543050" indent="-171450">
              <a:buClr>
                <a:srgbClr val="004A78"/>
              </a:buClr>
              <a:buFont typeface="Arial" charset="0"/>
              <a:buChar char="•"/>
              <a:defRPr sz="135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2" name="Content Placeholder 2"/>
          <p:cNvSpPr>
            <a:spLocks noGrp="1"/>
          </p:cNvSpPr>
          <p:nvPr>
            <p:ph idx="20"/>
          </p:nvPr>
        </p:nvSpPr>
        <p:spPr>
          <a:xfrm>
            <a:off x="4777988" y="1655961"/>
            <a:ext cx="3813351" cy="415498"/>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4777988" y="2202774"/>
            <a:ext cx="3813351" cy="3953578"/>
          </a:xfrm>
        </p:spPr>
        <p:txBody>
          <a:bodyPr>
            <a:normAutofit/>
          </a:bodyPr>
          <a:lstStyle>
            <a:lvl1pPr>
              <a:buClr>
                <a:srgbClr val="004A78"/>
              </a:buClr>
              <a:defRPr sz="1350">
                <a:solidFill>
                  <a:srgbClr val="000000"/>
                </a:solidFill>
              </a:defRPr>
            </a:lvl1pPr>
            <a:lvl2pPr marL="514350" indent="-171450">
              <a:buClr>
                <a:srgbClr val="004A78"/>
              </a:buClr>
              <a:buFontTx/>
              <a:buChar char="‒"/>
              <a:defRPr sz="1350">
                <a:solidFill>
                  <a:srgbClr val="000000"/>
                </a:solidFill>
              </a:defRPr>
            </a:lvl2pPr>
            <a:lvl3pPr>
              <a:buClr>
                <a:srgbClr val="004A78"/>
              </a:buClr>
              <a:defRPr sz="1350">
                <a:solidFill>
                  <a:srgbClr val="000000"/>
                </a:solidFill>
              </a:defRPr>
            </a:lvl3pPr>
            <a:lvl4pPr>
              <a:buClr>
                <a:srgbClr val="004A78"/>
              </a:buClr>
              <a:defRPr sz="1350">
                <a:solidFill>
                  <a:srgbClr val="000000"/>
                </a:solidFill>
              </a:defRPr>
            </a:lvl4pPr>
            <a:lvl5pPr>
              <a:buClr>
                <a:srgbClr val="004A78"/>
              </a:buClr>
              <a:defRPr sz="135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8"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902074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557682"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557682"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3334349"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3334349"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6109465"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6116038"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0"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968935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557683" y="1289685"/>
            <a:ext cx="8033657" cy="2750053"/>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a:t>
            </a:r>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555172" y="4846655"/>
            <a:ext cx="8033657" cy="825500"/>
          </a:xfrm>
        </p:spPr>
        <p:txBody>
          <a:bodyPr/>
          <a:lstStyle>
            <a:lvl1pPr marL="0" marR="0" indent="0" algn="l" defTabSz="685800" rtl="0" eaLnBrk="0" fontAlgn="base" latinLnBrk="0" hangingPunct="0">
              <a:lnSpc>
                <a:spcPct val="100000"/>
              </a:lnSpc>
              <a:spcBef>
                <a:spcPct val="0"/>
              </a:spcBef>
              <a:spcAft>
                <a:spcPct val="0"/>
              </a:spcAft>
              <a:buClrTx/>
              <a:buSzTx/>
              <a:buFontTx/>
              <a:buNone/>
              <a:tabLst/>
              <a:defRPr sz="1350">
                <a:solidFill>
                  <a:srgbClr val="006298"/>
                </a:solidFill>
                <a:latin typeface="Arial" panose="020B0604020202020204" pitchFamily="34" charset="0"/>
                <a:cs typeface="Arial" panose="020B0604020202020204" pitchFamily="34" charset="0"/>
              </a:defRPr>
            </a:lvl1p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709443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 name="Picture Placeholder 5"/>
          <p:cNvSpPr>
            <a:spLocks noGrp="1"/>
          </p:cNvSpPr>
          <p:nvPr>
            <p:ph type="pic" sz="quarter" idx="10"/>
          </p:nvPr>
        </p:nvSpPr>
        <p:spPr>
          <a:xfrm>
            <a:off x="549839" y="1619557"/>
            <a:ext cx="485775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5609229" y="4070658"/>
            <a:ext cx="2982305" cy="1808163"/>
          </a:xfrm>
        </p:spPr>
        <p:txBody>
          <a:bodyPr/>
          <a:lstStyle>
            <a:lvl1pPr marL="0" marR="0" indent="0" algn="l" defTabSz="685800" rtl="0" eaLnBrk="0" fontAlgn="base" latinLnBrk="0" hangingPunct="0">
              <a:lnSpc>
                <a:spcPct val="100000"/>
              </a:lnSpc>
              <a:spcBef>
                <a:spcPct val="0"/>
              </a:spcBef>
              <a:spcAft>
                <a:spcPct val="0"/>
              </a:spcAft>
              <a:buClrTx/>
              <a:buSzTx/>
              <a:buFontTx/>
              <a:buNone/>
              <a:tabLst/>
              <a:defRPr sz="1350">
                <a:solidFill>
                  <a:srgbClr val="006298"/>
                </a:solidFill>
                <a:latin typeface="Arial" panose="020B0604020202020204" pitchFamily="34" charset="0"/>
                <a:cs typeface="Arial" panose="020B0604020202020204" pitchFamily="34" charset="0"/>
              </a:defRPr>
            </a:lvl1p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p:nvSpPr>
        <p:spPr>
          <a:xfrm>
            <a:off x="1783079" y="6365706"/>
            <a:ext cx="6965770"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353038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257175" indent="-257175">
              <a:buClr>
                <a:srgbClr val="004A78"/>
              </a:buClr>
              <a:buFont typeface="Arial" charset="0"/>
              <a:buChar char="•"/>
              <a:defRPr sz="1500">
                <a:solidFill>
                  <a:srgbClr val="000000"/>
                </a:solidFill>
              </a:defRPr>
            </a:lvl1pPr>
            <a:lvl2pPr marL="514350" marR="0" indent="-171450" algn="l" defTabSz="685800" rtl="0" eaLnBrk="1" fontAlgn="base" latinLnBrk="0" hangingPunct="1">
              <a:lnSpc>
                <a:spcPct val="90000"/>
              </a:lnSpc>
              <a:spcBef>
                <a:spcPts val="375"/>
              </a:spcBef>
              <a:spcAft>
                <a:spcPct val="0"/>
              </a:spcAft>
              <a:buClr>
                <a:srgbClr val="FF6300"/>
              </a:buClr>
              <a:buSzTx/>
              <a:buFont typeface="Arial" charset="0"/>
              <a:buChar char="•"/>
              <a:tabLst/>
              <a:defRPr sz="1500" baseline="0"/>
            </a:lvl2pPr>
            <a:lvl3pPr marL="857250" indent="-171450">
              <a:buClr>
                <a:srgbClr val="000000"/>
              </a:buClr>
              <a:buFont typeface="Arial" charset="0"/>
              <a:buChar char="•"/>
              <a:defRPr sz="1500"/>
            </a:lvl3pPr>
            <a:lvl4pPr marL="1200150" indent="-171450">
              <a:buClr>
                <a:srgbClr val="000000"/>
              </a:buClr>
              <a:buSzPct val="50000"/>
              <a:buFont typeface="LucidaGrande" charset="0"/>
              <a:buChar char="▶"/>
              <a:defRPr sz="1500"/>
            </a:lvl4pPr>
            <a:lvl5pPr marL="1543050" indent="-171450">
              <a:buClr>
                <a:srgbClr val="000000"/>
              </a:buClr>
              <a:buFont typeface="Helvetica" charset="0"/>
              <a:buChar char="⁃"/>
              <a:defRPr sz="15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1737360" y="6337389"/>
            <a:ext cx="71441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565420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342900" indent="-342900">
              <a:buClr>
                <a:srgbClr val="004A78"/>
              </a:buClr>
              <a:buFont typeface="+mj-lt"/>
              <a:buAutoNum type="arabicPeriod"/>
              <a:defRPr sz="1500">
                <a:solidFill>
                  <a:srgbClr val="000000"/>
                </a:solidFill>
              </a:defRPr>
            </a:lvl1pPr>
            <a:lvl2pPr marL="514350" marR="0" indent="-171450" algn="l" defTabSz="685800" rtl="0" eaLnBrk="1" fontAlgn="base" latinLnBrk="0" hangingPunct="1">
              <a:lnSpc>
                <a:spcPct val="90000"/>
              </a:lnSpc>
              <a:spcBef>
                <a:spcPts val="375"/>
              </a:spcBef>
              <a:spcAft>
                <a:spcPct val="0"/>
              </a:spcAft>
              <a:buClr>
                <a:srgbClr val="FF6300"/>
              </a:buClr>
              <a:buSzTx/>
              <a:buFont typeface="Arial" charset="0"/>
              <a:buChar char="•"/>
              <a:tabLst/>
              <a:defRPr sz="1500" baseline="0"/>
            </a:lvl2pPr>
            <a:lvl3pPr marL="857250" indent="-171450">
              <a:buClr>
                <a:srgbClr val="000000"/>
              </a:buClr>
              <a:buFont typeface="Arial" charset="0"/>
              <a:buChar char="•"/>
              <a:defRPr sz="1500"/>
            </a:lvl3pPr>
            <a:lvl4pPr marL="1200150" indent="-171450">
              <a:buClr>
                <a:srgbClr val="000000"/>
              </a:buClr>
              <a:buSzPct val="50000"/>
              <a:buFont typeface="LucidaGrande" charset="0"/>
              <a:buChar char="▶"/>
              <a:defRPr sz="1500"/>
            </a:lvl4pPr>
            <a:lvl5pPr marL="1543050" indent="-171450">
              <a:buClr>
                <a:srgbClr val="000000"/>
              </a:buClr>
              <a:buFont typeface="Helvetica" charset="0"/>
              <a:buChar char="⁃"/>
              <a:defRPr sz="15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8519888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257175" indent="-257175">
              <a:buClr>
                <a:srgbClr val="004A78"/>
              </a:buClr>
              <a:buFont typeface="Arial" charset="0"/>
              <a:buChar char="•"/>
              <a:defRPr sz="3200">
                <a:solidFill>
                  <a:srgbClr val="004A78"/>
                </a:solidFill>
              </a:defRPr>
            </a:lvl1pPr>
            <a:lvl2pPr marL="514350" marR="0" indent="-171450" algn="l" defTabSz="685800" rtl="0" eaLnBrk="1" fontAlgn="base" latinLnBrk="0" hangingPunct="1">
              <a:lnSpc>
                <a:spcPct val="90000"/>
              </a:lnSpc>
              <a:spcBef>
                <a:spcPts val="375"/>
              </a:spcBef>
              <a:spcAft>
                <a:spcPct val="0"/>
              </a:spcAft>
              <a:buClr>
                <a:srgbClr val="004A78"/>
              </a:buClr>
              <a:buSzTx/>
              <a:buFont typeface="Arial" charset="0"/>
              <a:buChar char="•"/>
              <a:tabLst/>
              <a:defRPr sz="2800" baseline="0"/>
            </a:lvl2pPr>
            <a:lvl3pPr marL="857250" indent="-171450">
              <a:buClr>
                <a:srgbClr val="004A78"/>
              </a:buClr>
              <a:buFont typeface="Arial" charset="0"/>
              <a:buChar char="•"/>
              <a:defRPr sz="2400"/>
            </a:lvl3pPr>
            <a:lvl4pPr marL="1200150" indent="-171450">
              <a:buClr>
                <a:srgbClr val="004A78"/>
              </a:buClr>
              <a:buSzPct val="50000"/>
              <a:buFont typeface="LucidaGrande" charset="0"/>
              <a:buChar char="▶"/>
              <a:defRPr sz="2400"/>
            </a:lvl4pPr>
            <a:lvl5pPr marL="1543050" indent="-171450">
              <a:buClr>
                <a:srgbClr val="000000"/>
              </a:buClr>
              <a:buFont typeface="Helvetica" charset="0"/>
              <a:buChar char="⁃"/>
              <a:defRPr sz="24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p:nvSpPr>
        <p:spPr>
          <a:xfrm>
            <a:off x="1783081" y="6363725"/>
            <a:ext cx="6808259"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17138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Table Placeholder 4"/>
          <p:cNvSpPr>
            <a:spLocks noGrp="1"/>
          </p:cNvSpPr>
          <p:nvPr>
            <p:ph type="tbl" sz="quarter" idx="10"/>
          </p:nvPr>
        </p:nvSpPr>
        <p:spPr>
          <a:xfrm>
            <a:off x="1421642" y="2019869"/>
            <a:ext cx="6096000" cy="3380095"/>
          </a:xfrm>
        </p:spPr>
        <p:txBody>
          <a:bodyPr/>
          <a:lstStyle/>
          <a:p>
            <a:r>
              <a:rPr lang="en-US" dirty="0"/>
              <a:t>Click icon to add table</a:t>
            </a:r>
          </a:p>
        </p:txBody>
      </p:sp>
      <p:sp>
        <p:nvSpPr>
          <p:cNvPr id="6" name="Footer"/>
          <p:cNvSpPr txBox="1"/>
          <p:nvPr/>
        </p:nvSpPr>
        <p:spPr>
          <a:xfrm>
            <a:off x="1777800" y="6369539"/>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224075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305800" cy="944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0" y="1219200"/>
            <a:ext cx="4267200" cy="4906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19600" y="1219200"/>
            <a:ext cx="4267200" cy="4906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cNvSpPr txBox="1"/>
          <p:nvPr userDrawn="1"/>
        </p:nvSpPr>
        <p:spPr>
          <a:xfrm>
            <a:off x="1783081" y="6363725"/>
            <a:ext cx="6808259"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90507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8650" y="365126"/>
            <a:ext cx="78867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357632" y="6356351"/>
            <a:ext cx="118467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1744717" y="6310311"/>
            <a:ext cx="6770633"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rgbClr val="006298"/>
                </a:solidFill>
                <a:latin typeface="arial" charset="0"/>
              </a:defRPr>
            </a:lvl1pPr>
          </a:lstStyle>
          <a:p>
            <a:pPr defTabSz="685800"/>
            <a:r>
              <a:rPr lang="en-US" dirty="0">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895987422"/>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Lst>
  <p:hf sldNum="0" hd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5pPr>
      <a:lvl6pPr marL="3429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6pPr>
      <a:lvl7pPr marL="6858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7pPr>
      <a:lvl8pPr marL="10287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8pPr>
      <a:lvl9pPr marL="13716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750"/>
        </a:spcBef>
        <a:spcAft>
          <a:spcPct val="0"/>
        </a:spcAft>
        <a:buFont typeface="Arial" charset="0"/>
        <a:buNone/>
        <a:defRPr sz="3200" kern="1200" baseline="0">
          <a:solidFill>
            <a:srgbClr val="000000"/>
          </a:solidFill>
          <a:latin typeface="Arial" charset="0"/>
          <a:ea typeface="Arial" charset="0"/>
          <a:cs typeface="Arial" charset="0"/>
        </a:defRPr>
      </a:lvl1pPr>
      <a:lvl2pPr marL="514350" indent="-171450" algn="l" rtl="0" eaLnBrk="1" fontAlgn="base" hangingPunct="1">
        <a:lnSpc>
          <a:spcPct val="90000"/>
        </a:lnSpc>
        <a:spcBef>
          <a:spcPts val="375"/>
        </a:spcBef>
        <a:spcAft>
          <a:spcPct val="0"/>
        </a:spcAft>
        <a:buFont typeface="Arial" charset="0"/>
        <a:buChar char="•"/>
        <a:defRPr sz="1800" kern="1200" baseline="0">
          <a:solidFill>
            <a:srgbClr val="004A78"/>
          </a:solidFill>
          <a:latin typeface="Arial" charset="0"/>
          <a:ea typeface="Arial" charset="0"/>
          <a:cs typeface="Arial" charset="0"/>
        </a:defRPr>
      </a:lvl2pPr>
      <a:lvl3pPr marL="857250" indent="-171450" algn="l" rtl="0" eaLnBrk="1" fontAlgn="base" hangingPunct="1">
        <a:lnSpc>
          <a:spcPct val="90000"/>
        </a:lnSpc>
        <a:spcBef>
          <a:spcPts val="375"/>
        </a:spcBef>
        <a:spcAft>
          <a:spcPct val="0"/>
        </a:spcAft>
        <a:buFont typeface="Arial" charset="0"/>
        <a:buChar char="•"/>
        <a:defRPr sz="1500" kern="1200" baseline="0">
          <a:solidFill>
            <a:srgbClr val="004A78"/>
          </a:solidFill>
          <a:latin typeface="Arial" charset="0"/>
          <a:ea typeface="Arial" charset="0"/>
          <a:cs typeface="Arial" charset="0"/>
        </a:defRPr>
      </a:lvl3pPr>
      <a:lvl4pPr marL="1200150" indent="-171450" algn="l" rtl="0" eaLnBrk="1" fontAlgn="base" hangingPunct="1">
        <a:lnSpc>
          <a:spcPct val="90000"/>
        </a:lnSpc>
        <a:spcBef>
          <a:spcPts val="375"/>
        </a:spcBef>
        <a:spcAft>
          <a:spcPct val="0"/>
        </a:spcAft>
        <a:buFont typeface="Arial" charset="0"/>
        <a:buChar char="•"/>
        <a:defRPr kern="1200" baseline="0">
          <a:solidFill>
            <a:srgbClr val="004A78"/>
          </a:solidFill>
          <a:latin typeface="Arial" charset="0"/>
          <a:ea typeface="Arial" charset="0"/>
          <a:cs typeface="Arial" charset="0"/>
        </a:defRPr>
      </a:lvl4pPr>
      <a:lvl5pPr marL="1543050" indent="-171450" algn="l" rtl="0" eaLnBrk="1" fontAlgn="base" hangingPunct="1">
        <a:lnSpc>
          <a:spcPct val="90000"/>
        </a:lnSpc>
        <a:spcBef>
          <a:spcPts val="375"/>
        </a:spcBef>
        <a:spcAft>
          <a:spcPct val="0"/>
        </a:spcAft>
        <a:buFont typeface="Arial" charset="0"/>
        <a:buChar char="•"/>
        <a:defRPr kern="1200" baseline="0">
          <a:solidFill>
            <a:srgbClr val="004A78"/>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BB88C5-9CA0-4A23-82E3-0A057E3763D0}"/>
              </a:ext>
            </a:extLst>
          </p:cNvPr>
          <p:cNvSpPr>
            <a:spLocks noGrp="1"/>
          </p:cNvSpPr>
          <p:nvPr>
            <p:ph type="title"/>
          </p:nvPr>
        </p:nvSpPr>
        <p:spPr/>
        <p:txBody>
          <a:bodyPr/>
          <a:lstStyle/>
          <a:p>
            <a:r>
              <a:rPr lang="en-US" sz="5000" dirty="0"/>
              <a:t>Tutorial 04</a:t>
            </a:r>
          </a:p>
        </p:txBody>
      </p:sp>
      <p:sp>
        <p:nvSpPr>
          <p:cNvPr id="5" name="Text Placeholder 4">
            <a:extLst>
              <a:ext uri="{FF2B5EF4-FFF2-40B4-BE49-F238E27FC236}">
                <a16:creationId xmlns:a16="http://schemas.microsoft.com/office/drawing/2014/main" id="{6172A042-96CD-495D-921B-6FFE20D0BA08}"/>
              </a:ext>
            </a:extLst>
          </p:cNvPr>
          <p:cNvSpPr>
            <a:spLocks noGrp="1"/>
          </p:cNvSpPr>
          <p:nvPr>
            <p:ph type="body" sz="quarter" idx="10"/>
          </p:nvPr>
        </p:nvSpPr>
        <p:spPr>
          <a:xfrm>
            <a:off x="996463" y="3619986"/>
            <a:ext cx="7045568" cy="597477"/>
          </a:xfrm>
        </p:spPr>
        <p:txBody>
          <a:bodyPr>
            <a:noAutofit/>
          </a:bodyPr>
          <a:lstStyle/>
          <a:p>
            <a:r>
              <a:rPr lang="en-US" sz="3400" b="1" dirty="0">
                <a:solidFill>
                  <a:srgbClr val="FFFFFF"/>
                </a:solidFill>
              </a:rPr>
              <a:t>Creating a Graphic Design for a Genealogy Website</a:t>
            </a:r>
            <a:endParaRPr lang="en-US" sz="3400" dirty="0"/>
          </a:p>
        </p:txBody>
      </p:sp>
      <p:sp>
        <p:nvSpPr>
          <p:cNvPr id="12" name="Footer Placeholder 11">
            <a:extLst>
              <a:ext uri="{FF2B5EF4-FFF2-40B4-BE49-F238E27FC236}">
                <a16:creationId xmlns:a16="http://schemas.microsoft.com/office/drawing/2014/main" id="{B8B256E9-DF2C-4D8F-A3CE-E53FEDA99FD5}"/>
              </a:ext>
            </a:extLst>
          </p:cNvPr>
          <p:cNvSpPr>
            <a:spLocks noGrp="1"/>
          </p:cNvSpPr>
          <p:nvPr>
            <p:ph type="ftr" sz="quarter" idx="3"/>
          </p:nvPr>
        </p:nvSpPr>
        <p:spPr/>
        <p:txBody>
          <a:body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Objectives</a:t>
            </a:r>
          </a:p>
        </p:txBody>
      </p:sp>
      <p:sp>
        <p:nvSpPr>
          <p:cNvPr id="5" name="Text Placeholder 4"/>
          <p:cNvSpPr>
            <a:spLocks noGrp="1"/>
          </p:cNvSpPr>
          <p:nvPr>
            <p:ph type="body" sz="quarter" idx="17"/>
          </p:nvPr>
        </p:nvSpPr>
        <p:spPr/>
        <p:txBody>
          <a:bodyPr/>
          <a:lstStyle/>
          <a:p>
            <a:r>
              <a:rPr lang="en-US" dirty="0"/>
              <a:t>Create a figure box</a:t>
            </a:r>
          </a:p>
          <a:p>
            <a:r>
              <a:rPr lang="en-US" dirty="0"/>
              <a:t>Add a background image</a:t>
            </a:r>
          </a:p>
          <a:p>
            <a:r>
              <a:rPr lang="en-US" dirty="0"/>
              <a:t>Add a border to an element</a:t>
            </a:r>
          </a:p>
          <a:p>
            <a:r>
              <a:rPr lang="en-US" dirty="0"/>
              <a:t>Create rounded borders</a:t>
            </a:r>
          </a:p>
          <a:p>
            <a:r>
              <a:rPr lang="en-US" dirty="0"/>
              <a:t>Create a graphic border</a:t>
            </a:r>
          </a:p>
          <a:p>
            <a:r>
              <a:rPr lang="en-US" dirty="0"/>
              <a:t>Create a text shadow</a:t>
            </a:r>
          </a:p>
        </p:txBody>
      </p:sp>
    </p:spTree>
    <p:extLst>
      <p:ext uri="{BB962C8B-B14F-4D97-AF65-F5344CB8AC3E}">
        <p14:creationId xmlns:p14="http://schemas.microsoft.com/office/powerpoint/2010/main" val="1863907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Objectives (continued)</a:t>
            </a:r>
          </a:p>
        </p:txBody>
      </p:sp>
      <p:sp>
        <p:nvSpPr>
          <p:cNvPr id="5" name="Text Placeholder 4"/>
          <p:cNvSpPr>
            <a:spLocks noGrp="1"/>
          </p:cNvSpPr>
          <p:nvPr>
            <p:ph type="body" sz="quarter" idx="17"/>
          </p:nvPr>
        </p:nvSpPr>
        <p:spPr/>
        <p:txBody>
          <a:bodyPr/>
          <a:lstStyle/>
          <a:p>
            <a:r>
              <a:rPr lang="en-US" dirty="0"/>
              <a:t>Create a box shadow</a:t>
            </a:r>
          </a:p>
          <a:p>
            <a:r>
              <a:rPr lang="en-US" dirty="0"/>
              <a:t>Create linear and radial gradients</a:t>
            </a:r>
          </a:p>
          <a:p>
            <a:r>
              <a:rPr lang="en-US" dirty="0"/>
              <a:t>Set the opacity of an element</a:t>
            </a:r>
          </a:p>
          <a:p>
            <a:r>
              <a:rPr lang="en-US" dirty="0"/>
              <a:t>Apply a 2D and 3D transformation</a:t>
            </a:r>
          </a:p>
          <a:p>
            <a:r>
              <a:rPr lang="en-US" dirty="0"/>
              <a:t>Apply a CSS filter</a:t>
            </a:r>
          </a:p>
          <a:p>
            <a:r>
              <a:rPr lang="en-US" dirty="0"/>
              <a:t>Create an image map</a:t>
            </a:r>
          </a:p>
        </p:txBody>
      </p:sp>
    </p:spTree>
    <p:extLst>
      <p:ext uri="{BB962C8B-B14F-4D97-AF65-F5344CB8AC3E}">
        <p14:creationId xmlns:p14="http://schemas.microsoft.com/office/powerpoint/2010/main" val="2619959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Creating Figure Boxes</a:t>
            </a:r>
            <a:endParaRPr lang="en-US" dirty="0"/>
          </a:p>
        </p:txBody>
      </p:sp>
      <p:sp>
        <p:nvSpPr>
          <p:cNvPr id="3" name="Text Placeholder 2"/>
          <p:cNvSpPr>
            <a:spLocks noGrp="1"/>
          </p:cNvSpPr>
          <p:nvPr>
            <p:ph type="body" sz="quarter" idx="17"/>
          </p:nvPr>
        </p:nvSpPr>
        <p:spPr/>
        <p:txBody>
          <a:bodyPr/>
          <a:lstStyle/>
          <a:p>
            <a:r>
              <a:rPr lang="en-US" sz="2600" dirty="0">
                <a:latin typeface="Courier New" panose="02070309020205020404" pitchFamily="49" charset="0"/>
                <a:cs typeface="Courier New" panose="02070309020205020404" pitchFamily="49" charset="0"/>
              </a:rPr>
              <a:t>figure</a:t>
            </a:r>
            <a:r>
              <a:rPr lang="en-US" dirty="0"/>
              <a:t> and </a:t>
            </a:r>
            <a:r>
              <a:rPr lang="en-US" sz="2600" dirty="0">
                <a:latin typeface="Courier New" panose="02070309020205020404" pitchFamily="49" charset="0"/>
                <a:cs typeface="Courier New" panose="02070309020205020404" pitchFamily="49" charset="0"/>
              </a:rPr>
              <a:t>figcaption</a:t>
            </a:r>
            <a:r>
              <a:rPr lang="en-US" dirty="0"/>
              <a:t> </a:t>
            </a:r>
            <a:r>
              <a:rPr lang="en-IN" dirty="0"/>
              <a:t>elements:</a:t>
            </a:r>
          </a:p>
          <a:p>
            <a:pPr lvl="1"/>
            <a:r>
              <a:rPr lang="en-US" dirty="0"/>
              <a:t>They are used by HTML5 to introduce structural elements</a:t>
            </a:r>
          </a:p>
          <a:p>
            <a:pPr lvl="1"/>
            <a:r>
              <a:rPr lang="en-US" dirty="0"/>
              <a:t>The </a:t>
            </a:r>
            <a:r>
              <a:rPr lang="en-US" sz="2600" dirty="0">
                <a:latin typeface="Courier New" panose="02070309020205020404" pitchFamily="49" charset="0"/>
                <a:cs typeface="Courier New" panose="02070309020205020404" pitchFamily="49" charset="0"/>
              </a:rPr>
              <a:t>figcaption</a:t>
            </a:r>
            <a:r>
              <a:rPr lang="en-US" dirty="0"/>
              <a:t> element is optional</a:t>
            </a:r>
          </a:p>
          <a:p>
            <a:pPr lvl="1"/>
            <a:r>
              <a:rPr lang="en-US" dirty="0"/>
              <a:t>The </a:t>
            </a:r>
            <a:r>
              <a:rPr lang="en-US" sz="2600" dirty="0">
                <a:latin typeface="Courier New" panose="02070309020205020404" pitchFamily="49" charset="0"/>
                <a:cs typeface="Courier New" panose="02070309020205020404" pitchFamily="49" charset="0"/>
              </a:rPr>
              <a:t>figcaption</a:t>
            </a:r>
            <a:r>
              <a:rPr lang="en-US" dirty="0"/>
              <a:t> element can be placed directly before or after a figure box content</a:t>
            </a:r>
          </a:p>
        </p:txBody>
      </p:sp>
    </p:spTree>
    <p:extLst>
      <p:ext uri="{BB962C8B-B14F-4D97-AF65-F5344CB8AC3E}">
        <p14:creationId xmlns:p14="http://schemas.microsoft.com/office/powerpoint/2010/main" val="2874518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Figure Boxes (continued 1)</a:t>
            </a:r>
          </a:p>
        </p:txBody>
      </p:sp>
      <p:sp>
        <p:nvSpPr>
          <p:cNvPr id="3" name="Text Placeholder 2"/>
          <p:cNvSpPr>
            <a:spLocks noGrp="1"/>
          </p:cNvSpPr>
          <p:nvPr>
            <p:ph type="body" sz="quarter" idx="17"/>
          </p:nvPr>
        </p:nvSpPr>
        <p:spPr/>
        <p:txBody>
          <a:bodyPr>
            <a:normAutofit/>
          </a:bodyPr>
          <a:lstStyle/>
          <a:p>
            <a:r>
              <a:rPr lang="en-US" dirty="0"/>
              <a:t>General syntax to create a figure box:</a:t>
            </a:r>
          </a:p>
          <a:p>
            <a:pPr marL="338138" indent="0">
              <a:buNone/>
            </a:pPr>
            <a:r>
              <a:rPr lang="en-IN" sz="2600" dirty="0">
                <a:latin typeface="Courier New" panose="02070309020205020404" pitchFamily="49" charset="0"/>
                <a:cs typeface="Courier New" panose="02070309020205020404" pitchFamily="49" charset="0"/>
              </a:rPr>
              <a:t>&lt;figure&gt;</a:t>
            </a:r>
          </a:p>
          <a:p>
            <a:pPr marL="576263" indent="0">
              <a:buNone/>
            </a:pPr>
            <a:r>
              <a:rPr lang="en-IN" sz="2600" dirty="0">
                <a:latin typeface="Courier New" panose="02070309020205020404" pitchFamily="49" charset="0"/>
                <a:cs typeface="Courier New" panose="02070309020205020404" pitchFamily="49" charset="0"/>
              </a:rPr>
              <a:t>content</a:t>
            </a:r>
          </a:p>
          <a:p>
            <a:pPr marL="576263" indent="0">
              <a:buNone/>
            </a:pPr>
            <a:r>
              <a:rPr lang="en-IN" sz="2600" dirty="0">
                <a:latin typeface="Courier New" panose="02070309020205020404" pitchFamily="49" charset="0"/>
                <a:cs typeface="Courier New" panose="02070309020205020404" pitchFamily="49" charset="0"/>
              </a:rPr>
              <a:t>&lt;figcaption&gt;caption text&lt;/figcaption&gt;</a:t>
            </a:r>
          </a:p>
          <a:p>
            <a:pPr marL="338138" indent="0">
              <a:buNone/>
            </a:pPr>
            <a:r>
              <a:rPr lang="en-IN" sz="2600" dirty="0">
                <a:latin typeface="Courier New" panose="02070309020205020404" pitchFamily="49" charset="0"/>
                <a:cs typeface="Courier New" panose="02070309020205020404" pitchFamily="49" charset="0"/>
              </a:rPr>
              <a:t>&lt;/figure&gt;</a:t>
            </a:r>
          </a:p>
          <a:p>
            <a:pPr marL="338138" indent="0">
              <a:buNone/>
            </a:pPr>
            <a:r>
              <a:rPr lang="en-IN" dirty="0">
                <a:latin typeface="Arial" panose="020B0604020202020204" pitchFamily="34" charset="0"/>
                <a:cs typeface="Arial" panose="020B0604020202020204" pitchFamily="34" charset="0"/>
              </a:rPr>
              <a:t>where </a:t>
            </a:r>
            <a:r>
              <a:rPr lang="en-IN" sz="2600" dirty="0">
                <a:latin typeface="Courier New" panose="02070309020205020404" pitchFamily="49" charset="0"/>
                <a:cs typeface="Courier New" panose="02070309020205020404" pitchFamily="49" charset="0"/>
              </a:rPr>
              <a:t>content</a:t>
            </a:r>
            <a:r>
              <a:rPr lang="en-IN" dirty="0">
                <a:latin typeface="Arial" panose="020B0604020202020204" pitchFamily="34" charset="0"/>
                <a:cs typeface="Arial" panose="020B0604020202020204" pitchFamily="34" charset="0"/>
              </a:rPr>
              <a:t> </a:t>
            </a:r>
            <a:r>
              <a:rPr lang="en-IN" dirty="0"/>
              <a:t>is the content appearing in a figure box and </a:t>
            </a:r>
            <a:r>
              <a:rPr lang="en-IN" sz="2600" dirty="0">
                <a:latin typeface="Courier New" panose="02070309020205020404" pitchFamily="49" charset="0"/>
                <a:cs typeface="Courier New" panose="02070309020205020404" pitchFamily="49" charset="0"/>
              </a:rPr>
              <a:t>caption text</a:t>
            </a:r>
            <a:r>
              <a:rPr lang="en-IN" sz="2600" dirty="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is </a:t>
            </a:r>
            <a:r>
              <a:rPr lang="en-IN" dirty="0"/>
              <a:t>the description text that accompanies the figure</a:t>
            </a:r>
          </a:p>
        </p:txBody>
      </p:sp>
    </p:spTree>
    <p:extLst>
      <p:ext uri="{BB962C8B-B14F-4D97-AF65-F5344CB8AC3E}">
        <p14:creationId xmlns:p14="http://schemas.microsoft.com/office/powerpoint/2010/main" val="3086659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Figure Boxes (continued 2)</a:t>
            </a:r>
          </a:p>
        </p:txBody>
      </p:sp>
      <p:sp>
        <p:nvSpPr>
          <p:cNvPr id="3" name="Text Placeholder 2"/>
          <p:cNvSpPr>
            <a:spLocks noGrp="1"/>
          </p:cNvSpPr>
          <p:nvPr>
            <p:ph type="body" sz="quarter" idx="17"/>
          </p:nvPr>
        </p:nvSpPr>
        <p:spPr/>
        <p:txBody>
          <a:bodyPr/>
          <a:lstStyle/>
          <a:p>
            <a:r>
              <a:rPr lang="en-IN" dirty="0"/>
              <a:t>The </a:t>
            </a:r>
            <a:r>
              <a:rPr lang="en-IN" sz="2600" dirty="0">
                <a:latin typeface="Courier New" panose="02070309020205020404" pitchFamily="49" charset="0"/>
                <a:cs typeface="Courier New" panose="02070309020205020404" pitchFamily="49" charset="0"/>
              </a:rPr>
              <a:t>figure</a:t>
            </a:r>
            <a:r>
              <a:rPr lang="en-IN" dirty="0"/>
              <a:t> element is used to mark a page content that should stand apart from the main content</a:t>
            </a:r>
            <a:endParaRPr lang="en-US" dirty="0"/>
          </a:p>
          <a:p>
            <a:pPr marL="0" indent="0">
              <a:buNone/>
            </a:pPr>
            <a:endParaRPr lang="en-IN" dirty="0"/>
          </a:p>
        </p:txBody>
      </p:sp>
    </p:spTree>
    <p:extLst>
      <p:ext uri="{BB962C8B-B14F-4D97-AF65-F5344CB8AC3E}">
        <p14:creationId xmlns:p14="http://schemas.microsoft.com/office/powerpoint/2010/main" val="1927080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Figure Boxes (continued 3)</a:t>
            </a:r>
          </a:p>
        </p:txBody>
      </p:sp>
      <p:pic>
        <p:nvPicPr>
          <p:cNvPr id="5" name="Picture Placeholder 4" descr="This figure explains how to insert a figure box with a sample code.&#10;The first line of the code reads “&lt;article&gt;”. The second line reads “&lt;header&gt;”. The third line reads “&lt;h1&gt;The Komatsu Family&lt;/h1&gt;”.&#10;The fourth line reads “&lt;figure&gt;”. The fifth line reads “&lt;img src=”tb_komatsu.png” alt=”family portrait” /&gt;”. A rectangular box labeled “image within the figure box” is positioned to the right of the code. An arrow originating from the first rectangular box points to the fifth line of the code.&#10;The sixth line reads “&lt;figcaption&gt;(L-R): Ikko, Mika, Hiroji, Genta, Suzuko&lt;/figcaption&gt;”. A rectangular box labeled “caption associated with the image” is positioned to the left of the code. An arrow originating from the second rectangular box points to the sixth line of the code. The seventh line reads “&lt;/figure&gt;”. The eighth line reads “&lt;/header&gt;”.&#10;" title="Figure 4-1 Inserting a figure box"/>
          <p:cNvPicPr>
            <a:picLocks noGrp="1" noChangeAspect="1"/>
          </p:cNvPicPr>
          <p:nvPr>
            <p:ph type="pic" sz="quarter" idx="10"/>
          </p:nvPr>
        </p:nvPicPr>
        <p:blipFill>
          <a:blip r:embed="rId2"/>
          <a:stretch>
            <a:fillRect/>
          </a:stretch>
        </p:blipFill>
        <p:spPr>
          <a:xfrm>
            <a:off x="1056262" y="2087573"/>
            <a:ext cx="7031475" cy="1778963"/>
          </a:xfrm>
          <a:prstGeom prst="rect">
            <a:avLst/>
          </a:prstGeom>
        </p:spPr>
      </p:pic>
    </p:spTree>
    <p:extLst>
      <p:ext uri="{BB962C8B-B14F-4D97-AF65-F5344CB8AC3E}">
        <p14:creationId xmlns:p14="http://schemas.microsoft.com/office/powerpoint/2010/main" val="916636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Exploring Background Styles</a:t>
            </a:r>
          </a:p>
        </p:txBody>
      </p:sp>
      <p:sp>
        <p:nvSpPr>
          <p:cNvPr id="3" name="Text Placeholder 2"/>
          <p:cNvSpPr>
            <a:spLocks noGrp="1"/>
          </p:cNvSpPr>
          <p:nvPr>
            <p:ph type="body" sz="quarter" idx="17"/>
          </p:nvPr>
        </p:nvSpPr>
        <p:spPr/>
        <p:txBody>
          <a:bodyPr/>
          <a:lstStyle/>
          <a:p>
            <a:r>
              <a:rPr lang="en-US" dirty="0"/>
              <a:t>The use of images for backgrounds is supported by CSS using the following background-image style:</a:t>
            </a:r>
          </a:p>
          <a:p>
            <a:pPr marL="457200" indent="0">
              <a:buNone/>
            </a:pPr>
            <a:r>
              <a:rPr lang="en-US" sz="2600" dirty="0">
                <a:latin typeface="Courier New" panose="02070309020205020404" pitchFamily="49" charset="0"/>
                <a:cs typeface="Courier New" panose="02070309020205020404" pitchFamily="49" charset="0"/>
              </a:rPr>
              <a:t>background-image: url(url);</a:t>
            </a:r>
          </a:p>
          <a:p>
            <a:pPr marL="457200" indent="0">
              <a:buNone/>
            </a:pPr>
            <a:r>
              <a:rPr lang="en-US" dirty="0"/>
              <a:t>where </a:t>
            </a:r>
            <a:r>
              <a:rPr lang="en-US" dirty="0">
                <a:latin typeface="Courier New" panose="02070309020205020404" pitchFamily="49" charset="0"/>
                <a:cs typeface="Courier New" panose="02070309020205020404" pitchFamily="49" charset="0"/>
              </a:rPr>
              <a:t>url</a:t>
            </a:r>
            <a:r>
              <a:rPr lang="en-US" dirty="0"/>
              <a:t> specifies the name and location of the background image</a:t>
            </a:r>
          </a:p>
          <a:p>
            <a:endParaRPr lang="en-US" dirty="0"/>
          </a:p>
        </p:txBody>
      </p:sp>
    </p:spTree>
    <p:extLst>
      <p:ext uri="{BB962C8B-B14F-4D97-AF65-F5344CB8AC3E}">
        <p14:creationId xmlns:p14="http://schemas.microsoft.com/office/powerpoint/2010/main" val="2275602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Tiling a Background Image</a:t>
            </a:r>
          </a:p>
        </p:txBody>
      </p:sp>
      <p:sp>
        <p:nvSpPr>
          <p:cNvPr id="3" name="Text Placeholder 2"/>
          <p:cNvSpPr>
            <a:spLocks noGrp="1"/>
          </p:cNvSpPr>
          <p:nvPr>
            <p:ph type="body" sz="quarter" idx="17"/>
          </p:nvPr>
        </p:nvSpPr>
        <p:spPr/>
        <p:txBody>
          <a:bodyPr>
            <a:normAutofit/>
          </a:bodyPr>
          <a:lstStyle/>
          <a:p>
            <a:r>
              <a:rPr lang="en-US" b="1" dirty="0"/>
              <a:t>Tiling</a:t>
            </a:r>
            <a:r>
              <a:rPr lang="en-US" dirty="0"/>
              <a:t> is the process of repeating an image both vertically and horizontally until the background is filled</a:t>
            </a:r>
          </a:p>
          <a:p>
            <a:r>
              <a:rPr lang="en-US" dirty="0"/>
              <a:t>The type of tiling can be specified by applying the following </a:t>
            </a:r>
            <a:r>
              <a:rPr lang="en-US" sz="2600" dirty="0">
                <a:latin typeface="Courier New" panose="02070309020205020404" pitchFamily="49" charset="0"/>
                <a:cs typeface="Courier New" panose="02070309020205020404" pitchFamily="49" charset="0"/>
              </a:rPr>
              <a:t>background-repeat</a:t>
            </a:r>
            <a:r>
              <a:rPr lang="en-US" dirty="0"/>
              <a:t> style:</a:t>
            </a:r>
          </a:p>
          <a:p>
            <a:pPr marL="457200" indent="0">
              <a:buNone/>
            </a:pPr>
            <a:r>
              <a:rPr lang="en-US" sz="2600" dirty="0">
                <a:latin typeface="Courier New" panose="02070309020205020404" pitchFamily="49" charset="0"/>
                <a:cs typeface="Courier New" panose="02070309020205020404" pitchFamily="49" charset="0"/>
              </a:rPr>
              <a:t>background-repeat: type;</a:t>
            </a:r>
          </a:p>
          <a:p>
            <a:pPr marL="457200" indent="0">
              <a:buNone/>
            </a:pPr>
            <a:r>
              <a:rPr lang="en-US" dirty="0"/>
              <a:t>where </a:t>
            </a:r>
            <a:r>
              <a:rPr lang="en-US" sz="2600" dirty="0">
                <a:latin typeface="Courier New" panose="02070309020205020404" pitchFamily="49" charset="0"/>
                <a:cs typeface="Courier New" panose="02070309020205020404" pitchFamily="49" charset="0"/>
              </a:rPr>
              <a:t>type</a:t>
            </a:r>
            <a:r>
              <a:rPr lang="en-US" dirty="0"/>
              <a:t> can be </a:t>
            </a:r>
            <a:r>
              <a:rPr lang="en-US" sz="2600" dirty="0">
                <a:latin typeface="Courier New" panose="02070309020205020404" pitchFamily="49" charset="0"/>
                <a:cs typeface="Courier New" panose="02070309020205020404" pitchFamily="49" charset="0"/>
              </a:rPr>
              <a:t>repeat</a:t>
            </a:r>
            <a:r>
              <a:rPr lang="en-US" dirty="0"/>
              <a:t> (the default), </a:t>
            </a:r>
            <a:r>
              <a:rPr lang="en-US" sz="2600" dirty="0">
                <a:latin typeface="Courier New" panose="02070309020205020404" pitchFamily="49" charset="0"/>
                <a:cs typeface="Courier New" panose="02070309020205020404" pitchFamily="49" charset="0"/>
              </a:rPr>
              <a:t>repeat-x</a:t>
            </a:r>
            <a:r>
              <a:rPr lang="en-US" dirty="0"/>
              <a:t>, </a:t>
            </a:r>
            <a:r>
              <a:rPr lang="en-US" sz="2600" dirty="0">
                <a:latin typeface="Courier New" panose="02070309020205020404" pitchFamily="49" charset="0"/>
                <a:cs typeface="Courier New" panose="02070309020205020404" pitchFamily="49" charset="0"/>
              </a:rPr>
              <a:t>repeat-y</a:t>
            </a:r>
            <a:r>
              <a:rPr lang="en-US" dirty="0"/>
              <a:t>, </a:t>
            </a:r>
            <a:r>
              <a:rPr lang="en-US" sz="2600" dirty="0">
                <a:latin typeface="Courier New" panose="02070309020205020404" pitchFamily="49" charset="0"/>
                <a:cs typeface="Courier New" panose="02070309020205020404" pitchFamily="49" charset="0"/>
              </a:rPr>
              <a:t>round</a:t>
            </a:r>
            <a:r>
              <a:rPr lang="en-US" dirty="0"/>
              <a:t>, or </a:t>
            </a:r>
            <a:r>
              <a:rPr lang="en-US" sz="2600" dirty="0">
                <a:latin typeface="Courier New" panose="02070309020205020404" pitchFamily="49" charset="0"/>
                <a:cs typeface="Courier New" panose="02070309020205020404" pitchFamily="49" charset="0"/>
              </a:rPr>
              <a:t>space</a:t>
            </a:r>
          </a:p>
        </p:txBody>
      </p:sp>
    </p:spTree>
    <p:extLst>
      <p:ext uri="{BB962C8B-B14F-4D97-AF65-F5344CB8AC3E}">
        <p14:creationId xmlns:p14="http://schemas.microsoft.com/office/powerpoint/2010/main" val="1517821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Tiling a Background Image (continued)</a:t>
            </a:r>
          </a:p>
        </p:txBody>
      </p:sp>
      <p:pic>
        <p:nvPicPr>
          <p:cNvPr id="4" name="Picture Placeholder 3" descr="This figure explains a tiled background image in the browser window.&#10;&#10;The figure consists of a rectangular box that is divided into three rectangular boxes. Two of the rectangular boxes are vertical, while the third rectangular box is divided into three sections and is placed horizontally. The two vertical rectangular boxes having images of people are positioned to the left and right of the main rectangular box. A rectangular box labeled “tiled image in browser window background” is positioned to the left of the figure. An arrow originating from this rectangular box points to the vertical rectangular boxes.&#10;&#10;The horizontal rectangular box divided into three sections is positioned between the vertical rectangular boxes. The first section of the horizontal rectangular box consists of an image of a tree positioned at the top-left corner followed by a text that reads “Tree and Book”. The second section is a header that reads “Home Register Directory Genealogy Search”. The third section reads “The Komatsu Family” and an image of a family is positioned below the text in the third section. A rectangular box labeled “page body” is positioned at the bottom of the figure. An arrow originating from this rectangular box points to the whole of the horizontal rectangular box.&#10;The first line of the source listed at the lower left bottom of the image reads ”Source: design Studio Pro; Source Wikimedia” and the second line of the source below the first line reads “Commons: © imtmphoto/Shutterstock.com”" title="Figure 4-6 Tiled background image in the browser window"/>
          <p:cNvPicPr>
            <a:picLocks noGrp="1" noChangeAspect="1"/>
          </p:cNvPicPr>
          <p:nvPr>
            <p:ph type="pic" sz="quarter" idx="10"/>
          </p:nvPr>
        </p:nvPicPr>
        <p:blipFill>
          <a:blip r:embed="rId2"/>
          <a:stretch>
            <a:fillRect/>
          </a:stretch>
        </p:blipFill>
        <p:spPr>
          <a:xfrm>
            <a:off x="628650" y="1688123"/>
            <a:ext cx="7765394" cy="3882697"/>
          </a:xfrm>
          <a:prstGeom prst="rect">
            <a:avLst/>
          </a:prstGeom>
        </p:spPr>
      </p:pic>
    </p:spTree>
    <p:extLst>
      <p:ext uri="{BB962C8B-B14F-4D97-AF65-F5344CB8AC3E}">
        <p14:creationId xmlns:p14="http://schemas.microsoft.com/office/powerpoint/2010/main" val="1448796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Attaching the Background Image</a:t>
            </a:r>
          </a:p>
        </p:txBody>
      </p:sp>
      <p:sp>
        <p:nvSpPr>
          <p:cNvPr id="3" name="Text Placeholder 2"/>
          <p:cNvSpPr>
            <a:spLocks noGrp="1"/>
          </p:cNvSpPr>
          <p:nvPr>
            <p:ph type="body" sz="quarter" idx="17"/>
          </p:nvPr>
        </p:nvSpPr>
        <p:spPr/>
        <p:txBody>
          <a:bodyPr/>
          <a:lstStyle/>
          <a:p>
            <a:r>
              <a:rPr lang="en-IN" dirty="0"/>
              <a:t>A background image is attached to its element so that it scrolls when the element content is scrolled</a:t>
            </a:r>
          </a:p>
          <a:p>
            <a:r>
              <a:rPr lang="en-IN" dirty="0"/>
              <a:t>The attachment can be changed using the following property:</a:t>
            </a:r>
          </a:p>
          <a:p>
            <a:pPr marL="914400" lvl="2" indent="0">
              <a:buNone/>
            </a:pPr>
            <a:r>
              <a:rPr lang="en-IN" sz="2600" dirty="0">
                <a:latin typeface="Courier New" panose="02070309020205020404" pitchFamily="49" charset="0"/>
                <a:cs typeface="Courier New" panose="02070309020205020404" pitchFamily="49" charset="0"/>
              </a:rPr>
              <a:t>background-attachment: </a:t>
            </a:r>
            <a:r>
              <a:rPr lang="en-IN" sz="2600" i="1" dirty="0">
                <a:latin typeface="Courier New" panose="02070309020205020404" pitchFamily="49" charset="0"/>
                <a:cs typeface="Courier New" panose="02070309020205020404" pitchFamily="49" charset="0"/>
              </a:rPr>
              <a:t>type</a:t>
            </a:r>
            <a:r>
              <a:rPr lang="en-IN" sz="2600" dirty="0">
                <a:latin typeface="Courier New" panose="02070309020205020404" pitchFamily="49" charset="0"/>
                <a:cs typeface="Courier New" panose="02070309020205020404" pitchFamily="49" charset="0"/>
              </a:rPr>
              <a:t>;</a:t>
            </a:r>
          </a:p>
          <a:p>
            <a:pPr marL="350838" lvl="2" indent="0">
              <a:buNone/>
            </a:pPr>
            <a:r>
              <a:rPr lang="en-IN" sz="3200" dirty="0">
                <a:cs typeface="Courier New" panose="02070309020205020404" pitchFamily="49" charset="0"/>
              </a:rPr>
              <a:t>where </a:t>
            </a:r>
            <a:r>
              <a:rPr lang="en-IN" sz="2600" i="1" dirty="0">
                <a:latin typeface="Courier New" panose="02070309020205020404" pitchFamily="49" charset="0"/>
                <a:cs typeface="Courier New" panose="02070309020205020404" pitchFamily="49" charset="0"/>
              </a:rPr>
              <a:t>type</a:t>
            </a:r>
            <a:r>
              <a:rPr lang="en-IN" sz="2600" dirty="0">
                <a:cs typeface="Courier New" panose="02070309020205020404" pitchFamily="49" charset="0"/>
              </a:rPr>
              <a:t> </a:t>
            </a:r>
            <a:r>
              <a:rPr lang="en-IN" sz="3200" dirty="0">
                <a:cs typeface="Courier New" panose="02070309020205020404" pitchFamily="49" charset="0"/>
              </a:rPr>
              <a:t>is </a:t>
            </a:r>
            <a:r>
              <a:rPr lang="en-IN" sz="2600" dirty="0">
                <a:latin typeface="Courier New" panose="02070309020205020404" pitchFamily="49" charset="0"/>
                <a:cs typeface="Courier New" panose="02070309020205020404" pitchFamily="49" charset="0"/>
              </a:rPr>
              <a:t>scroll</a:t>
            </a:r>
            <a:r>
              <a:rPr lang="en-IN" sz="2600" dirty="0">
                <a:cs typeface="Courier New" panose="02070309020205020404" pitchFamily="49" charset="0"/>
              </a:rPr>
              <a:t> </a:t>
            </a:r>
            <a:r>
              <a:rPr lang="en-IN" sz="3200" dirty="0">
                <a:cs typeface="Courier New" panose="02070309020205020404" pitchFamily="49" charset="0"/>
              </a:rPr>
              <a:t>(the default)</a:t>
            </a:r>
            <a:r>
              <a:rPr lang="en-IN" sz="3200" dirty="0">
                <a:latin typeface="Courier New" panose="02070309020205020404" pitchFamily="49" charset="0"/>
                <a:cs typeface="Courier New" panose="02070309020205020404" pitchFamily="49" charset="0"/>
              </a:rPr>
              <a:t>,</a:t>
            </a:r>
            <a:r>
              <a:rPr lang="en-IN" sz="2600" dirty="0">
                <a:cs typeface="Courier New" panose="02070309020205020404" pitchFamily="49" charset="0"/>
              </a:rPr>
              <a:t> </a:t>
            </a:r>
            <a:r>
              <a:rPr lang="en-IN" sz="2600" dirty="0">
                <a:latin typeface="Courier New" panose="02070309020205020404" pitchFamily="49" charset="0"/>
                <a:cs typeface="Courier New" panose="02070309020205020404" pitchFamily="49" charset="0"/>
              </a:rPr>
              <a:t>fixed</a:t>
            </a:r>
            <a:r>
              <a:rPr lang="en-IN" sz="2600" dirty="0">
                <a:cs typeface="Courier New" panose="02070309020205020404" pitchFamily="49" charset="0"/>
              </a:rPr>
              <a:t>, </a:t>
            </a:r>
            <a:r>
              <a:rPr lang="en-IN" sz="3200" dirty="0">
                <a:cs typeface="Courier New" panose="02070309020205020404" pitchFamily="49" charset="0"/>
              </a:rPr>
              <a:t>or </a:t>
            </a:r>
            <a:r>
              <a:rPr lang="en-IN" sz="2600" dirty="0">
                <a:latin typeface="Courier New" panose="02070309020205020404" pitchFamily="49" charset="0"/>
                <a:cs typeface="Courier New" panose="02070309020205020404" pitchFamily="49" charset="0"/>
              </a:rPr>
              <a:t>local</a:t>
            </a:r>
          </a:p>
        </p:txBody>
      </p:sp>
    </p:spTree>
    <p:extLst>
      <p:ext uri="{BB962C8B-B14F-4D97-AF65-F5344CB8AC3E}">
        <p14:creationId xmlns:p14="http://schemas.microsoft.com/office/powerpoint/2010/main" val="31364847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Attaching the Background Image (continued 1)</a:t>
            </a:r>
          </a:p>
        </p:txBody>
      </p:sp>
      <p:sp>
        <p:nvSpPr>
          <p:cNvPr id="3" name="Text Placeholder 2"/>
          <p:cNvSpPr>
            <a:spLocks noGrp="1"/>
          </p:cNvSpPr>
          <p:nvPr>
            <p:ph type="body" sz="quarter" idx="17"/>
          </p:nvPr>
        </p:nvSpPr>
        <p:spPr/>
        <p:txBody>
          <a:bodyPr/>
          <a:lstStyle/>
          <a:p>
            <a:r>
              <a:rPr lang="en-IN" sz="2600" dirty="0">
                <a:latin typeface="Courier New" panose="02070309020205020404" pitchFamily="49" charset="0"/>
                <a:cs typeface="Courier New" panose="02070309020205020404" pitchFamily="49" charset="0"/>
              </a:rPr>
              <a:t>type</a:t>
            </a:r>
            <a:r>
              <a:rPr lang="en-IN" dirty="0"/>
              <a:t> in the background-attachment property:</a:t>
            </a:r>
          </a:p>
          <a:p>
            <a:pPr lvl="1"/>
            <a:r>
              <a:rPr lang="en-US" sz="2600" dirty="0">
                <a:latin typeface="Courier New" panose="02070309020205020404" pitchFamily="49" charset="0"/>
                <a:cs typeface="Courier New" panose="02070309020205020404" pitchFamily="49" charset="0"/>
              </a:rPr>
              <a:t>scroll</a:t>
            </a:r>
            <a:r>
              <a:rPr lang="en-US" dirty="0"/>
              <a:t> sets the background to scroll with the element content</a:t>
            </a:r>
          </a:p>
          <a:p>
            <a:pPr lvl="1"/>
            <a:r>
              <a:rPr lang="en-US" sz="2600" dirty="0">
                <a:latin typeface="Courier New" panose="02070309020205020404" pitchFamily="49" charset="0"/>
                <a:cs typeface="Courier New" panose="02070309020205020404" pitchFamily="49" charset="0"/>
              </a:rPr>
              <a:t>fixed</a:t>
            </a:r>
            <a:r>
              <a:rPr lang="en-US" dirty="0"/>
              <a:t> creates a background that stays in place even as the element content is scrolled</a:t>
            </a:r>
          </a:p>
          <a:p>
            <a:pPr lvl="1"/>
            <a:r>
              <a:rPr lang="en-US" sz="2600" dirty="0">
                <a:latin typeface="Courier New" panose="02070309020205020404" pitchFamily="49" charset="0"/>
                <a:cs typeface="Courier New" panose="02070309020205020404" pitchFamily="49" charset="0"/>
              </a:rPr>
              <a:t>local</a:t>
            </a:r>
            <a:r>
              <a:rPr lang="en-US" dirty="0"/>
              <a:t> allows the element background to scroll </a:t>
            </a:r>
            <a:r>
              <a:rPr lang="en-IN" dirty="0"/>
              <a:t>along with the content within the box</a:t>
            </a:r>
            <a:endParaRPr lang="en-US" dirty="0"/>
          </a:p>
        </p:txBody>
      </p:sp>
    </p:spTree>
    <p:extLst>
      <p:ext uri="{BB962C8B-B14F-4D97-AF65-F5344CB8AC3E}">
        <p14:creationId xmlns:p14="http://schemas.microsoft.com/office/powerpoint/2010/main" val="280664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Attaching the Background Image (continued 2)</a:t>
            </a:r>
          </a:p>
        </p:txBody>
      </p:sp>
      <p:sp>
        <p:nvSpPr>
          <p:cNvPr id="3" name="Text Placeholder 2"/>
          <p:cNvSpPr>
            <a:spLocks noGrp="1"/>
          </p:cNvSpPr>
          <p:nvPr>
            <p:ph type="body" sz="quarter" idx="17"/>
          </p:nvPr>
        </p:nvSpPr>
        <p:spPr/>
        <p:txBody>
          <a:bodyPr/>
          <a:lstStyle/>
          <a:p>
            <a:r>
              <a:rPr lang="en-US" b="1" dirty="0"/>
              <a:t>Watermarks</a:t>
            </a:r>
            <a:r>
              <a:rPr lang="en-US" dirty="0"/>
              <a:t> are translucent graphics displayed behind a content</a:t>
            </a:r>
          </a:p>
          <a:p>
            <a:r>
              <a:rPr lang="en-US" dirty="0"/>
              <a:t>They can be created using fixed backgrounds</a:t>
            </a:r>
          </a:p>
          <a:p>
            <a:r>
              <a:rPr lang="en-US" dirty="0"/>
              <a:t>They are often used to indicate that a content material is copyrighted</a:t>
            </a:r>
          </a:p>
        </p:txBody>
      </p:sp>
    </p:spTree>
    <p:extLst>
      <p:ext uri="{BB962C8B-B14F-4D97-AF65-F5344CB8AC3E}">
        <p14:creationId xmlns:p14="http://schemas.microsoft.com/office/powerpoint/2010/main" val="4281905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the Background Image Position</a:t>
            </a:r>
          </a:p>
        </p:txBody>
      </p:sp>
      <p:sp>
        <p:nvSpPr>
          <p:cNvPr id="3" name="Text Placeholder 2"/>
          <p:cNvSpPr>
            <a:spLocks noGrp="1"/>
          </p:cNvSpPr>
          <p:nvPr>
            <p:ph type="body" sz="quarter" idx="17"/>
          </p:nvPr>
        </p:nvSpPr>
        <p:spPr/>
        <p:txBody>
          <a:bodyPr/>
          <a:lstStyle/>
          <a:p>
            <a:r>
              <a:rPr lang="en-US" dirty="0"/>
              <a:t>By default, background images are placed in an element’s top-left corner</a:t>
            </a:r>
          </a:p>
          <a:p>
            <a:r>
              <a:rPr lang="en-US" dirty="0"/>
              <a:t>The following property can be used to set the position of a background image:</a:t>
            </a:r>
          </a:p>
          <a:p>
            <a:pPr marL="457200" indent="0">
              <a:buNone/>
            </a:pPr>
            <a:r>
              <a:rPr lang="en-US" sz="2600" dirty="0">
                <a:latin typeface="Courier New" panose="02070309020205020404" pitchFamily="49" charset="0"/>
                <a:cs typeface="Courier New" panose="02070309020205020404" pitchFamily="49" charset="0"/>
              </a:rPr>
              <a:t>background-position: horizontal vertical;</a:t>
            </a:r>
          </a:p>
          <a:p>
            <a:pPr marL="457200" indent="0">
              <a:buNone/>
            </a:pPr>
            <a:r>
              <a:rPr lang="en-US" dirty="0"/>
              <a:t>where </a:t>
            </a:r>
            <a:r>
              <a:rPr lang="en-US" sz="2600" dirty="0">
                <a:latin typeface="Courier New" panose="02070309020205020404" pitchFamily="49" charset="0"/>
                <a:cs typeface="Courier New" panose="02070309020205020404" pitchFamily="49" charset="0"/>
              </a:rPr>
              <a:t>horizontal</a:t>
            </a:r>
            <a:r>
              <a:rPr lang="en-US" dirty="0"/>
              <a:t> and </a:t>
            </a:r>
            <a:r>
              <a:rPr lang="en-US" sz="2600" dirty="0">
                <a:latin typeface="Courier New" panose="02070309020205020404" pitchFamily="49" charset="0"/>
                <a:cs typeface="Courier New" panose="02070309020205020404" pitchFamily="49" charset="0"/>
              </a:rPr>
              <a:t>vertical</a:t>
            </a:r>
            <a:r>
              <a:rPr lang="en-US" dirty="0"/>
              <a:t> provide the coordinates of an image within the element background</a:t>
            </a:r>
          </a:p>
        </p:txBody>
      </p:sp>
    </p:spTree>
    <p:extLst>
      <p:ext uri="{BB962C8B-B14F-4D97-AF65-F5344CB8AC3E}">
        <p14:creationId xmlns:p14="http://schemas.microsoft.com/office/powerpoint/2010/main" val="38607698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the Background Image Position (continued)</a:t>
            </a:r>
          </a:p>
        </p:txBody>
      </p:sp>
      <p:sp>
        <p:nvSpPr>
          <p:cNvPr id="3" name="Text Placeholder 2"/>
          <p:cNvSpPr>
            <a:spLocks noGrp="1"/>
          </p:cNvSpPr>
          <p:nvPr>
            <p:ph type="body" sz="quarter" idx="17"/>
          </p:nvPr>
        </p:nvSpPr>
        <p:spPr/>
        <p:txBody>
          <a:bodyPr/>
          <a:lstStyle/>
          <a:p>
            <a:r>
              <a:rPr lang="en-US" dirty="0"/>
              <a:t>Keywords to position a background image are as follows:</a:t>
            </a:r>
            <a:endParaRPr lang="en-IN" dirty="0"/>
          </a:p>
          <a:p>
            <a:pPr lvl="1"/>
            <a:r>
              <a:rPr lang="en-IN" sz="2200" dirty="0">
                <a:latin typeface="Courier New" panose="02070309020205020404" pitchFamily="49" charset="0"/>
                <a:cs typeface="Courier New" panose="02070309020205020404" pitchFamily="49" charset="0"/>
              </a:rPr>
              <a:t>left</a:t>
            </a:r>
            <a:r>
              <a:rPr lang="en-IN" dirty="0"/>
              <a:t>, </a:t>
            </a:r>
            <a:r>
              <a:rPr lang="en-IN" sz="2200" dirty="0">
                <a:latin typeface="Courier New" panose="02070309020205020404" pitchFamily="49" charset="0"/>
                <a:cs typeface="Courier New" panose="02070309020205020404" pitchFamily="49" charset="0"/>
              </a:rPr>
              <a:t>center</a:t>
            </a:r>
            <a:r>
              <a:rPr lang="en-IN" dirty="0"/>
              <a:t>, and </a:t>
            </a:r>
            <a:r>
              <a:rPr lang="en-IN" sz="2200" dirty="0">
                <a:latin typeface="Courier New" panose="02070309020205020404" pitchFamily="49" charset="0"/>
                <a:cs typeface="Courier New" panose="02070309020205020404" pitchFamily="49" charset="0"/>
              </a:rPr>
              <a:t>right</a:t>
            </a:r>
            <a:r>
              <a:rPr lang="en-IN" dirty="0"/>
              <a:t> are used to position the background horizontally </a:t>
            </a:r>
          </a:p>
          <a:p>
            <a:pPr lvl="1"/>
            <a:r>
              <a:rPr lang="en-IN" sz="2200" dirty="0">
                <a:latin typeface="Courier New" panose="02070309020205020404" pitchFamily="49" charset="0"/>
                <a:cs typeface="Courier New" panose="02070309020205020404" pitchFamily="49" charset="0"/>
              </a:rPr>
              <a:t>top</a:t>
            </a:r>
            <a:r>
              <a:rPr lang="en-IN" dirty="0"/>
              <a:t>, </a:t>
            </a:r>
            <a:r>
              <a:rPr lang="en-IN" sz="2200" dirty="0">
                <a:latin typeface="Courier New" panose="02070309020205020404" pitchFamily="49" charset="0"/>
                <a:cs typeface="Courier New" panose="02070309020205020404" pitchFamily="49" charset="0"/>
              </a:rPr>
              <a:t>center</a:t>
            </a:r>
            <a:r>
              <a:rPr lang="en-IN" dirty="0"/>
              <a:t>, and </a:t>
            </a:r>
            <a:r>
              <a:rPr lang="en-IN" sz="2200" dirty="0">
                <a:latin typeface="Courier New" panose="02070309020205020404" pitchFamily="49" charset="0"/>
                <a:cs typeface="Courier New" panose="02070309020205020404" pitchFamily="49" charset="0"/>
              </a:rPr>
              <a:t>bottom</a:t>
            </a:r>
            <a:r>
              <a:rPr lang="en-IN" dirty="0"/>
              <a:t> are used to position the background vertically</a:t>
            </a:r>
          </a:p>
          <a:p>
            <a:r>
              <a:rPr lang="en-IN" dirty="0"/>
              <a:t>The </a:t>
            </a:r>
            <a:r>
              <a:rPr lang="en-IN" sz="2600" dirty="0">
                <a:latin typeface="Courier New" panose="02070309020205020404" pitchFamily="49" charset="0"/>
                <a:cs typeface="Courier New" panose="02070309020205020404" pitchFamily="49" charset="0"/>
              </a:rPr>
              <a:t>background-position</a:t>
            </a:r>
            <a:r>
              <a:rPr lang="en-IN" dirty="0"/>
              <a:t> property is only useful for non-tiled images</a:t>
            </a:r>
          </a:p>
        </p:txBody>
      </p:sp>
    </p:spTree>
    <p:extLst>
      <p:ext uri="{BB962C8B-B14F-4D97-AF65-F5344CB8AC3E}">
        <p14:creationId xmlns:p14="http://schemas.microsoft.com/office/powerpoint/2010/main" val="2406383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the Extent of the Background</a:t>
            </a:r>
          </a:p>
        </p:txBody>
      </p:sp>
      <p:sp>
        <p:nvSpPr>
          <p:cNvPr id="3" name="Text Placeholder 2"/>
          <p:cNvSpPr>
            <a:spLocks noGrp="1"/>
          </p:cNvSpPr>
          <p:nvPr>
            <p:ph type="body" sz="quarter" idx="17"/>
          </p:nvPr>
        </p:nvSpPr>
        <p:spPr/>
        <p:txBody>
          <a:bodyPr/>
          <a:lstStyle/>
          <a:p>
            <a:r>
              <a:rPr lang="en-US" dirty="0"/>
              <a:t>An element’s background extends only through the padding space excluding the border space</a:t>
            </a:r>
          </a:p>
          <a:p>
            <a:r>
              <a:rPr lang="en-US" dirty="0"/>
              <a:t>This can be changed using the following property:</a:t>
            </a:r>
          </a:p>
          <a:p>
            <a:pPr marL="457200" indent="0">
              <a:buNone/>
            </a:pPr>
            <a:r>
              <a:rPr lang="en-US" sz="2600" dirty="0">
                <a:latin typeface="Courier New" panose="02070309020205020404" pitchFamily="49" charset="0"/>
                <a:cs typeface="Courier New" panose="02070309020205020404" pitchFamily="49" charset="0"/>
              </a:rPr>
              <a:t>background-clip: type;</a:t>
            </a:r>
          </a:p>
        </p:txBody>
      </p:sp>
    </p:spTree>
    <p:extLst>
      <p:ext uri="{BB962C8B-B14F-4D97-AF65-F5344CB8AC3E}">
        <p14:creationId xmlns:p14="http://schemas.microsoft.com/office/powerpoint/2010/main" val="555965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the Extent of the Background (continued)</a:t>
            </a:r>
          </a:p>
        </p:txBody>
      </p:sp>
      <p:sp>
        <p:nvSpPr>
          <p:cNvPr id="5" name="Text Placeholder 4"/>
          <p:cNvSpPr>
            <a:spLocks noGrp="1"/>
          </p:cNvSpPr>
          <p:nvPr>
            <p:ph type="body" sz="quarter" idx="17"/>
          </p:nvPr>
        </p:nvSpPr>
        <p:spPr/>
        <p:txBody>
          <a:bodyPr/>
          <a:lstStyle/>
          <a:p>
            <a:r>
              <a:rPr lang="en-IN" sz="2600" dirty="0">
                <a:latin typeface="Courier New" panose="02070309020205020404" pitchFamily="49" charset="0"/>
                <a:cs typeface="Courier New" panose="02070309020205020404" pitchFamily="49" charset="0"/>
              </a:rPr>
              <a:t>type</a:t>
            </a:r>
            <a:r>
              <a:rPr lang="en-IN" dirty="0"/>
              <a:t> in the background-clip property:</a:t>
            </a:r>
          </a:p>
          <a:p>
            <a:pPr lvl="1"/>
            <a:r>
              <a:rPr lang="en-US" sz="2600" dirty="0">
                <a:latin typeface="Courier New" panose="02070309020205020404" pitchFamily="49" charset="0"/>
                <a:cs typeface="Courier New" panose="02070309020205020404" pitchFamily="49" charset="0"/>
              </a:rPr>
              <a:t>content-box</a:t>
            </a:r>
            <a:r>
              <a:rPr lang="en-US" dirty="0"/>
              <a:t> </a:t>
            </a:r>
            <a:r>
              <a:rPr lang="en-IN" dirty="0"/>
              <a:t>extends the background only through the element content</a:t>
            </a:r>
            <a:endParaRPr lang="en-US" dirty="0"/>
          </a:p>
          <a:p>
            <a:pPr lvl="1"/>
            <a:r>
              <a:rPr lang="en-US" sz="2600" dirty="0">
                <a:latin typeface="Courier New" panose="02070309020205020404" pitchFamily="49" charset="0"/>
                <a:cs typeface="Courier New" panose="02070309020205020404" pitchFamily="49" charset="0"/>
              </a:rPr>
              <a:t>padding-box</a:t>
            </a:r>
            <a:r>
              <a:rPr lang="en-US" dirty="0"/>
              <a:t> </a:t>
            </a:r>
            <a:r>
              <a:rPr lang="en-IN" dirty="0"/>
              <a:t>extends the background through the padding space</a:t>
            </a:r>
            <a:endParaRPr lang="en-US" dirty="0"/>
          </a:p>
          <a:p>
            <a:pPr lvl="1"/>
            <a:r>
              <a:rPr lang="en-US" sz="2600" dirty="0">
                <a:latin typeface="Courier New" panose="02070309020205020404" pitchFamily="49" charset="0"/>
                <a:cs typeface="Courier New" panose="02070309020205020404" pitchFamily="49" charset="0"/>
              </a:rPr>
              <a:t>border-box </a:t>
            </a:r>
            <a:r>
              <a:rPr lang="en-IN" dirty="0"/>
              <a:t>extends the background through the border space</a:t>
            </a:r>
            <a:endParaRPr lang="en-US" dirty="0"/>
          </a:p>
        </p:txBody>
      </p:sp>
    </p:spTree>
    <p:extLst>
      <p:ext uri="{BB962C8B-B14F-4D97-AF65-F5344CB8AC3E}">
        <p14:creationId xmlns:p14="http://schemas.microsoft.com/office/powerpoint/2010/main" val="29949615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Sizing and Clipping an Image</a:t>
            </a:r>
          </a:p>
        </p:txBody>
      </p:sp>
      <p:sp>
        <p:nvSpPr>
          <p:cNvPr id="3" name="Text Placeholder 2"/>
          <p:cNvSpPr>
            <a:spLocks noGrp="1"/>
          </p:cNvSpPr>
          <p:nvPr>
            <p:ph type="body" sz="quarter" idx="17"/>
          </p:nvPr>
        </p:nvSpPr>
        <p:spPr/>
        <p:txBody>
          <a:bodyPr/>
          <a:lstStyle/>
          <a:p>
            <a:r>
              <a:rPr lang="en-US" dirty="0"/>
              <a:t>By default, the size of a background image equals the size stored in its image file</a:t>
            </a:r>
          </a:p>
          <a:p>
            <a:r>
              <a:rPr lang="en-US" dirty="0"/>
              <a:t>This size can be changed by using the following property:</a:t>
            </a:r>
          </a:p>
          <a:p>
            <a:pPr marL="457200" lvl="1" indent="0">
              <a:buNone/>
            </a:pPr>
            <a:r>
              <a:rPr lang="en-US" dirty="0"/>
              <a:t>	</a:t>
            </a:r>
            <a:r>
              <a:rPr lang="en-IN" sz="2600" dirty="0">
                <a:latin typeface="Courier New" panose="02070309020205020404" pitchFamily="49" charset="0"/>
                <a:cs typeface="Courier New" panose="02070309020205020404" pitchFamily="49" charset="0"/>
              </a:rPr>
              <a:t>background-size: </a:t>
            </a:r>
            <a:r>
              <a:rPr lang="en-IN" sz="2600" i="1" dirty="0">
                <a:latin typeface="Courier New" panose="02070309020205020404" pitchFamily="49" charset="0"/>
                <a:cs typeface="Courier New" panose="02070309020205020404" pitchFamily="49" charset="0"/>
              </a:rPr>
              <a:t>width height</a:t>
            </a:r>
            <a:r>
              <a:rPr lang="en-IN" sz="2600" dirty="0"/>
              <a:t>;</a:t>
            </a:r>
          </a:p>
          <a:p>
            <a:pPr marL="457200" lvl="1" indent="0">
              <a:buNone/>
            </a:pPr>
            <a:r>
              <a:rPr lang="en-US" sz="3200" dirty="0"/>
              <a:t>where</a:t>
            </a:r>
            <a:r>
              <a:rPr lang="en-US" dirty="0"/>
              <a:t> </a:t>
            </a:r>
            <a:r>
              <a:rPr lang="en-IN" sz="2600" i="1" dirty="0">
                <a:latin typeface="Courier New" panose="02070309020205020404" pitchFamily="49" charset="0"/>
                <a:cs typeface="Courier New" panose="02070309020205020404" pitchFamily="49" charset="0"/>
              </a:rPr>
              <a:t>width</a:t>
            </a:r>
            <a:r>
              <a:rPr lang="en-IN" i="1" dirty="0">
                <a:cs typeface="Courier New" panose="02070309020205020404" pitchFamily="49" charset="0"/>
              </a:rPr>
              <a:t> </a:t>
            </a:r>
            <a:r>
              <a:rPr lang="en-IN" sz="3200" dirty="0">
                <a:cs typeface="Courier New" panose="02070309020205020404" pitchFamily="49" charset="0"/>
              </a:rPr>
              <a:t>and</a:t>
            </a:r>
            <a:r>
              <a:rPr lang="en-IN" i="1" dirty="0">
                <a:cs typeface="Courier New" panose="02070309020205020404" pitchFamily="49" charset="0"/>
              </a:rPr>
              <a:t> </a:t>
            </a:r>
            <a:r>
              <a:rPr lang="en-IN" sz="2600" i="1" dirty="0">
                <a:latin typeface="Courier New" panose="02070309020205020404" pitchFamily="49" charset="0"/>
                <a:cs typeface="Courier New" panose="02070309020205020404" pitchFamily="49" charset="0"/>
              </a:rPr>
              <a:t>height</a:t>
            </a:r>
            <a:r>
              <a:rPr lang="en-IN" sz="2600" i="1" dirty="0">
                <a:cs typeface="Courier New" panose="02070309020205020404" pitchFamily="49" charset="0"/>
              </a:rPr>
              <a:t> </a:t>
            </a:r>
            <a:r>
              <a:rPr lang="en-IN" sz="3200" dirty="0">
                <a:cs typeface="Courier New" panose="02070309020205020404" pitchFamily="49" charset="0"/>
              </a:rPr>
              <a:t>can be specified in pixels or by using the keywords </a:t>
            </a:r>
            <a:r>
              <a:rPr lang="en-IN" sz="2600" dirty="0">
                <a:latin typeface="Courier New" panose="02070309020205020404" pitchFamily="49" charset="0"/>
                <a:cs typeface="Courier New" panose="02070309020205020404" pitchFamily="49" charset="0"/>
              </a:rPr>
              <a:t>auto,</a:t>
            </a:r>
            <a:r>
              <a:rPr lang="en-IN" sz="2600" dirty="0">
                <a:cs typeface="Courier New" panose="02070309020205020404" pitchFamily="49" charset="0"/>
              </a:rPr>
              <a:t> </a:t>
            </a:r>
            <a:r>
              <a:rPr lang="en-IN" sz="2600" dirty="0">
                <a:latin typeface="Courier New" panose="02070309020205020404" pitchFamily="49" charset="0"/>
                <a:cs typeface="Courier New" panose="02070309020205020404" pitchFamily="49" charset="0"/>
              </a:rPr>
              <a:t>cover,</a:t>
            </a:r>
            <a:r>
              <a:rPr lang="en-IN" sz="2600" dirty="0">
                <a:cs typeface="Courier New" panose="02070309020205020404" pitchFamily="49" charset="0"/>
              </a:rPr>
              <a:t> </a:t>
            </a:r>
            <a:r>
              <a:rPr lang="en-IN" sz="3200" dirty="0">
                <a:cs typeface="Courier New" panose="02070309020205020404" pitchFamily="49" charset="0"/>
              </a:rPr>
              <a:t>and</a:t>
            </a:r>
            <a:r>
              <a:rPr lang="en-IN" sz="2600" dirty="0">
                <a:cs typeface="Courier New" panose="02070309020205020404" pitchFamily="49" charset="0"/>
              </a:rPr>
              <a:t> </a:t>
            </a:r>
            <a:r>
              <a:rPr lang="en-IN" sz="2600" dirty="0">
                <a:latin typeface="Courier New" panose="02070309020205020404" pitchFamily="49" charset="0"/>
                <a:cs typeface="Courier New" panose="02070309020205020404" pitchFamily="49" charset="0"/>
              </a:rPr>
              <a:t>contain</a:t>
            </a:r>
          </a:p>
        </p:txBody>
      </p:sp>
    </p:spTree>
    <p:extLst>
      <p:ext uri="{BB962C8B-B14F-4D97-AF65-F5344CB8AC3E}">
        <p14:creationId xmlns:p14="http://schemas.microsoft.com/office/powerpoint/2010/main" val="30821703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Sizing and Clipping an Image (continued)</a:t>
            </a:r>
          </a:p>
        </p:txBody>
      </p:sp>
      <p:pic>
        <p:nvPicPr>
          <p:cNvPr id="4" name="Picture Placeholder 3" descr="This figure explains examples of background-size types.&#10;The figure consists of three vertical rectangular boxes positioned side by side. The first rectangular box labeled “image is scaled at the specified dimensions” consists of an image of various people positioned at the top-left corner that covers one-fourth of the rectangular box. The right side of the image is marked “300px” and the bottom of the image is marked “200px”. A text that reads “background-size: 200px 300px;” is positioned above the first rectangular box.&#10;The second rectangular box labeled “image is resized to fill the background, but part of the image is cropped” consists of an image that fills the rectangular box. A text that reads “background-size: cover;” is positioned above the second rectangular box.&#10;The third rectangular box labeled “image is resized so that it is contained within the element, but part of the background is left uncovered” consists of an image that covers three-fourth of the third rectangular box. A text that reads “background-size: contain;” is positioned above the third rectangular box.&#10;The source is mentioned below the figure,  reads “Source: Wikimedia Commons”." title="Figure 4-7 Examples of background-size types"/>
          <p:cNvPicPr>
            <a:picLocks noGrp="1" noChangeAspect="1"/>
          </p:cNvPicPr>
          <p:nvPr>
            <p:ph type="pic" sz="quarter" idx="10"/>
          </p:nvPr>
        </p:nvPicPr>
        <p:blipFill>
          <a:blip r:embed="rId2"/>
          <a:stretch>
            <a:fillRect/>
          </a:stretch>
        </p:blipFill>
        <p:spPr>
          <a:xfrm>
            <a:off x="961653" y="1533378"/>
            <a:ext cx="7220693" cy="4206839"/>
          </a:xfrm>
          <a:prstGeom prst="rect">
            <a:avLst/>
          </a:prstGeom>
        </p:spPr>
      </p:pic>
    </p:spTree>
    <p:extLst>
      <p:ext uri="{BB962C8B-B14F-4D97-AF65-F5344CB8AC3E}">
        <p14:creationId xmlns:p14="http://schemas.microsoft.com/office/powerpoint/2010/main" val="10303986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a:latin typeface="Courier New" panose="02070309020205020404" pitchFamily="49" charset="0"/>
                <a:cs typeface="Courier New" panose="02070309020205020404" pitchFamily="49" charset="0"/>
              </a:rPr>
              <a:t>background</a:t>
            </a:r>
            <a:r>
              <a:rPr lang="en-US" dirty="0"/>
              <a:t> Property</a:t>
            </a:r>
          </a:p>
        </p:txBody>
      </p:sp>
      <p:sp>
        <p:nvSpPr>
          <p:cNvPr id="3" name="Text Placeholder 2"/>
          <p:cNvSpPr>
            <a:spLocks noGrp="1"/>
          </p:cNvSpPr>
          <p:nvPr>
            <p:ph type="body" sz="quarter" idx="17"/>
          </p:nvPr>
        </p:nvSpPr>
        <p:spPr/>
        <p:txBody>
          <a:bodyPr>
            <a:normAutofit/>
          </a:bodyPr>
          <a:lstStyle/>
          <a:p>
            <a:r>
              <a:rPr lang="en-US" dirty="0"/>
              <a:t>Different background options can be organized using the following property:</a:t>
            </a:r>
          </a:p>
          <a:p>
            <a:pPr marL="457200" indent="0">
              <a:buNone/>
            </a:pPr>
            <a:r>
              <a:rPr lang="en-US" sz="2600" dirty="0">
                <a:latin typeface="Courier New" panose="02070309020205020404" pitchFamily="49" charset="0"/>
                <a:cs typeface="Courier New" panose="02070309020205020404" pitchFamily="49" charset="0"/>
              </a:rPr>
              <a:t>background: color url(url) position/size repeat attachment origin clip;</a:t>
            </a:r>
          </a:p>
          <a:p>
            <a:pPr marL="457200" indent="0">
              <a:buNone/>
            </a:pPr>
            <a:r>
              <a:rPr lang="en-US" dirty="0"/>
              <a:t>where </a:t>
            </a:r>
            <a:r>
              <a:rPr lang="en-US" sz="2600" dirty="0">
                <a:latin typeface="Courier New" panose="02070309020205020404" pitchFamily="49" charset="0"/>
                <a:cs typeface="Courier New" panose="02070309020205020404" pitchFamily="49" charset="0"/>
              </a:rPr>
              <a:t>color</a:t>
            </a:r>
            <a:r>
              <a:rPr lang="en-US" dirty="0"/>
              <a:t> is the background color, </a:t>
            </a:r>
            <a:r>
              <a:rPr lang="en-US" sz="2800" dirty="0">
                <a:latin typeface="Courier New" panose="02070309020205020404" pitchFamily="49" charset="0"/>
                <a:cs typeface="Courier New" panose="02070309020205020404" pitchFamily="49" charset="0"/>
              </a:rPr>
              <a:t>url</a:t>
            </a:r>
            <a:r>
              <a:rPr lang="en-US" dirty="0"/>
              <a:t> is the source of the background image, and </a:t>
            </a:r>
            <a:r>
              <a:rPr lang="en-US" sz="2800" dirty="0">
                <a:latin typeface="Courier New" panose="02070309020205020404" pitchFamily="49" charset="0"/>
                <a:cs typeface="Courier New" panose="02070309020205020404" pitchFamily="49" charset="0"/>
              </a:rPr>
              <a:t>position</a:t>
            </a:r>
            <a:r>
              <a:rPr lang="en-US" dirty="0"/>
              <a:t> is the image’s position</a:t>
            </a:r>
          </a:p>
        </p:txBody>
      </p:sp>
    </p:spTree>
    <p:extLst>
      <p:ext uri="{BB962C8B-B14F-4D97-AF65-F5344CB8AC3E}">
        <p14:creationId xmlns:p14="http://schemas.microsoft.com/office/powerpoint/2010/main" val="33540764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a:latin typeface="Courier New" panose="02070309020205020404" pitchFamily="49" charset="0"/>
                <a:cs typeface="Courier New" panose="02070309020205020404" pitchFamily="49" charset="0"/>
              </a:rPr>
              <a:t>background</a:t>
            </a:r>
            <a:r>
              <a:rPr lang="en-US" dirty="0"/>
              <a:t> Property (continued)</a:t>
            </a:r>
          </a:p>
        </p:txBody>
      </p:sp>
      <p:sp>
        <p:nvSpPr>
          <p:cNvPr id="3" name="Text Placeholder 2"/>
          <p:cNvSpPr>
            <a:spLocks noGrp="1"/>
          </p:cNvSpPr>
          <p:nvPr>
            <p:ph type="body" sz="quarter" idx="17"/>
          </p:nvPr>
        </p:nvSpPr>
        <p:spPr/>
        <p:txBody>
          <a:bodyPr>
            <a:normAutofit/>
          </a:bodyPr>
          <a:lstStyle/>
          <a:p>
            <a:pPr marL="457200" indent="0">
              <a:buNone/>
            </a:pPr>
            <a:r>
              <a:rPr lang="en-US" sz="2600" dirty="0">
                <a:latin typeface="Courier New" panose="02070309020205020404" pitchFamily="49" charset="0"/>
                <a:cs typeface="Courier New" panose="02070309020205020404" pitchFamily="49" charset="0"/>
              </a:rPr>
              <a:t>size</a:t>
            </a:r>
            <a:r>
              <a:rPr lang="en-US" dirty="0"/>
              <a:t> sets the image size</a:t>
            </a:r>
          </a:p>
          <a:p>
            <a:pPr marL="457200" indent="0">
              <a:buNone/>
            </a:pPr>
            <a:r>
              <a:rPr lang="en-US" sz="2600" dirty="0">
                <a:latin typeface="Courier New" panose="02070309020205020404" pitchFamily="49" charset="0"/>
                <a:cs typeface="Courier New" panose="02070309020205020404" pitchFamily="49" charset="0"/>
              </a:rPr>
              <a:t>repeat</a:t>
            </a:r>
            <a:r>
              <a:rPr lang="en-US" dirty="0"/>
              <a:t> sets the tiling of the image</a:t>
            </a:r>
          </a:p>
          <a:p>
            <a:pPr marL="457200" indent="0">
              <a:buNone/>
            </a:pPr>
            <a:r>
              <a:rPr lang="en-US" sz="2600" dirty="0">
                <a:latin typeface="Courier New" panose="02070309020205020404" pitchFamily="49" charset="0"/>
                <a:cs typeface="Courier New" panose="02070309020205020404" pitchFamily="49" charset="0"/>
              </a:rPr>
              <a:t>attachment</a:t>
            </a:r>
            <a:r>
              <a:rPr lang="en-US" dirty="0"/>
              <a:t> specifies whether the image scrolls with the content or is fixed</a:t>
            </a:r>
          </a:p>
          <a:p>
            <a:pPr marL="457200" indent="0">
              <a:buNone/>
            </a:pPr>
            <a:r>
              <a:rPr lang="en-US" sz="2600" dirty="0">
                <a:latin typeface="Courier New" panose="02070309020205020404" pitchFamily="49" charset="0"/>
                <a:cs typeface="Courier New" panose="02070309020205020404" pitchFamily="49" charset="0"/>
              </a:rPr>
              <a:t>origin</a:t>
            </a:r>
            <a:r>
              <a:rPr lang="en-US" dirty="0"/>
              <a:t> defines how positions are measured on the background</a:t>
            </a:r>
          </a:p>
          <a:p>
            <a:pPr marL="457200" indent="0">
              <a:buNone/>
            </a:pPr>
            <a:r>
              <a:rPr lang="en-US" sz="2600" dirty="0">
                <a:latin typeface="Courier New" panose="02070309020205020404" pitchFamily="49" charset="0"/>
                <a:cs typeface="Courier New" panose="02070309020205020404" pitchFamily="49" charset="0"/>
              </a:rPr>
              <a:t>clip</a:t>
            </a:r>
            <a:r>
              <a:rPr lang="en-US" dirty="0"/>
              <a:t> specifies the extent over which the background is spread</a:t>
            </a:r>
          </a:p>
        </p:txBody>
      </p:sp>
    </p:spTree>
    <p:extLst>
      <p:ext uri="{BB962C8B-B14F-4D97-AF65-F5344CB8AC3E}">
        <p14:creationId xmlns:p14="http://schemas.microsoft.com/office/powerpoint/2010/main" val="17813824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Multiple Backgrounds</a:t>
            </a:r>
          </a:p>
        </p:txBody>
      </p:sp>
      <p:sp>
        <p:nvSpPr>
          <p:cNvPr id="3" name="Text Placeholder 2"/>
          <p:cNvSpPr>
            <a:spLocks noGrp="1"/>
          </p:cNvSpPr>
          <p:nvPr>
            <p:ph type="body" sz="quarter" idx="17"/>
          </p:nvPr>
        </p:nvSpPr>
        <p:spPr/>
        <p:txBody>
          <a:bodyPr/>
          <a:lstStyle/>
          <a:p>
            <a:r>
              <a:rPr lang="en-US" dirty="0"/>
              <a:t>Multiple backgrounds can be added to a single element by listing the backgrounds in the following comma-separated list:</a:t>
            </a:r>
          </a:p>
          <a:p>
            <a:pPr marL="457200" indent="0">
              <a:buNone/>
            </a:pPr>
            <a:r>
              <a:rPr lang="en-US" sz="2600" dirty="0">
                <a:latin typeface="Courier New" panose="02070309020205020404" pitchFamily="49" charset="0"/>
                <a:cs typeface="Courier New" panose="02070309020205020404" pitchFamily="49" charset="0"/>
              </a:rPr>
              <a:t>background: background1, background2, …;</a:t>
            </a:r>
          </a:p>
        </p:txBody>
      </p:sp>
    </p:spTree>
    <p:extLst>
      <p:ext uri="{BB962C8B-B14F-4D97-AF65-F5344CB8AC3E}">
        <p14:creationId xmlns:p14="http://schemas.microsoft.com/office/powerpoint/2010/main" val="40573967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Multiple Backgrounds (continued)</a:t>
            </a:r>
          </a:p>
        </p:txBody>
      </p:sp>
      <p:pic>
        <p:nvPicPr>
          <p:cNvPr id="5" name="Picture Placeholder 4" descr="This figure explains how to add multiple background images to a web page.&#10;The first line of the code reads “/* Article Styles */”. The second line reads “article {”. The third line reads “background: url(tb_back2.png) bottom right / 15% no-repeat content-box,”. There are four rectangular boxes in this figure. The first rectangular box labeled “commas used to separate one background from the next” is positioned at the top-right corner of the figure. An arrow originating from the first rectangular box points to the comma at the end of the third line.&#10;The fourth line reads “url(tb_back3.png) bottom left / 15% no-repeat content-box,”. The second rectangular box labeled “places the second background image at the lower-left corner of the article content with no tiling and a width of 15%” is positioned to the left of the figure. An arrow originating from the second rectangular box points to the fourth line of the code.&#10;The fifth line reads “url(tb_back4.png) 100% / cover no-repeat,”. The third rectangular box labeled “places the third background image, scaled to cover all of the padding box of the article without repeating” is positioned below the second rectangular box. An arrow originating from the third rectangular box points to the fifth line of the code.&#10;The sixth line reads “rgb(211, 211, 211);”. The fourth rectangular box labeled “uses a gray color as the background if the browser doesn’t support background images” is positioned at the bottom of the figure. An arrow originating from the fourth rectangular box points to the sixth line of the code. The seventh line reads “}”.&#10;" title="Figure 4-10"/>
          <p:cNvPicPr>
            <a:picLocks noGrp="1" noChangeAspect="1"/>
          </p:cNvPicPr>
          <p:nvPr>
            <p:ph type="pic" sz="quarter" idx="10"/>
          </p:nvPr>
        </p:nvPicPr>
        <p:blipFill>
          <a:blip r:embed="rId2"/>
          <a:stretch>
            <a:fillRect/>
          </a:stretch>
        </p:blipFill>
        <p:spPr>
          <a:xfrm>
            <a:off x="715526" y="2201541"/>
            <a:ext cx="7712947" cy="2367950"/>
          </a:xfrm>
          <a:prstGeom prst="rect">
            <a:avLst/>
          </a:prstGeom>
        </p:spPr>
      </p:pic>
    </p:spTree>
    <p:extLst>
      <p:ext uri="{BB962C8B-B14F-4D97-AF65-F5344CB8AC3E}">
        <p14:creationId xmlns:p14="http://schemas.microsoft.com/office/powerpoint/2010/main" val="1398681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Border Width and Color</a:t>
            </a:r>
          </a:p>
        </p:txBody>
      </p:sp>
      <p:sp>
        <p:nvSpPr>
          <p:cNvPr id="3" name="Text Placeholder 2"/>
          <p:cNvSpPr>
            <a:spLocks noGrp="1"/>
          </p:cNvSpPr>
          <p:nvPr>
            <p:ph type="body" sz="quarter" idx="17"/>
          </p:nvPr>
        </p:nvSpPr>
        <p:spPr/>
        <p:txBody>
          <a:bodyPr/>
          <a:lstStyle/>
          <a:p>
            <a:r>
              <a:rPr lang="en-US" dirty="0"/>
              <a:t>There are several style properties that can be used to format the border around each element using CSS</a:t>
            </a:r>
          </a:p>
          <a:p>
            <a:r>
              <a:rPr lang="en-US" dirty="0"/>
              <a:t>To define the thickness of a specific border, the following property can be used:</a:t>
            </a:r>
          </a:p>
          <a:p>
            <a:pPr marL="457200" indent="0">
              <a:buNone/>
            </a:pPr>
            <a:r>
              <a:rPr lang="en-US" sz="2600" dirty="0">
                <a:latin typeface="Courier New" panose="02070309020205020404" pitchFamily="49" charset="0"/>
                <a:cs typeface="Courier New" panose="02070309020205020404" pitchFamily="49" charset="0"/>
              </a:rPr>
              <a:t>border-side-width: width;</a:t>
            </a:r>
          </a:p>
          <a:p>
            <a:pPr marL="457200" indent="0">
              <a:buNone/>
            </a:pPr>
            <a:r>
              <a:rPr lang="en-US" dirty="0"/>
              <a:t>where </a:t>
            </a:r>
            <a:r>
              <a:rPr lang="en-US" sz="2600" dirty="0">
                <a:latin typeface="Courier New" panose="02070309020205020404" pitchFamily="49" charset="0"/>
                <a:cs typeface="Courier New" panose="02070309020205020404" pitchFamily="49" charset="0"/>
              </a:rPr>
              <a:t>side</a:t>
            </a:r>
            <a:r>
              <a:rPr lang="en-US" dirty="0"/>
              <a:t> is either </a:t>
            </a:r>
            <a:r>
              <a:rPr lang="en-US" sz="2600" dirty="0">
                <a:latin typeface="Courier New" panose="02070309020205020404" pitchFamily="49" charset="0"/>
                <a:cs typeface="Courier New" panose="02070309020205020404" pitchFamily="49" charset="0"/>
              </a:rPr>
              <a:t>top</a:t>
            </a:r>
            <a:r>
              <a:rPr lang="en-US" dirty="0"/>
              <a:t>, </a:t>
            </a:r>
            <a:r>
              <a:rPr lang="en-US" sz="2600" dirty="0">
                <a:latin typeface="Courier New" panose="02070309020205020404" pitchFamily="49" charset="0"/>
                <a:cs typeface="Courier New" panose="02070309020205020404" pitchFamily="49" charset="0"/>
              </a:rPr>
              <a:t>right</a:t>
            </a:r>
            <a:r>
              <a:rPr lang="en-US" dirty="0"/>
              <a:t>, </a:t>
            </a:r>
            <a:r>
              <a:rPr lang="en-US" sz="2600" dirty="0">
                <a:latin typeface="Courier New" panose="02070309020205020404" pitchFamily="49" charset="0"/>
                <a:cs typeface="Courier New" panose="02070309020205020404" pitchFamily="49" charset="0"/>
              </a:rPr>
              <a:t>bottom</a:t>
            </a:r>
            <a:r>
              <a:rPr lang="en-US" dirty="0"/>
              <a:t>, or </a:t>
            </a:r>
            <a:r>
              <a:rPr lang="en-US" sz="2600" dirty="0">
                <a:latin typeface="Courier New" panose="02070309020205020404" pitchFamily="49" charset="0"/>
                <a:cs typeface="Courier New" panose="02070309020205020404" pitchFamily="49" charset="0"/>
              </a:rPr>
              <a:t>left</a:t>
            </a:r>
            <a:r>
              <a:rPr lang="en-US" dirty="0"/>
              <a:t> and </a:t>
            </a:r>
            <a:r>
              <a:rPr lang="en-US" sz="2600" dirty="0">
                <a:latin typeface="Courier New" panose="02070309020205020404" pitchFamily="49" charset="0"/>
                <a:cs typeface="Courier New" panose="02070309020205020404" pitchFamily="49" charset="0"/>
              </a:rPr>
              <a:t>width</a:t>
            </a:r>
            <a:r>
              <a:rPr lang="en-US" dirty="0"/>
              <a:t> is the width of the border in one of the CSS units of measure</a:t>
            </a:r>
          </a:p>
        </p:txBody>
      </p:sp>
    </p:spTree>
    <p:extLst>
      <p:ext uri="{BB962C8B-B14F-4D97-AF65-F5344CB8AC3E}">
        <p14:creationId xmlns:p14="http://schemas.microsoft.com/office/powerpoint/2010/main" val="9838992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the Border Design</a:t>
            </a:r>
          </a:p>
        </p:txBody>
      </p:sp>
      <p:sp>
        <p:nvSpPr>
          <p:cNvPr id="3" name="Text Placeholder 2"/>
          <p:cNvSpPr>
            <a:spLocks noGrp="1"/>
          </p:cNvSpPr>
          <p:nvPr>
            <p:ph type="body" sz="quarter" idx="17"/>
          </p:nvPr>
        </p:nvSpPr>
        <p:spPr/>
        <p:txBody>
          <a:bodyPr/>
          <a:lstStyle/>
          <a:p>
            <a:r>
              <a:rPr lang="en-US" dirty="0"/>
              <a:t>The appearance of borders can be further defined by using the following style:</a:t>
            </a:r>
          </a:p>
          <a:p>
            <a:pPr marL="457200" indent="0">
              <a:buNone/>
            </a:pPr>
            <a:r>
              <a:rPr lang="en-US" sz="2600" dirty="0">
                <a:latin typeface="Courier New" panose="02070309020205020404" pitchFamily="49" charset="0"/>
                <a:cs typeface="Courier New" panose="02070309020205020404" pitchFamily="49" charset="0"/>
              </a:rPr>
              <a:t>border-side-style: style;</a:t>
            </a:r>
          </a:p>
          <a:p>
            <a:pPr marL="457200" indent="0">
              <a:buNone/>
            </a:pPr>
            <a:r>
              <a:rPr lang="en-US" dirty="0"/>
              <a:t>where </a:t>
            </a:r>
            <a:r>
              <a:rPr lang="en-US" sz="2600" dirty="0">
                <a:latin typeface="Courier New" panose="02070309020205020404" pitchFamily="49" charset="0"/>
                <a:cs typeface="Courier New" panose="02070309020205020404" pitchFamily="49" charset="0"/>
              </a:rPr>
              <a:t>side</a:t>
            </a:r>
            <a:r>
              <a:rPr lang="en-US" dirty="0"/>
              <a:t> in indicates the border side and </a:t>
            </a:r>
            <a:r>
              <a:rPr lang="en-US" sz="2600" dirty="0">
                <a:latin typeface="Courier New" panose="02070309020205020404" pitchFamily="49" charset="0"/>
                <a:cs typeface="Courier New" panose="02070309020205020404" pitchFamily="49" charset="0"/>
              </a:rPr>
              <a:t>style</a:t>
            </a:r>
            <a:r>
              <a:rPr lang="en-US" dirty="0"/>
              <a:t> specifies one of the nine border styles</a:t>
            </a:r>
          </a:p>
        </p:txBody>
      </p:sp>
    </p:spTree>
    <p:extLst>
      <p:ext uri="{BB962C8B-B14F-4D97-AF65-F5344CB8AC3E}">
        <p14:creationId xmlns:p14="http://schemas.microsoft.com/office/powerpoint/2010/main" val="36765216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the Border Design</a:t>
            </a:r>
            <a:br>
              <a:rPr lang="en-US" dirty="0"/>
            </a:br>
            <a:r>
              <a:rPr lang="en-US" dirty="0"/>
              <a:t>(continued)</a:t>
            </a:r>
          </a:p>
        </p:txBody>
      </p:sp>
      <p:pic>
        <p:nvPicPr>
          <p:cNvPr id="5" name="Picture 2" descr="This figure explains how to add borders to the page body and aside element.&#10;The first line of the code reads “/* Page Body Styles */”. The second line reads “body {”. The third line reads “border-left: 1px solid rgb(51, 51, 51);” and the fourth line reads “border-right: 1px solid rgb(51, 51, 51);”. There are two rectangular boxes in this figure. The first rectangular box labeled “adds a 1-pixel solid gray border to the left and right edges of the page body” is positioned on the left side of the figure. An arrow originating from the first rectangular box points to the third and fourth lines of the code. The fifth line reads “}”.&#10;The sixth line reads “/* Aside Styles */”. The seventh line reads “aside {”. The eighth line reads “border: 4px double rgb(45, 93, 62);”. The second rectangular box labeled “adds a 4-pixel double medium green border to the aside element” is positioned below the first rectangular box. An arrow originating from the second rectangular box points to the eighth line of the code. The ninth line reads “}”.&#10;" title="Figure 4-13 Adding borders to the page body and aside element"/>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tretch>
            <a:fillRect/>
          </a:stretch>
        </p:blipFill>
        <p:spPr bwMode="auto">
          <a:xfrm>
            <a:off x="371475" y="1766515"/>
            <a:ext cx="8143875" cy="3467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338746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Rounded Corners</a:t>
            </a:r>
          </a:p>
        </p:txBody>
      </p:sp>
      <p:sp>
        <p:nvSpPr>
          <p:cNvPr id="3" name="Text Placeholder 2"/>
          <p:cNvSpPr>
            <a:spLocks noGrp="1"/>
          </p:cNvSpPr>
          <p:nvPr>
            <p:ph type="body" sz="quarter" idx="17"/>
          </p:nvPr>
        </p:nvSpPr>
        <p:spPr/>
        <p:txBody>
          <a:bodyPr/>
          <a:lstStyle/>
          <a:p>
            <a:r>
              <a:rPr lang="en-US" dirty="0"/>
              <a:t>Any of the four corners of a border can be rounded off by applying the following property:</a:t>
            </a:r>
          </a:p>
          <a:p>
            <a:pPr marL="457200" indent="0">
              <a:buNone/>
            </a:pPr>
            <a:r>
              <a:rPr lang="en-US" sz="2600" dirty="0">
                <a:latin typeface="Courier New" panose="02070309020205020404" pitchFamily="49" charset="0"/>
                <a:cs typeface="Courier New" panose="02070309020205020404" pitchFamily="49" charset="0"/>
              </a:rPr>
              <a:t>border-radius: top-left top-right bottom-right bottom-left;</a:t>
            </a:r>
          </a:p>
          <a:p>
            <a:pPr marL="457200" indent="0">
              <a:buNone/>
            </a:pPr>
            <a:r>
              <a:rPr lang="en-US" dirty="0"/>
              <a:t>where </a:t>
            </a:r>
            <a:r>
              <a:rPr lang="en-US" sz="2600" dirty="0">
                <a:latin typeface="Courier New" panose="02070309020205020404" pitchFamily="49" charset="0"/>
                <a:cs typeface="Courier New" panose="02070309020205020404" pitchFamily="49" charset="0"/>
              </a:rPr>
              <a:t>top-left</a:t>
            </a:r>
            <a:r>
              <a:rPr lang="en-US" dirty="0"/>
              <a:t>, </a:t>
            </a:r>
            <a:r>
              <a:rPr lang="en-US" sz="2600" dirty="0">
                <a:latin typeface="Courier New" panose="02070309020205020404" pitchFamily="49" charset="0"/>
                <a:cs typeface="Courier New" panose="02070309020205020404" pitchFamily="49" charset="0"/>
              </a:rPr>
              <a:t>top-right</a:t>
            </a:r>
            <a:r>
              <a:rPr lang="en-US" dirty="0"/>
              <a:t>, </a:t>
            </a:r>
            <a:r>
              <a:rPr lang="en-US" sz="2600" dirty="0">
                <a:latin typeface="Courier New" panose="02070309020205020404" pitchFamily="49" charset="0"/>
                <a:cs typeface="Courier New" panose="02070309020205020404" pitchFamily="49" charset="0"/>
              </a:rPr>
              <a:t>bottom-right</a:t>
            </a:r>
            <a:r>
              <a:rPr lang="en-US" dirty="0"/>
              <a:t>, and </a:t>
            </a:r>
            <a:r>
              <a:rPr lang="en-US" sz="2600" dirty="0">
                <a:latin typeface="Courier New" panose="02070309020205020404" pitchFamily="49" charset="0"/>
                <a:cs typeface="Courier New" panose="02070309020205020404" pitchFamily="49" charset="0"/>
              </a:rPr>
              <a:t>bottom-left</a:t>
            </a:r>
            <a:r>
              <a:rPr lang="en-US" dirty="0"/>
              <a:t> are the radii of the individual corners</a:t>
            </a:r>
          </a:p>
        </p:txBody>
      </p:sp>
    </p:spTree>
    <p:extLst>
      <p:ext uri="{BB962C8B-B14F-4D97-AF65-F5344CB8AC3E}">
        <p14:creationId xmlns:p14="http://schemas.microsoft.com/office/powerpoint/2010/main" val="7800319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Rounded Corners</a:t>
            </a:r>
            <a:br>
              <a:rPr lang="en-US" dirty="0"/>
            </a:br>
            <a:r>
              <a:rPr lang="en-US" dirty="0"/>
              <a:t>(continued 1)</a:t>
            </a:r>
          </a:p>
        </p:txBody>
      </p:sp>
      <p:pic>
        <p:nvPicPr>
          <p:cNvPr id="4" name="Picture Placeholder 3" descr="This figure explains the rounded corners based on corner radii.&#10;The figure consists of a square with rounded corners. There are four circles placed at the four corners of this square. The first circle is positioned at the top-left corner of the square. Two lines, perpendicular to each other, are drawn from the center of the first circle toward the top-left corner of the square. The lines are marked “20px” each.&#10;The second circle is positioned at the top-right corner of the square. Two lines, perpendicular to each other, are drawn from the center of the second circle toward the top-right corner of the square. The lines are marked “60px” each.&#10;The third circle is positioned at the bottom-right corner of the square. Two lines, perpendicular to each other, are drawn from the center of the third circle toward the bottom-right corner of the square. The lines are marked “100px” each.&#10;The fourth circle is positioned at the bottom-left corner of the square. Two lines, perpendicular to each other, are drawn from the center of the fourth circle toward the bottom-left corner of the square. The lines are marked “140px” each.&#10;A text that reads “border-radius: 20px 60px 100px 140px;” is positioned at the bottom of the figure.&#10;" title="Figure 4-15 Setting rounded corners based on corner radii"/>
          <p:cNvPicPr>
            <a:picLocks noGrp="1" noChangeAspect="1"/>
          </p:cNvPicPr>
          <p:nvPr>
            <p:ph type="pic" sz="quarter" idx="10"/>
          </p:nvPr>
        </p:nvPicPr>
        <p:blipFill>
          <a:blip r:embed="rId2"/>
          <a:stretch>
            <a:fillRect/>
          </a:stretch>
        </p:blipFill>
        <p:spPr>
          <a:xfrm>
            <a:off x="1053874" y="1563287"/>
            <a:ext cx="7036251" cy="4417496"/>
          </a:xfrm>
          <a:prstGeom prst="rect">
            <a:avLst/>
          </a:prstGeom>
        </p:spPr>
      </p:pic>
    </p:spTree>
    <p:extLst>
      <p:ext uri="{BB962C8B-B14F-4D97-AF65-F5344CB8AC3E}">
        <p14:creationId xmlns:p14="http://schemas.microsoft.com/office/powerpoint/2010/main" val="20579153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Rounded Corners</a:t>
            </a:r>
            <a:br>
              <a:rPr lang="en-US" dirty="0"/>
            </a:br>
            <a:r>
              <a:rPr lang="en-US" dirty="0"/>
              <a:t>(continued 2)</a:t>
            </a:r>
          </a:p>
        </p:txBody>
      </p:sp>
      <p:pic>
        <p:nvPicPr>
          <p:cNvPr id="7" name="Picture Placeholder 6" descr="Figure 4-17 explains how to add rounded corners to the aside element border.&#10;The first line of the code reads “aside {”. The second line reads “border: 4px double rgb(45, 93, 62);”. The third line reads “border-radius: 30px;”. A rectangular box labeled “sets the radius at each border corner to 30 pixels” is positioned to the left of the figure. An arrow originating from the rectangular box points to the third line of the code. The fourth line reads “}”." title="Figure 4-17 Adding rounded corners to the aside element border"/>
          <p:cNvPicPr>
            <a:picLocks noGrp="1" noChangeAspect="1"/>
          </p:cNvPicPr>
          <p:nvPr>
            <p:ph type="pic" sz="quarter" idx="10"/>
          </p:nvPr>
        </p:nvPicPr>
        <p:blipFill>
          <a:blip r:embed="rId2"/>
          <a:stretch>
            <a:fillRect/>
          </a:stretch>
        </p:blipFill>
        <p:spPr>
          <a:xfrm>
            <a:off x="571506" y="2348397"/>
            <a:ext cx="8000988" cy="1407677"/>
          </a:xfrm>
          <a:prstGeom prst="rect">
            <a:avLst/>
          </a:prstGeom>
        </p:spPr>
      </p:pic>
    </p:spTree>
    <p:extLst>
      <p:ext uri="{BB962C8B-B14F-4D97-AF65-F5344CB8AC3E}">
        <p14:creationId xmlns:p14="http://schemas.microsoft.com/office/powerpoint/2010/main" val="3879019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Rounded Corners</a:t>
            </a:r>
            <a:br>
              <a:rPr lang="en-US" dirty="0"/>
            </a:br>
            <a:r>
              <a:rPr lang="en-US" dirty="0"/>
              <a:t>(continued 3)</a:t>
            </a:r>
          </a:p>
        </p:txBody>
      </p:sp>
      <p:pic>
        <p:nvPicPr>
          <p:cNvPr id="5" name="Picture Placeholder 4" descr="Figure 4-18 explains the aside element border with rounded corners.&#10;The figure consists of a rectangular box with an image of a man’s head at the bottom right corner. The rectangular box consists of a double-lined vertical rectangular box with rounded corners. The first line of the rectangular box reads a heading “Family Links”. The second line reads “Family Tree”, which is underlined. The third line reads “Scrapbook”, which is underlined. The fourth line reads “Timeline”, which is underlined. The fifth line reads “Message Board”, which is underlined. The sixth line reads “Extended Family”, which is underlined. The seventh line is left blank. The eighth line reads “Genta (1946 - 2019), which is underlined”. The ninth line reads “Mika (b. 1951)”, which is underlined. The tenth line reads “Ikko (b.1977)”, which is underlined. The eleventh line reads “Suzuko (Endo) (b. 1981)”, which is underlined. The twelfth line reads “Hiroji (b.2011)”, which is underlined. A rectangular box labeled “rounded corner” is placed on the left side of the figure. An arrow originating from the rectangular box points to the top left corner of the rectangular box with rounded corners." title="Figure 4-18 Aside element border with rounded corners"/>
          <p:cNvPicPr>
            <a:picLocks noGrp="1" noChangeAspect="1"/>
          </p:cNvPicPr>
          <p:nvPr>
            <p:ph type="pic" sz="quarter" idx="10"/>
          </p:nvPr>
        </p:nvPicPr>
        <p:blipFill>
          <a:blip r:embed="rId2"/>
          <a:stretch>
            <a:fillRect/>
          </a:stretch>
        </p:blipFill>
        <p:spPr>
          <a:xfrm>
            <a:off x="1193262" y="1530685"/>
            <a:ext cx="6757475" cy="4367850"/>
          </a:xfrm>
          <a:prstGeom prst="rect">
            <a:avLst/>
          </a:prstGeom>
        </p:spPr>
      </p:pic>
    </p:spTree>
    <p:extLst>
      <p:ext uri="{BB962C8B-B14F-4D97-AF65-F5344CB8AC3E}">
        <p14:creationId xmlns:p14="http://schemas.microsoft.com/office/powerpoint/2010/main" val="9061902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a Border Image</a:t>
            </a:r>
          </a:p>
        </p:txBody>
      </p:sp>
      <p:sp>
        <p:nvSpPr>
          <p:cNvPr id="3" name="Text Placeholder 2"/>
          <p:cNvSpPr>
            <a:spLocks noGrp="1"/>
          </p:cNvSpPr>
          <p:nvPr>
            <p:ph type="body" sz="quarter" idx="17"/>
          </p:nvPr>
        </p:nvSpPr>
        <p:spPr/>
        <p:txBody>
          <a:bodyPr/>
          <a:lstStyle/>
          <a:p>
            <a:r>
              <a:rPr lang="en-US" dirty="0"/>
              <a:t>A border image is a border based on a graphic image</a:t>
            </a:r>
          </a:p>
          <a:p>
            <a:r>
              <a:rPr lang="en-US" dirty="0"/>
              <a:t>The graphic image is sliced into nine sections representing the four corners, the four sides, and the interior piece</a:t>
            </a:r>
          </a:p>
          <a:p>
            <a:r>
              <a:rPr lang="en-US" dirty="0"/>
              <a:t>The content of the object appears in the interior piece and this piece is discarded</a:t>
            </a:r>
          </a:p>
        </p:txBody>
      </p:sp>
    </p:spTree>
    <p:extLst>
      <p:ext uri="{BB962C8B-B14F-4D97-AF65-F5344CB8AC3E}">
        <p14:creationId xmlns:p14="http://schemas.microsoft.com/office/powerpoint/2010/main" val="4004077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a Border Image</a:t>
            </a:r>
            <a:br>
              <a:rPr lang="en-US" dirty="0"/>
            </a:br>
            <a:r>
              <a:rPr lang="en-US" dirty="0"/>
              <a:t>(continued 1)</a:t>
            </a:r>
          </a:p>
        </p:txBody>
      </p:sp>
      <p:sp>
        <p:nvSpPr>
          <p:cNvPr id="3" name="Text Placeholder 2"/>
          <p:cNvSpPr>
            <a:spLocks noGrp="1"/>
          </p:cNvSpPr>
          <p:nvPr>
            <p:ph type="body" sz="quarter" idx="17"/>
          </p:nvPr>
        </p:nvSpPr>
        <p:spPr/>
        <p:txBody>
          <a:bodyPr/>
          <a:lstStyle/>
          <a:p>
            <a:r>
              <a:rPr lang="en-US" dirty="0"/>
              <a:t>The four corners become the corners of the border</a:t>
            </a:r>
          </a:p>
          <a:p>
            <a:r>
              <a:rPr lang="en-US" dirty="0"/>
              <a:t>The four sides are either stretched or tiled to fill in the border’s top, right, bottom, and left sides</a:t>
            </a:r>
          </a:p>
        </p:txBody>
      </p:sp>
    </p:spTree>
    <p:extLst>
      <p:ext uri="{BB962C8B-B14F-4D97-AF65-F5344CB8AC3E}">
        <p14:creationId xmlns:p14="http://schemas.microsoft.com/office/powerpoint/2010/main" val="7929921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a Border Image</a:t>
            </a:r>
            <a:br>
              <a:rPr lang="en-US" dirty="0"/>
            </a:br>
            <a:r>
              <a:rPr lang="en-US" dirty="0"/>
              <a:t>(continued 2)</a:t>
            </a:r>
          </a:p>
        </p:txBody>
      </p:sp>
      <p:pic>
        <p:nvPicPr>
          <p:cNvPr id="4" name="Picture Placeholder 3" descr="This figure explains how to slice a graphic image to create a border.&#10;A double-lined square box is positioned at the top-left corner of the image. Two horizontal and vertical dotted lines are drawn across the square box. The length of the square box from the top-right corner to the first horizontal dotted line reads “20px”. The length of the square box from the bottom-left corner to the first vertical dotted line is marked “20px”. The length of the square box from the bottom-right corner to the second vertical dotted line is marked “20px”. The length of the square box from the bottom-right corner to the second horizontal dotted line is marked “20px”.&#10;A double-lined square box labeled “border slices” is positioned below the first square box. The square box is divided into nine sections. A text that reads “frame.png” is positioned above the second square box. An arrow originating from the text points to the second section of the square box.&#10;There are two rectangular boxes in this image. The first double-lined vertical rectangular box is positioned on the right side of the first and second square boxes. Two horizontal dotted lines are drawn at an equal distance from the top and bottom of the rectangular box. Two vertical dotted lines are drawn at an equal distance from the left and right sides of the rectangular box. The rectangular box labeled “slices are stretched to match the image border” is positioned at the bottom-right corner of the first rectangular box. An arrow originating from the second rectangular box points to the length between the two vertical lines and another arrow originating from the second rectangular box points to the length between the two horizontal lines. A portrait of a man is positioned at the center of the first rectangular box fitting into the space between the horizontal and vertical lines. A text that reads “border-image: url(frame.png) 20 stretch;” is positioned above the first rectangular box." title="Figure 4-19 Slicing a graphic image to create a border"/>
          <p:cNvPicPr>
            <a:picLocks noGrp="1" noChangeAspect="1"/>
          </p:cNvPicPr>
          <p:nvPr>
            <p:ph type="pic" sz="quarter" idx="10"/>
          </p:nvPr>
        </p:nvPicPr>
        <p:blipFill>
          <a:blip r:embed="rId2"/>
          <a:stretch>
            <a:fillRect/>
          </a:stretch>
        </p:blipFill>
        <p:spPr>
          <a:xfrm>
            <a:off x="1184617" y="1436677"/>
            <a:ext cx="6774766" cy="4756751"/>
          </a:xfrm>
          <a:prstGeom prst="rect">
            <a:avLst/>
          </a:prstGeom>
        </p:spPr>
      </p:pic>
    </p:spTree>
    <p:extLst>
      <p:ext uri="{BB962C8B-B14F-4D97-AF65-F5344CB8AC3E}">
        <p14:creationId xmlns:p14="http://schemas.microsoft.com/office/powerpoint/2010/main" val="22204474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a Border Image</a:t>
            </a:r>
            <a:br>
              <a:rPr lang="en-US" dirty="0"/>
            </a:br>
            <a:r>
              <a:rPr lang="en-US" dirty="0"/>
              <a:t>(continued 3)</a:t>
            </a:r>
          </a:p>
        </p:txBody>
      </p:sp>
      <p:sp>
        <p:nvSpPr>
          <p:cNvPr id="3" name="Text Placeholder 2"/>
          <p:cNvSpPr>
            <a:spLocks noGrp="1"/>
          </p:cNvSpPr>
          <p:nvPr>
            <p:ph type="body" sz="quarter" idx="17"/>
          </p:nvPr>
        </p:nvSpPr>
        <p:spPr/>
        <p:txBody>
          <a:bodyPr>
            <a:normAutofit/>
          </a:bodyPr>
          <a:lstStyle/>
          <a:p>
            <a:r>
              <a:rPr lang="en-US" dirty="0"/>
              <a:t>Border image uses the following property:</a:t>
            </a:r>
          </a:p>
          <a:p>
            <a:pPr marL="457200" indent="0">
              <a:buNone/>
            </a:pPr>
            <a:r>
              <a:rPr lang="en-US" sz="2600" dirty="0">
                <a:latin typeface="Courier New" panose="02070309020205020404" pitchFamily="49" charset="0"/>
                <a:cs typeface="Courier New" panose="02070309020205020404" pitchFamily="49" charset="0"/>
              </a:rPr>
              <a:t>border-image: url(</a:t>
            </a:r>
            <a:r>
              <a:rPr lang="en-US" sz="2600" i="1" dirty="0">
                <a:latin typeface="Courier New" panose="02070309020205020404" pitchFamily="49" charset="0"/>
                <a:cs typeface="Courier New" panose="02070309020205020404" pitchFamily="49" charset="0"/>
              </a:rPr>
              <a:t>url</a:t>
            </a:r>
            <a:r>
              <a:rPr lang="en-US" sz="2600" dirty="0">
                <a:latin typeface="Courier New" panose="02070309020205020404" pitchFamily="49" charset="0"/>
                <a:cs typeface="Courier New" panose="02070309020205020404" pitchFamily="49" charset="0"/>
              </a:rPr>
              <a:t>) </a:t>
            </a:r>
            <a:r>
              <a:rPr lang="en-US" sz="2600" i="1" dirty="0">
                <a:latin typeface="Courier New" panose="02070309020205020404" pitchFamily="49" charset="0"/>
                <a:cs typeface="Courier New" panose="02070309020205020404" pitchFamily="49" charset="0"/>
              </a:rPr>
              <a:t>slice repeat </a:t>
            </a:r>
            <a:r>
              <a:rPr lang="en-US" sz="2600" dirty="0">
                <a:latin typeface="Courier New" panose="02070309020205020404" pitchFamily="49" charset="0"/>
                <a:cs typeface="Courier New" panose="02070309020205020404" pitchFamily="49" charset="0"/>
              </a:rPr>
              <a:t>fill;</a:t>
            </a:r>
          </a:p>
          <a:p>
            <a:pPr marL="457200" indent="0">
              <a:buNone/>
            </a:pPr>
            <a:r>
              <a:rPr lang="en-US" sz="2800" dirty="0">
                <a:latin typeface="Arial" panose="020B0604020202020204" pitchFamily="34" charset="0"/>
                <a:cs typeface="Arial" panose="020B0604020202020204" pitchFamily="34" charset="0"/>
              </a:rPr>
              <a:t>where </a:t>
            </a:r>
            <a:r>
              <a:rPr lang="en-US" sz="2600" i="1" dirty="0">
                <a:latin typeface="Courier New" panose="02070309020205020404" pitchFamily="49" charset="0"/>
                <a:cs typeface="Courier New" panose="02070309020205020404" pitchFamily="49" charset="0"/>
              </a:rPr>
              <a:t>url</a:t>
            </a:r>
            <a:r>
              <a:rPr lang="en-US" sz="2800" dirty="0">
                <a:latin typeface="Arial" panose="020B0604020202020204" pitchFamily="34" charset="0"/>
                <a:cs typeface="Arial" panose="020B0604020202020204" pitchFamily="34" charset="0"/>
              </a:rPr>
              <a:t> is the source of the graphic image, </a:t>
            </a:r>
            <a:r>
              <a:rPr lang="en-US" sz="2600" i="1" dirty="0">
                <a:latin typeface="Courier New" panose="02070309020205020404" pitchFamily="49" charset="0"/>
                <a:cs typeface="Courier New" panose="02070309020205020404" pitchFamily="49" charset="0"/>
              </a:rPr>
              <a:t>slice</a:t>
            </a:r>
            <a:r>
              <a:rPr lang="en-US" sz="2800" dirty="0">
                <a:latin typeface="Arial" panose="020B0604020202020204" pitchFamily="34" charset="0"/>
                <a:cs typeface="Arial" panose="020B0604020202020204" pitchFamily="34" charset="0"/>
              </a:rPr>
              <a:t> is the width or height of the slices used to create the sides and corners, </a:t>
            </a:r>
            <a:r>
              <a:rPr lang="en-US" sz="2600" i="1" dirty="0">
                <a:latin typeface="Courier New" panose="02070309020205020404" pitchFamily="49" charset="0"/>
                <a:cs typeface="Courier New" panose="02070309020205020404" pitchFamily="49" charset="0"/>
              </a:rPr>
              <a:t>repeat</a:t>
            </a:r>
            <a:r>
              <a:rPr lang="en-US" sz="2600" i="1" dirty="0">
                <a:latin typeface="Arial" panose="020B0604020202020204" pitchFamily="34" charset="0"/>
                <a:cs typeface="Arial" panose="020B0604020202020204" pitchFamily="34" charset="0"/>
              </a:rPr>
              <a:t> </a:t>
            </a:r>
            <a:r>
              <a:rPr lang="en-US" sz="2600" dirty="0">
                <a:latin typeface="Arial" panose="020B0604020202020204" pitchFamily="34" charset="0"/>
                <a:cs typeface="Arial" panose="020B0604020202020204" pitchFamily="34" charset="0"/>
              </a:rPr>
              <a:t>indicates whether the side slices should be stretched or tiled to cover the border’s four sides, and </a:t>
            </a:r>
            <a:r>
              <a:rPr lang="en-US" sz="2600" dirty="0">
                <a:latin typeface="Courier New" panose="02070309020205020404" pitchFamily="49" charset="0"/>
                <a:cs typeface="Courier New" panose="02070309020205020404" pitchFamily="49" charset="0"/>
              </a:rPr>
              <a:t>fill</a:t>
            </a:r>
            <a:r>
              <a:rPr lang="en-US" sz="2600" dirty="0">
                <a:latin typeface="Arial" panose="020B0604020202020204" pitchFamily="34" charset="0"/>
                <a:cs typeface="Arial" panose="020B0604020202020204" pitchFamily="34" charset="0"/>
              </a:rPr>
              <a:t> is an optional attribute that fills the image background with the graphic image file</a:t>
            </a: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115435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a Border Image</a:t>
            </a:r>
            <a:br>
              <a:rPr lang="en-US" dirty="0"/>
            </a:br>
            <a:r>
              <a:rPr lang="en-US" dirty="0"/>
              <a:t>(continued 4)</a:t>
            </a:r>
          </a:p>
        </p:txBody>
      </p:sp>
      <p:sp>
        <p:nvSpPr>
          <p:cNvPr id="3" name="Text Placeholder 2"/>
          <p:cNvSpPr>
            <a:spLocks noGrp="1"/>
          </p:cNvSpPr>
          <p:nvPr>
            <p:ph type="body" sz="quarter" idx="17"/>
          </p:nvPr>
        </p:nvSpPr>
        <p:spPr/>
        <p:txBody>
          <a:bodyPr>
            <a:normAutofit fontScale="92500" lnSpcReduction="10000"/>
          </a:bodyPr>
          <a:lstStyle/>
          <a:p>
            <a:r>
              <a:rPr lang="en-US" sz="3500" dirty="0"/>
              <a:t>The </a:t>
            </a:r>
            <a:r>
              <a:rPr lang="en-US" sz="2800" i="1" dirty="0">
                <a:latin typeface="Courier New" panose="02070309020205020404" pitchFamily="49" charset="0"/>
                <a:cs typeface="Courier New" panose="02070309020205020404" pitchFamily="49" charset="0"/>
              </a:rPr>
              <a:t>repeat</a:t>
            </a:r>
            <a:r>
              <a:rPr lang="en-US" sz="3500" dirty="0"/>
              <a:t> option supports:</a:t>
            </a:r>
          </a:p>
          <a:p>
            <a:pPr lvl="1"/>
            <a:r>
              <a:rPr lang="en-US" dirty="0">
                <a:latin typeface="Courier New" panose="02070309020205020404" pitchFamily="49" charset="0"/>
                <a:cs typeface="Courier New" panose="02070309020205020404" pitchFamily="49" charset="0"/>
              </a:rPr>
              <a:t>stretch</a:t>
            </a:r>
            <a:r>
              <a:rPr lang="en-US" sz="3000" dirty="0"/>
              <a:t>:</a:t>
            </a:r>
            <a:r>
              <a:rPr lang="en-US" sz="2600" dirty="0"/>
              <a:t> </a:t>
            </a:r>
            <a:r>
              <a:rPr lang="en-US" sz="3000" dirty="0"/>
              <a:t>slices are stretched to fill each side</a:t>
            </a:r>
          </a:p>
          <a:p>
            <a:pPr lvl="1"/>
            <a:r>
              <a:rPr lang="en-US" sz="2800" dirty="0">
                <a:latin typeface="Courier New" panose="02070309020205020404" pitchFamily="49" charset="0"/>
                <a:cs typeface="Courier New" panose="02070309020205020404" pitchFamily="49" charset="0"/>
              </a:rPr>
              <a:t>repeat</a:t>
            </a:r>
            <a:r>
              <a:rPr lang="en-US" sz="3000" dirty="0"/>
              <a:t>: slices are tiled to fill each side</a:t>
            </a:r>
          </a:p>
          <a:p>
            <a:pPr lvl="1"/>
            <a:r>
              <a:rPr lang="en-US" sz="2800" dirty="0">
                <a:latin typeface="Courier New" panose="02070309020205020404" pitchFamily="49" charset="0"/>
                <a:cs typeface="Courier New" panose="02070309020205020404" pitchFamily="49" charset="0"/>
              </a:rPr>
              <a:t>round</a:t>
            </a:r>
            <a:r>
              <a:rPr lang="en-US" sz="3000" dirty="0"/>
              <a:t>: when the slices are tiled to fill each side, if they do not fill the sides with an integer number of tiles, the slices are rescaled until they do</a:t>
            </a:r>
          </a:p>
          <a:p>
            <a:pPr lvl="1"/>
            <a:r>
              <a:rPr lang="en-US" sz="2800" dirty="0">
                <a:latin typeface="Courier New" panose="02070309020205020404" pitchFamily="49" charset="0"/>
                <a:cs typeface="Courier New" panose="02070309020205020404" pitchFamily="49" charset="0"/>
              </a:rPr>
              <a:t>space</a:t>
            </a:r>
            <a:r>
              <a:rPr lang="en-US" sz="3000" dirty="0"/>
              <a:t>: when the slices are tiled to fill each side, if they do not fill the sides with an integer number of tiles, extra space is distributed around the tiles</a:t>
            </a:r>
          </a:p>
        </p:txBody>
      </p:sp>
    </p:spTree>
    <p:extLst>
      <p:ext uri="{BB962C8B-B14F-4D97-AF65-F5344CB8AC3E}">
        <p14:creationId xmlns:p14="http://schemas.microsoft.com/office/powerpoint/2010/main" val="40982679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Text Shadow</a:t>
            </a:r>
          </a:p>
        </p:txBody>
      </p:sp>
      <p:sp>
        <p:nvSpPr>
          <p:cNvPr id="3" name="Text Placeholder 2"/>
          <p:cNvSpPr>
            <a:spLocks noGrp="1"/>
          </p:cNvSpPr>
          <p:nvPr>
            <p:ph type="body" sz="quarter" idx="17"/>
          </p:nvPr>
        </p:nvSpPr>
        <p:spPr/>
        <p:txBody>
          <a:bodyPr>
            <a:normAutofit/>
          </a:bodyPr>
          <a:lstStyle/>
          <a:p>
            <a:r>
              <a:rPr lang="en-US" dirty="0"/>
              <a:t>To give the text on a page visual impact, use CSS to add a shadow using the following </a:t>
            </a:r>
            <a:r>
              <a:rPr lang="en-US" sz="2800" dirty="0">
                <a:latin typeface="Courier New" panose="02070309020205020404" pitchFamily="49" charset="0"/>
                <a:cs typeface="Courier New" panose="02070309020205020404" pitchFamily="49" charset="0"/>
              </a:rPr>
              <a:t>text-shadow</a:t>
            </a:r>
            <a:r>
              <a:rPr lang="en-US" dirty="0"/>
              <a:t> property:</a:t>
            </a:r>
          </a:p>
          <a:p>
            <a:pPr marL="463550" indent="0">
              <a:buNone/>
            </a:pPr>
            <a:r>
              <a:rPr lang="en-US" sz="2600" dirty="0">
                <a:latin typeface="Courier New" panose="02070309020205020404" pitchFamily="49" charset="0"/>
                <a:cs typeface="Courier New" panose="02070309020205020404" pitchFamily="49" charset="0"/>
              </a:rPr>
              <a:t>text-shadow: color offsetX offsetY blur;</a:t>
            </a:r>
          </a:p>
          <a:p>
            <a:pPr marL="463550" lvl="1" indent="0">
              <a:buNone/>
            </a:pPr>
            <a:r>
              <a:rPr lang="en-US" dirty="0"/>
              <a:t>where </a:t>
            </a:r>
            <a:r>
              <a:rPr lang="en-US" sz="2600" dirty="0">
                <a:latin typeface="Courier New" panose="02070309020205020404" pitchFamily="49" charset="0"/>
                <a:cs typeface="Courier New" panose="02070309020205020404" pitchFamily="49" charset="0"/>
              </a:rPr>
              <a:t>color</a:t>
            </a:r>
            <a:r>
              <a:rPr lang="en-US" dirty="0"/>
              <a:t> is the shadow color, </a:t>
            </a:r>
            <a:r>
              <a:rPr lang="en-US" sz="2600" dirty="0">
                <a:latin typeface="Courier New" panose="02070309020205020404" pitchFamily="49" charset="0"/>
                <a:cs typeface="Courier New" panose="02070309020205020404" pitchFamily="49" charset="0"/>
              </a:rPr>
              <a:t>offsetX</a:t>
            </a:r>
            <a:r>
              <a:rPr lang="en-US" dirty="0"/>
              <a:t> and </a:t>
            </a:r>
            <a:r>
              <a:rPr lang="en-US" sz="2600" dirty="0">
                <a:latin typeface="Courier New" panose="02070309020205020404" pitchFamily="49" charset="0"/>
                <a:cs typeface="Courier New" panose="02070309020205020404" pitchFamily="49" charset="0"/>
              </a:rPr>
              <a:t>offsetY</a:t>
            </a:r>
            <a:r>
              <a:rPr lang="en-US" dirty="0"/>
              <a:t> are the distances of the shadow from the text in the horizontal and vertical directions, and </a:t>
            </a:r>
            <a:r>
              <a:rPr lang="en-US" sz="2600" dirty="0">
                <a:latin typeface="Courier New" panose="02070309020205020404" pitchFamily="49" charset="0"/>
                <a:cs typeface="Courier New" panose="02070309020205020404" pitchFamily="49" charset="0"/>
              </a:rPr>
              <a:t>blur</a:t>
            </a:r>
            <a:r>
              <a:rPr lang="en-US" dirty="0"/>
              <a:t> defines the amount by which the shadow spreads out, creating a blurred effect</a:t>
            </a:r>
          </a:p>
        </p:txBody>
      </p:sp>
    </p:spTree>
    <p:extLst>
      <p:ext uri="{BB962C8B-B14F-4D97-AF65-F5344CB8AC3E}">
        <p14:creationId xmlns:p14="http://schemas.microsoft.com/office/powerpoint/2010/main" val="29358246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Creating a Text Shadow (continued)</a:t>
            </a:r>
          </a:p>
        </p:txBody>
      </p:sp>
      <p:pic>
        <p:nvPicPr>
          <p:cNvPr id="7" name="Picture 2" descr="This figure explains how to add text shadows.&#10;The first line of the code reads “article{”. The second line reads “background: url(tb_back2.png) bottom right / 15% no-repeat content-box,”. The third line reads “url(tb_back3.png) bottom left / 15% no-repeat content-box,”. The fourth line reads “url(tb_back4.png) 100% / cover no-repeat,”. The fifth line reads “rgb(211,211,211);”. The sixth line reads “}”. The seventh line reads “article header h1 {”. The eighth line reads “text-shadow: rgb(181, 211, 181) 2px 2px 1px,”. There are six rectangular boxes in this figure. The first rectangular box labeled “light green text shadow with hard edges” is placed on the right side of the code. An arrow originating from the first rectangular box points to the eighth line of the code. The ninth line reads “rgba(21, 21, 21, 0.66) 5px 5px 25px;”. The second rectangular box labeled “semi-transparent gray shadow with soft edges” is placed below the first rectangular box. An arrow originating from the second rectangular box points to the ninth line of the code. The third rectangular box labeled “shadow color” is positioned at the bottom of the figure. An arrow originating from the third rectangular box points to “rgba(21, 21, 21, 0.66)” in the ninth line of the code. The fourth rectangular box labeled “horizontal offset” is positioned on the right side of the third rectangular box. An arrow originating from the fourth rectangular box points to the first “5px” in the ninth line of the code. The fifth rectangular box labeled “vertical offset” is positioned on the right side of the fourth rectangular box. An arrow originating from the fifth rectangular box points to the second “5px” in the ninth line of the code. The sixth rectangular box labeled “blur size” is positioned on the right side of the fifth rectangular box. An arrow originating from the sixth rectangular box points to “25px” in the ninth line of the code. The tenth line reads “}”.&#10;" title="Figure 4-23 Adding text shadows"/>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tretch>
            <a:fillRect/>
          </a:stretch>
        </p:blipFill>
        <p:spPr bwMode="auto">
          <a:xfrm>
            <a:off x="1008701" y="1934654"/>
            <a:ext cx="7126598" cy="28931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147037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Box Shadow</a:t>
            </a:r>
          </a:p>
        </p:txBody>
      </p:sp>
      <p:sp>
        <p:nvSpPr>
          <p:cNvPr id="3" name="Text Placeholder 2"/>
          <p:cNvSpPr>
            <a:spLocks noGrp="1"/>
          </p:cNvSpPr>
          <p:nvPr>
            <p:ph type="body" sz="quarter" idx="17"/>
          </p:nvPr>
        </p:nvSpPr>
        <p:spPr/>
        <p:txBody>
          <a:bodyPr/>
          <a:lstStyle/>
          <a:p>
            <a:r>
              <a:rPr lang="en-US" dirty="0"/>
              <a:t>Any block element can be shadowed by using the </a:t>
            </a:r>
            <a:r>
              <a:rPr lang="en-US" sz="2800" dirty="0">
                <a:latin typeface="Courier New" panose="02070309020205020404" pitchFamily="49" charset="0"/>
                <a:cs typeface="Courier New" panose="02070309020205020404" pitchFamily="49" charset="0"/>
              </a:rPr>
              <a:t>box-shadow</a:t>
            </a:r>
            <a:r>
              <a:rPr lang="en-US" dirty="0"/>
              <a:t> property</a:t>
            </a:r>
          </a:p>
          <a:p>
            <a:pPr marL="914400" lvl="2" indent="0">
              <a:buNone/>
            </a:pPr>
            <a:r>
              <a:rPr lang="en-IN" sz="2800" dirty="0">
                <a:latin typeface="Courier New" panose="02070309020205020404" pitchFamily="49" charset="0"/>
                <a:cs typeface="Courier New" panose="02070309020205020404" pitchFamily="49" charset="0"/>
              </a:rPr>
              <a:t>box-shadow: </a:t>
            </a:r>
            <a:r>
              <a:rPr lang="en-IN" sz="2800" i="1" dirty="0">
                <a:latin typeface="Courier New" panose="02070309020205020404" pitchFamily="49" charset="0"/>
                <a:cs typeface="Courier New" panose="02070309020205020404" pitchFamily="49" charset="0"/>
              </a:rPr>
              <a:t>color offsetX offsetY blur</a:t>
            </a:r>
            <a:r>
              <a:rPr lang="en-IN" sz="2800" dirty="0">
                <a:latin typeface="Courier New" panose="02070309020205020404" pitchFamily="49" charset="0"/>
                <a:cs typeface="Courier New" panose="02070309020205020404" pitchFamily="49" charset="0"/>
              </a:rPr>
              <a:t>;</a:t>
            </a:r>
          </a:p>
          <a:p>
            <a:pPr marL="361950" lvl="2" indent="-361950">
              <a:buNone/>
            </a:pPr>
            <a:r>
              <a:rPr lang="en-US" sz="3200" dirty="0">
                <a:cs typeface="Courier New" panose="02070309020205020404" pitchFamily="49" charset="0"/>
              </a:rPr>
              <a:t>	where </a:t>
            </a:r>
            <a:r>
              <a:rPr lang="en-IN" sz="2800" dirty="0">
                <a:latin typeface="Courier New" panose="02070309020205020404" pitchFamily="49" charset="0"/>
                <a:cs typeface="Courier New" panose="02070309020205020404" pitchFamily="49" charset="0"/>
              </a:rPr>
              <a:t>color, offsetX, offsetY, </a:t>
            </a:r>
            <a:r>
              <a:rPr lang="en-IN" sz="3200" dirty="0">
                <a:cs typeface="Courier New" panose="02070309020205020404" pitchFamily="49" charset="0"/>
              </a:rPr>
              <a:t>and </a:t>
            </a:r>
            <a:r>
              <a:rPr lang="en-IN" sz="2800" dirty="0">
                <a:latin typeface="Courier New" panose="02070309020205020404" pitchFamily="49" charset="0"/>
                <a:cs typeface="Courier New" panose="02070309020205020404" pitchFamily="49" charset="0"/>
              </a:rPr>
              <a:t>blur</a:t>
            </a:r>
            <a:r>
              <a:rPr lang="en-IN" sz="3200" dirty="0">
                <a:cs typeface="Courier New" panose="02070309020205020404" pitchFamily="49" charset="0"/>
              </a:rPr>
              <a:t> have the same meanings for box shadows as they do for text shadows</a:t>
            </a:r>
            <a:endParaRPr lang="en-US" sz="3200" dirty="0">
              <a:cs typeface="Courier New" panose="02070309020205020404" pitchFamily="49" charset="0"/>
            </a:endParaRPr>
          </a:p>
          <a:p>
            <a:r>
              <a:rPr lang="en-US" dirty="0"/>
              <a:t>Multiple shadows can be added by including them in a comma-separated list</a:t>
            </a:r>
          </a:p>
        </p:txBody>
      </p:sp>
    </p:spTree>
    <p:extLst>
      <p:ext uri="{BB962C8B-B14F-4D97-AF65-F5344CB8AC3E}">
        <p14:creationId xmlns:p14="http://schemas.microsoft.com/office/powerpoint/2010/main" val="3764097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Box Shadow (continued 1)</a:t>
            </a:r>
          </a:p>
        </p:txBody>
      </p:sp>
      <p:pic>
        <p:nvPicPr>
          <p:cNvPr id="6" name="Picture 2" descr="Figure 4-25 explains how to add box shadows. The first line of the code reads “body {”. The second line reads “border-left: 1px solid rgb(51, 51, 51);”. The third line reads “border-right: 1px solid rgb(51, 51, 51);”. The fourth line reads “box-shadow: rgb(51, 51, 51) 15px 0px 25px,”. There are two rectangular boxes in this figure. The first rectangular box labeled “drop shadow on the page body’s right edge” is positioned on the left side of the figure. An arrow originating from the first rectangular box points to the fourth line of the code.&#10;The fifth line reads “box-shadow: rgb(51, 51, 51) -15px 0px 25px;”. The second rectangular box labeled “drop shadow on the page body’s left edge” is positioned below the first rectangular box. An arrow originating from the second rectangular box points to the fifth line of the code. The sixth line reads “}”.&#10;" title="Figure 4-25 Adding box shadows"/>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tretch>
            <a:fillRect/>
          </a:stretch>
        </p:blipFill>
        <p:spPr bwMode="auto">
          <a:xfrm>
            <a:off x="628650" y="1976081"/>
            <a:ext cx="8026400" cy="25387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153422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Box Shadow (continued 2)</a:t>
            </a:r>
          </a:p>
        </p:txBody>
      </p:sp>
      <p:pic>
        <p:nvPicPr>
          <p:cNvPr id="5" name="Picture Placeholder 4" descr="This figure illustrates how a drop shadow is displayed vertically on both the left and right sides in the browser window.&#10;The top of the page displays a horizontal rectangular box consisting of an image of a tree positioned at the top-left corner followed by a text that reads “Tree and Book”. Underneath that section is a second section showing a header that reads “Home Register Directory Genealogy Search”. Underneath that section is a third section reads “The Komatsu Family” and a partial image of a family is positioned below the text in the third section. &#10;There are two rectangular boxes in the figure emphasizing where the vertical drop shadows outline the edges of the outer edges of the page. The first rectangular box labeled “drop shadow on the right edge” is positioned on the web page in the third section and to the right of the text “The Komatsu Family”. An arrow originating from this rectangular box points to the vertical edge on the right side of the page. The second rectangular box labeled “drop shadow on the left edge” is positioned on the left side of the figure. An arrow originating from this rectangular box points to the vertical edge on the left side of the page.&#10;A line describing the source of the image is listed at the lower left bottom under the web page image and it reads ”Source: Design Studio Pro; Source: Wikimedia Commons; ©imtmphoto/Shutterstock.com”." title="Figure 4-26 Page body with drop shadows"/>
          <p:cNvPicPr>
            <a:picLocks noGrp="1" noChangeAspect="1"/>
          </p:cNvPicPr>
          <p:nvPr>
            <p:ph type="pic" sz="quarter" idx="10"/>
          </p:nvPr>
        </p:nvPicPr>
        <p:blipFill>
          <a:blip r:embed="rId2"/>
          <a:stretch>
            <a:fillRect/>
          </a:stretch>
        </p:blipFill>
        <p:spPr>
          <a:xfrm>
            <a:off x="680853" y="1822757"/>
            <a:ext cx="7782293" cy="3679839"/>
          </a:xfrm>
          <a:prstGeom prst="rect">
            <a:avLst/>
          </a:prstGeom>
        </p:spPr>
      </p:pic>
    </p:spTree>
    <p:extLst>
      <p:ext uri="{BB962C8B-B14F-4D97-AF65-F5344CB8AC3E}">
        <p14:creationId xmlns:p14="http://schemas.microsoft.com/office/powerpoint/2010/main" val="30086614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Box Shadow (continued 3)</a:t>
            </a:r>
          </a:p>
        </p:txBody>
      </p:sp>
      <p:pic>
        <p:nvPicPr>
          <p:cNvPr id="5" name="Picture 2" descr="This figure explains how to add an inset shadow.&#10;The first line of the code reads “article{”. The second line reads “background: url(tb_back2.png) bottom right / 15% no-repeat content-box,”. The third line reads “url(tb_back3.png) bottom left / 15% no-repeat content-box,”. The fourth line reads “url(tb_back4.png) 100% / cover no-repeat,”. The fifth line reads “rgb(211,211,211);”. The sixth line reads “box-shadow: inset rgb(71, 71, 71) -10px -10px 25px,”. There are three rectangular boxes in this figure. The first rectangular box labeled “places a medium-gray shadow in the lower-right interior corner” is positioned on the left side of the figure. An arrow originating from the first rectangular box points to the sixth line of the code.The seventh line reads “inset rgb(71, 71, 71) 10px 10px 25px;”. The second rectangular box labeled “inset keyword places shadow inside the object” is placed below the first rectangular box. An arrow originating from the second rectangular box points to “inset” in the seventh line of the code. The third rectangular box labeled “places a medium-gray shadow in the upper-left interior corner” is positioned on the right side of the code. An arrow originating from the third rectangular box points to the seventh line of the code. The eighth line reads “}”.&#10;" title="Figure 4-28 Adding an inset shadow"/>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tretch>
            <a:fillRect/>
          </a:stretch>
        </p:blipFill>
        <p:spPr bwMode="auto">
          <a:xfrm>
            <a:off x="628650" y="2162525"/>
            <a:ext cx="7886700" cy="19019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857235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a Color Gradient</a:t>
            </a:r>
          </a:p>
        </p:txBody>
      </p:sp>
      <p:sp>
        <p:nvSpPr>
          <p:cNvPr id="3" name="Text Placeholder 2"/>
          <p:cNvSpPr>
            <a:spLocks noGrp="1"/>
          </p:cNvSpPr>
          <p:nvPr>
            <p:ph type="body" sz="quarter" idx="17"/>
          </p:nvPr>
        </p:nvSpPr>
        <p:spPr/>
        <p:txBody>
          <a:bodyPr/>
          <a:lstStyle/>
          <a:p>
            <a:r>
              <a:rPr lang="en-US" b="1" dirty="0"/>
              <a:t>Color gradient</a:t>
            </a:r>
            <a:r>
              <a:rPr lang="en-US" dirty="0"/>
              <a:t>:</a:t>
            </a:r>
          </a:p>
          <a:p>
            <a:pPr lvl="1"/>
            <a:r>
              <a:rPr lang="en-US" dirty="0"/>
              <a:t>One color gradually blends into another color or fades away if transparent colors are used</a:t>
            </a:r>
          </a:p>
          <a:p>
            <a:pPr lvl="1"/>
            <a:r>
              <a:rPr lang="en-US" dirty="0"/>
              <a:t>It can be used to modify a background color</a:t>
            </a:r>
          </a:p>
          <a:p>
            <a:endParaRPr lang="en-US" dirty="0"/>
          </a:p>
        </p:txBody>
      </p:sp>
    </p:spTree>
    <p:extLst>
      <p:ext uri="{BB962C8B-B14F-4D97-AF65-F5344CB8AC3E}">
        <p14:creationId xmlns:p14="http://schemas.microsoft.com/office/powerpoint/2010/main" val="29374846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Creating a Linear Gradient</a:t>
            </a:r>
            <a:endParaRPr lang="en-US" dirty="0"/>
          </a:p>
        </p:txBody>
      </p:sp>
      <p:sp>
        <p:nvSpPr>
          <p:cNvPr id="3" name="Text Placeholder 2"/>
          <p:cNvSpPr>
            <a:spLocks noGrp="1"/>
          </p:cNvSpPr>
          <p:nvPr>
            <p:ph type="body" sz="quarter" idx="17"/>
          </p:nvPr>
        </p:nvSpPr>
        <p:spPr/>
        <p:txBody>
          <a:bodyPr>
            <a:normAutofit fontScale="92500" lnSpcReduction="10000"/>
          </a:bodyPr>
          <a:lstStyle/>
          <a:p>
            <a:r>
              <a:rPr lang="en-US" sz="3500" dirty="0"/>
              <a:t>A linear gradient is a color gradient in which the background color transitions from a starting color to an ending color along a straight line</a:t>
            </a:r>
          </a:p>
          <a:p>
            <a:r>
              <a:rPr lang="en-US" sz="3500" dirty="0"/>
              <a:t>Linear gradients are created using the linear-gradient function:</a:t>
            </a:r>
          </a:p>
          <a:p>
            <a:pPr marL="463550" indent="0">
              <a:buNone/>
            </a:pPr>
            <a:r>
              <a:rPr lang="en-US" sz="2800" dirty="0">
                <a:latin typeface="Courier New" panose="02070309020205020404" pitchFamily="49" charset="0"/>
                <a:cs typeface="Courier New" panose="02070309020205020404" pitchFamily="49" charset="0"/>
              </a:rPr>
              <a:t>linear-gradient(color1, color2, …)</a:t>
            </a:r>
          </a:p>
          <a:p>
            <a:pPr marL="463550" indent="0">
              <a:buNone/>
            </a:pPr>
            <a:r>
              <a:rPr lang="en-US" sz="3000" dirty="0"/>
              <a:t>where </a:t>
            </a:r>
            <a:r>
              <a:rPr lang="en-US" sz="2800" dirty="0">
                <a:latin typeface="Courier New" panose="02070309020205020404" pitchFamily="49" charset="0"/>
                <a:cs typeface="Courier New" panose="02070309020205020404" pitchFamily="49" charset="0"/>
              </a:rPr>
              <a:t>color1</a:t>
            </a:r>
            <a:r>
              <a:rPr lang="en-US" sz="3000" dirty="0"/>
              <a:t>, </a:t>
            </a:r>
            <a:r>
              <a:rPr lang="en-US" sz="2800" dirty="0">
                <a:latin typeface="Courier New" panose="02070309020205020404" pitchFamily="49" charset="0"/>
                <a:cs typeface="Courier New" panose="02070309020205020404" pitchFamily="49" charset="0"/>
              </a:rPr>
              <a:t>color2</a:t>
            </a:r>
            <a:r>
              <a:rPr lang="en-US" sz="3000" dirty="0"/>
              <a:t>, and so on are the colors that blend into one another starting from </a:t>
            </a:r>
            <a:r>
              <a:rPr lang="en-US" sz="2800" dirty="0">
                <a:latin typeface="Courier New" panose="02070309020205020404" pitchFamily="49" charset="0"/>
                <a:cs typeface="Courier New" panose="02070309020205020404" pitchFamily="49" charset="0"/>
              </a:rPr>
              <a:t>color1</a:t>
            </a:r>
            <a:r>
              <a:rPr lang="en-US" sz="3000" dirty="0"/>
              <a:t>, through </a:t>
            </a:r>
            <a:r>
              <a:rPr lang="en-US" sz="2800" dirty="0">
                <a:latin typeface="Courier New" panose="02070309020205020404" pitchFamily="49" charset="0"/>
                <a:cs typeface="Courier New" panose="02070309020205020404" pitchFamily="49" charset="0"/>
              </a:rPr>
              <a:t>color2</a:t>
            </a:r>
            <a:r>
              <a:rPr lang="en-US" sz="3000" dirty="0"/>
              <a:t>, and onto the last color listed</a:t>
            </a:r>
          </a:p>
        </p:txBody>
      </p:sp>
    </p:spTree>
    <p:extLst>
      <p:ext uri="{BB962C8B-B14F-4D97-AF65-F5344CB8AC3E}">
        <p14:creationId xmlns:p14="http://schemas.microsoft.com/office/powerpoint/2010/main" val="36288497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Linear Gradient (continued)</a:t>
            </a:r>
          </a:p>
        </p:txBody>
      </p:sp>
      <p:pic>
        <p:nvPicPr>
          <p:cNvPr id="4" name="Picture Placeholder 3" descr="This figure explains the linear gradient directions.&#10;The figure consists of a circle. An arrow originating from the center of the circle points outward to the top of the circle marking “0 deg”. A text that reads “to top” is positioned outside at the top of the circle.&#10;An arrow originating from the center of the circle points outward at an angle of 45 degrees from the top of the circle marking “45 deg”.&#10;An arrow originating from the center of the circle points outward at an angle of 90 degrees from the top of the circle marking “90 deg”. A text that reads “to right” is positioned outside on the right side of the circle.&#10;An arrow originating from the center of the circle points outward at an angle of 135 degrees from the top of the circle marking “135 deg”.&#10;An arrow originating from the center of the circle points outward at an angle of 180 degrees from the top of the circle marking “180 deg”. A text that reads “to bottom” is positioned outside at the bottom of the circle.&#10;An arrow originating from the center of the circle points outward at an angle of 225 degrees from the top of the circle marking “225 deg”.&#10;An arrow originating from the center of the circle points outward at an angle of 270 degrees from the top of the circle marking “270 deg”. A text that reads “to left” is positioned outside on the left side of the circle.&#10;An arrow originating from the center of the circle points outward at an angle of 315 degrees from the top of the circle marking “315 deg”.&#10;" title="Figure 4-33 Linear gradient directions"/>
          <p:cNvPicPr>
            <a:picLocks noGrp="1" noChangeAspect="1"/>
          </p:cNvPicPr>
          <p:nvPr>
            <p:ph type="pic" sz="quarter" idx="10"/>
          </p:nvPr>
        </p:nvPicPr>
        <p:blipFill>
          <a:blip r:embed="rId2"/>
          <a:stretch>
            <a:fillRect/>
          </a:stretch>
        </p:blipFill>
        <p:spPr>
          <a:xfrm>
            <a:off x="1114425" y="1605489"/>
            <a:ext cx="6915150" cy="4362450"/>
          </a:xfrm>
          <a:prstGeom prst="rect">
            <a:avLst/>
          </a:prstGeom>
        </p:spPr>
      </p:pic>
    </p:spTree>
    <p:extLst>
      <p:ext uri="{BB962C8B-B14F-4D97-AF65-F5344CB8AC3E}">
        <p14:creationId xmlns:p14="http://schemas.microsoft.com/office/powerpoint/2010/main" val="24847851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Gradients and Color Stops</a:t>
            </a:r>
          </a:p>
        </p:txBody>
      </p:sp>
      <p:sp>
        <p:nvSpPr>
          <p:cNvPr id="3" name="Text Placeholder 2"/>
          <p:cNvSpPr>
            <a:spLocks noGrp="1"/>
          </p:cNvSpPr>
          <p:nvPr>
            <p:ph type="body" sz="quarter" idx="17"/>
          </p:nvPr>
        </p:nvSpPr>
        <p:spPr/>
        <p:txBody>
          <a:bodyPr/>
          <a:lstStyle/>
          <a:p>
            <a:r>
              <a:rPr lang="en-US" dirty="0"/>
              <a:t>The colors specified in a gradient are evenly distributed</a:t>
            </a:r>
          </a:p>
          <a:p>
            <a:r>
              <a:rPr lang="en-US" dirty="0"/>
              <a:t>The following gradient starts with a solid red, solid green appears halfway through the gradient, and finishes with solid blue:</a:t>
            </a:r>
          </a:p>
          <a:p>
            <a:pPr marL="0" indent="0">
              <a:buNone/>
            </a:pPr>
            <a:endParaRPr lang="en-US" dirty="0"/>
          </a:p>
          <a:p>
            <a:pPr marL="457200" lvl="2" indent="0">
              <a:buNone/>
            </a:pPr>
            <a:r>
              <a:rPr lang="en-US" sz="2600" dirty="0">
                <a:latin typeface="Courier New" panose="02070309020205020404" pitchFamily="49" charset="0"/>
                <a:cs typeface="Courier New" panose="02070309020205020404" pitchFamily="49" charset="0"/>
              </a:rPr>
              <a:t>background: linear-gradient(red, green, blue)</a:t>
            </a:r>
          </a:p>
        </p:txBody>
      </p:sp>
    </p:spTree>
    <p:extLst>
      <p:ext uri="{BB962C8B-B14F-4D97-AF65-F5344CB8AC3E}">
        <p14:creationId xmlns:p14="http://schemas.microsoft.com/office/powerpoint/2010/main" val="40715498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Gradients and Color Stops (continued)</a:t>
            </a:r>
          </a:p>
        </p:txBody>
      </p:sp>
      <p:pic>
        <p:nvPicPr>
          <p:cNvPr id="5" name="Content Placeholder 6" descr="This figure explains how to apply a linear gradient to the footer of a web page.&#10;The first line of the code reads “/* Footer Styles */”. The second line reads “footer {”. The third line reads “background: linear-gradient(345deg, rgb(172, 232, 172), rgb(21, 35, 21) 80%)”. There are four rectangular boxes in this figure. The first rectangular box labeled “gradient is pointed at a 345° angle” is positioned at the top of the figure. An arrow originating from the first rectangular box points to “345deg” in the third line of the code. The second rectangular box labeled “initial color is light green” is positioned at the top-right corner of the figure. An arrow originating from the second rectangular box points to “rgb(172, 232, 172)” in the third line of the code. The third rectangular box labeled “final color is dark green” is positioned at the bottom of the figure. An arrow originating from the third rectangular box points to “rgb(21, 35, 21)” in the third line of the code. The fourth rectangular box labeled “background is dark green from 80% to the end” is positioned at the right side of the third rectangular box. An arrow originating from the fourth rectangular box points to the “80%” in the third line of the code.&#10;The fourth line reads “}”.&#10;" title="Figure 4-36 Applying a linear gradient"/>
          <p:cNvPicPr>
            <a:picLocks noGrp="1" noChangeAspect="1"/>
          </p:cNvPicPr>
          <p:nvPr>
            <p:ph type="pic" sz="quarter" idx="10"/>
          </p:nvPr>
        </p:nvPicPr>
        <p:blipFill>
          <a:blip r:embed="rId2"/>
          <a:stretch>
            <a:fillRect/>
          </a:stretch>
        </p:blipFill>
        <p:spPr>
          <a:xfrm>
            <a:off x="855547" y="2238704"/>
            <a:ext cx="7432905" cy="2620339"/>
          </a:xfrm>
          <a:prstGeom prst="rect">
            <a:avLst/>
          </a:prstGeom>
        </p:spPr>
      </p:pic>
    </p:spTree>
    <p:extLst>
      <p:ext uri="{BB962C8B-B14F-4D97-AF65-F5344CB8AC3E}">
        <p14:creationId xmlns:p14="http://schemas.microsoft.com/office/powerpoint/2010/main" val="25741689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Radial Gradient</a:t>
            </a:r>
          </a:p>
        </p:txBody>
      </p:sp>
      <p:sp>
        <p:nvSpPr>
          <p:cNvPr id="3" name="Text Placeholder 2"/>
          <p:cNvSpPr>
            <a:spLocks noGrp="1"/>
          </p:cNvSpPr>
          <p:nvPr>
            <p:ph type="body" sz="quarter" idx="17"/>
          </p:nvPr>
        </p:nvSpPr>
        <p:spPr/>
        <p:txBody>
          <a:bodyPr/>
          <a:lstStyle/>
          <a:p>
            <a:r>
              <a:rPr lang="en-US" dirty="0"/>
              <a:t>A </a:t>
            </a:r>
            <a:r>
              <a:rPr lang="en-US" b="1" dirty="0"/>
              <a:t>radial gradient</a:t>
            </a:r>
            <a:r>
              <a:rPr lang="en-US" dirty="0"/>
              <a:t> is a color gradient that starts from a central point and proceeds outward in a series of concentric circles or ellipses</a:t>
            </a:r>
          </a:p>
          <a:p>
            <a:r>
              <a:rPr lang="en-US" dirty="0"/>
              <a:t>Radial gradients are created using:</a:t>
            </a:r>
          </a:p>
          <a:p>
            <a:pPr marL="457200" indent="0">
              <a:buNone/>
            </a:pPr>
            <a:r>
              <a:rPr lang="en-US" sz="2600" dirty="0">
                <a:latin typeface="Courier New" panose="02070309020205020404" pitchFamily="49" charset="0"/>
                <a:cs typeface="Courier New" panose="02070309020205020404" pitchFamily="49" charset="0"/>
              </a:rPr>
              <a:t>radial-gradient(shape size at position, color-stop1, color-stop2, …)</a:t>
            </a:r>
          </a:p>
        </p:txBody>
      </p:sp>
    </p:spTree>
    <p:extLst>
      <p:ext uri="{BB962C8B-B14F-4D97-AF65-F5344CB8AC3E}">
        <p14:creationId xmlns:p14="http://schemas.microsoft.com/office/powerpoint/2010/main" val="21527911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Radial Gradient</a:t>
            </a:r>
            <a:br>
              <a:rPr lang="en-US" dirty="0"/>
            </a:br>
            <a:r>
              <a:rPr lang="en-US" dirty="0"/>
              <a:t>(continued 1)</a:t>
            </a:r>
          </a:p>
        </p:txBody>
      </p:sp>
      <p:sp>
        <p:nvSpPr>
          <p:cNvPr id="3" name="Text Placeholder 2"/>
          <p:cNvSpPr>
            <a:spLocks noGrp="1"/>
          </p:cNvSpPr>
          <p:nvPr>
            <p:ph type="body" sz="quarter" idx="17"/>
          </p:nvPr>
        </p:nvSpPr>
        <p:spPr/>
        <p:txBody>
          <a:bodyPr>
            <a:normAutofit/>
          </a:bodyPr>
          <a:lstStyle/>
          <a:p>
            <a:r>
              <a:rPr lang="en-US" dirty="0"/>
              <a:t>The </a:t>
            </a:r>
            <a:r>
              <a:rPr lang="en-US" sz="2800" dirty="0">
                <a:latin typeface="Courier New" panose="02070309020205020404" pitchFamily="49" charset="0"/>
                <a:cs typeface="Courier New" panose="02070309020205020404" pitchFamily="49" charset="0"/>
              </a:rPr>
              <a:t>shape</a:t>
            </a:r>
            <a:r>
              <a:rPr lang="en-US" dirty="0"/>
              <a:t> value defines the shape of the gradient and is either </a:t>
            </a:r>
            <a:r>
              <a:rPr lang="en-US" sz="2800" dirty="0">
                <a:latin typeface="Courier New" panose="02070309020205020404" pitchFamily="49" charset="0"/>
                <a:cs typeface="Courier New" panose="02070309020205020404" pitchFamily="49" charset="0"/>
              </a:rPr>
              <a:t>ellipse</a:t>
            </a:r>
            <a:r>
              <a:rPr lang="en-US" dirty="0"/>
              <a:t> (default) or </a:t>
            </a:r>
            <a:r>
              <a:rPr lang="en-US" sz="2800" dirty="0">
                <a:latin typeface="Courier New" panose="02070309020205020404" pitchFamily="49" charset="0"/>
                <a:cs typeface="Courier New" panose="02070309020205020404" pitchFamily="49" charset="0"/>
              </a:rPr>
              <a:t>circle</a:t>
            </a:r>
          </a:p>
          <a:p>
            <a:r>
              <a:rPr lang="en-US" dirty="0"/>
              <a:t>The </a:t>
            </a:r>
            <a:r>
              <a:rPr lang="en-US" sz="2800" dirty="0">
                <a:latin typeface="Courier New" panose="02070309020205020404" pitchFamily="49" charset="0"/>
                <a:cs typeface="Courier New" panose="02070309020205020404" pitchFamily="49" charset="0"/>
              </a:rPr>
              <a:t>size</a:t>
            </a:r>
            <a:r>
              <a:rPr lang="en-US" dirty="0"/>
              <a:t> value defines the extent of the gradient as it radiates outward and can be expressed with a CSS unit of measure, a percentage of the background’s width and height, or with one of the following keywords:</a:t>
            </a:r>
          </a:p>
        </p:txBody>
      </p:sp>
    </p:spTree>
    <p:extLst>
      <p:ext uri="{BB962C8B-B14F-4D97-AF65-F5344CB8AC3E}">
        <p14:creationId xmlns:p14="http://schemas.microsoft.com/office/powerpoint/2010/main" val="1333183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Radial Gradient</a:t>
            </a:r>
            <a:br>
              <a:rPr lang="en-US" dirty="0"/>
            </a:br>
            <a:r>
              <a:rPr lang="en-US" dirty="0"/>
              <a:t>(continued 2)</a:t>
            </a:r>
          </a:p>
        </p:txBody>
      </p:sp>
      <p:sp>
        <p:nvSpPr>
          <p:cNvPr id="3" name="Text Placeholder 2"/>
          <p:cNvSpPr>
            <a:spLocks noGrp="1"/>
          </p:cNvSpPr>
          <p:nvPr>
            <p:ph type="body" sz="quarter" idx="17"/>
          </p:nvPr>
        </p:nvSpPr>
        <p:spPr/>
        <p:txBody>
          <a:bodyPr>
            <a:normAutofit/>
          </a:bodyPr>
          <a:lstStyle/>
          <a:p>
            <a:pPr lvl="1"/>
            <a:r>
              <a:rPr lang="en-US" sz="2600" dirty="0">
                <a:latin typeface="Courier New" panose="02070309020205020404" pitchFamily="49" charset="0"/>
                <a:cs typeface="Courier New" panose="02070309020205020404" pitchFamily="49" charset="0"/>
              </a:rPr>
              <a:t>farthest-corner</a:t>
            </a:r>
            <a:r>
              <a:rPr lang="en-US" dirty="0"/>
              <a:t> (default): Gradient extends to the background corner farthest from the gradient’s center</a:t>
            </a:r>
          </a:p>
          <a:p>
            <a:pPr lvl="1"/>
            <a:r>
              <a:rPr lang="en-US" sz="2600" dirty="0">
                <a:latin typeface="Courier New" panose="02070309020205020404" pitchFamily="49" charset="0"/>
                <a:cs typeface="Courier New" panose="02070309020205020404" pitchFamily="49" charset="0"/>
              </a:rPr>
              <a:t>farthest-side</a:t>
            </a:r>
            <a:r>
              <a:rPr lang="en-US" dirty="0"/>
              <a:t>: Gradient extends to background side farthest from the gradient’s center</a:t>
            </a:r>
          </a:p>
          <a:p>
            <a:pPr lvl="1"/>
            <a:r>
              <a:rPr lang="en-US" sz="2600" dirty="0">
                <a:latin typeface="Courier New" panose="02070309020205020404" pitchFamily="49" charset="0"/>
                <a:cs typeface="Courier New" panose="02070309020205020404" pitchFamily="49" charset="0"/>
              </a:rPr>
              <a:t>closest-corner</a:t>
            </a:r>
            <a:r>
              <a:rPr lang="en-US" dirty="0">
                <a:latin typeface="Arial" panose="020B0604020202020204" pitchFamily="34" charset="0"/>
                <a:cs typeface="Arial" panose="020B0604020202020204" pitchFamily="34" charset="0"/>
              </a:rPr>
              <a:t>:</a:t>
            </a:r>
            <a:r>
              <a:rPr lang="en-US" dirty="0"/>
              <a:t> Gradient extends to the nearest background corner</a:t>
            </a:r>
          </a:p>
          <a:p>
            <a:pPr lvl="1"/>
            <a:r>
              <a:rPr lang="en-US" sz="2600" dirty="0">
                <a:latin typeface="Courier New" panose="02070309020205020404" pitchFamily="49" charset="0"/>
                <a:cs typeface="Courier New" panose="02070309020205020404" pitchFamily="49" charset="0"/>
              </a:rPr>
              <a:t>closest-side</a:t>
            </a:r>
            <a:r>
              <a:rPr lang="en-US" dirty="0">
                <a:latin typeface="Arial" panose="020B0604020202020204" pitchFamily="34" charset="0"/>
                <a:cs typeface="Arial" panose="020B0604020202020204" pitchFamily="34" charset="0"/>
              </a:rPr>
              <a:t>:</a:t>
            </a:r>
            <a:r>
              <a:rPr lang="en-US" dirty="0"/>
              <a:t> Gradient extends to the background side closest to the gradient’s center</a:t>
            </a:r>
          </a:p>
        </p:txBody>
      </p:sp>
    </p:spTree>
    <p:extLst>
      <p:ext uri="{BB962C8B-B14F-4D97-AF65-F5344CB8AC3E}">
        <p14:creationId xmlns:p14="http://schemas.microsoft.com/office/powerpoint/2010/main" val="28364902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Radial Gradient</a:t>
            </a:r>
            <a:br>
              <a:rPr lang="en-US" dirty="0"/>
            </a:br>
            <a:r>
              <a:rPr lang="en-US" dirty="0"/>
              <a:t>(continued 3)</a:t>
            </a:r>
          </a:p>
        </p:txBody>
      </p:sp>
      <p:sp>
        <p:nvSpPr>
          <p:cNvPr id="8" name="Text Placeholder 7"/>
          <p:cNvSpPr>
            <a:spLocks noGrp="1"/>
          </p:cNvSpPr>
          <p:nvPr>
            <p:ph type="body" sz="quarter" idx="17"/>
          </p:nvPr>
        </p:nvSpPr>
        <p:spPr/>
        <p:txBody>
          <a:bodyPr/>
          <a:lstStyle/>
          <a:p>
            <a:r>
              <a:rPr lang="en-US" dirty="0"/>
              <a:t>The </a:t>
            </a:r>
            <a:r>
              <a:rPr lang="en-US" sz="2600" dirty="0">
                <a:latin typeface="Courier New" panose="02070309020205020404" pitchFamily="49" charset="0"/>
                <a:cs typeface="Courier New" panose="02070309020205020404" pitchFamily="49" charset="0"/>
              </a:rPr>
              <a:t>position </a:t>
            </a:r>
            <a:r>
              <a:rPr lang="en-US" dirty="0"/>
              <a:t>defines where the gradient radiates from and can be expressed in coordinates using pixels, percentages of the element’s width and height, or with the keywords: </a:t>
            </a:r>
            <a:r>
              <a:rPr lang="en-US" sz="2600" dirty="0">
                <a:latin typeface="Courier New" panose="02070309020205020404" pitchFamily="49" charset="0"/>
                <a:cs typeface="Courier New" panose="02070309020205020404" pitchFamily="49" charset="0"/>
              </a:rPr>
              <a:t>left</a:t>
            </a:r>
            <a:r>
              <a:rPr lang="en-US" dirty="0"/>
              <a:t>, </a:t>
            </a:r>
            <a:r>
              <a:rPr lang="en-US" sz="2600" dirty="0">
                <a:latin typeface="Courier New" panose="02070309020205020404" pitchFamily="49" charset="0"/>
                <a:cs typeface="Courier New" panose="02070309020205020404" pitchFamily="49" charset="0"/>
              </a:rPr>
              <a:t>center</a:t>
            </a:r>
            <a:r>
              <a:rPr lang="en-US" dirty="0"/>
              <a:t>, </a:t>
            </a:r>
            <a:r>
              <a:rPr lang="en-US" sz="2600" dirty="0">
                <a:latin typeface="Courier New" panose="02070309020205020404" pitchFamily="49" charset="0"/>
                <a:cs typeface="Courier New" panose="02070309020205020404" pitchFamily="49" charset="0"/>
              </a:rPr>
              <a:t>right</a:t>
            </a:r>
            <a:r>
              <a:rPr lang="en-US" dirty="0"/>
              <a:t>, </a:t>
            </a:r>
            <a:r>
              <a:rPr lang="en-US" sz="2600" dirty="0">
                <a:latin typeface="Courier New" panose="02070309020205020404" pitchFamily="49" charset="0"/>
                <a:cs typeface="Courier New" panose="02070309020205020404" pitchFamily="49" charset="0"/>
              </a:rPr>
              <a:t>top</a:t>
            </a:r>
            <a:r>
              <a:rPr lang="en-US" dirty="0"/>
              <a:t>, and </a:t>
            </a:r>
            <a:r>
              <a:rPr lang="en-US" sz="2600" dirty="0">
                <a:latin typeface="Courier New" panose="02070309020205020404" pitchFamily="49" charset="0"/>
                <a:cs typeface="Courier New" panose="02070309020205020404" pitchFamily="49" charset="0"/>
              </a:rPr>
              <a:t>bottom</a:t>
            </a:r>
          </a:p>
          <a:p>
            <a:r>
              <a:rPr lang="en-US" dirty="0"/>
              <a:t>The default is to place the gradient within the center of the background</a:t>
            </a:r>
          </a:p>
        </p:txBody>
      </p:sp>
    </p:spTree>
    <p:extLst>
      <p:ext uri="{BB962C8B-B14F-4D97-AF65-F5344CB8AC3E}">
        <p14:creationId xmlns:p14="http://schemas.microsoft.com/office/powerpoint/2010/main" val="29713530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Radial Gradient</a:t>
            </a:r>
            <a:br>
              <a:rPr lang="en-US" dirty="0"/>
            </a:br>
            <a:r>
              <a:rPr lang="en-US" dirty="0"/>
              <a:t>(continued 4)</a:t>
            </a:r>
          </a:p>
        </p:txBody>
      </p:sp>
      <p:sp>
        <p:nvSpPr>
          <p:cNvPr id="8" name="Text Placeholder 7"/>
          <p:cNvSpPr>
            <a:spLocks noGrp="1"/>
          </p:cNvSpPr>
          <p:nvPr>
            <p:ph type="body" sz="quarter" idx="17"/>
          </p:nvPr>
        </p:nvSpPr>
        <p:spPr/>
        <p:txBody>
          <a:bodyPr/>
          <a:lstStyle/>
          <a:p>
            <a:r>
              <a:rPr lang="en-US" dirty="0"/>
              <a:t>The </a:t>
            </a:r>
            <a:r>
              <a:rPr lang="en-US" sz="2600" dirty="0">
                <a:latin typeface="Courier New" panose="02070309020205020404" pitchFamily="49" charset="0"/>
                <a:cs typeface="Courier New" panose="02070309020205020404" pitchFamily="49" charset="0"/>
              </a:rPr>
              <a:t>color-stop1</a:t>
            </a:r>
            <a:r>
              <a:rPr lang="en-US" dirty="0"/>
              <a:t>, </a:t>
            </a:r>
            <a:r>
              <a:rPr lang="en-US" sz="2600" dirty="0">
                <a:latin typeface="Courier New" panose="02070309020205020404" pitchFamily="49" charset="0"/>
                <a:cs typeface="Courier New" panose="02070309020205020404" pitchFamily="49" charset="0"/>
              </a:rPr>
              <a:t>color-stop2</a:t>
            </a:r>
            <a:r>
              <a:rPr lang="en-US" dirty="0"/>
              <a:t> … values are the colors and their stopping positions within the gradient and have the same interpretation used for linear gradients except they mark stopping points as the gradient radiates outward</a:t>
            </a:r>
          </a:p>
          <a:p>
            <a:r>
              <a:rPr lang="en-US" dirty="0"/>
              <a:t>The color stops are optional, just as they are in linear gradients</a:t>
            </a:r>
          </a:p>
        </p:txBody>
      </p:sp>
    </p:spTree>
    <p:extLst>
      <p:ext uri="{BB962C8B-B14F-4D97-AF65-F5344CB8AC3E}">
        <p14:creationId xmlns:p14="http://schemas.microsoft.com/office/powerpoint/2010/main" val="39741231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Creating a Radial Gradient</a:t>
            </a:r>
            <a:br>
              <a:rPr lang="en-US" dirty="0"/>
            </a:br>
            <a:r>
              <a:rPr lang="en-US" dirty="0"/>
              <a:t>(continued 5)</a:t>
            </a:r>
          </a:p>
        </p:txBody>
      </p:sp>
      <p:pic>
        <p:nvPicPr>
          <p:cNvPr id="7" name="Content Placeholder 6" descr="This figure explains how to apply a radial gradient.&#10;The first line of the code reads “aside {”. The second line reads “background: radial-gradient(white, rgb(151, 222, 151), rgb(81, 125, 81));”. There are three rectangular boxes in this figure. The first rectangular box labeled “color at the center” is positioned at the top of the figure. An arrow originating from the first rectangular box points to “white” in the second line of the code. The second rectangular box labeled “color in the middle” is positioned to the right of the figure. An arrow originating from the second rectangular box points to “rgb(151, 222, 151)” in the second line of the code. The third rectangular box labeled “outside color” is positioned to the right of the first rectangular box. An arrow originating from the third rectangular box points to “rgb(81, 125, 81)” in the second line of the code.&#10;The third line reads “border: 4px double rgb(45, 93, 62);”. The fourth line reads “border-radius: 30px;”. The fifth line reads “box-shadow: rgba(51, 91, 51, 0.4) 0px 0px 20px 10px;” and the sixth line reads “}”.&#10;" title="Figure 4-40 Applying a radial gradient"/>
          <p:cNvPicPr>
            <a:picLocks noGrp="1" noChangeAspect="1"/>
          </p:cNvPicPr>
          <p:nvPr>
            <p:ph type="pic" sz="quarter" idx="10"/>
          </p:nvPr>
        </p:nvPicPr>
        <p:blipFill>
          <a:blip r:embed="rId2"/>
          <a:stretch>
            <a:fillRect/>
          </a:stretch>
        </p:blipFill>
        <p:spPr>
          <a:xfrm>
            <a:off x="810649" y="2396358"/>
            <a:ext cx="7522701" cy="1962129"/>
          </a:xfrm>
          <a:prstGeom prst="rect">
            <a:avLst/>
          </a:prstGeom>
        </p:spPr>
      </p:pic>
    </p:spTree>
    <p:extLst>
      <p:ext uri="{BB962C8B-B14F-4D97-AF65-F5344CB8AC3E}">
        <p14:creationId xmlns:p14="http://schemas.microsoft.com/office/powerpoint/2010/main" val="4520414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Repeating a Gradient</a:t>
            </a:r>
          </a:p>
        </p:txBody>
      </p:sp>
      <p:sp>
        <p:nvSpPr>
          <p:cNvPr id="3" name="Text Placeholder 2"/>
          <p:cNvSpPr>
            <a:spLocks noGrp="1"/>
          </p:cNvSpPr>
          <p:nvPr>
            <p:ph type="body" sz="quarter" idx="17"/>
          </p:nvPr>
        </p:nvSpPr>
        <p:spPr/>
        <p:txBody>
          <a:bodyPr/>
          <a:lstStyle/>
          <a:p>
            <a:r>
              <a:rPr lang="en-US" dirty="0"/>
              <a:t>A gradient design can be repeated to avoid the gradient function from being complicated due to the addition of more color stops</a:t>
            </a:r>
          </a:p>
          <a:p>
            <a:pPr marL="914400" lvl="2" indent="0">
              <a:buNone/>
            </a:pPr>
            <a:r>
              <a:rPr lang="en-IN" sz="2600" dirty="0">
                <a:latin typeface="Courier New" panose="02070309020205020404" pitchFamily="49" charset="0"/>
                <a:cs typeface="Courier New" panose="02070309020205020404" pitchFamily="49" charset="0"/>
              </a:rPr>
              <a:t>repeating-linear-gradient(</a:t>
            </a:r>
            <a:r>
              <a:rPr lang="en-IN" sz="2600" i="1" dirty="0">
                <a:latin typeface="Courier New" panose="02070309020205020404" pitchFamily="49" charset="0"/>
                <a:cs typeface="Courier New" panose="02070309020205020404" pitchFamily="49" charset="0"/>
              </a:rPr>
              <a:t>params</a:t>
            </a:r>
            <a:r>
              <a:rPr lang="en-IN" sz="2600" dirty="0">
                <a:latin typeface="Courier New" panose="02070309020205020404" pitchFamily="49" charset="0"/>
                <a:cs typeface="Courier New" panose="02070309020205020404" pitchFamily="49" charset="0"/>
              </a:rPr>
              <a:t>)</a:t>
            </a:r>
          </a:p>
          <a:p>
            <a:pPr marL="914400" lvl="2" indent="0">
              <a:buNone/>
            </a:pPr>
            <a:r>
              <a:rPr lang="en-IN" sz="2600" dirty="0">
                <a:latin typeface="Courier New" panose="02070309020205020404" pitchFamily="49" charset="0"/>
                <a:cs typeface="Courier New" panose="02070309020205020404" pitchFamily="49" charset="0"/>
              </a:rPr>
              <a:t>repeating-radial-gradient(</a:t>
            </a:r>
            <a:r>
              <a:rPr lang="en-IN" sz="2600" i="1" dirty="0">
                <a:latin typeface="Courier New" panose="02070309020205020404" pitchFamily="49" charset="0"/>
                <a:cs typeface="Courier New" panose="02070309020205020404" pitchFamily="49" charset="0"/>
              </a:rPr>
              <a:t>params</a:t>
            </a:r>
            <a:r>
              <a:rPr lang="en-IN" sz="2600" dirty="0">
                <a:latin typeface="Courier New" panose="02070309020205020404" pitchFamily="49" charset="0"/>
                <a:cs typeface="Courier New" panose="02070309020205020404" pitchFamily="49" charset="0"/>
              </a:rPr>
              <a:t>)</a:t>
            </a:r>
          </a:p>
          <a:p>
            <a:pPr marL="350838" lvl="2" indent="0">
              <a:buNone/>
            </a:pPr>
            <a:r>
              <a:rPr lang="en-IN" sz="3200" dirty="0"/>
              <a:t>where</a:t>
            </a:r>
            <a:r>
              <a:rPr lang="en-IN" sz="2600" dirty="0"/>
              <a:t> </a:t>
            </a:r>
            <a:r>
              <a:rPr lang="en-IN" sz="2600" i="1" dirty="0">
                <a:latin typeface="Courier New" panose="02070309020205020404" pitchFamily="49" charset="0"/>
                <a:cs typeface="Courier New" panose="02070309020205020404" pitchFamily="49" charset="0"/>
              </a:rPr>
              <a:t>params</a:t>
            </a:r>
            <a:r>
              <a:rPr lang="en-IN" sz="2600" dirty="0"/>
              <a:t> </a:t>
            </a:r>
            <a:r>
              <a:rPr lang="en-IN" sz="3200" dirty="0"/>
              <a:t>are the parameters of the</a:t>
            </a:r>
            <a:r>
              <a:rPr lang="en-IN" sz="2600" dirty="0"/>
              <a:t> </a:t>
            </a:r>
            <a:r>
              <a:rPr lang="en-IN" sz="2600" dirty="0">
                <a:latin typeface="Courier New" panose="02070309020205020404" pitchFamily="49" charset="0"/>
                <a:cs typeface="Courier New" panose="02070309020205020404" pitchFamily="49" charset="0"/>
              </a:rPr>
              <a:t>linear-gradient</a:t>
            </a:r>
            <a:r>
              <a:rPr lang="en-IN" sz="2600" dirty="0"/>
              <a:t> </a:t>
            </a:r>
            <a:r>
              <a:rPr lang="en-IN" sz="3200" dirty="0"/>
              <a:t>or the</a:t>
            </a:r>
            <a:r>
              <a:rPr lang="en-IN" sz="2600" dirty="0"/>
              <a:t> </a:t>
            </a:r>
            <a:r>
              <a:rPr lang="en-IN" sz="2600" dirty="0">
                <a:latin typeface="Courier New" panose="02070309020205020404" pitchFamily="49" charset="0"/>
                <a:cs typeface="Courier New" panose="02070309020205020404" pitchFamily="49" charset="0"/>
              </a:rPr>
              <a:t>radial-gradient</a:t>
            </a:r>
            <a:r>
              <a:rPr lang="en-IN" sz="2600" dirty="0"/>
              <a:t> </a:t>
            </a:r>
            <a:r>
              <a:rPr lang="en-IN" sz="3200" dirty="0"/>
              <a:t>functions</a:t>
            </a:r>
          </a:p>
        </p:txBody>
      </p:sp>
    </p:spTree>
    <p:extLst>
      <p:ext uri="{BB962C8B-B14F-4D97-AF65-F5344CB8AC3E}">
        <p14:creationId xmlns:p14="http://schemas.microsoft.com/office/powerpoint/2010/main" val="733080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Semi-Transparent Objects</a:t>
            </a:r>
          </a:p>
        </p:txBody>
      </p:sp>
      <p:sp>
        <p:nvSpPr>
          <p:cNvPr id="3" name="Text Placeholder 2"/>
          <p:cNvSpPr>
            <a:spLocks noGrp="1"/>
          </p:cNvSpPr>
          <p:nvPr>
            <p:ph type="body" sz="quarter" idx="17"/>
          </p:nvPr>
        </p:nvSpPr>
        <p:spPr/>
        <p:txBody>
          <a:bodyPr/>
          <a:lstStyle/>
          <a:p>
            <a:r>
              <a:rPr lang="en-US" dirty="0"/>
              <a:t>Semi-Transparent colors can be created using the following opacity property:</a:t>
            </a:r>
          </a:p>
          <a:p>
            <a:pPr marL="457200" indent="0">
              <a:buNone/>
            </a:pPr>
            <a:r>
              <a:rPr lang="en-US" sz="2600" dirty="0">
                <a:latin typeface="Courier New" panose="02070309020205020404" pitchFamily="49" charset="0"/>
                <a:cs typeface="Courier New" panose="02070309020205020404" pitchFamily="49" charset="0"/>
              </a:rPr>
              <a:t>opacity: value;</a:t>
            </a:r>
          </a:p>
          <a:p>
            <a:pPr marL="457200" indent="0">
              <a:buNone/>
            </a:pPr>
            <a:r>
              <a:rPr lang="en-US" dirty="0"/>
              <a:t>where </a:t>
            </a:r>
            <a:r>
              <a:rPr lang="en-US" sz="2600" dirty="0">
                <a:latin typeface="Courier New" panose="02070309020205020404" pitchFamily="49" charset="0"/>
                <a:cs typeface="Courier New" panose="02070309020205020404" pitchFamily="49" charset="0"/>
              </a:rPr>
              <a:t>value</a:t>
            </a:r>
            <a:r>
              <a:rPr lang="en-US" dirty="0"/>
              <a:t> ranges from 0 (completely transparent) up to 1 (completely opaque)</a:t>
            </a:r>
          </a:p>
        </p:txBody>
      </p:sp>
    </p:spTree>
    <p:extLst>
      <p:ext uri="{BB962C8B-B14F-4D97-AF65-F5344CB8AC3E}">
        <p14:creationId xmlns:p14="http://schemas.microsoft.com/office/powerpoint/2010/main" val="2957890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Semi-Transparent Objects (continued 1)</a:t>
            </a:r>
          </a:p>
        </p:txBody>
      </p:sp>
      <p:pic>
        <p:nvPicPr>
          <p:cNvPr id="4" name="Picture Placeholder 3" descr="Figure 4-43 explains how to create a semi-transparent object in a web page. The first line of the code reads “figure {”. The second line reads “border-style: solid;”. The third line reads “border-width: 25px;”. The fourth line reads “border-image: url(tb_border.png) 50 repeat;”. The fifth line reads “margin: 20px auto 0px;”. The sixth line reads “opacity: 0.55;”. A rectangular box labeled “sets the opacity of the figure box to 55%” is positioned to the left of the figure. An arrow originating from the rectangular box points to the sixth line of the code. The seventh line reads “width: 80%” and the eighth line reads “}”." title="Figure 4-43 Creating a semi-transparent object"/>
          <p:cNvPicPr>
            <a:picLocks noGrp="1" noChangeAspect="1"/>
          </p:cNvPicPr>
          <p:nvPr>
            <p:ph type="pic" sz="quarter" idx="10"/>
          </p:nvPr>
        </p:nvPicPr>
        <p:blipFill>
          <a:blip r:embed="rId2"/>
          <a:stretch>
            <a:fillRect/>
          </a:stretch>
        </p:blipFill>
        <p:spPr>
          <a:xfrm>
            <a:off x="603619" y="2055655"/>
            <a:ext cx="7936762" cy="2178719"/>
          </a:xfrm>
          <a:prstGeom prst="rect">
            <a:avLst/>
          </a:prstGeom>
        </p:spPr>
      </p:pic>
    </p:spTree>
    <p:extLst>
      <p:ext uri="{BB962C8B-B14F-4D97-AF65-F5344CB8AC3E}">
        <p14:creationId xmlns:p14="http://schemas.microsoft.com/office/powerpoint/2010/main" val="12391638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Semi-Transparent Objects (continued 2)</a:t>
            </a:r>
          </a:p>
        </p:txBody>
      </p:sp>
      <p:pic>
        <p:nvPicPr>
          <p:cNvPr id="5" name="Picture Placeholder 4" descr="Figure 4-44 explains the opacity of a figure box. The figure shows a rectangular box labeled “The Komatsu family”. A rectangular semi-transparent figure box of a family is positioned below the label within the first rectangular box. A part of the background paper texture is shown through the semi-transparent figure box. A rectangular box labeled “part of the background page texture shows through in the figure box” is positioned to the left of the figure. An arrow originating from this rectangular box points at the bottom of the rectangular image of the family mentioned earlier. A text that reads “Genta Komatsu was born in Hadano, Japan in” is positioned at the bottom of the rectangular image." title="Figure 4-44 Changing the opacity of the figure box"/>
          <p:cNvPicPr>
            <a:picLocks noGrp="1" noChangeAspect="1"/>
          </p:cNvPicPr>
          <p:nvPr>
            <p:ph type="pic" sz="quarter" idx="10"/>
          </p:nvPr>
        </p:nvPicPr>
        <p:blipFill>
          <a:blip r:embed="rId2"/>
          <a:stretch>
            <a:fillRect/>
          </a:stretch>
        </p:blipFill>
        <p:spPr>
          <a:xfrm>
            <a:off x="1133951" y="1591422"/>
            <a:ext cx="6876098" cy="4216065"/>
          </a:xfrm>
          <a:prstGeom prst="rect">
            <a:avLst/>
          </a:prstGeom>
        </p:spPr>
      </p:pic>
    </p:spTree>
    <p:extLst>
      <p:ext uri="{BB962C8B-B14F-4D97-AF65-F5344CB8AC3E}">
        <p14:creationId xmlns:p14="http://schemas.microsoft.com/office/powerpoint/2010/main" val="28055914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Transforming Page Objects</a:t>
            </a:r>
          </a:p>
        </p:txBody>
      </p:sp>
      <p:sp>
        <p:nvSpPr>
          <p:cNvPr id="3" name="Text Placeholder 2"/>
          <p:cNvSpPr>
            <a:spLocks noGrp="1"/>
          </p:cNvSpPr>
          <p:nvPr>
            <p:ph type="body" sz="quarter" idx="17"/>
          </p:nvPr>
        </p:nvSpPr>
        <p:spPr/>
        <p:txBody>
          <a:bodyPr/>
          <a:lstStyle/>
          <a:p>
            <a:r>
              <a:rPr lang="en-IN" dirty="0"/>
              <a:t>Rotation, rescaling, and translation in space can be used to transform the appearance of page objects</a:t>
            </a:r>
          </a:p>
          <a:p>
            <a:pPr marL="457200" indent="0">
              <a:buNone/>
            </a:pPr>
            <a:r>
              <a:rPr lang="en-IN" sz="2600" dirty="0">
                <a:latin typeface="Courier New" panose="02070309020205020404" pitchFamily="49" charset="0"/>
                <a:cs typeface="Courier New" panose="02070309020205020404" pitchFamily="49" charset="0"/>
              </a:rPr>
              <a:t>transform: effect(params);</a:t>
            </a:r>
          </a:p>
          <a:p>
            <a:pPr marL="457200" indent="0">
              <a:buNone/>
            </a:pPr>
            <a:r>
              <a:rPr lang="en-IN" dirty="0"/>
              <a:t>where </a:t>
            </a:r>
            <a:r>
              <a:rPr lang="en-IN" sz="2600" dirty="0">
                <a:latin typeface="Courier New" panose="02070309020205020404" pitchFamily="49" charset="0"/>
                <a:cs typeface="Courier New" panose="02070309020205020404" pitchFamily="49" charset="0"/>
              </a:rPr>
              <a:t>effect</a:t>
            </a:r>
            <a:r>
              <a:rPr lang="en-IN" dirty="0"/>
              <a:t> is the transformation function that will be applied to page objects and </a:t>
            </a:r>
            <a:r>
              <a:rPr lang="en-IN" sz="2600" dirty="0">
                <a:latin typeface="Courier New" panose="02070309020205020404" pitchFamily="49" charset="0"/>
                <a:cs typeface="Courier New" panose="02070309020205020404" pitchFamily="49" charset="0"/>
              </a:rPr>
              <a:t>params</a:t>
            </a:r>
            <a:r>
              <a:rPr lang="en-IN" dirty="0"/>
              <a:t> specify the parameters required by the transformation function</a:t>
            </a:r>
          </a:p>
        </p:txBody>
      </p:sp>
    </p:spTree>
    <p:extLst>
      <p:ext uri="{BB962C8B-B14F-4D97-AF65-F5344CB8AC3E}">
        <p14:creationId xmlns:p14="http://schemas.microsoft.com/office/powerpoint/2010/main" val="18840290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Transforming Page Objects (continued 1)</a:t>
            </a: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982693378"/>
              </p:ext>
            </p:extLst>
          </p:nvPr>
        </p:nvGraphicFramePr>
        <p:xfrm>
          <a:off x="638628" y="1632294"/>
          <a:ext cx="7866743" cy="4484640"/>
        </p:xfrm>
        <a:graphic>
          <a:graphicData uri="http://schemas.openxmlformats.org/drawingml/2006/table">
            <a:tbl>
              <a:tblPr firstRow="1"/>
              <a:tblGrid>
                <a:gridCol w="3091543">
                  <a:extLst>
                    <a:ext uri="{9D8B030D-6E8A-4147-A177-3AD203B41FA5}">
                      <a16:colId xmlns:a16="http://schemas.microsoft.com/office/drawing/2014/main" val="20000"/>
                    </a:ext>
                  </a:extLst>
                </a:gridCol>
                <a:gridCol w="4775200">
                  <a:extLst>
                    <a:ext uri="{9D8B030D-6E8A-4147-A177-3AD203B41FA5}">
                      <a16:colId xmlns:a16="http://schemas.microsoft.com/office/drawing/2014/main" val="20001"/>
                    </a:ext>
                  </a:extLst>
                </a:gridCol>
              </a:tblGrid>
              <a:tr h="0">
                <a:tc>
                  <a:txBody>
                    <a:bodyPr/>
                    <a:lstStyle/>
                    <a:p>
                      <a:pPr marL="0" marR="0">
                        <a:lnSpc>
                          <a:spcPts val="1100"/>
                        </a:lnSpc>
                        <a:spcBef>
                          <a:spcPts val="6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Function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40135" marR="60203" marT="150506" marB="30101"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ts val="1100"/>
                        </a:lnSpc>
                        <a:spcBef>
                          <a:spcPts val="6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60203" marT="150506" marB="30101"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301013">
                <a:tc>
                  <a:txBody>
                    <a:bodyPr/>
                    <a:lstStyle/>
                    <a:p>
                      <a:pPr marL="0" marR="0">
                        <a:lnSpc>
                          <a:spcPts val="1300"/>
                        </a:lnSpc>
                        <a:spcBef>
                          <a:spcPts val="6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translate(</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offX</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offY</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135" marR="60203" marT="40135" marB="4013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6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Moves the object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offX</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pixels to the right and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offY</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pixels down; negative values move the object to the left and up</a:t>
                      </a:r>
                    </a:p>
                  </a:txBody>
                  <a:tcPr marL="0" marR="60203" marT="40135" marB="4013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013">
                <a:tc>
                  <a:txBody>
                    <a:bodyPr/>
                    <a:lstStyle/>
                    <a:p>
                      <a:pPr marL="0" marR="0">
                        <a:lnSpc>
                          <a:spcPts val="1300"/>
                        </a:lnSpc>
                        <a:spcBef>
                          <a:spcPts val="6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translateX(</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offX</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135" marR="60203" marT="40135" marB="4013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6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Moves the object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offX</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pixels to the right; negative values move the object to the left</a:t>
                      </a:r>
                    </a:p>
                  </a:txBody>
                  <a:tcPr marL="0" marR="60203" marT="40135" marB="4013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013">
                <a:tc>
                  <a:txBody>
                    <a:bodyPr/>
                    <a:lstStyle/>
                    <a:p>
                      <a:pPr marL="0" marR="0">
                        <a:lnSpc>
                          <a:spcPts val="1300"/>
                        </a:lnSpc>
                        <a:spcBef>
                          <a:spcPts val="6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translateY(</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offY</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135" marR="60203" marT="40135" marB="4013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6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Moves the object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offY</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pixels down; negative values move the object up</a:t>
                      </a:r>
                    </a:p>
                  </a:txBody>
                  <a:tcPr marL="0" marR="60203" marT="40135" marB="4013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013">
                <a:tc>
                  <a:txBody>
                    <a:bodyPr/>
                    <a:lstStyle/>
                    <a:p>
                      <a:pPr marL="0" marR="0">
                        <a:lnSpc>
                          <a:spcPts val="1300"/>
                        </a:lnSpc>
                        <a:spcBef>
                          <a:spcPts val="6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scale(</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y</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135" marR="60203" marT="40135" marB="4013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6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Resizes the object by a factor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horizontally and a factor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y</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vertically</a:t>
                      </a:r>
                    </a:p>
                  </a:txBody>
                  <a:tcPr marL="0" marR="60203" marT="40135" marB="4013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90641">
                <a:tc>
                  <a:txBody>
                    <a:bodyPr/>
                    <a:lstStyle/>
                    <a:p>
                      <a:pPr marL="0" marR="0">
                        <a:lnSpc>
                          <a:spcPts val="1300"/>
                        </a:lnSpc>
                        <a:spcBef>
                          <a:spcPts val="6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scaleX(</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135" marR="60203" marT="40135" marB="4013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6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Resizes the object by a factor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horizontally</a:t>
                      </a:r>
                    </a:p>
                  </a:txBody>
                  <a:tcPr marL="0" marR="60203" marT="40135" marB="4013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90641">
                <a:tc>
                  <a:txBody>
                    <a:bodyPr/>
                    <a:lstStyle/>
                    <a:p>
                      <a:pPr marL="0" marR="0">
                        <a:lnSpc>
                          <a:spcPts val="1300"/>
                        </a:lnSpc>
                        <a:spcBef>
                          <a:spcPts val="6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scaleY(</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y</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135" marR="60203" marT="40135" marB="4013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6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Resizes the object by a factor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y</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vertically</a:t>
                      </a:r>
                    </a:p>
                  </a:txBody>
                  <a:tcPr marL="0" marR="60203" marT="40135" marB="4013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1013">
                <a:tc>
                  <a:txBody>
                    <a:bodyPr/>
                    <a:lstStyle/>
                    <a:p>
                      <a:pPr marL="0" marR="0">
                        <a:lnSpc>
                          <a:spcPts val="1300"/>
                        </a:lnSpc>
                        <a:spcBef>
                          <a:spcPts val="6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skew(</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angleX</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angleY</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135" marR="60203" marT="40135" marB="4013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6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Skews the object by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angleX</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degrees horizontally and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angleY</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degrees vertically</a:t>
                      </a:r>
                    </a:p>
                  </a:txBody>
                  <a:tcPr marL="0" marR="60203" marT="40135" marB="4013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90641">
                <a:tc>
                  <a:txBody>
                    <a:bodyPr/>
                    <a:lstStyle/>
                    <a:p>
                      <a:pPr marL="0" marR="0">
                        <a:lnSpc>
                          <a:spcPts val="1300"/>
                        </a:lnSpc>
                        <a:spcBef>
                          <a:spcPts val="6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skewX(</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angleX</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135" marR="60203" marT="40135" marB="4013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6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Skews the object by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angleX</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degrees horizontally</a:t>
                      </a:r>
                    </a:p>
                  </a:txBody>
                  <a:tcPr marL="0" marR="60203" marT="40135" marB="4013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190641">
                <a:tc>
                  <a:txBody>
                    <a:bodyPr/>
                    <a:lstStyle/>
                    <a:p>
                      <a:pPr marL="0" marR="0">
                        <a:lnSpc>
                          <a:spcPts val="1300"/>
                        </a:lnSpc>
                        <a:spcBef>
                          <a:spcPts val="6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skewY(</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angleY</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135" marR="60203" marT="40135" marB="4013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6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Skews the object by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angleY</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degrees vertically</a:t>
                      </a:r>
                    </a:p>
                  </a:txBody>
                  <a:tcPr marL="0" marR="60203" marT="40135" marB="4013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01013">
                <a:tc>
                  <a:txBody>
                    <a:bodyPr/>
                    <a:lstStyle/>
                    <a:p>
                      <a:pPr marL="0" marR="0">
                        <a:lnSpc>
                          <a:spcPts val="1300"/>
                        </a:lnSpc>
                        <a:spcBef>
                          <a:spcPts val="6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rotate(</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angle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135" marR="60203" marT="40135" marB="4013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6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Rotates the object by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angle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degrees clockwise; negative values rotate the object counter-clockwise</a:t>
                      </a:r>
                    </a:p>
                  </a:txBody>
                  <a:tcPr marL="0" marR="60203" marT="40135" marB="4013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190641">
                <a:tc>
                  <a:txBody>
                    <a:bodyPr/>
                    <a:lstStyle/>
                    <a:p>
                      <a:pPr marL="0" marR="0">
                        <a:lnSpc>
                          <a:spcPts val="1300"/>
                        </a:lnSpc>
                        <a:spcBef>
                          <a:spcPts val="6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matrix(</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135" marR="60203" marT="40135" marB="4013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6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Applies a 2D transformation based on a matrix of six values</a:t>
                      </a:r>
                    </a:p>
                  </a:txBody>
                  <a:tcPr marL="0" marR="60203" marT="40135" marB="4013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0917194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Transforming Page Objects (continued 2)</a:t>
            </a:r>
          </a:p>
        </p:txBody>
      </p:sp>
      <p:pic>
        <p:nvPicPr>
          <p:cNvPr id="5" name="Content Placeholder 5" descr="This figure explains how to transform the figure boxes in a web page.&#10;The first line of the code reads “/* Transformation Styles */”. The second line reads “figure#figure2 {”. The third line reads “transform: rotate(-40deg) scale(0.8, 0.8) translate(20px, -100px);”. There are six rectangular boxes in this figure. The first rectangular box labeled “rotates the box 40° counter-clockwise” is positioned to the left of the figure. An arrow originating from the first rectangular box points to “rotate(-40deg)” in the third line of the code. The second rectangular box labeled “reduces the box size to 80% of its original size” is positioned at the top-right side of the code. An arrow originating from the second rectangular box points to “scale(0.8, 0.8)” in the third line of the code. The third rectangular box labeled “moves the box 20 pixels to the right and 100 pixels up” is positioned below the third line of the code. An arrow originating from the third rectangular box points to “translate(20px, -100px);” in the third line of the code.&#10;The fourth line reads “box-shadow: rgb(101, 101) 10px 10px 25px;” and the fifth line reads “}”.&#10;The sixth line reads “figure#figure3 {”. The seventh line reads “transform: rotate(10deg) scale(0.9, 0.9) translate(-120px);”. The fourth rectangular box labeled “rotates the box 10° clockwise” is positioned below the first rectangular box. An arrow originating from the fourth rectangular box points to “rotate(10deg)” in the seventh line of the code. The fifth rectangular box labeled “reduces the box size to 90% of its original size” is positioned at the bottom center of the figure. An arrow originating from the fifth rectangular box points to “scale(0.9, 0.9)” in the seventh line of the code. The sixth rectangular box labeled “moves the box 120 pixels up” is positioned to the right of the fifth rectangular box. An arrow originating from the sixth rectangular box points to “translateY(-120px)” in the seventh line of the code. The eighth line reads “box-shadow: rgb(101, 101, 101) 10px -10px 25px;” and the ninth line reads “}”.&#10;" title="Figure 4-48 Transforming the figure boxes"/>
          <p:cNvPicPr>
            <a:picLocks noGrp="1" noChangeAspect="1"/>
          </p:cNvPicPr>
          <p:nvPr>
            <p:ph type="pic" sz="quarter" idx="10"/>
          </p:nvPr>
        </p:nvPicPr>
        <p:blipFill>
          <a:blip r:embed="rId2"/>
          <a:stretch>
            <a:fillRect/>
          </a:stretch>
        </p:blipFill>
        <p:spPr>
          <a:xfrm>
            <a:off x="505959" y="1954869"/>
            <a:ext cx="8132081" cy="3330771"/>
          </a:xfrm>
          <a:prstGeom prst="rect">
            <a:avLst/>
          </a:prstGeom>
        </p:spPr>
      </p:pic>
    </p:spTree>
    <p:extLst>
      <p:ext uri="{BB962C8B-B14F-4D97-AF65-F5344CB8AC3E}">
        <p14:creationId xmlns:p14="http://schemas.microsoft.com/office/powerpoint/2010/main" val="13490522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Transformations in Three Dimensions</a:t>
            </a:r>
          </a:p>
        </p:txBody>
      </p:sp>
      <p:sp>
        <p:nvSpPr>
          <p:cNvPr id="3" name="Text Placeholder 2"/>
          <p:cNvSpPr>
            <a:spLocks noGrp="1"/>
          </p:cNvSpPr>
          <p:nvPr>
            <p:ph type="body" sz="quarter" idx="17"/>
          </p:nvPr>
        </p:nvSpPr>
        <p:spPr/>
        <p:txBody>
          <a:bodyPr/>
          <a:lstStyle/>
          <a:p>
            <a:r>
              <a:rPr lang="en-IN" dirty="0"/>
              <a:t>A </a:t>
            </a:r>
            <a:r>
              <a:rPr lang="en-IN" b="1" dirty="0"/>
              <a:t>3D transformation</a:t>
            </a:r>
            <a:r>
              <a:rPr lang="en-IN" dirty="0"/>
              <a:t> is a change that involves three spatial axes:</a:t>
            </a:r>
          </a:p>
          <a:p>
            <a:pPr lvl="1"/>
            <a:r>
              <a:rPr lang="en-IN" dirty="0"/>
              <a:t>an x-axis that runs horizontally across the page</a:t>
            </a:r>
          </a:p>
          <a:p>
            <a:pPr lvl="1"/>
            <a:r>
              <a:rPr lang="en-IN" dirty="0"/>
              <a:t>a y-axis that runs vertically</a:t>
            </a:r>
          </a:p>
          <a:p>
            <a:pPr lvl="1"/>
            <a:r>
              <a:rPr lang="en-IN" dirty="0"/>
              <a:t>a z-axis that comes straight out of the page toward and away from the viewer</a:t>
            </a:r>
          </a:p>
        </p:txBody>
      </p:sp>
    </p:spTree>
    <p:extLst>
      <p:ext uri="{BB962C8B-B14F-4D97-AF65-F5344CB8AC3E}">
        <p14:creationId xmlns:p14="http://schemas.microsoft.com/office/powerpoint/2010/main" val="8917067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Transformations in Three Dimensions (continued)</a:t>
            </a: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2866018422"/>
              </p:ext>
            </p:extLst>
          </p:nvPr>
        </p:nvGraphicFramePr>
        <p:xfrm>
          <a:off x="747485" y="1407885"/>
          <a:ext cx="7649029" cy="4690889"/>
        </p:xfrm>
        <a:graphic>
          <a:graphicData uri="http://schemas.openxmlformats.org/drawingml/2006/table">
            <a:tbl>
              <a:tblPr firstRow="1"/>
              <a:tblGrid>
                <a:gridCol w="2634344">
                  <a:extLst>
                    <a:ext uri="{9D8B030D-6E8A-4147-A177-3AD203B41FA5}">
                      <a16:colId xmlns:a16="http://schemas.microsoft.com/office/drawing/2014/main" val="20000"/>
                    </a:ext>
                  </a:extLst>
                </a:gridCol>
                <a:gridCol w="5014685">
                  <a:extLst>
                    <a:ext uri="{9D8B030D-6E8A-4147-A177-3AD203B41FA5}">
                      <a16:colId xmlns:a16="http://schemas.microsoft.com/office/drawing/2014/main" val="20001"/>
                    </a:ext>
                  </a:extLst>
                </a:gridCol>
              </a:tblGrid>
              <a:tr h="355404">
                <a:tc>
                  <a:txBody>
                    <a:bodyPr/>
                    <a:lstStyle/>
                    <a:p>
                      <a:pPr marL="0" marR="0">
                        <a:lnSpc>
                          <a:spcPts val="1200"/>
                        </a:lnSpc>
                        <a:spcBef>
                          <a:spcPts val="12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Function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40863" marR="61294" marT="153235" marB="30647"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ts val="1200"/>
                        </a:lnSpc>
                        <a:spcBef>
                          <a:spcPts val="12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61294" marT="153235" marB="30647"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306469">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translate3d(</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offX</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offY</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offZ</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863" marR="61294" marT="40863" marB="408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Shifts the object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offX</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pixels horizontally,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offY</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pixels vertically, and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offZ</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pixels along the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z</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-axis</a:t>
                      </a:r>
                    </a:p>
                  </a:txBody>
                  <a:tcPr marL="0" marR="61294" marT="40863" marB="408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0135">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translateX(</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offX</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translateY(</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offY</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translateZ(</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offZ</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863" marR="61294" marT="40863" marB="408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Shifts the object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offX</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offY</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or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offZ</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pixels along the specified axis</a:t>
                      </a:r>
                    </a:p>
                  </a:txBody>
                  <a:tcPr marL="0" marR="61294" marT="40863" marB="408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86803">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rotate3d(</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y</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z</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angle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863" marR="61294" marT="40863" marB="408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Rotates the object around the three-dimensional vector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y</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z</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 direction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angle</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0" marR="61294" marT="40863" marB="408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80135">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rotateX(</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angle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rotateY(</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angle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rotateZ(</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angle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863" marR="61294" marT="40863" marB="408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Rotates the object around the specified axis at a direction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angle</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0" marR="61294" marT="40863" marB="408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6469">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scale3d(</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y</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z</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863" marR="61294" marT="40863" marB="408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Resizes the object by a factor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horizontally, a factor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y</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vertically, and a factor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z</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along the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z</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-axis</a:t>
                      </a:r>
                    </a:p>
                  </a:txBody>
                  <a:tcPr marL="0" marR="61294" marT="40863" marB="408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80135">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scaleX(</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scaleY(</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y</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scaleZ(</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z</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863" marR="61294" marT="40863" marB="408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Resizes the object by a factor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y</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or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z</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along the specified axis</a:t>
                      </a:r>
                    </a:p>
                  </a:txBody>
                  <a:tcPr marL="0" marR="61294" marT="40863" marB="408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94097">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perspective(</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863" marR="61294" marT="40863" marB="408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Sets the size of the perspective effect to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0" marR="61294" marT="40863" marB="408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94097">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matrix3d(</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0863" marR="61294" marT="40863" marB="408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Applies a 3D transformation based on a matrix of 16 values</a:t>
                      </a:r>
                    </a:p>
                  </a:txBody>
                  <a:tcPr marL="0" marR="61294" marT="40863" marB="408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40512245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Perspective</a:t>
            </a:r>
          </a:p>
        </p:txBody>
      </p:sp>
      <p:sp>
        <p:nvSpPr>
          <p:cNvPr id="3" name="Text Placeholder 2"/>
          <p:cNvSpPr>
            <a:spLocks noGrp="1"/>
          </p:cNvSpPr>
          <p:nvPr>
            <p:ph type="body" sz="quarter" idx="17"/>
          </p:nvPr>
        </p:nvSpPr>
        <p:spPr/>
        <p:txBody>
          <a:bodyPr/>
          <a:lstStyle/>
          <a:p>
            <a:r>
              <a:rPr lang="en-US" dirty="0"/>
              <a:t>Perspective is a measure of how rapidly objects appear to recede from the viewer in a 3D space</a:t>
            </a:r>
          </a:p>
          <a:p>
            <a:r>
              <a:rPr lang="en-US" dirty="0"/>
              <a:t>Perspective can be thought in terms of a pair of railroad tracks that appear to converge at a point, known as the </a:t>
            </a:r>
            <a:r>
              <a:rPr lang="en-US" b="1" dirty="0"/>
              <a:t>vanishing point</a:t>
            </a:r>
          </a:p>
        </p:txBody>
      </p:sp>
    </p:spTree>
    <p:extLst>
      <p:ext uri="{BB962C8B-B14F-4D97-AF65-F5344CB8AC3E}">
        <p14:creationId xmlns:p14="http://schemas.microsoft.com/office/powerpoint/2010/main" val="17109056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Perspective (continued 1)</a:t>
            </a:r>
          </a:p>
        </p:txBody>
      </p:sp>
      <p:sp>
        <p:nvSpPr>
          <p:cNvPr id="3" name="Text Placeholder 2"/>
          <p:cNvSpPr>
            <a:spLocks noGrp="1"/>
          </p:cNvSpPr>
          <p:nvPr>
            <p:ph type="body" sz="quarter" idx="17"/>
          </p:nvPr>
        </p:nvSpPr>
        <p:spPr/>
        <p:txBody>
          <a:bodyPr/>
          <a:lstStyle/>
          <a:p>
            <a:r>
              <a:rPr lang="en-US" dirty="0"/>
              <a:t>The perspective of a 3D space can be defined using</a:t>
            </a:r>
          </a:p>
          <a:p>
            <a:pPr marL="465138" indent="0">
              <a:buNone/>
            </a:pPr>
            <a:r>
              <a:rPr lang="en-US" sz="2600" dirty="0">
                <a:latin typeface="Courier New" panose="02070309020205020404" pitchFamily="49" charset="0"/>
                <a:cs typeface="Courier New" panose="02070309020205020404" pitchFamily="49" charset="0"/>
              </a:rPr>
              <a:t>perspective: value;</a:t>
            </a:r>
          </a:p>
          <a:p>
            <a:pPr marL="465138" indent="0">
              <a:buNone/>
            </a:pPr>
            <a:r>
              <a:rPr lang="en-US" dirty="0"/>
              <a:t>where </a:t>
            </a:r>
            <a:r>
              <a:rPr lang="en-US" sz="2600" dirty="0">
                <a:latin typeface="Courier New" panose="02070309020205020404" pitchFamily="49" charset="0"/>
                <a:cs typeface="Courier New" panose="02070309020205020404" pitchFamily="49" charset="0"/>
              </a:rPr>
              <a:t>value</a:t>
            </a:r>
            <a:r>
              <a:rPr lang="en-US" dirty="0"/>
              <a:t> is a positive value that measures the strength of the perspective effect</a:t>
            </a:r>
          </a:p>
          <a:p>
            <a:r>
              <a:rPr lang="en-US" dirty="0"/>
              <a:t>Lower value results in more extreme distortion</a:t>
            </a:r>
          </a:p>
        </p:txBody>
      </p:sp>
    </p:spTree>
    <p:extLst>
      <p:ext uri="{BB962C8B-B14F-4D97-AF65-F5344CB8AC3E}">
        <p14:creationId xmlns:p14="http://schemas.microsoft.com/office/powerpoint/2010/main" val="353367238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Perspective (continued 2)</a:t>
            </a:r>
          </a:p>
        </p:txBody>
      </p:sp>
      <p:pic>
        <p:nvPicPr>
          <p:cNvPr id="5" name="Content Placeholder 5" descr="This figure explains how to apply 3D transformations.&#10;The first line of the code reads “/* Transformation Styles */”. The second line reads “article {”. The third line reads “perspective: 600px;”. There are five rectangular boxes in this figure. The first rectangular box labeled “sets the perspective of the article space to 600 pixels” is positioned to the left of the code. An arrow originating from the first rectangular box points to the third line of the code. The fourth line reads “}”.&#10;The fifth line reads “figure#figure1 {”. The sixth line reads “transform: rotateX(30deg) translateZ(50px);”. The second rectangular box labeled “rotates the box 30° around the x-axis and shifts it forward 50 pixels along the z-axis” is positioned below the first rectangular box. An arrow originating from the second rectangular box points to the sixth line of the code.&#10;The seventh line reads “box-shadow: rgb(51, 51, 51) 0px 10px 25px;”. The third rectangular box labeled “adds a box shadow on the box’s bottom border” is positioned at the top-right side of the code. An arrow originating from the third rectangular box points to the seventh line of the code. The eight line reads “}”.&#10;The ninth line reads “figure#figure2 {”. The tenth line reads “transform: rotate(-40deg) scale(0.8, 0.8)”. The eleventh line reads “translate(20px, -100px)”. The twelfth line reads “rotate(30deg) rotate(60deg);”. The fourth rectangular box labeled “rotates the box 30° around the z-axis and 60° around the y-axis” is positioned below the second rectangular box. An arrow originating from the fourth rectangular box points to the twelfth line of the code. The thirteenth line reads “box-shadow: rgb(101, 101, 101) 10px 10px 25px;”. The fourteenth line reads “}”.&#10;The fifteenth line reads “figure#figure3 {”. The sixteenth line reads “transform: rotate(10deg) scale(0.9, 0.9)”. The seventeenth line reads “translate(-120px)”. The eighteenth line reads “rotate(-70deg) translate(-20px);”. The fifth rectangular box labeled “rotates the box 70° counter-clockwise around the y-axis and shifts it backward 20 pixels along the z-axis” is positioned below the fourth rectangular box. An arrow originating from the fifth rectangular box points to the eighteenth line of the code. The nineteenth line reads “box-shadow: rgb(101, 101, 101) 10px -10px 25px;”. The twentieth line reads “}”.&#10;" title="Figure 4-53 Applying 3D transformations"/>
          <p:cNvPicPr>
            <a:picLocks noGrp="1" noChangeAspect="1"/>
          </p:cNvPicPr>
          <p:nvPr>
            <p:ph type="pic" sz="quarter" idx="10"/>
          </p:nvPr>
        </p:nvPicPr>
        <p:blipFill>
          <a:blip r:embed="rId2"/>
          <a:stretch>
            <a:fillRect/>
          </a:stretch>
        </p:blipFill>
        <p:spPr>
          <a:xfrm>
            <a:off x="1555127" y="1480457"/>
            <a:ext cx="6033746" cy="4709886"/>
          </a:xfrm>
          <a:prstGeom prst="rect">
            <a:avLst/>
          </a:prstGeom>
        </p:spPr>
      </p:pic>
    </p:spTree>
    <p:extLst>
      <p:ext uri="{BB962C8B-B14F-4D97-AF65-F5344CB8AC3E}">
        <p14:creationId xmlns:p14="http://schemas.microsoft.com/office/powerpoint/2010/main" val="37077238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Exploring CSS Filters</a:t>
            </a:r>
          </a:p>
        </p:txBody>
      </p:sp>
      <p:sp>
        <p:nvSpPr>
          <p:cNvPr id="3" name="Text Placeholder 2"/>
          <p:cNvSpPr>
            <a:spLocks noGrp="1"/>
          </p:cNvSpPr>
          <p:nvPr>
            <p:ph type="body" sz="quarter" idx="17"/>
          </p:nvPr>
        </p:nvSpPr>
        <p:spPr/>
        <p:txBody>
          <a:bodyPr>
            <a:normAutofit lnSpcReduction="10000"/>
          </a:bodyPr>
          <a:lstStyle/>
          <a:p>
            <a:r>
              <a:rPr lang="en-US" dirty="0"/>
              <a:t>Filters adjust how a browser renders an image, a background, or a border</a:t>
            </a:r>
          </a:p>
          <a:p>
            <a:r>
              <a:rPr lang="en-US" dirty="0"/>
              <a:t>Filters modify an object’s color, brightness, contrast, or general appearance</a:t>
            </a:r>
          </a:p>
          <a:p>
            <a:r>
              <a:rPr lang="en-US" dirty="0"/>
              <a:t>Filters can be applied using the following property:</a:t>
            </a:r>
          </a:p>
          <a:p>
            <a:pPr marL="465138" indent="0">
              <a:buNone/>
            </a:pPr>
            <a:r>
              <a:rPr lang="en-US" sz="2600" dirty="0">
                <a:latin typeface="Courier New" panose="02070309020205020404" pitchFamily="49" charset="0"/>
                <a:cs typeface="Courier New" panose="02070309020205020404" pitchFamily="49" charset="0"/>
              </a:rPr>
              <a:t>filter: effect(</a:t>
            </a:r>
            <a:r>
              <a:rPr lang="en-US" sz="2600" dirty="0" err="1">
                <a:latin typeface="Courier New" panose="02070309020205020404" pitchFamily="49" charset="0"/>
                <a:cs typeface="Courier New" panose="02070309020205020404" pitchFamily="49" charset="0"/>
              </a:rPr>
              <a:t>params</a:t>
            </a:r>
            <a:r>
              <a:rPr lang="en-US" sz="2600" dirty="0">
                <a:latin typeface="Courier New" panose="02070309020205020404" pitchFamily="49" charset="0"/>
                <a:cs typeface="Courier New" panose="02070309020205020404" pitchFamily="49" charset="0"/>
              </a:rPr>
              <a:t>);</a:t>
            </a:r>
          </a:p>
          <a:p>
            <a:pPr marL="465138" indent="0">
              <a:buNone/>
            </a:pPr>
            <a:r>
              <a:rPr lang="en-US" dirty="0"/>
              <a:t>where </a:t>
            </a:r>
            <a:r>
              <a:rPr lang="en-US" sz="2600" dirty="0">
                <a:latin typeface="Courier New" panose="02070309020205020404" pitchFamily="49" charset="0"/>
                <a:cs typeface="Courier New" panose="02070309020205020404" pitchFamily="49" charset="0"/>
              </a:rPr>
              <a:t>effect</a:t>
            </a:r>
            <a:r>
              <a:rPr lang="en-US" dirty="0"/>
              <a:t> is a filter function and </a:t>
            </a:r>
            <a:r>
              <a:rPr lang="en-US" sz="2600" dirty="0">
                <a:latin typeface="Courier New" panose="02070309020205020404" pitchFamily="49" charset="0"/>
                <a:cs typeface="Courier New" panose="02070309020205020404" pitchFamily="49" charset="0"/>
              </a:rPr>
              <a:t>params</a:t>
            </a:r>
            <a:r>
              <a:rPr lang="en-US" dirty="0"/>
              <a:t> specify the parameters of filter function</a:t>
            </a:r>
          </a:p>
        </p:txBody>
      </p:sp>
    </p:spTree>
    <p:extLst>
      <p:ext uri="{BB962C8B-B14F-4D97-AF65-F5344CB8AC3E}">
        <p14:creationId xmlns:p14="http://schemas.microsoft.com/office/powerpoint/2010/main" val="35415954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Exploring CSS Filters (continued 2)</a:t>
            </a: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3568917232"/>
              </p:ext>
            </p:extLst>
          </p:nvPr>
        </p:nvGraphicFramePr>
        <p:xfrm>
          <a:off x="430439" y="898805"/>
          <a:ext cx="8283121" cy="5448255"/>
        </p:xfrm>
        <a:graphic>
          <a:graphicData uri="http://schemas.openxmlformats.org/drawingml/2006/table">
            <a:tbl>
              <a:tblPr firstRow="1"/>
              <a:tblGrid>
                <a:gridCol w="2416351">
                  <a:extLst>
                    <a:ext uri="{9D8B030D-6E8A-4147-A177-3AD203B41FA5}">
                      <a16:colId xmlns:a16="http://schemas.microsoft.com/office/drawing/2014/main" val="20000"/>
                    </a:ext>
                  </a:extLst>
                </a:gridCol>
                <a:gridCol w="5866770">
                  <a:extLst>
                    <a:ext uri="{9D8B030D-6E8A-4147-A177-3AD203B41FA5}">
                      <a16:colId xmlns:a16="http://schemas.microsoft.com/office/drawing/2014/main" val="20001"/>
                    </a:ext>
                  </a:extLst>
                </a:gridCol>
              </a:tblGrid>
              <a:tr h="258779">
                <a:tc>
                  <a:txBody>
                    <a:bodyPr/>
                    <a:lstStyle/>
                    <a:p>
                      <a:pPr marL="0" marR="0">
                        <a:lnSpc>
                          <a:spcPts val="1200"/>
                        </a:lnSpc>
                        <a:spcBef>
                          <a:spcPts val="12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Function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34504" marR="51756" marT="129389" marB="25878"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ts val="1200"/>
                        </a:lnSpc>
                        <a:spcBef>
                          <a:spcPts val="12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51756" marT="129389" marB="25878"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163893">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blur(</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length</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p>
                  </a:txBody>
                  <a:tcPr marL="34504" marR="51756" marT="34504" marB="3450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spc="-15"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Applies a blur to the image where </a:t>
                      </a:r>
                      <a:r>
                        <a:rPr lang="en-US" sz="1600" i="1" spc="-15"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length</a:t>
                      </a:r>
                      <a:r>
                        <a:rPr lang="en-US" sz="1600" spc="-15"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defines the size of blur in pixels</a:t>
                      </a:r>
                      <a:endPar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51756" marT="34504" marB="3450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8779">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brightness(</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p>
                  </a:txBody>
                  <a:tcPr marL="34504" marR="51756" marT="34504" marB="3450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Adjusts the brightness where values from 0 to 1 decrease the brightness and values greater than 1 increase the brightness</a:t>
                      </a:r>
                    </a:p>
                  </a:txBody>
                  <a:tcPr marL="0" marR="51756" marT="34504" marB="3450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8779">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contrast(</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p>
                  </a:txBody>
                  <a:tcPr marL="34504" marR="51756" marT="34504" marB="3450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Adjusts the contrast where values from 0 to 1 decrease the contrast and values greater than 1 increase the contrast</a:t>
                      </a:r>
                    </a:p>
                  </a:txBody>
                  <a:tcPr marL="0" marR="51756" marT="34504" marB="3450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3664">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drop-shadow(</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offsetX</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offsetY</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blur color</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p>
                  </a:txBody>
                  <a:tcPr marL="34504" marR="51756" marT="34504" marB="3450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Adds a drop shadow to the image where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offsetX</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and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offsetY</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are horizontal and vertical distances of the shadow,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blur</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the shadow blurring, and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color</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the shadow color</a:t>
                      </a:r>
                    </a:p>
                  </a:txBody>
                  <a:tcPr marL="0" marR="51756" marT="34504" marB="3450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58779">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grayscale(</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p>
                  </a:txBody>
                  <a:tcPr marL="34504" marR="51756" marT="34504" marB="3450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Displays the image in grayscale from 0, leaving the image unchanged, up to 1, displaying the image in complete grayscale</a:t>
                      </a:r>
                    </a:p>
                  </a:txBody>
                  <a:tcPr marL="0" marR="51756" marT="34504" marB="3450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3664">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hue-rotate(</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angle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p>
                  </a:txBody>
                  <a:tcPr marL="34504" marR="51756" marT="34504" marB="3450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Adjusts the hue by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angle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in the color wheel where 0deg leaves the hue unchanged, 180deg displays the complimentary colors and 360deg again leaves the hue unchanged</a:t>
                      </a:r>
                    </a:p>
                  </a:txBody>
                  <a:tcPr marL="0" marR="51756" marT="34504" marB="3450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58779">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invert(</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p>
                  </a:txBody>
                  <a:tcPr marL="34504" marR="51756" marT="34504" marB="3450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Inverts the color from 0 (leaving the image unchanged), up to 1 (completely inverting the colors)</a:t>
                      </a:r>
                    </a:p>
                  </a:txBody>
                  <a:tcPr marL="0" marR="51756" marT="34504" marB="3450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8779">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opacity(</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p>
                  </a:txBody>
                  <a:tcPr marL="34504" marR="51756" marT="34504" marB="3450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Applies transparency to the image from 0 (making the image transparent), up to 1 (leaving the image opaque)</a:t>
                      </a:r>
                    </a:p>
                  </a:txBody>
                  <a:tcPr marL="0" marR="51756" marT="34504" marB="3450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58779">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saturate(</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p>
                  </a:txBody>
                  <a:tcPr marL="34504" marR="51756" marT="34504" marB="3450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Adjusts the color saturation where values from 0 to 1 decrease the saturation and values greater than 1 increase the saturation</a:t>
                      </a:r>
                    </a:p>
                  </a:txBody>
                  <a:tcPr marL="0" marR="51756" marT="34504" marB="3450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58779">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sepia(</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p>
                  </a:txBody>
                  <a:tcPr marL="34504" marR="51756" marT="34504" marB="3450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Displays the color in a sepia tone from 0 (leaving the image unchanged), up to 1 (image completely in sepia)</a:t>
                      </a:r>
                    </a:p>
                  </a:txBody>
                  <a:tcPr marL="0" marR="51756" marT="34504" marB="3450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163893">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url(</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url</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p>
                  </a:txBody>
                  <a:tcPr marL="34504" marR="51756" marT="34504" marB="3450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Loads an SVG filter file from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url</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51756" marT="34504" marB="3450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61432834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Exploring CSS Filters (continued 3)</a:t>
            </a:r>
          </a:p>
        </p:txBody>
      </p:sp>
      <p:pic>
        <p:nvPicPr>
          <p:cNvPr id="5" name="Content Placeholder 5" descr="This figure explains how to apply the filter property.&#10;The first line of the code reads “/* Filter Styles */”. The second line reads “figure#figure1 {”. The third line reads “-webkit-filter: sepia(0.8);” and the fourth line reads “filter: sepia(0.8)”. There are four rectangular boxes in this figure. The first rectangular box labeled “provides more cross-browser support by adding the WebKit browser extension” is positioned to the left of the figure. An arrow originating from the first rectangular box points to the third and fourth lines of the code. The second rectangular box labeled “displays the figure1 figure box in sepia” is positioned to the right side of the code. An arrow originating from the second rectangular box points to the third and fourth lines of the code. The fifth line reads “}”.&#10;The sixth line reads “figure#figure2 {”. The seventh line reads “-webkit-filter: grayscale(1);”. The eighth line reads “filter: grayscale(1);”. The third rectangular box labeled “displays the figure2 figure box in grayscale” is positioned below the second rectangular box. An arrow originating from the third rectangular box points to the seventh and eighth lines of the code. The ninth line reads “}”.&#10;The tenth line reads “figure#figure3 {”. The eleventh line reads “-webkit-filter: saturate(1.5) contrast(1.2);”. The twelfth line reads “filter: saturate(1.5) contrast(1.2);”. The fourth rectangular box labeled “increases the color saturation and contrast in the figure3 figure box” is positioned to the bottom left of the code. An arrow originating from the fourth rectangular box points to the eleventh and twelfth lines of the code. The thirteenth line reads “}”.&#10;" title="Figure 4-57 Applying the filter property"/>
          <p:cNvPicPr>
            <a:picLocks noGrp="1" noChangeAspect="1"/>
          </p:cNvPicPr>
          <p:nvPr>
            <p:ph type="pic" sz="quarter" idx="10"/>
          </p:nvPr>
        </p:nvPicPr>
        <p:blipFill>
          <a:blip r:embed="rId2"/>
          <a:stretch>
            <a:fillRect/>
          </a:stretch>
        </p:blipFill>
        <p:spPr>
          <a:xfrm>
            <a:off x="599280" y="1393371"/>
            <a:ext cx="7945439" cy="4484913"/>
          </a:xfrm>
          <a:prstGeom prst="rect">
            <a:avLst/>
          </a:prstGeom>
        </p:spPr>
      </p:pic>
    </p:spTree>
    <p:extLst>
      <p:ext uri="{BB962C8B-B14F-4D97-AF65-F5344CB8AC3E}">
        <p14:creationId xmlns:p14="http://schemas.microsoft.com/office/powerpoint/2010/main" val="426062573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Image Maps</a:t>
            </a:r>
          </a:p>
        </p:txBody>
      </p:sp>
      <p:sp>
        <p:nvSpPr>
          <p:cNvPr id="3" name="Text Placeholder 2"/>
          <p:cNvSpPr>
            <a:spLocks noGrp="1"/>
          </p:cNvSpPr>
          <p:nvPr>
            <p:ph type="body" sz="quarter" idx="17"/>
          </p:nvPr>
        </p:nvSpPr>
        <p:spPr/>
        <p:txBody>
          <a:bodyPr>
            <a:normAutofit/>
          </a:bodyPr>
          <a:lstStyle/>
          <a:p>
            <a:r>
              <a:rPr lang="en-US" dirty="0"/>
              <a:t>With HTML an image can be divided into different zones, or </a:t>
            </a:r>
            <a:r>
              <a:rPr lang="en-US" b="1" dirty="0"/>
              <a:t>hotspots</a:t>
            </a:r>
          </a:p>
          <a:p>
            <a:r>
              <a:rPr lang="en-US" dirty="0"/>
              <a:t>Hotspots can then be linked to different URLs through information provided in an </a:t>
            </a:r>
            <a:r>
              <a:rPr lang="en-US" b="1" dirty="0"/>
              <a:t>image map</a:t>
            </a:r>
          </a:p>
        </p:txBody>
      </p:sp>
    </p:spTree>
    <p:extLst>
      <p:ext uri="{BB962C8B-B14F-4D97-AF65-F5344CB8AC3E}">
        <p14:creationId xmlns:p14="http://schemas.microsoft.com/office/powerpoint/2010/main" val="27578201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Image Maps (continued)</a:t>
            </a:r>
          </a:p>
        </p:txBody>
      </p:sp>
      <p:sp>
        <p:nvSpPr>
          <p:cNvPr id="3" name="Text Placeholder 2"/>
          <p:cNvSpPr>
            <a:spLocks noGrp="1"/>
          </p:cNvSpPr>
          <p:nvPr>
            <p:ph type="body" sz="quarter" idx="17"/>
          </p:nvPr>
        </p:nvSpPr>
        <p:spPr/>
        <p:txBody>
          <a:bodyPr>
            <a:normAutofit/>
          </a:bodyPr>
          <a:lstStyle/>
          <a:p>
            <a:r>
              <a:rPr lang="en-US" dirty="0"/>
              <a:t>A </a:t>
            </a:r>
            <a:r>
              <a:rPr lang="en-US" b="1" dirty="0"/>
              <a:t>client-side image map </a:t>
            </a:r>
            <a:r>
              <a:rPr lang="en-US" dirty="0"/>
              <a:t>is an image map that is defined within the web page and handled entirely by the web browser</a:t>
            </a:r>
          </a:p>
          <a:p>
            <a:r>
              <a:rPr lang="en-US" dirty="0"/>
              <a:t>A </a:t>
            </a:r>
            <a:r>
              <a:rPr lang="en-US" b="1" dirty="0"/>
              <a:t>server-side image map </a:t>
            </a:r>
            <a:r>
              <a:rPr lang="en-US" dirty="0"/>
              <a:t>relies on a program running on the web server to create and administer the map</a:t>
            </a:r>
          </a:p>
        </p:txBody>
      </p:sp>
    </p:spTree>
    <p:extLst>
      <p:ext uri="{BB962C8B-B14F-4D97-AF65-F5344CB8AC3E}">
        <p14:creationId xmlns:p14="http://schemas.microsoft.com/office/powerpoint/2010/main" val="319775725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a Client-Side Image Map</a:t>
            </a:r>
          </a:p>
        </p:txBody>
      </p:sp>
      <p:sp>
        <p:nvSpPr>
          <p:cNvPr id="3" name="Text Placeholder 2"/>
          <p:cNvSpPr>
            <a:spLocks noGrp="1"/>
          </p:cNvSpPr>
          <p:nvPr>
            <p:ph type="body" sz="quarter" idx="17"/>
          </p:nvPr>
        </p:nvSpPr>
        <p:spPr/>
        <p:txBody>
          <a:bodyPr>
            <a:normAutofit/>
          </a:bodyPr>
          <a:lstStyle/>
          <a:p>
            <a:r>
              <a:rPr lang="en-US" dirty="0"/>
              <a:t>Client-side image maps are defined with the following map element:</a:t>
            </a:r>
          </a:p>
          <a:p>
            <a:pPr marL="465138" indent="0">
              <a:buNone/>
            </a:pPr>
            <a:r>
              <a:rPr lang="en-US" sz="2600" dirty="0">
                <a:latin typeface="Courier New" panose="02070309020205020404" pitchFamily="49" charset="0"/>
                <a:cs typeface="Courier New" panose="02070309020205020404" pitchFamily="49" charset="0"/>
              </a:rPr>
              <a:t>&lt;map name=“text”&gt;</a:t>
            </a:r>
          </a:p>
          <a:p>
            <a:pPr marL="465138" indent="0">
              <a:buNone/>
            </a:pPr>
            <a:r>
              <a:rPr lang="en-US" sz="2600" dirty="0">
                <a:latin typeface="Courier New" panose="02070309020205020404" pitchFamily="49" charset="0"/>
                <a:cs typeface="Courier New" panose="02070309020205020404" pitchFamily="49" charset="0"/>
              </a:rPr>
              <a:t>	hotspots</a:t>
            </a:r>
          </a:p>
          <a:p>
            <a:pPr marL="465138" indent="0">
              <a:buNone/>
            </a:pPr>
            <a:r>
              <a:rPr lang="en-US" sz="2600" dirty="0">
                <a:latin typeface="Courier New" panose="02070309020205020404" pitchFamily="49" charset="0"/>
                <a:cs typeface="Courier New" panose="02070309020205020404" pitchFamily="49" charset="0"/>
              </a:rPr>
              <a:t>&lt;/map&gt;</a:t>
            </a:r>
          </a:p>
          <a:p>
            <a:pPr marL="465138" indent="0">
              <a:buNone/>
            </a:pPr>
            <a:r>
              <a:rPr lang="en-US" dirty="0"/>
              <a:t>where </a:t>
            </a:r>
            <a:r>
              <a:rPr lang="en-US" sz="2600" dirty="0">
                <a:latin typeface="Courier New" panose="02070309020205020404" pitchFamily="49" charset="0"/>
                <a:cs typeface="Courier New" panose="02070309020205020404" pitchFamily="49" charset="0"/>
              </a:rPr>
              <a:t>text</a:t>
            </a:r>
            <a:r>
              <a:rPr lang="en-US" dirty="0"/>
              <a:t> is the name of the image map and </a:t>
            </a:r>
            <a:r>
              <a:rPr lang="en-US" sz="2600" dirty="0">
                <a:latin typeface="Courier New" panose="02070309020205020404" pitchFamily="49" charset="0"/>
                <a:cs typeface="Courier New" panose="02070309020205020404" pitchFamily="49" charset="0"/>
              </a:rPr>
              <a:t>hotspots</a:t>
            </a:r>
            <a:r>
              <a:rPr lang="en-US" dirty="0"/>
              <a:t> are the defined regions within an image that are linked to different URLs</a:t>
            </a:r>
          </a:p>
        </p:txBody>
      </p:sp>
    </p:spTree>
    <p:extLst>
      <p:ext uri="{BB962C8B-B14F-4D97-AF65-F5344CB8AC3E}">
        <p14:creationId xmlns:p14="http://schemas.microsoft.com/office/powerpoint/2010/main" val="144545580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a Client-Side Image Map (continued 1)</a:t>
            </a:r>
          </a:p>
        </p:txBody>
      </p:sp>
      <p:sp>
        <p:nvSpPr>
          <p:cNvPr id="3" name="Text Placeholder 2"/>
          <p:cNvSpPr>
            <a:spLocks noGrp="1"/>
          </p:cNvSpPr>
          <p:nvPr>
            <p:ph type="body" sz="quarter" idx="17"/>
          </p:nvPr>
        </p:nvSpPr>
        <p:spPr/>
        <p:txBody>
          <a:bodyPr>
            <a:normAutofit/>
          </a:bodyPr>
          <a:lstStyle/>
          <a:p>
            <a:r>
              <a:rPr lang="en-US" dirty="0"/>
              <a:t>Client-side image maps:</a:t>
            </a:r>
          </a:p>
          <a:p>
            <a:pPr lvl="1"/>
            <a:r>
              <a:rPr lang="en-US" dirty="0"/>
              <a:t>Can be placed anywhere within the body of a web page</a:t>
            </a:r>
          </a:p>
          <a:p>
            <a:pPr lvl="1"/>
            <a:r>
              <a:rPr lang="en-US" dirty="0"/>
              <a:t>They are not actually displayed by browsers</a:t>
            </a:r>
          </a:p>
          <a:p>
            <a:pPr lvl="1"/>
            <a:r>
              <a:rPr lang="en-US" dirty="0"/>
              <a:t>They are simply used as references for mapping the locations of the hotspots within the image</a:t>
            </a:r>
          </a:p>
          <a:p>
            <a:r>
              <a:rPr lang="en-US" dirty="0"/>
              <a:t>The most common practice is to place a </a:t>
            </a:r>
            <a:r>
              <a:rPr lang="en-US" sz="3000" dirty="0">
                <a:latin typeface="Courier New" panose="02070309020205020404" pitchFamily="49" charset="0"/>
                <a:cs typeface="Courier New" panose="02070309020205020404" pitchFamily="49" charset="0"/>
              </a:rPr>
              <a:t>map</a:t>
            </a:r>
            <a:r>
              <a:rPr lang="en-US" dirty="0"/>
              <a:t> element below the corresponding inline image</a:t>
            </a:r>
          </a:p>
        </p:txBody>
      </p:sp>
    </p:spTree>
    <p:extLst>
      <p:ext uri="{BB962C8B-B14F-4D97-AF65-F5344CB8AC3E}">
        <p14:creationId xmlns:p14="http://schemas.microsoft.com/office/powerpoint/2010/main" val="255009114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a Client-Side Image Map (continued 2)</a:t>
            </a:r>
          </a:p>
        </p:txBody>
      </p:sp>
      <p:sp>
        <p:nvSpPr>
          <p:cNvPr id="3" name="Text Placeholder 2"/>
          <p:cNvSpPr>
            <a:spLocks noGrp="1"/>
          </p:cNvSpPr>
          <p:nvPr>
            <p:ph type="body" sz="quarter" idx="17"/>
          </p:nvPr>
        </p:nvSpPr>
        <p:spPr/>
        <p:txBody>
          <a:bodyPr>
            <a:normAutofit lnSpcReduction="10000"/>
          </a:bodyPr>
          <a:lstStyle/>
          <a:p>
            <a:r>
              <a:rPr lang="en-US" dirty="0"/>
              <a:t>Each hotspot within the map element is defined using the following area element:</a:t>
            </a:r>
          </a:p>
          <a:p>
            <a:pPr marL="465138" indent="0">
              <a:buNone/>
            </a:pPr>
            <a:r>
              <a:rPr lang="en-US" sz="2600" dirty="0">
                <a:latin typeface="Courier New" panose="02070309020205020404" pitchFamily="49" charset="0"/>
                <a:cs typeface="Courier New" panose="02070309020205020404" pitchFamily="49" charset="0"/>
              </a:rPr>
              <a:t>&lt;area shape="shape" coords="coordinates"</a:t>
            </a:r>
          </a:p>
          <a:p>
            <a:pPr marL="465138" indent="0">
              <a:buNone/>
            </a:pPr>
            <a:r>
              <a:rPr lang="en-US" sz="2600" dirty="0">
                <a:latin typeface="Courier New" panose="02070309020205020404" pitchFamily="49" charset="0"/>
                <a:cs typeface="Courier New" panose="02070309020205020404" pitchFamily="49" charset="0"/>
              </a:rPr>
              <a:t>href="url" alt="text" /&gt;</a:t>
            </a:r>
          </a:p>
          <a:p>
            <a:pPr marL="465138" indent="0">
              <a:buNone/>
            </a:pPr>
            <a:r>
              <a:rPr lang="en-US" dirty="0"/>
              <a:t>where </a:t>
            </a:r>
            <a:r>
              <a:rPr lang="en-US" sz="2600" dirty="0">
                <a:latin typeface="Courier New" panose="02070309020205020404" pitchFamily="49" charset="0"/>
                <a:cs typeface="Courier New" panose="02070309020205020404" pitchFamily="49" charset="0"/>
              </a:rPr>
              <a:t>shape</a:t>
            </a:r>
            <a:r>
              <a:rPr lang="en-US" dirty="0"/>
              <a:t> is the shape of the hotspot region, </a:t>
            </a:r>
            <a:r>
              <a:rPr lang="en-US" sz="2600" dirty="0">
                <a:latin typeface="Courier New" panose="02070309020205020404" pitchFamily="49" charset="0"/>
                <a:cs typeface="Courier New" panose="02070309020205020404" pitchFamily="49" charset="0"/>
              </a:rPr>
              <a:t>coordinates</a:t>
            </a:r>
            <a:r>
              <a:rPr lang="en-US" dirty="0"/>
              <a:t> are the list of points defining the boundaries of that region, </a:t>
            </a:r>
            <a:r>
              <a:rPr lang="en-US" sz="2600" dirty="0">
                <a:latin typeface="Courier New" panose="02070309020205020404" pitchFamily="49" charset="0"/>
                <a:cs typeface="Courier New" panose="02070309020205020404" pitchFamily="49" charset="0"/>
              </a:rPr>
              <a:t>url</a:t>
            </a:r>
            <a:r>
              <a:rPr lang="en-US" dirty="0"/>
              <a:t> is the URL of the hypertext link, and </a:t>
            </a:r>
            <a:r>
              <a:rPr lang="en-US" sz="2600" dirty="0">
                <a:latin typeface="Courier New" panose="02070309020205020404" pitchFamily="49" charset="0"/>
                <a:cs typeface="Courier New" panose="02070309020205020404" pitchFamily="49" charset="0"/>
              </a:rPr>
              <a:t>text</a:t>
            </a:r>
            <a:r>
              <a:rPr lang="en-US" dirty="0"/>
              <a:t> is alternate text displayed for non-graphical browsers</a:t>
            </a:r>
          </a:p>
        </p:txBody>
      </p:sp>
    </p:spTree>
    <p:extLst>
      <p:ext uri="{BB962C8B-B14F-4D97-AF65-F5344CB8AC3E}">
        <p14:creationId xmlns:p14="http://schemas.microsoft.com/office/powerpoint/2010/main" val="380232130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a Client-Side Image Map (continued 3)</a:t>
            </a:r>
          </a:p>
        </p:txBody>
      </p:sp>
      <p:sp>
        <p:nvSpPr>
          <p:cNvPr id="3" name="Text Placeholder 2"/>
          <p:cNvSpPr>
            <a:spLocks noGrp="1"/>
          </p:cNvSpPr>
          <p:nvPr>
            <p:ph type="body" sz="quarter" idx="17"/>
          </p:nvPr>
        </p:nvSpPr>
        <p:spPr/>
        <p:txBody>
          <a:bodyPr/>
          <a:lstStyle/>
          <a:p>
            <a:r>
              <a:rPr lang="en-US" dirty="0"/>
              <a:t>Hotspots can be created as rectangles, circles, or polygons (multisided figures) using </a:t>
            </a:r>
            <a:r>
              <a:rPr lang="en-US" sz="2600" dirty="0">
                <a:latin typeface="Courier New" panose="02070309020205020404" pitchFamily="49" charset="0"/>
                <a:cs typeface="Courier New" panose="02070309020205020404" pitchFamily="49" charset="0"/>
              </a:rPr>
              <a:t>shape</a:t>
            </a:r>
            <a:r>
              <a:rPr lang="en-US" dirty="0"/>
              <a:t> values of </a:t>
            </a:r>
            <a:r>
              <a:rPr lang="en-US" sz="2600" dirty="0">
                <a:latin typeface="Courier New" panose="02070309020205020404" pitchFamily="49" charset="0"/>
                <a:cs typeface="Courier New" panose="02070309020205020404" pitchFamily="49" charset="0"/>
              </a:rPr>
              <a:t>rect</a:t>
            </a:r>
            <a:r>
              <a:rPr lang="en-US" dirty="0"/>
              <a:t>, </a:t>
            </a:r>
            <a:r>
              <a:rPr lang="en-US" sz="2600" dirty="0">
                <a:latin typeface="Courier New" panose="02070309020205020404" pitchFamily="49" charset="0"/>
                <a:cs typeface="Courier New" panose="02070309020205020404" pitchFamily="49" charset="0"/>
              </a:rPr>
              <a:t>circle</a:t>
            </a:r>
            <a:r>
              <a:rPr lang="en-US" dirty="0"/>
              <a:t>, and </a:t>
            </a:r>
            <a:r>
              <a:rPr lang="en-US" sz="2600" dirty="0">
                <a:latin typeface="Courier New" panose="02070309020205020404" pitchFamily="49" charset="0"/>
                <a:cs typeface="Courier New" panose="02070309020205020404" pitchFamily="49" charset="0"/>
              </a:rPr>
              <a:t>poly</a:t>
            </a:r>
            <a:r>
              <a:rPr lang="en-US" dirty="0"/>
              <a:t> respectively</a:t>
            </a:r>
          </a:p>
          <a:p>
            <a:r>
              <a:rPr lang="en-US" dirty="0"/>
              <a:t>A fourth possible shape value, </a:t>
            </a:r>
            <a:r>
              <a:rPr lang="en-US" sz="2600" dirty="0">
                <a:latin typeface="Courier New" panose="02070309020205020404" pitchFamily="49" charset="0"/>
                <a:cs typeface="Courier New" panose="02070309020205020404" pitchFamily="49" charset="0"/>
              </a:rPr>
              <a:t>default</a:t>
            </a:r>
            <a:r>
              <a:rPr lang="en-US" dirty="0"/>
              <a:t>, represents the remaining area of the inline image not covered by any hotspots</a:t>
            </a:r>
          </a:p>
          <a:p>
            <a:r>
              <a:rPr lang="en-US" dirty="0"/>
              <a:t>There is no limit to the number of hotspots that can be added to an image map</a:t>
            </a:r>
          </a:p>
        </p:txBody>
      </p:sp>
    </p:spTree>
    <p:extLst>
      <p:ext uri="{BB962C8B-B14F-4D97-AF65-F5344CB8AC3E}">
        <p14:creationId xmlns:p14="http://schemas.microsoft.com/office/powerpoint/2010/main" val="359530077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a Client-Side Image Map (continued 4)</a:t>
            </a:r>
          </a:p>
        </p:txBody>
      </p:sp>
      <p:sp>
        <p:nvSpPr>
          <p:cNvPr id="3" name="Text Placeholder 2"/>
          <p:cNvSpPr>
            <a:spLocks noGrp="1"/>
          </p:cNvSpPr>
          <p:nvPr>
            <p:ph type="body" sz="quarter" idx="17"/>
          </p:nvPr>
        </p:nvSpPr>
        <p:spPr/>
        <p:txBody>
          <a:bodyPr/>
          <a:lstStyle/>
          <a:p>
            <a:r>
              <a:rPr lang="en-US" dirty="0"/>
              <a:t>For rectangular hotspots, the </a:t>
            </a:r>
            <a:r>
              <a:rPr lang="en-US" sz="2600" dirty="0">
                <a:latin typeface="Courier New" panose="02070309020205020404" pitchFamily="49" charset="0"/>
                <a:cs typeface="Courier New" panose="02070309020205020404" pitchFamily="49" charset="0"/>
              </a:rPr>
              <a:t>shape</a:t>
            </a:r>
            <a:r>
              <a:rPr lang="en-US" dirty="0"/>
              <a:t> and </a:t>
            </a:r>
            <a:r>
              <a:rPr lang="en-US" sz="2600" dirty="0">
                <a:latin typeface="Courier New" panose="02070309020205020404" pitchFamily="49" charset="0"/>
                <a:cs typeface="Courier New" panose="02070309020205020404" pitchFamily="49" charset="0"/>
              </a:rPr>
              <a:t>coords</a:t>
            </a:r>
            <a:r>
              <a:rPr lang="en-US" dirty="0"/>
              <a:t> attributes have the general form:</a:t>
            </a:r>
          </a:p>
          <a:p>
            <a:pPr marL="508000" indent="0">
              <a:buNone/>
            </a:pPr>
            <a:r>
              <a:rPr lang="en-US" sz="2600" dirty="0">
                <a:latin typeface="Courier New" panose="02070309020205020404" pitchFamily="49" charset="0"/>
                <a:cs typeface="Courier New" panose="02070309020205020404" pitchFamily="49" charset="0"/>
              </a:rPr>
              <a:t>shape="rect" coords="left,top,right,bottom"</a:t>
            </a:r>
          </a:p>
          <a:p>
            <a:pPr marL="508000" indent="0">
              <a:buNone/>
            </a:pPr>
            <a:r>
              <a:rPr lang="en-US" dirty="0"/>
              <a:t>where </a:t>
            </a:r>
            <a:r>
              <a:rPr lang="en-US" sz="2600" dirty="0">
                <a:latin typeface="Courier New" panose="02070309020205020404" pitchFamily="49" charset="0"/>
                <a:cs typeface="Courier New" panose="02070309020205020404" pitchFamily="49" charset="0"/>
              </a:rPr>
              <a:t>left</a:t>
            </a:r>
            <a:r>
              <a:rPr lang="en-US" dirty="0"/>
              <a:t>, </a:t>
            </a:r>
            <a:r>
              <a:rPr lang="en-US" sz="2600" dirty="0">
                <a:latin typeface="Courier New" panose="02070309020205020404" pitchFamily="49" charset="0"/>
                <a:cs typeface="Courier New" panose="02070309020205020404" pitchFamily="49" charset="0"/>
              </a:rPr>
              <a:t>top</a:t>
            </a:r>
            <a:r>
              <a:rPr lang="en-US" dirty="0"/>
              <a:t> are the coordinates of the top-left corner of the rectangle and </a:t>
            </a:r>
            <a:r>
              <a:rPr lang="en-US" sz="2600" dirty="0">
                <a:latin typeface="Courier New" panose="02070309020205020404" pitchFamily="49" charset="0"/>
                <a:cs typeface="Courier New" panose="02070309020205020404" pitchFamily="49" charset="0"/>
              </a:rPr>
              <a:t>right</a:t>
            </a:r>
            <a:r>
              <a:rPr lang="en-US" dirty="0"/>
              <a:t>, </a:t>
            </a:r>
            <a:r>
              <a:rPr lang="en-US" sz="2600" dirty="0">
                <a:latin typeface="Courier New" panose="02070309020205020404" pitchFamily="49" charset="0"/>
                <a:cs typeface="Courier New" panose="02070309020205020404" pitchFamily="49" charset="0"/>
              </a:rPr>
              <a:t>bottom</a:t>
            </a:r>
            <a:r>
              <a:rPr lang="en-US" dirty="0"/>
              <a:t> are the coordinates of the bottom-right corner</a:t>
            </a:r>
          </a:p>
        </p:txBody>
      </p:sp>
    </p:spTree>
    <p:extLst>
      <p:ext uri="{BB962C8B-B14F-4D97-AF65-F5344CB8AC3E}">
        <p14:creationId xmlns:p14="http://schemas.microsoft.com/office/powerpoint/2010/main" val="88970024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a Client-Side Image Map (continued 5)</a:t>
            </a:r>
          </a:p>
        </p:txBody>
      </p:sp>
      <p:sp>
        <p:nvSpPr>
          <p:cNvPr id="3" name="Text Placeholder 2"/>
          <p:cNvSpPr>
            <a:spLocks noGrp="1"/>
          </p:cNvSpPr>
          <p:nvPr>
            <p:ph type="body" sz="quarter" idx="17"/>
          </p:nvPr>
        </p:nvSpPr>
        <p:spPr/>
        <p:txBody>
          <a:bodyPr/>
          <a:lstStyle/>
          <a:p>
            <a:r>
              <a:rPr lang="en-US" dirty="0"/>
              <a:t>Circular hotspots are defined using the attributes:</a:t>
            </a:r>
          </a:p>
          <a:p>
            <a:pPr marL="465138" indent="0">
              <a:buNone/>
            </a:pPr>
            <a:r>
              <a:rPr lang="en-US" sz="2600" dirty="0">
                <a:latin typeface="Courier New" panose="02070309020205020404" pitchFamily="49" charset="0"/>
                <a:cs typeface="Courier New" panose="02070309020205020404" pitchFamily="49" charset="0"/>
              </a:rPr>
              <a:t>shape=“circle” coords=“x, y, radius”</a:t>
            </a:r>
          </a:p>
          <a:p>
            <a:pPr marL="465138" indent="0">
              <a:buNone/>
            </a:pPr>
            <a:r>
              <a:rPr lang="en-US" dirty="0"/>
              <a:t>where </a:t>
            </a:r>
            <a:r>
              <a:rPr lang="en-US" sz="2600" dirty="0">
                <a:latin typeface="Courier New" panose="02070309020205020404" pitchFamily="49" charset="0"/>
                <a:cs typeface="Courier New" panose="02070309020205020404" pitchFamily="49" charset="0"/>
              </a:rPr>
              <a:t>x</a:t>
            </a:r>
            <a:r>
              <a:rPr lang="en-US" dirty="0"/>
              <a:t> and </a:t>
            </a:r>
            <a:r>
              <a:rPr lang="en-US" sz="2600" dirty="0">
                <a:latin typeface="Courier New" panose="02070309020205020404" pitchFamily="49" charset="0"/>
                <a:cs typeface="Courier New" panose="02070309020205020404" pitchFamily="49" charset="0"/>
              </a:rPr>
              <a:t>y</a:t>
            </a:r>
            <a:r>
              <a:rPr lang="en-US" dirty="0"/>
              <a:t> are the coordinates of the center of the circle and </a:t>
            </a:r>
            <a:r>
              <a:rPr lang="en-US" sz="2600" dirty="0">
                <a:latin typeface="Courier New" panose="02070309020205020404" pitchFamily="49" charset="0"/>
                <a:cs typeface="Courier New" panose="02070309020205020404" pitchFamily="49" charset="0"/>
              </a:rPr>
              <a:t>radius</a:t>
            </a:r>
            <a:r>
              <a:rPr lang="en-US" dirty="0"/>
              <a:t> is the circle’s radius</a:t>
            </a:r>
          </a:p>
        </p:txBody>
      </p:sp>
    </p:spTree>
    <p:extLst>
      <p:ext uri="{BB962C8B-B14F-4D97-AF65-F5344CB8AC3E}">
        <p14:creationId xmlns:p14="http://schemas.microsoft.com/office/powerpoint/2010/main" val="153750934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a Client-Side Image Map (continued 6)</a:t>
            </a:r>
          </a:p>
        </p:txBody>
      </p:sp>
      <p:sp>
        <p:nvSpPr>
          <p:cNvPr id="3" name="Text Placeholder 2"/>
          <p:cNvSpPr>
            <a:spLocks noGrp="1"/>
          </p:cNvSpPr>
          <p:nvPr>
            <p:ph type="body" sz="quarter" idx="17"/>
          </p:nvPr>
        </p:nvSpPr>
        <p:spPr/>
        <p:txBody>
          <a:bodyPr>
            <a:normAutofit lnSpcReduction="10000"/>
          </a:bodyPr>
          <a:lstStyle/>
          <a:p>
            <a:r>
              <a:rPr lang="en-US" dirty="0"/>
              <a:t>Polygonal hotspots have the attributes:</a:t>
            </a:r>
          </a:p>
          <a:p>
            <a:pPr marL="465138" indent="0">
              <a:buNone/>
            </a:pPr>
            <a:r>
              <a:rPr lang="en-US" sz="2600" dirty="0">
                <a:latin typeface="Courier New" panose="02070309020205020404" pitchFamily="49" charset="0"/>
                <a:cs typeface="Courier New" panose="02070309020205020404" pitchFamily="49" charset="0"/>
              </a:rPr>
              <a:t>shape="poly" coords="x1,y1,x2,y2,…"</a:t>
            </a:r>
          </a:p>
          <a:p>
            <a:pPr marL="465138" indent="0">
              <a:buNone/>
            </a:pPr>
            <a:r>
              <a:rPr lang="en-US" dirty="0"/>
              <a:t>where </a:t>
            </a:r>
            <a:r>
              <a:rPr lang="en-US" sz="2600" dirty="0">
                <a:latin typeface="Courier New" panose="02070309020205020404" pitchFamily="49" charset="0"/>
                <a:cs typeface="Courier New" panose="02070309020205020404" pitchFamily="49" charset="0"/>
              </a:rPr>
              <a:t>(x1, y1)</a:t>
            </a:r>
            <a:r>
              <a:rPr lang="en-US" dirty="0"/>
              <a:t>, </a:t>
            </a:r>
            <a:r>
              <a:rPr lang="en-US" sz="2600" dirty="0">
                <a:latin typeface="Courier New" panose="02070309020205020404" pitchFamily="49" charset="0"/>
                <a:cs typeface="Courier New" panose="02070309020205020404" pitchFamily="49" charset="0"/>
              </a:rPr>
              <a:t>(x2, y2)</a:t>
            </a:r>
            <a:r>
              <a:rPr lang="en-US" dirty="0"/>
              <a:t>, … set the coordinates of each vertex in the shape</a:t>
            </a:r>
          </a:p>
          <a:p>
            <a:r>
              <a:rPr lang="en-US" dirty="0"/>
              <a:t>To define the default hotspot for an image, create the following hotspot:</a:t>
            </a:r>
          </a:p>
          <a:p>
            <a:pPr marL="465138" indent="0">
              <a:buNone/>
            </a:pPr>
            <a:r>
              <a:rPr lang="en-US" sz="2600" dirty="0">
                <a:latin typeface="Courier New" panose="02070309020205020404" pitchFamily="49" charset="0"/>
                <a:cs typeface="Courier New" panose="02070309020205020404" pitchFamily="49" charset="0"/>
              </a:rPr>
              <a:t>shape="default" coords="0,0,width,height“</a:t>
            </a:r>
            <a:endParaRPr lang="en-US" dirty="0"/>
          </a:p>
          <a:p>
            <a:pPr marL="465138" indent="0">
              <a:buNone/>
            </a:pPr>
            <a:r>
              <a:rPr lang="en-US" dirty="0"/>
              <a:t>where </a:t>
            </a:r>
            <a:r>
              <a:rPr lang="en-US" sz="2600" dirty="0">
                <a:latin typeface="Courier New" panose="02070309020205020404" pitchFamily="49" charset="0"/>
                <a:cs typeface="Courier New" panose="02070309020205020404" pitchFamily="49" charset="0"/>
              </a:rPr>
              <a:t>width</a:t>
            </a:r>
            <a:r>
              <a:rPr lang="en-US" dirty="0"/>
              <a:t> is the width of the image in pixels and </a:t>
            </a:r>
            <a:r>
              <a:rPr lang="en-US" sz="2600" dirty="0">
                <a:latin typeface="Courier New" panose="02070309020205020404" pitchFamily="49" charset="0"/>
                <a:cs typeface="Courier New" panose="02070309020205020404" pitchFamily="49" charset="0"/>
              </a:rPr>
              <a:t>height</a:t>
            </a:r>
            <a:r>
              <a:rPr lang="en-US" dirty="0"/>
              <a:t> is the image’s height</a:t>
            </a:r>
          </a:p>
        </p:txBody>
      </p:sp>
    </p:spTree>
    <p:extLst>
      <p:ext uri="{BB962C8B-B14F-4D97-AF65-F5344CB8AC3E}">
        <p14:creationId xmlns:p14="http://schemas.microsoft.com/office/powerpoint/2010/main" val="12183669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a Client-Side Image Map (continued 7)</a:t>
            </a:r>
          </a:p>
        </p:txBody>
      </p:sp>
      <p:pic>
        <p:nvPicPr>
          <p:cNvPr id="5" name="Picture Placeholder 4" descr="This figure explains how to insert an image map.&#10;The first line of the code reads “&lt;figure&gt;”. &#10;The second line reads “&lt;img src=”tb_komatsu.png” alt=”family portrait” /&gt;”. &#10;The third line reads “&lt;figcaption&gt;(L-R): Ikko, Mika, Miroji, Genta, Suzuko&lt;/figcaption&gt;”. &#10;The fourth line reads “&lt;/figure&gt;”. &#10;The fifth line reads “&lt;map name=”family_map”&gt;”. &#10;There are five rectangular boxes in this figure. The first rectangular box labeled “name of the image map” is positioned on the right side of the code. An arrow originating from the first rectangular box points to the fifth line of the code. &#10;The sixth line reads “&lt;area shape=”rect” cords=”74, 74, 123, 141” href=”tb_ikko.html” alt=”Ikko Komatsu” /&gt;”. &#10;The seventh line reads “&lt;area shape=”rect” cords=”126, 109, 177, 172” href=”tb_mika.html” alt=”Mika Komatsu” /&gt;”.&#10;The eigth line reads “&lt;area shape=”rect” cords=”180, 157, 230, 214” href=”tb_hiroji.html” alt=”Hiroji Komatsu” /&gt;”.&#10;The ninth line reads “&lt;area shape=”rect” cords=”258, 96, 312, 165” href=”tb_genta.html” alt=”Genta Komatsu” /&gt;”.&#10;The tenth line reads “&lt;area shape=”rect” cords=”342, 86, 398, 162” href=”tb_suzuko.html” alt=”Suzuko Komatsu” /&gt;”. &#10;The second rectangular box labeled “shape of the hotspot” is positioned at the bottom of the figure. An arrow originating from the second rectangular box points to “shape=”rect”” in the tenth line of the code. &#10;The third rectangular box labeled “coordinates of the rectangular hotspot” is positioned to the right of the second rectangular box. An arrow originating from the third rectangular box points to “cords=”342, 86, 398, 162”” in the tenth line of the code. &#10;The fourth rectangular box labeled “URL of the hotspot link” is positioned to the right of the third rectangular box. An arrow originating from the fourth rectangular box points to “href=”tb_suzuko.html”” in the tenth line of the code. &#10;The fifth rectangular box labeled “alternate text for the hotspot” is positioned to the right of the fourth rectangular box. An arrow originating from the fifth rectangular box points to “alt=”Suzuko Komatsu”” in the tenth line of the code. The eleventh line reads “&lt;/map&gt;”.&#10;" title="Figure 4-62 Inserting an image map"/>
          <p:cNvPicPr>
            <a:picLocks noGrp="1" noChangeAspect="1"/>
          </p:cNvPicPr>
          <p:nvPr>
            <p:ph type="pic" sz="quarter" idx="10"/>
          </p:nvPr>
        </p:nvPicPr>
        <p:blipFill>
          <a:blip r:embed="rId2"/>
          <a:stretch>
            <a:fillRect/>
          </a:stretch>
        </p:blipFill>
        <p:spPr>
          <a:xfrm>
            <a:off x="769147" y="2171101"/>
            <a:ext cx="7605706" cy="2734554"/>
          </a:xfrm>
          <a:prstGeom prst="rect">
            <a:avLst/>
          </a:prstGeom>
        </p:spPr>
      </p:pic>
    </p:spTree>
    <p:extLst>
      <p:ext uri="{BB962C8B-B14F-4D97-AF65-F5344CB8AC3E}">
        <p14:creationId xmlns:p14="http://schemas.microsoft.com/office/powerpoint/2010/main" val="20497418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an Image Map</a:t>
            </a:r>
          </a:p>
        </p:txBody>
      </p:sp>
      <p:sp>
        <p:nvSpPr>
          <p:cNvPr id="3" name="Text Placeholder 2"/>
          <p:cNvSpPr>
            <a:spLocks noGrp="1"/>
          </p:cNvSpPr>
          <p:nvPr>
            <p:ph type="body" sz="quarter" idx="17"/>
          </p:nvPr>
        </p:nvSpPr>
        <p:spPr/>
        <p:txBody>
          <a:bodyPr/>
          <a:lstStyle/>
          <a:p>
            <a:r>
              <a:rPr lang="en-US" dirty="0"/>
              <a:t>An image map can be applied to an image using the following </a:t>
            </a:r>
            <a:r>
              <a:rPr lang="en-US" sz="2600" dirty="0">
                <a:latin typeface="Courier New" panose="02070309020205020404" pitchFamily="49" charset="0"/>
                <a:cs typeface="Courier New" panose="02070309020205020404" pitchFamily="49" charset="0"/>
              </a:rPr>
              <a:t>usemap</a:t>
            </a:r>
            <a:r>
              <a:rPr lang="en-US" dirty="0"/>
              <a:t> attribute to the </a:t>
            </a:r>
            <a:r>
              <a:rPr lang="en-US" sz="2600" dirty="0">
                <a:latin typeface="Courier New" panose="02070309020205020404" pitchFamily="49" charset="0"/>
                <a:cs typeface="Courier New" panose="02070309020205020404" pitchFamily="49" charset="0"/>
              </a:rPr>
              <a:t>img</a:t>
            </a:r>
            <a:r>
              <a:rPr lang="en-US" dirty="0"/>
              <a:t> element:</a:t>
            </a:r>
          </a:p>
          <a:p>
            <a:pPr marL="465138" indent="0">
              <a:buNone/>
            </a:pPr>
            <a:r>
              <a:rPr lang="en-US" sz="2600" dirty="0">
                <a:latin typeface="Courier New" panose="02070309020205020404" pitchFamily="49" charset="0"/>
                <a:cs typeface="Courier New" panose="02070309020205020404" pitchFamily="49" charset="0"/>
              </a:rPr>
              <a:t>&lt;img src=“url” alt=“text” usemap=“#map” /&gt;</a:t>
            </a:r>
          </a:p>
          <a:p>
            <a:pPr marL="465138" indent="0">
              <a:buNone/>
            </a:pPr>
            <a:r>
              <a:rPr lang="en-US" dirty="0"/>
              <a:t>where </a:t>
            </a:r>
            <a:r>
              <a:rPr lang="en-US" sz="2600" dirty="0">
                <a:latin typeface="Courier New" panose="02070309020205020404" pitchFamily="49" charset="0"/>
                <a:cs typeface="Courier New" panose="02070309020205020404" pitchFamily="49" charset="0"/>
              </a:rPr>
              <a:t>map</a:t>
            </a:r>
            <a:r>
              <a:rPr lang="en-US" dirty="0"/>
              <a:t> is the name assigned to the image map within the current HTML file</a:t>
            </a:r>
          </a:p>
        </p:txBody>
      </p:sp>
    </p:spTree>
    <p:extLst>
      <p:ext uri="{BB962C8B-B14F-4D97-AF65-F5344CB8AC3E}">
        <p14:creationId xmlns:p14="http://schemas.microsoft.com/office/powerpoint/2010/main" val="277042683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an Image Map (continued)</a:t>
            </a:r>
          </a:p>
        </p:txBody>
      </p:sp>
      <p:pic>
        <p:nvPicPr>
          <p:cNvPr id="5" name="Picture Placeholder 4" descr="This figure explains how to apply an image map.&#10;The first line of the code reads “&lt;figure&gt;”. The second line reads “&lt;img src=”tb_komatsu.png” alt=”family portrait” usemap=”#family_map” /&gt;”. A rectangular box labeled “Applies the family_map image map to the image” is positioned at the top of the figure. An arrow originating from the rectangular box points to “usemap=”#family_map” in the second line of the code. The third line reads “&lt;figcaption&gt;(L-R): Ikko, Mika, Hiroji, Genta, Suzuko&lt;/figcaption&gt;” and the fourth line reads “&lt;/figure&gt;”.&#10;" title="Figure 4-63 Applying an image map"/>
          <p:cNvPicPr>
            <a:picLocks noGrp="1" noChangeAspect="1"/>
          </p:cNvPicPr>
          <p:nvPr>
            <p:ph type="pic" sz="quarter" idx="10"/>
          </p:nvPr>
        </p:nvPicPr>
        <p:blipFill>
          <a:blip r:embed="rId2"/>
          <a:stretch>
            <a:fillRect/>
          </a:stretch>
        </p:blipFill>
        <p:spPr>
          <a:xfrm>
            <a:off x="683666" y="2287214"/>
            <a:ext cx="7776667" cy="1892901"/>
          </a:xfrm>
          <a:prstGeom prst="rect">
            <a:avLst/>
          </a:prstGeom>
        </p:spPr>
      </p:pic>
    </p:spTree>
    <p:extLst>
      <p:ext uri="{BB962C8B-B14F-4D97-AF65-F5344CB8AC3E}">
        <p14:creationId xmlns:p14="http://schemas.microsoft.com/office/powerpoint/2010/main" val="122639553"/>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Presentation1" id="{276F6C23-6457-4163-906F-9FD71B1D340C}" vid="{9A4A37B5-06EA-4573-8274-FD94E47E4E80}"/>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3612</Words>
  <Application>Microsoft Office PowerPoint</Application>
  <PresentationFormat>On-screen Show (4:3)</PresentationFormat>
  <Paragraphs>338</Paragraphs>
  <Slides>79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79</vt:i4>
      </vt:variant>
    </vt:vector>
  </HeadingPairs>
  <TitlesOfParts>
    <vt:vector size="88" baseType="lpstr">
      <vt:lpstr>Arial</vt:lpstr>
      <vt:lpstr>Arial</vt:lpstr>
      <vt:lpstr>Courier New</vt:lpstr>
      <vt:lpstr>Helvetica</vt:lpstr>
      <vt:lpstr>LucidaGrande</vt:lpstr>
      <vt:lpstr>Open Sans</vt:lpstr>
      <vt:lpstr>Summer Font</vt:lpstr>
      <vt:lpstr>Times New Roman</vt:lpstr>
      <vt:lpstr>Office Theme</vt:lpstr>
      <vt:lpstr>Tutorial 04</vt:lpstr>
      <vt:lpstr>Objectives</vt:lpstr>
      <vt:lpstr>Objectives (continued)</vt:lpstr>
      <vt:lpstr>Creating Figure Boxes</vt:lpstr>
      <vt:lpstr>Creating Figure Boxes (continued 1)</vt:lpstr>
      <vt:lpstr>Creating Figure Boxes (continued 2)</vt:lpstr>
      <vt:lpstr>Creating Figure Boxes (continued 3)</vt:lpstr>
      <vt:lpstr>Exploring Background Styles</vt:lpstr>
      <vt:lpstr>Tiling a Background Image</vt:lpstr>
      <vt:lpstr>Tiling a Background Image (continued)</vt:lpstr>
      <vt:lpstr>Attaching the Background Image</vt:lpstr>
      <vt:lpstr>Attaching the Background Image (continued 1)</vt:lpstr>
      <vt:lpstr>Attaching the Background Image (continued 2)</vt:lpstr>
      <vt:lpstr>Setting the Background Image Position</vt:lpstr>
      <vt:lpstr>Setting the Background Image Position (continued)</vt:lpstr>
      <vt:lpstr>Defining the Extent of the Background</vt:lpstr>
      <vt:lpstr>Defining the Extent of the Background (continued)</vt:lpstr>
      <vt:lpstr>Sizing and Clipping an Image</vt:lpstr>
      <vt:lpstr>Sizing and Clipping an Image (continued)</vt:lpstr>
      <vt:lpstr>The background Property</vt:lpstr>
      <vt:lpstr>The background Property (continued)</vt:lpstr>
      <vt:lpstr>Adding Multiple Backgrounds</vt:lpstr>
      <vt:lpstr>Adding Multiple Backgrounds (continued)</vt:lpstr>
      <vt:lpstr>Setting Border Width and Color</vt:lpstr>
      <vt:lpstr>Setting the Border Design</vt:lpstr>
      <vt:lpstr>Setting the Border Design (continued)</vt:lpstr>
      <vt:lpstr>Creating Rounded Corners</vt:lpstr>
      <vt:lpstr>Creating Rounded Corners (continued 1)</vt:lpstr>
      <vt:lpstr>Creating Rounded Corners (continued 2)</vt:lpstr>
      <vt:lpstr>Creating Rounded Corners (continued 3)</vt:lpstr>
      <vt:lpstr>Applying a Border Image</vt:lpstr>
      <vt:lpstr>Applying a Border Image (continued 1)</vt:lpstr>
      <vt:lpstr>Applying a Border Image (continued 2)</vt:lpstr>
      <vt:lpstr>Applying a Border Image (continued 3)</vt:lpstr>
      <vt:lpstr>Applying a Border Image (continued 4)</vt:lpstr>
      <vt:lpstr>Creating a Text Shadow</vt:lpstr>
      <vt:lpstr>Creating a Text Shadow (continued)</vt:lpstr>
      <vt:lpstr>Creating a Box Shadow</vt:lpstr>
      <vt:lpstr>Creating a Box Shadow (continued 1)</vt:lpstr>
      <vt:lpstr>Creating a Box Shadow (continued 2)</vt:lpstr>
      <vt:lpstr>Creating a Box Shadow (continued 3)</vt:lpstr>
      <vt:lpstr>Applying a Color Gradient</vt:lpstr>
      <vt:lpstr>Creating a Linear Gradient</vt:lpstr>
      <vt:lpstr>Creating a Linear Gradient (continued)</vt:lpstr>
      <vt:lpstr>Gradients and Color Stops</vt:lpstr>
      <vt:lpstr>Gradients and Color Stops (continued)</vt:lpstr>
      <vt:lpstr>Creating a Radial Gradient</vt:lpstr>
      <vt:lpstr>Creating a Radial Gradient (continued 1)</vt:lpstr>
      <vt:lpstr>Creating a Radial Gradient (continued 2)</vt:lpstr>
      <vt:lpstr>Creating a Radial Gradient (continued 3)</vt:lpstr>
      <vt:lpstr>Creating a Radial Gradient (continued 4)</vt:lpstr>
      <vt:lpstr>Creating a Radial Gradient (continued 5)</vt:lpstr>
      <vt:lpstr>Repeating a Gradient</vt:lpstr>
      <vt:lpstr>Creating Semi-Transparent Objects</vt:lpstr>
      <vt:lpstr>Creating Semi-Transparent Objects (continued 1)</vt:lpstr>
      <vt:lpstr>Creating Semi-Transparent Objects (continued 2)</vt:lpstr>
      <vt:lpstr>Transforming Page Objects</vt:lpstr>
      <vt:lpstr>Transforming Page Objects (continued 1)</vt:lpstr>
      <vt:lpstr>Transforming Page Objects (continued 2)</vt:lpstr>
      <vt:lpstr>Transformations in Three Dimensions</vt:lpstr>
      <vt:lpstr>Transformations in Three Dimensions (continued)</vt:lpstr>
      <vt:lpstr>Understanding Perspective</vt:lpstr>
      <vt:lpstr>Understanding Perspective (continued 1)</vt:lpstr>
      <vt:lpstr>Understanding Perspective (continued 2)</vt:lpstr>
      <vt:lpstr>Exploring CSS Filters</vt:lpstr>
      <vt:lpstr>Exploring CSS Filters (continued 2)</vt:lpstr>
      <vt:lpstr>Exploring CSS Filters (continued 3)</vt:lpstr>
      <vt:lpstr>Working with Image Maps</vt:lpstr>
      <vt:lpstr>Working with Image Maps (continued)</vt:lpstr>
      <vt:lpstr>Defining a Client-Side Image Map</vt:lpstr>
      <vt:lpstr>Defining a Client-Side Image Map (continued 1)</vt:lpstr>
      <vt:lpstr>Defining a Client-Side Image Map (continued 2)</vt:lpstr>
      <vt:lpstr>Defining a Client-Side Image Map (continued 3)</vt:lpstr>
      <vt:lpstr>Defining a Client-Side Image Map (continued 4)</vt:lpstr>
      <vt:lpstr>Defining a Client-Side Image Map (continued 5)</vt:lpstr>
      <vt:lpstr>Defining a Client-Side Image Map (continued 6)</vt:lpstr>
      <vt:lpstr>Defining a Client-Side Image Map (continued 7)</vt:lpstr>
      <vt:lpstr>Applying an Image Map</vt:lpstr>
      <vt:lpstr>Applying an Image Map (continued)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modified xsi:type="dcterms:W3CDTF">2019-11-07T19:19:47Z</dcterms:modified>
</cp:coreProperties>
</file>