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700" r:id="rId1"/>
  </p:sldMasterIdLst>
  <p:notesMasterIdLst>
    <p:notesMasterId r:id="rId81"/>
  </p:notesMasterIdLst>
  <p:handoutMasterIdLst>
    <p:handoutMasterId r:id="rId82"/>
  </p:handoutMasterIdLst>
  <p:sldIdLst>
    <p:sldId id="258" r:id="rId2"/>
    <p:sldId id="309" r:id="rId3"/>
    <p:sldId id="383" r:id="rId4"/>
    <p:sldId id="451" r:id="rId5"/>
    <p:sldId id="452" r:id="rId6"/>
    <p:sldId id="453" r:id="rId7"/>
    <p:sldId id="454" r:id="rId8"/>
    <p:sldId id="455" r:id="rId9"/>
    <p:sldId id="456" r:id="rId10"/>
    <p:sldId id="457" r:id="rId11"/>
    <p:sldId id="458" r:id="rId12"/>
    <p:sldId id="459" r:id="rId13"/>
    <p:sldId id="460" r:id="rId14"/>
    <p:sldId id="461" r:id="rId15"/>
    <p:sldId id="466" r:id="rId16"/>
    <p:sldId id="462" r:id="rId17"/>
    <p:sldId id="463" r:id="rId18"/>
    <p:sldId id="464" r:id="rId19"/>
    <p:sldId id="465" r:id="rId20"/>
    <p:sldId id="467" r:id="rId21"/>
    <p:sldId id="468" r:id="rId22"/>
    <p:sldId id="469" r:id="rId23"/>
    <p:sldId id="470" r:id="rId24"/>
    <p:sldId id="471" r:id="rId25"/>
    <p:sldId id="472" r:id="rId26"/>
    <p:sldId id="473" r:id="rId27"/>
    <p:sldId id="474" r:id="rId28"/>
    <p:sldId id="475" r:id="rId29"/>
    <p:sldId id="476" r:id="rId30"/>
    <p:sldId id="477" r:id="rId31"/>
    <p:sldId id="478" r:id="rId32"/>
    <p:sldId id="479" r:id="rId33"/>
    <p:sldId id="480" r:id="rId34"/>
    <p:sldId id="482" r:id="rId35"/>
    <p:sldId id="483" r:id="rId36"/>
    <p:sldId id="484" r:id="rId37"/>
    <p:sldId id="485" r:id="rId38"/>
    <p:sldId id="486" r:id="rId39"/>
    <p:sldId id="487" r:id="rId40"/>
    <p:sldId id="488" r:id="rId41"/>
    <p:sldId id="489" r:id="rId42"/>
    <p:sldId id="490" r:id="rId43"/>
    <p:sldId id="491" r:id="rId44"/>
    <p:sldId id="492" r:id="rId45"/>
    <p:sldId id="493" r:id="rId46"/>
    <p:sldId id="494" r:id="rId47"/>
    <p:sldId id="495" r:id="rId48"/>
    <p:sldId id="496" r:id="rId49"/>
    <p:sldId id="497" r:id="rId50"/>
    <p:sldId id="498" r:id="rId51"/>
    <p:sldId id="499" r:id="rId52"/>
    <p:sldId id="500" r:id="rId53"/>
    <p:sldId id="501" r:id="rId54"/>
    <p:sldId id="502" r:id="rId55"/>
    <p:sldId id="503" r:id="rId56"/>
    <p:sldId id="504" r:id="rId57"/>
    <p:sldId id="505" r:id="rId58"/>
    <p:sldId id="506" r:id="rId59"/>
    <p:sldId id="507" r:id="rId60"/>
    <p:sldId id="508" r:id="rId61"/>
    <p:sldId id="527" r:id="rId62"/>
    <p:sldId id="509" r:id="rId63"/>
    <p:sldId id="510" r:id="rId64"/>
    <p:sldId id="511" r:id="rId65"/>
    <p:sldId id="512" r:id="rId66"/>
    <p:sldId id="513" r:id="rId67"/>
    <p:sldId id="514" r:id="rId68"/>
    <p:sldId id="516" r:id="rId69"/>
    <p:sldId id="515" r:id="rId70"/>
    <p:sldId id="517" r:id="rId71"/>
    <p:sldId id="528" r:id="rId72"/>
    <p:sldId id="529" r:id="rId73"/>
    <p:sldId id="520" r:id="rId74"/>
    <p:sldId id="521" r:id="rId75"/>
    <p:sldId id="522" r:id="rId76"/>
    <p:sldId id="523" r:id="rId77"/>
    <p:sldId id="526" r:id="rId78"/>
    <p:sldId id="524" r:id="rId79"/>
    <p:sldId id="525" r:id="rId80"/>
  </p:sldIdLst>
  <p:sldSz cx="9144000" cy="6858000" type="screen4x3"/>
  <p:notesSz cx="7077075" cy="9363075"/>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charset="0"/>
      </a:defRPr>
    </a:lvl5pPr>
    <a:lvl6pPr marL="2286000" algn="l" defTabSz="914400" rtl="0" eaLnBrk="1" latinLnBrk="0" hangingPunct="1">
      <a:defRPr sz="2400" kern="1200">
        <a:solidFill>
          <a:schemeClr val="tx1"/>
        </a:solidFill>
        <a:latin typeface="Times New Roman" pitchFamily="18" charset="0"/>
        <a:ea typeface="+mn-ea"/>
        <a:cs typeface="Arial" charset="0"/>
      </a:defRPr>
    </a:lvl6pPr>
    <a:lvl7pPr marL="2743200" algn="l" defTabSz="914400" rtl="0" eaLnBrk="1" latinLnBrk="0" hangingPunct="1">
      <a:defRPr sz="2400" kern="1200">
        <a:solidFill>
          <a:schemeClr val="tx1"/>
        </a:solidFill>
        <a:latin typeface="Times New Roman" pitchFamily="18" charset="0"/>
        <a:ea typeface="+mn-ea"/>
        <a:cs typeface="Arial" charset="0"/>
      </a:defRPr>
    </a:lvl7pPr>
    <a:lvl8pPr marL="3200400" algn="l" defTabSz="914400" rtl="0" eaLnBrk="1" latinLnBrk="0" hangingPunct="1">
      <a:defRPr sz="2400" kern="1200">
        <a:solidFill>
          <a:schemeClr val="tx1"/>
        </a:solidFill>
        <a:latin typeface="Times New Roman" pitchFamily="18" charset="0"/>
        <a:ea typeface="+mn-ea"/>
        <a:cs typeface="Arial" charset="0"/>
      </a:defRPr>
    </a:lvl8pPr>
    <a:lvl9pPr marL="3657600" algn="l" defTabSz="914400" rtl="0" eaLnBrk="1" latinLnBrk="0" hangingPunct="1">
      <a:defRPr sz="2400"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00"/>
    <a:srgbClr val="990033"/>
    <a:srgbClr val="CC0000"/>
    <a:srgbClr val="FFFFFF"/>
    <a:srgbClr val="EAEAEA"/>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09" autoAdjust="0"/>
    <p:restoredTop sz="93849" autoAdjust="0"/>
  </p:normalViewPr>
  <p:slideViewPr>
    <p:cSldViewPr snapToGrid="0">
      <p:cViewPr varScale="1">
        <p:scale>
          <a:sx n="65" d="100"/>
          <a:sy n="65" d="100"/>
        </p:scale>
        <p:origin x="210" y="6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4" d="100"/>
          <a:sy n="54" d="100"/>
        </p:scale>
        <p:origin x="2784"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80"/>
          </a:xfrm>
          <a:prstGeom prst="rect">
            <a:avLst/>
          </a:prstGeom>
        </p:spPr>
        <p:txBody>
          <a:bodyPr vert="horz" lIns="93936" tIns="46968" rIns="93936" bIns="46968" rtlCol="0"/>
          <a:lstStyle>
            <a:lvl1pPr algn="l">
              <a:defRPr sz="1200"/>
            </a:lvl1pPr>
          </a:lstStyle>
          <a:p>
            <a:endParaRPr lang="en-US" dirty="0"/>
          </a:p>
        </p:txBody>
      </p:sp>
      <p:sp>
        <p:nvSpPr>
          <p:cNvPr id="3" name="Date Placeholder 2"/>
          <p:cNvSpPr>
            <a:spLocks noGrp="1"/>
          </p:cNvSpPr>
          <p:nvPr>
            <p:ph type="dt" sz="quarter" idx="1"/>
          </p:nvPr>
        </p:nvSpPr>
        <p:spPr>
          <a:xfrm>
            <a:off x="4008705" y="0"/>
            <a:ext cx="3066733" cy="469780"/>
          </a:xfrm>
          <a:prstGeom prst="rect">
            <a:avLst/>
          </a:prstGeom>
        </p:spPr>
        <p:txBody>
          <a:bodyPr vert="horz" lIns="93936" tIns="46968" rIns="93936" bIns="46968" rtlCol="0"/>
          <a:lstStyle>
            <a:lvl1pPr algn="r">
              <a:defRPr sz="1200"/>
            </a:lvl1pPr>
          </a:lstStyle>
          <a:p>
            <a:fld id="{F828C31B-4A29-4AC7-BA5D-4D38F35C35BF}" type="datetimeFigureOut">
              <a:rPr lang="en-US" smtClean="0"/>
              <a:t>11/7/2019</a:t>
            </a:fld>
            <a:endParaRPr lang="en-US" dirty="0"/>
          </a:p>
        </p:txBody>
      </p:sp>
      <p:sp>
        <p:nvSpPr>
          <p:cNvPr id="4" name="Footer Placeholder 3"/>
          <p:cNvSpPr>
            <a:spLocks noGrp="1"/>
          </p:cNvSpPr>
          <p:nvPr>
            <p:ph type="ftr" sz="quarter" idx="2"/>
          </p:nvPr>
        </p:nvSpPr>
        <p:spPr>
          <a:xfrm>
            <a:off x="0" y="8893297"/>
            <a:ext cx="3066733" cy="469779"/>
          </a:xfrm>
          <a:prstGeom prst="rect">
            <a:avLst/>
          </a:prstGeom>
        </p:spPr>
        <p:txBody>
          <a:bodyPr vert="horz" lIns="93936" tIns="46968" rIns="93936" bIns="46968"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08705" y="8893297"/>
            <a:ext cx="3066733" cy="469779"/>
          </a:xfrm>
          <a:prstGeom prst="rect">
            <a:avLst/>
          </a:prstGeom>
        </p:spPr>
        <p:txBody>
          <a:bodyPr vert="horz" lIns="93936" tIns="46968" rIns="93936" bIns="46968" rtlCol="0" anchor="b"/>
          <a:lstStyle>
            <a:lvl1pPr algn="r">
              <a:defRPr sz="1200"/>
            </a:lvl1pPr>
          </a:lstStyle>
          <a:p>
            <a:fld id="{0737FAA5-A42F-4054-87F6-0DE43D98B245}" type="slidenum">
              <a:rPr lang="en-US" smtClean="0"/>
              <a:t>‹#›</a:t>
            </a:fld>
            <a:endParaRPr lang="en-US" dirty="0"/>
          </a:p>
        </p:txBody>
      </p:sp>
    </p:spTree>
    <p:extLst>
      <p:ext uri="{BB962C8B-B14F-4D97-AF65-F5344CB8AC3E}">
        <p14:creationId xmlns:p14="http://schemas.microsoft.com/office/powerpoint/2010/main" val="2109349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defRPr sz="1200">
                <a:cs typeface="+mn-cs"/>
              </a:defRPr>
            </a:lvl1pPr>
          </a:lstStyle>
          <a:p>
            <a:pPr>
              <a:defRPr/>
            </a:pPr>
            <a:endParaRPr lang="en-US" dirty="0"/>
          </a:p>
        </p:txBody>
      </p:sp>
      <p:sp>
        <p:nvSpPr>
          <p:cNvPr id="4099" name="Rectangle 3"/>
          <p:cNvSpPr>
            <a:spLocks noGrp="1" noChangeArrowheads="1"/>
          </p:cNvSpPr>
          <p:nvPr>
            <p:ph type="dt" idx="1"/>
          </p:nvPr>
        </p:nvSpPr>
        <p:spPr bwMode="auto">
          <a:xfrm>
            <a:off x="4008705"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lgn="r">
              <a:defRPr sz="1200">
                <a:cs typeface="+mn-cs"/>
              </a:defRPr>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1196975" y="701675"/>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7708" y="4447461"/>
            <a:ext cx="5661660" cy="421338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defRPr sz="1200">
                <a:cs typeface="+mn-cs"/>
              </a:defRPr>
            </a:lvl1pPr>
          </a:lstStyle>
          <a:p>
            <a:pPr>
              <a:defRPr/>
            </a:pPr>
            <a:endParaRPr lang="en-US" dirty="0"/>
          </a:p>
        </p:txBody>
      </p:sp>
      <p:sp>
        <p:nvSpPr>
          <p:cNvPr id="4103" name="Rectangle 7"/>
          <p:cNvSpPr>
            <a:spLocks noGrp="1" noChangeArrowheads="1"/>
          </p:cNvSpPr>
          <p:nvPr>
            <p:ph type="sldNum" sz="quarter" idx="5"/>
          </p:nvPr>
        </p:nvSpPr>
        <p:spPr bwMode="auto">
          <a:xfrm>
            <a:off x="4008705"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lgn="r">
              <a:defRPr sz="1200">
                <a:cs typeface="+mn-cs"/>
              </a:defRPr>
            </a:lvl1pPr>
          </a:lstStyle>
          <a:p>
            <a:pPr>
              <a:defRPr/>
            </a:pPr>
            <a:fld id="{B8FD0BC6-8D0F-4AA6-92ED-A084BB254BA3}"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B8FD0BC6-8D0F-4AA6-92ED-A084BB254BA3}" type="slidenum">
              <a:rPr lang="en-US" smtClean="0"/>
              <a:pPr>
                <a:defRPr/>
              </a:pPr>
              <a:t>8</a:t>
            </a:fld>
            <a:endParaRPr lang="en-US" dirty="0"/>
          </a:p>
        </p:txBody>
      </p:sp>
    </p:spTree>
    <p:extLst>
      <p:ext uri="{BB962C8B-B14F-4D97-AF65-F5344CB8AC3E}">
        <p14:creationId xmlns:p14="http://schemas.microsoft.com/office/powerpoint/2010/main" val="36104182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44" y="16"/>
            <a:ext cx="9143855" cy="6865874"/>
          </a:xfrm>
          <a:prstGeom prst="rect">
            <a:avLst/>
          </a:prstGeom>
        </p:spPr>
      </p:pic>
      <p:sp>
        <p:nvSpPr>
          <p:cNvPr id="2" name="Title 1"/>
          <p:cNvSpPr>
            <a:spLocks noGrp="1"/>
          </p:cNvSpPr>
          <p:nvPr>
            <p:ph type="title"/>
          </p:nvPr>
        </p:nvSpPr>
        <p:spPr>
          <a:xfrm>
            <a:off x="628650" y="2291187"/>
            <a:ext cx="78867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3650456" y="3619986"/>
            <a:ext cx="1843088" cy="597477"/>
          </a:xfrm>
        </p:spPr>
        <p:txBody>
          <a:bodyPr>
            <a:normAutofit/>
          </a:bodyPr>
          <a:lstStyle>
            <a:lvl1pPr marL="0" indent="0" algn="ctr">
              <a:buNone/>
              <a:defRPr sz="15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2668"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01151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nit Slide">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955931" y="2193424"/>
            <a:ext cx="7232139"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628650" y="3096123"/>
            <a:ext cx="7886700" cy="672105"/>
          </a:xfrm>
        </p:spPr>
        <p:txBody>
          <a:bodyPr/>
          <a:lstStyle>
            <a:lvl1pPr>
              <a:defRPr sz="3400">
                <a:solidFill>
                  <a:schemeClr val="bg1"/>
                </a:solidFill>
              </a:defRPr>
            </a:lvl1pPr>
          </a:lstStyle>
          <a:p>
            <a:r>
              <a:rPr lang="en-US" dirty="0"/>
              <a:t>Click to edit Master title style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1231"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292457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2997682" y="3112899"/>
            <a:ext cx="2473070" cy="618014"/>
          </a:xfrm>
        </p:spPr>
        <p:txBody>
          <a:bodyPr anchor="b">
            <a:noAutofit/>
          </a:bodyPr>
          <a:lstStyle>
            <a:lvl1pPr marL="0" indent="0" algn="l">
              <a:buNone/>
              <a:defRPr sz="27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2997683" y="4035475"/>
            <a:ext cx="4802013"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184548" y="314482"/>
            <a:ext cx="2507456" cy="4318000"/>
          </a:xfrm>
        </p:spPr>
        <p:txBody>
          <a:bodyPr/>
          <a:lstStyle/>
          <a:p>
            <a:r>
              <a:rPr lang="en-US" dirty="0"/>
              <a:t>Click icon to add picture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1728837" y="6356350"/>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41544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6" name="Text Placeholder 5"/>
          <p:cNvSpPr>
            <a:spLocks noGrp="1"/>
          </p:cNvSpPr>
          <p:nvPr>
            <p:ph type="body" sz="quarter" idx="15" hasCustomPrompt="1"/>
          </p:nvPr>
        </p:nvSpPr>
        <p:spPr>
          <a:xfrm>
            <a:off x="557683" y="1289684"/>
            <a:ext cx="8033657" cy="3732692"/>
          </a:xfrm>
        </p:spPr>
        <p:txBody>
          <a:bodyPr>
            <a:noAutofit/>
          </a:bodyPr>
          <a:lstStyle>
            <a:lvl1pPr marL="0" indent="0" algn="l">
              <a:buNone/>
              <a:defRPr sz="32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85280" y="6365707"/>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14119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557681" y="1290691"/>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557680" y="1737343"/>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557680" y="3389728"/>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557680" y="3856204"/>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523130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557682"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3813351" cy="3953578"/>
          </a:xfrm>
        </p:spPr>
        <p:txBody>
          <a:bodyPr>
            <a:normAutofit/>
          </a:bodyPr>
          <a:lstStyle>
            <a:lvl1pPr marL="171450" indent="-171450">
              <a:buClr>
                <a:srgbClr val="004A78"/>
              </a:buClr>
              <a:buFont typeface="Arial" charset="0"/>
              <a:buChar char="•"/>
              <a:defRPr sz="1350">
                <a:solidFill>
                  <a:srgbClr val="000000"/>
                </a:solidFill>
              </a:defRPr>
            </a:lvl1pPr>
            <a:lvl2pPr marL="514350" indent="-171450">
              <a:buClr>
                <a:srgbClr val="004A78"/>
              </a:buClr>
              <a:buFont typeface="Arial" charset="0"/>
              <a:buChar char="•"/>
              <a:defRPr sz="1350">
                <a:solidFill>
                  <a:srgbClr val="000000"/>
                </a:solidFill>
              </a:defRPr>
            </a:lvl2pPr>
            <a:lvl3pPr marL="857250" indent="-171450">
              <a:buClr>
                <a:srgbClr val="004A78"/>
              </a:buClr>
              <a:buFont typeface="Arial" charset="0"/>
              <a:buChar char="•"/>
              <a:defRPr sz="1350">
                <a:solidFill>
                  <a:srgbClr val="000000"/>
                </a:solidFill>
              </a:defRPr>
            </a:lvl3pPr>
            <a:lvl4pPr marL="1200150" indent="-171450">
              <a:buClr>
                <a:srgbClr val="004A78"/>
              </a:buClr>
              <a:buFont typeface="Arial" charset="0"/>
              <a:buChar char="•"/>
              <a:defRPr sz="1350">
                <a:solidFill>
                  <a:srgbClr val="000000"/>
                </a:solidFill>
              </a:defRPr>
            </a:lvl4pPr>
            <a:lvl5pPr marL="1543050" indent="-171450">
              <a:buClr>
                <a:srgbClr val="004A78"/>
              </a:buClr>
              <a:buFont typeface="Arial" charset="0"/>
              <a:buChar cha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4777988"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4777988" y="2202774"/>
            <a:ext cx="3813351" cy="3953578"/>
          </a:xfrm>
        </p:spPr>
        <p:txBody>
          <a:bodyPr>
            <a:normAutofit/>
          </a:bodyPr>
          <a:lstStyle>
            <a:lvl1pPr>
              <a:buClr>
                <a:srgbClr val="004A78"/>
              </a:buClr>
              <a:defRPr sz="1350">
                <a:solidFill>
                  <a:srgbClr val="000000"/>
                </a:solidFill>
              </a:defRPr>
            </a:lvl1pPr>
            <a:lvl2pPr marL="514350" indent="-171450">
              <a:buClr>
                <a:srgbClr val="004A78"/>
              </a:buClr>
              <a:buFontTx/>
              <a:buChar char="‒"/>
              <a:defRPr sz="1350">
                <a:solidFill>
                  <a:srgbClr val="000000"/>
                </a:solidFill>
              </a:defRPr>
            </a:lvl2pPr>
            <a:lvl3pPr>
              <a:buClr>
                <a:srgbClr val="004A78"/>
              </a:buClr>
              <a:defRPr sz="1350">
                <a:solidFill>
                  <a:srgbClr val="000000"/>
                </a:solidFill>
              </a:defRPr>
            </a:lvl3pPr>
            <a:lvl4pPr>
              <a:buClr>
                <a:srgbClr val="004A78"/>
              </a:buClr>
              <a:defRPr sz="1350">
                <a:solidFill>
                  <a:srgbClr val="000000"/>
                </a:solidFill>
              </a:defRPr>
            </a:lvl4pPr>
            <a:lvl5pPr>
              <a:buClr>
                <a:srgbClr val="004A78"/>
              </a:buCl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02074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557682"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3334349"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3334349"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6109465"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6116038"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68935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557683" y="1289685"/>
            <a:ext cx="8033657" cy="2750053"/>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555172" y="4846655"/>
            <a:ext cx="8033657" cy="825500"/>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09443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549839" y="1619557"/>
            <a:ext cx="485775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5609229" y="4070658"/>
            <a:ext cx="2982305" cy="1808163"/>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1783079" y="6365706"/>
            <a:ext cx="6965770"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353038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37360" y="6337389"/>
            <a:ext cx="71441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65420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342900" indent="-342900">
              <a:buClr>
                <a:srgbClr val="004A78"/>
              </a:buClr>
              <a:buFont typeface="+mj-lt"/>
              <a:buAutoNum type="arabicPeriod"/>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51988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3200">
                <a:solidFill>
                  <a:srgbClr val="004A78"/>
                </a:solidFill>
              </a:defRPr>
            </a:lvl1pPr>
            <a:lvl2pPr marL="514350" marR="0" indent="-171450" algn="l" defTabSz="685800" rtl="0" eaLnBrk="1" fontAlgn="base" latinLnBrk="0" hangingPunct="1">
              <a:lnSpc>
                <a:spcPct val="90000"/>
              </a:lnSpc>
              <a:spcBef>
                <a:spcPts val="375"/>
              </a:spcBef>
              <a:spcAft>
                <a:spcPct val="0"/>
              </a:spcAft>
              <a:buClr>
                <a:srgbClr val="004A78"/>
              </a:buClr>
              <a:buSzTx/>
              <a:buFont typeface="Arial" charset="0"/>
              <a:buChar char="•"/>
              <a:tabLst/>
              <a:defRPr sz="2800" baseline="0"/>
            </a:lvl2pPr>
            <a:lvl3pPr marL="857250" indent="-171450">
              <a:buClr>
                <a:srgbClr val="004A78"/>
              </a:buClr>
              <a:buFont typeface="Arial" charset="0"/>
              <a:buChar char="•"/>
              <a:defRPr sz="2400"/>
            </a:lvl3pPr>
            <a:lvl4pPr marL="1200150" indent="-171450">
              <a:buClr>
                <a:srgbClr val="004A78"/>
              </a:buClr>
              <a:buSzPct val="50000"/>
              <a:buFont typeface="LucidaGrande" charset="0"/>
              <a:buChar char="▶"/>
              <a:defRPr sz="2400"/>
            </a:lvl4pPr>
            <a:lvl5pPr marL="1543050" indent="-171450">
              <a:buClr>
                <a:srgbClr val="000000"/>
              </a:buClr>
              <a:buFont typeface="Helvetica" charset="0"/>
              <a:buChar char="⁃"/>
              <a:defRPr sz="24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7138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Table Placeholder 4"/>
          <p:cNvSpPr>
            <a:spLocks noGrp="1"/>
          </p:cNvSpPr>
          <p:nvPr>
            <p:ph type="tbl" sz="quarter" idx="10"/>
          </p:nvPr>
        </p:nvSpPr>
        <p:spPr>
          <a:xfrm>
            <a:off x="1421642" y="2019869"/>
            <a:ext cx="6096000" cy="3380095"/>
          </a:xfrm>
        </p:spPr>
        <p:txBody>
          <a:bodyPr/>
          <a:lstStyle/>
          <a:p>
            <a:r>
              <a:rPr lang="en-US" dirty="0"/>
              <a:t>Click icon to add table</a:t>
            </a:r>
          </a:p>
        </p:txBody>
      </p:sp>
      <p:sp>
        <p:nvSpPr>
          <p:cNvPr id="6" name="Footer"/>
          <p:cNvSpPr txBox="1"/>
          <p:nvPr/>
        </p:nvSpPr>
        <p:spPr>
          <a:xfrm>
            <a:off x="1777800" y="6369539"/>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22407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944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1960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cNvSpPr txBox="1"/>
          <p:nvPr userDrawn="1"/>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90507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6"/>
            <a:ext cx="78867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57632" y="6356351"/>
            <a:ext cx="118467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1744717" y="6310311"/>
            <a:ext cx="6770633"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rgbClr val="006298"/>
                </a:solidFill>
                <a:latin typeface="arial" charset="0"/>
              </a:defRPr>
            </a:lvl1pPr>
          </a:lstStyle>
          <a:p>
            <a:pPr defTabSz="685800"/>
            <a:r>
              <a:rPr lang="en-US" dirty="0">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9598742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Lst>
  <p:hf sldNum="0" hd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5pPr>
      <a:lvl6pPr marL="3429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6pPr>
      <a:lvl7pPr marL="6858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7pPr>
      <a:lvl8pPr marL="10287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8pPr>
      <a:lvl9pPr marL="13716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750"/>
        </a:spcBef>
        <a:spcAft>
          <a:spcPct val="0"/>
        </a:spcAft>
        <a:buFont typeface="Arial" charset="0"/>
        <a:buNone/>
        <a:defRPr sz="3200" kern="1200" baseline="0">
          <a:solidFill>
            <a:srgbClr val="000000"/>
          </a:solidFill>
          <a:latin typeface="Arial" charset="0"/>
          <a:ea typeface="Arial" charset="0"/>
          <a:cs typeface="Arial" charset="0"/>
        </a:defRPr>
      </a:lvl1pPr>
      <a:lvl2pPr marL="514350" indent="-171450" algn="l" rtl="0" eaLnBrk="1" fontAlgn="base" hangingPunct="1">
        <a:lnSpc>
          <a:spcPct val="90000"/>
        </a:lnSpc>
        <a:spcBef>
          <a:spcPts val="375"/>
        </a:spcBef>
        <a:spcAft>
          <a:spcPct val="0"/>
        </a:spcAft>
        <a:buFont typeface="Arial" charset="0"/>
        <a:buChar char="•"/>
        <a:defRPr sz="1800" kern="1200" baseline="0">
          <a:solidFill>
            <a:srgbClr val="004A78"/>
          </a:solidFill>
          <a:latin typeface="Arial" charset="0"/>
          <a:ea typeface="Arial" charset="0"/>
          <a:cs typeface="Arial" charset="0"/>
        </a:defRPr>
      </a:lvl2pPr>
      <a:lvl3pPr marL="857250" indent="-171450" algn="l" rtl="0" eaLnBrk="1" fontAlgn="base" hangingPunct="1">
        <a:lnSpc>
          <a:spcPct val="90000"/>
        </a:lnSpc>
        <a:spcBef>
          <a:spcPts val="375"/>
        </a:spcBef>
        <a:spcAft>
          <a:spcPct val="0"/>
        </a:spcAft>
        <a:buFont typeface="Arial" charset="0"/>
        <a:buChar char="•"/>
        <a:defRPr sz="1500" kern="1200" baseline="0">
          <a:solidFill>
            <a:srgbClr val="004A78"/>
          </a:solidFill>
          <a:latin typeface="Arial" charset="0"/>
          <a:ea typeface="Arial" charset="0"/>
          <a:cs typeface="Arial" charset="0"/>
        </a:defRPr>
      </a:lvl3pPr>
      <a:lvl4pPr marL="12001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4pPr>
      <a:lvl5pPr marL="15430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BB88C5-9CA0-4A23-82E3-0A057E3763D0}"/>
              </a:ext>
            </a:extLst>
          </p:cNvPr>
          <p:cNvSpPr>
            <a:spLocks noGrp="1"/>
          </p:cNvSpPr>
          <p:nvPr>
            <p:ph type="title"/>
          </p:nvPr>
        </p:nvSpPr>
        <p:spPr/>
        <p:txBody>
          <a:bodyPr/>
          <a:lstStyle/>
          <a:p>
            <a:r>
              <a:rPr lang="en-US" sz="5000" dirty="0"/>
              <a:t>Tutorial 08</a:t>
            </a:r>
          </a:p>
        </p:txBody>
      </p:sp>
      <p:sp>
        <p:nvSpPr>
          <p:cNvPr id="5" name="Text Placeholder 4">
            <a:extLst>
              <a:ext uri="{FF2B5EF4-FFF2-40B4-BE49-F238E27FC236}">
                <a16:creationId xmlns:a16="http://schemas.microsoft.com/office/drawing/2014/main" id="{6172A042-96CD-495D-921B-6FFE20D0BA08}"/>
              </a:ext>
            </a:extLst>
          </p:cNvPr>
          <p:cNvSpPr>
            <a:spLocks noGrp="1"/>
          </p:cNvSpPr>
          <p:nvPr>
            <p:ph type="body" sz="quarter" idx="10"/>
          </p:nvPr>
        </p:nvSpPr>
        <p:spPr>
          <a:xfrm>
            <a:off x="984739" y="3619986"/>
            <a:ext cx="6928338" cy="963737"/>
          </a:xfrm>
        </p:spPr>
        <p:txBody>
          <a:bodyPr>
            <a:noAutofit/>
          </a:bodyPr>
          <a:lstStyle/>
          <a:p>
            <a:r>
              <a:rPr lang="en-US" sz="3400" b="1" dirty="0">
                <a:solidFill>
                  <a:srgbClr val="FFFFFF"/>
                </a:solidFill>
              </a:rPr>
              <a:t>Enhancing a Website with Multimedia</a:t>
            </a:r>
            <a:br>
              <a:rPr lang="en-US" sz="3400" b="1" dirty="0">
                <a:solidFill>
                  <a:srgbClr val="FFFFFF"/>
                </a:solidFill>
              </a:rPr>
            </a:br>
            <a:endParaRPr lang="en-US" sz="3400" dirty="0"/>
          </a:p>
        </p:txBody>
      </p:sp>
      <p:sp>
        <p:nvSpPr>
          <p:cNvPr id="12" name="Footer Placeholder 11">
            <a:extLst>
              <a:ext uri="{FF2B5EF4-FFF2-40B4-BE49-F238E27FC236}">
                <a16:creationId xmlns:a16="http://schemas.microsoft.com/office/drawing/2014/main" id="{B8B256E9-DF2C-4D8F-A3CE-E53FEDA99FD5}"/>
              </a:ext>
            </a:extLst>
          </p:cNvPr>
          <p:cNvSpPr>
            <a:spLocks noGrp="1"/>
          </p:cNvSpPr>
          <p:nvPr>
            <p:ph type="ftr" sz="quarter" idx="3"/>
          </p:nvPr>
        </p:nvSpPr>
        <p:spPr/>
        <p:txBody>
          <a:body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5" name="Text Placeholder 4"/>
          <p:cNvSpPr>
            <a:spLocks noGrp="1"/>
          </p:cNvSpPr>
          <p:nvPr>
            <p:ph type="body" sz="quarter" idx="17"/>
          </p:nvPr>
        </p:nvSpPr>
        <p:spPr/>
        <p:txBody>
          <a:bodyPr/>
          <a:lstStyle/>
          <a:p>
            <a:r>
              <a:rPr lang="en-US" dirty="0"/>
              <a:t>Understand audio and video formats</a:t>
            </a:r>
          </a:p>
          <a:p>
            <a:r>
              <a:rPr lang="en-US" dirty="0"/>
              <a:t>Insert an HTML audio clip</a:t>
            </a:r>
          </a:p>
          <a:p>
            <a:r>
              <a:rPr lang="en-US" dirty="0"/>
              <a:t>Support multiple audio formats</a:t>
            </a:r>
          </a:p>
          <a:p>
            <a:r>
              <a:rPr lang="en-US" dirty="0"/>
              <a:t>Insert an HTML video clip</a:t>
            </a:r>
          </a:p>
          <a:p>
            <a:r>
              <a:rPr lang="en-US" dirty="0"/>
              <a:t>Write a video caption track </a:t>
            </a:r>
            <a:br>
              <a:rPr lang="en-US" dirty="0"/>
            </a:br>
            <a:br>
              <a:rPr lang="en-US" dirty="0"/>
            </a:br>
            <a:endParaRPr lang="en-US" dirty="0"/>
          </a:p>
        </p:txBody>
      </p:sp>
    </p:spTree>
    <p:extLst>
      <p:ext uri="{BB962C8B-B14F-4D97-AF65-F5344CB8AC3E}">
        <p14:creationId xmlns:p14="http://schemas.microsoft.com/office/powerpoint/2010/main" val="1863907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 (continued)</a:t>
            </a:r>
          </a:p>
        </p:txBody>
      </p:sp>
      <p:sp>
        <p:nvSpPr>
          <p:cNvPr id="5" name="Text Placeholder 4"/>
          <p:cNvSpPr>
            <a:spLocks noGrp="1"/>
          </p:cNvSpPr>
          <p:nvPr>
            <p:ph type="body" sz="quarter" idx="17"/>
          </p:nvPr>
        </p:nvSpPr>
        <p:spPr/>
        <p:txBody>
          <a:bodyPr/>
          <a:lstStyle/>
          <a:p>
            <a:r>
              <a:rPr lang="en-US" dirty="0"/>
              <a:t>Format video captions </a:t>
            </a:r>
          </a:p>
          <a:p>
            <a:r>
              <a:rPr lang="en-US" dirty="0"/>
              <a:t>Create a CSS transition</a:t>
            </a:r>
          </a:p>
          <a:p>
            <a:r>
              <a:rPr lang="en-US" dirty="0"/>
              <a:t>Explore transition attributes</a:t>
            </a:r>
          </a:p>
          <a:p>
            <a:r>
              <a:rPr lang="en-US" dirty="0"/>
              <a:t>Create a CSS key frame animation</a:t>
            </a:r>
          </a:p>
          <a:p>
            <a:r>
              <a:rPr lang="en-US" dirty="0"/>
              <a:t>Apply a CSS animation</a:t>
            </a:r>
          </a:p>
        </p:txBody>
      </p:sp>
    </p:spTree>
    <p:extLst>
      <p:ext uri="{BB962C8B-B14F-4D97-AF65-F5344CB8AC3E}">
        <p14:creationId xmlns:p14="http://schemas.microsoft.com/office/powerpoint/2010/main" val="2619959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Multimedia on the Web</a:t>
            </a:r>
          </a:p>
        </p:txBody>
      </p:sp>
      <p:sp>
        <p:nvSpPr>
          <p:cNvPr id="3" name="Text Placeholder 2"/>
          <p:cNvSpPr>
            <a:spLocks noGrp="1"/>
          </p:cNvSpPr>
          <p:nvPr>
            <p:ph type="body" sz="quarter" idx="17"/>
          </p:nvPr>
        </p:nvSpPr>
        <p:spPr/>
        <p:txBody>
          <a:bodyPr>
            <a:normAutofit fontScale="92500"/>
          </a:bodyPr>
          <a:lstStyle/>
          <a:p>
            <a:r>
              <a:rPr lang="en-IN" dirty="0"/>
              <a:t>HTML was the perfect tool to share text and data</a:t>
            </a:r>
          </a:p>
          <a:p>
            <a:r>
              <a:rPr lang="en-IN" dirty="0"/>
              <a:t>The next major phase in HTML language was the introduction of multimedia support</a:t>
            </a:r>
          </a:p>
          <a:p>
            <a:r>
              <a:rPr lang="en-IN" dirty="0"/>
              <a:t>Streaming audio, video, and interactive games, made the web a dominant entertainment platform</a:t>
            </a:r>
          </a:p>
          <a:p>
            <a:r>
              <a:rPr lang="en-IN" dirty="0"/>
              <a:t>One of the biggest challenges</a:t>
            </a:r>
          </a:p>
          <a:p>
            <a:pPr lvl="1"/>
            <a:r>
              <a:rPr lang="en-IN" dirty="0"/>
              <a:t>Delivering multimedia content in a form that can be retrieved quickly and easily without loss of quality</a:t>
            </a:r>
          </a:p>
        </p:txBody>
      </p:sp>
    </p:spTree>
    <p:extLst>
      <p:ext uri="{BB962C8B-B14F-4D97-AF65-F5344CB8AC3E}">
        <p14:creationId xmlns:p14="http://schemas.microsoft.com/office/powerpoint/2010/main" val="1496739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Codecs and Containers</a:t>
            </a:r>
          </a:p>
        </p:txBody>
      </p:sp>
      <p:sp>
        <p:nvSpPr>
          <p:cNvPr id="3" name="Text Placeholder 2"/>
          <p:cNvSpPr>
            <a:spLocks noGrp="1"/>
          </p:cNvSpPr>
          <p:nvPr>
            <p:ph type="body" sz="quarter" idx="17"/>
          </p:nvPr>
        </p:nvSpPr>
        <p:spPr/>
        <p:txBody>
          <a:bodyPr/>
          <a:lstStyle/>
          <a:p>
            <a:r>
              <a:rPr lang="en-IN" b="1" dirty="0"/>
              <a:t>Codec</a:t>
            </a:r>
            <a:r>
              <a:rPr lang="en-IN" dirty="0"/>
              <a:t>: Computer program that encodes and decodes streams of data</a:t>
            </a:r>
          </a:p>
          <a:p>
            <a:r>
              <a:rPr lang="en-IN" sz="3200" dirty="0"/>
              <a:t>Codecs compress data to transmit it in fast and efficient manner</a:t>
            </a:r>
          </a:p>
          <a:p>
            <a:r>
              <a:rPr lang="en-IN" dirty="0"/>
              <a:t>Codecs decompress data when it is to be read or played back</a:t>
            </a:r>
          </a:p>
          <a:p>
            <a:r>
              <a:rPr lang="en-IN" dirty="0"/>
              <a:t>The compression method can be either lossy or lossless</a:t>
            </a:r>
          </a:p>
        </p:txBody>
      </p:sp>
    </p:spTree>
    <p:extLst>
      <p:ext uri="{BB962C8B-B14F-4D97-AF65-F5344CB8AC3E}">
        <p14:creationId xmlns:p14="http://schemas.microsoft.com/office/powerpoint/2010/main" val="3782361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Codecs and Containers (continued 1)</a:t>
            </a:r>
          </a:p>
        </p:txBody>
      </p:sp>
      <p:sp>
        <p:nvSpPr>
          <p:cNvPr id="3" name="Text Placeholder 2"/>
          <p:cNvSpPr>
            <a:spLocks noGrp="1"/>
          </p:cNvSpPr>
          <p:nvPr>
            <p:ph type="body" sz="quarter" idx="17"/>
          </p:nvPr>
        </p:nvSpPr>
        <p:spPr/>
        <p:txBody>
          <a:bodyPr>
            <a:normAutofit lnSpcReduction="10000"/>
          </a:bodyPr>
          <a:lstStyle/>
          <a:p>
            <a:r>
              <a:rPr lang="en-IN" b="1" dirty="0"/>
              <a:t>Lossy compression:</a:t>
            </a:r>
            <a:r>
              <a:rPr lang="en-IN" dirty="0"/>
              <a:t> Nonessential data is removed in order to achieve a smaller file size</a:t>
            </a:r>
          </a:p>
          <a:p>
            <a:r>
              <a:rPr lang="en-IN" dirty="0"/>
              <a:t>Example: </a:t>
            </a:r>
          </a:p>
          <a:p>
            <a:pPr lvl="1"/>
            <a:r>
              <a:rPr lang="en-IN" dirty="0"/>
              <a:t>An audio file might be compressed by removing sounds that the human ear can barely hear</a:t>
            </a:r>
          </a:p>
          <a:p>
            <a:r>
              <a:rPr lang="en-US" dirty="0"/>
              <a:t>The more the file is compressed, the more the content is lost</a:t>
            </a:r>
          </a:p>
          <a:p>
            <a:r>
              <a:rPr lang="en-US" dirty="0"/>
              <a:t>Data removed during compression cannot be recovered</a:t>
            </a:r>
          </a:p>
        </p:txBody>
      </p:sp>
    </p:spTree>
    <p:extLst>
      <p:ext uri="{BB962C8B-B14F-4D97-AF65-F5344CB8AC3E}">
        <p14:creationId xmlns:p14="http://schemas.microsoft.com/office/powerpoint/2010/main" val="324016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Codecs and Containers (continued 2)</a:t>
            </a:r>
          </a:p>
        </p:txBody>
      </p:sp>
      <p:sp>
        <p:nvSpPr>
          <p:cNvPr id="6" name="Text Placeholder 5"/>
          <p:cNvSpPr>
            <a:spLocks noGrp="1"/>
          </p:cNvSpPr>
          <p:nvPr>
            <p:ph type="body" sz="quarter" idx="17"/>
          </p:nvPr>
        </p:nvSpPr>
        <p:spPr/>
        <p:txBody>
          <a:bodyPr>
            <a:normAutofit lnSpcReduction="10000"/>
          </a:bodyPr>
          <a:lstStyle/>
          <a:p>
            <a:r>
              <a:rPr lang="en-IN" b="1" dirty="0"/>
              <a:t>Lossless compression:</a:t>
            </a:r>
            <a:r>
              <a:rPr lang="en-IN" dirty="0"/>
              <a:t> Data is compressed by removing redundant information</a:t>
            </a:r>
          </a:p>
          <a:p>
            <a:r>
              <a:rPr lang="en-IN" dirty="0"/>
              <a:t>Example:</a:t>
            </a:r>
          </a:p>
          <a:p>
            <a:pPr lvl="1"/>
            <a:r>
              <a:rPr lang="en-IN" dirty="0"/>
              <a:t>AAAABBBBBCCCCCC requires 15 characters of information, which can be rewritten using 6 characters as 4A5B6C</a:t>
            </a:r>
          </a:p>
          <a:p>
            <a:r>
              <a:rPr lang="en-IN" dirty="0"/>
              <a:t>Lossless compression cannot achieve the same level of compression as with lossy compression</a:t>
            </a:r>
          </a:p>
        </p:txBody>
      </p:sp>
    </p:spTree>
    <p:extLst>
      <p:ext uri="{BB962C8B-B14F-4D97-AF65-F5344CB8AC3E}">
        <p14:creationId xmlns:p14="http://schemas.microsoft.com/office/powerpoint/2010/main" val="690499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Codecs and Containers (continued 3)</a:t>
            </a:r>
          </a:p>
        </p:txBody>
      </p:sp>
      <p:sp>
        <p:nvSpPr>
          <p:cNvPr id="5" name="Text Placeholder 4"/>
          <p:cNvSpPr>
            <a:spLocks noGrp="1"/>
          </p:cNvSpPr>
          <p:nvPr>
            <p:ph type="body" sz="quarter" idx="17"/>
          </p:nvPr>
        </p:nvSpPr>
        <p:spPr/>
        <p:txBody>
          <a:bodyPr>
            <a:normAutofit/>
          </a:bodyPr>
          <a:lstStyle/>
          <a:p>
            <a:r>
              <a:rPr lang="en-US" sz="3500" dirty="0"/>
              <a:t>Most codecs involve some combination of lossy and lossless techniques</a:t>
            </a:r>
            <a:endParaRPr lang="en-IN" sz="3500" dirty="0"/>
          </a:p>
          <a:p>
            <a:r>
              <a:rPr lang="en-IN" sz="3500" dirty="0"/>
              <a:t>Codecs are placed within a container that handles the packaging, transportation and presentation of data</a:t>
            </a:r>
          </a:p>
          <a:p>
            <a:r>
              <a:rPr lang="en-IN" sz="3500" b="1" dirty="0"/>
              <a:t>Container</a:t>
            </a:r>
            <a:r>
              <a:rPr lang="en-IN" sz="3500" dirty="0"/>
              <a:t> is the file format identified by a file extension</a:t>
            </a:r>
          </a:p>
        </p:txBody>
      </p:sp>
    </p:spTree>
    <p:extLst>
      <p:ext uri="{BB962C8B-B14F-4D97-AF65-F5344CB8AC3E}">
        <p14:creationId xmlns:p14="http://schemas.microsoft.com/office/powerpoint/2010/main" val="3698273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Codecs and Containers (continued 4)</a:t>
            </a:r>
          </a:p>
        </p:txBody>
      </p:sp>
      <p:sp>
        <p:nvSpPr>
          <p:cNvPr id="6" name="Text Placeholder 5"/>
          <p:cNvSpPr>
            <a:spLocks noGrp="1"/>
          </p:cNvSpPr>
          <p:nvPr>
            <p:ph type="body" sz="quarter" idx="17"/>
          </p:nvPr>
        </p:nvSpPr>
        <p:spPr/>
        <p:txBody>
          <a:bodyPr>
            <a:normAutofit/>
          </a:bodyPr>
          <a:lstStyle/>
          <a:p>
            <a:r>
              <a:rPr lang="en-IN" dirty="0"/>
              <a:t>The web supports a multitude of container and codec combinations</a:t>
            </a:r>
          </a:p>
          <a:p>
            <a:r>
              <a:rPr lang="en-IN" dirty="0"/>
              <a:t>Not all containers and codecs are equally supported</a:t>
            </a:r>
          </a:p>
          <a:p>
            <a:r>
              <a:rPr lang="en-IN" dirty="0"/>
              <a:t>Example</a:t>
            </a:r>
          </a:p>
          <a:p>
            <a:pPr lvl="1"/>
            <a:r>
              <a:rPr lang="en-US" dirty="0"/>
              <a:t>Google Chrome uses the WebM container for video content, compressing that data with the VP8 codec; however, that combination of container and codec is not supported by any Apple device</a:t>
            </a:r>
            <a:endParaRPr lang="en-IN" dirty="0"/>
          </a:p>
        </p:txBody>
      </p:sp>
    </p:spTree>
    <p:extLst>
      <p:ext uri="{BB962C8B-B14F-4D97-AF65-F5344CB8AC3E}">
        <p14:creationId xmlns:p14="http://schemas.microsoft.com/office/powerpoint/2010/main" val="635300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Plug-Ins</a:t>
            </a:r>
          </a:p>
        </p:txBody>
      </p:sp>
      <p:sp>
        <p:nvSpPr>
          <p:cNvPr id="3" name="Text Placeholder 2"/>
          <p:cNvSpPr>
            <a:spLocks noGrp="1"/>
          </p:cNvSpPr>
          <p:nvPr>
            <p:ph type="body" sz="quarter" idx="17"/>
          </p:nvPr>
        </p:nvSpPr>
        <p:spPr/>
        <p:txBody>
          <a:bodyPr/>
          <a:lstStyle/>
          <a:p>
            <a:r>
              <a:rPr lang="en-IN" b="1" dirty="0"/>
              <a:t>Media player: </a:t>
            </a:r>
            <a:r>
              <a:rPr lang="en-IN" dirty="0"/>
              <a:t>Decodes and plays multimedia content stored within a container file</a:t>
            </a:r>
          </a:p>
          <a:p>
            <a:r>
              <a:rPr lang="en-IN" b="1" dirty="0"/>
              <a:t>Plug-in:</a:t>
            </a:r>
            <a:r>
              <a:rPr lang="en-IN" dirty="0"/>
              <a:t> Software program accessed by a browser to provide a feature or capability not native to the browser</a:t>
            </a:r>
          </a:p>
          <a:p>
            <a:r>
              <a:rPr lang="en-IN" dirty="0"/>
              <a:t>A plug-in either opens in its own external window or runs within the web page as an </a:t>
            </a:r>
            <a:r>
              <a:rPr lang="en-IN" b="1" dirty="0"/>
              <a:t>embedded object</a:t>
            </a:r>
            <a:endParaRPr lang="en-IN" dirty="0"/>
          </a:p>
        </p:txBody>
      </p:sp>
    </p:spTree>
    <p:extLst>
      <p:ext uri="{BB962C8B-B14F-4D97-AF65-F5344CB8AC3E}">
        <p14:creationId xmlns:p14="http://schemas.microsoft.com/office/powerpoint/2010/main" val="392826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Plug-Ins (continued 1)</a:t>
            </a:r>
          </a:p>
        </p:txBody>
      </p:sp>
      <p:sp>
        <p:nvSpPr>
          <p:cNvPr id="6" name="Text Placeholder 5"/>
          <p:cNvSpPr>
            <a:spLocks noGrp="1"/>
          </p:cNvSpPr>
          <p:nvPr>
            <p:ph type="body" sz="quarter" idx="17"/>
          </p:nvPr>
        </p:nvSpPr>
        <p:spPr/>
        <p:txBody>
          <a:bodyPr/>
          <a:lstStyle/>
          <a:p>
            <a:r>
              <a:rPr lang="en-IN" dirty="0"/>
              <a:t>Problems with the plug-in approach for delivery of multimedia content</a:t>
            </a:r>
          </a:p>
          <a:p>
            <a:pPr lvl="1"/>
            <a:r>
              <a:rPr lang="en-IN" dirty="0"/>
              <a:t>Plugs-ins require users to install a separate application in addition to their web browsers</a:t>
            </a:r>
          </a:p>
          <a:p>
            <a:pPr lvl="1"/>
            <a:r>
              <a:rPr lang="en-IN" dirty="0"/>
              <a:t>A common plug-in is not available across all browsers, operating systems, and devices</a:t>
            </a:r>
          </a:p>
          <a:p>
            <a:pPr lvl="1"/>
            <a:r>
              <a:rPr lang="en-IN" dirty="0"/>
              <a:t>HTML documents that support multiple plug-ins are difficult to create and maintain</a:t>
            </a:r>
          </a:p>
        </p:txBody>
      </p:sp>
    </p:spTree>
    <p:extLst>
      <p:ext uri="{BB962C8B-B14F-4D97-AF65-F5344CB8AC3E}">
        <p14:creationId xmlns:p14="http://schemas.microsoft.com/office/powerpoint/2010/main" val="2334707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Plug-Ins (continued 2)</a:t>
            </a:r>
          </a:p>
        </p:txBody>
      </p:sp>
      <p:sp>
        <p:nvSpPr>
          <p:cNvPr id="6" name="Text Placeholder 5"/>
          <p:cNvSpPr>
            <a:spLocks noGrp="1"/>
          </p:cNvSpPr>
          <p:nvPr>
            <p:ph type="body" sz="quarter" idx="17"/>
          </p:nvPr>
        </p:nvSpPr>
        <p:spPr/>
        <p:txBody>
          <a:bodyPr/>
          <a:lstStyle/>
          <a:p>
            <a:r>
              <a:rPr lang="en-IN" dirty="0"/>
              <a:t>Problems with the plug-in approach (continued)</a:t>
            </a:r>
          </a:p>
          <a:p>
            <a:pPr lvl="1"/>
            <a:r>
              <a:rPr lang="en-IN" dirty="0"/>
              <a:t>Plug-ins consume valuable system resources, resulting in slow and unreliable performance</a:t>
            </a:r>
          </a:p>
          <a:p>
            <a:pPr lvl="1"/>
            <a:r>
              <a:rPr lang="en-IN" dirty="0"/>
              <a:t>Plug-ins are a security risk with some of the most prominent Internet attacks working their way into browsers via a plug-in</a:t>
            </a:r>
          </a:p>
        </p:txBody>
      </p:sp>
    </p:spTree>
    <p:extLst>
      <p:ext uri="{BB962C8B-B14F-4D97-AF65-F5344CB8AC3E}">
        <p14:creationId xmlns:p14="http://schemas.microsoft.com/office/powerpoint/2010/main" val="475812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Working with the </a:t>
            </a:r>
            <a:r>
              <a:rPr lang="en-IN" dirty="0">
                <a:latin typeface="Courier New" panose="02070309020205020404" pitchFamily="49" charset="0"/>
                <a:cs typeface="Courier New" panose="02070309020205020404" pitchFamily="49" charset="0"/>
              </a:rPr>
              <a:t>audio</a:t>
            </a:r>
            <a:r>
              <a:rPr lang="en-IN" dirty="0"/>
              <a:t> Element</a:t>
            </a:r>
            <a:endParaRPr lang="en-US" dirty="0"/>
          </a:p>
        </p:txBody>
      </p:sp>
      <p:sp>
        <p:nvSpPr>
          <p:cNvPr id="9" name="Text Placeholder 8"/>
          <p:cNvSpPr>
            <a:spLocks noGrp="1"/>
          </p:cNvSpPr>
          <p:nvPr>
            <p:ph type="body" sz="quarter" idx="17"/>
          </p:nvPr>
        </p:nvSpPr>
        <p:spPr/>
        <p:txBody>
          <a:bodyPr/>
          <a:lstStyle/>
          <a:p>
            <a:r>
              <a:rPr lang="en-IN" dirty="0"/>
              <a:t>Audio clips are embedded within a web page using </a:t>
            </a:r>
            <a:r>
              <a:rPr lang="en-IN" dirty="0">
                <a:latin typeface="Courier New" panose="02070309020205020404" pitchFamily="49" charset="0"/>
                <a:cs typeface="Courier New" panose="02070309020205020404" pitchFamily="49" charset="0"/>
              </a:rPr>
              <a:t>audio</a:t>
            </a:r>
            <a:r>
              <a:rPr lang="en-IN" dirty="0"/>
              <a:t> element</a:t>
            </a:r>
          </a:p>
          <a:p>
            <a:pPr marL="463550" indent="0">
              <a:buNone/>
            </a:pPr>
            <a:r>
              <a:rPr lang="en-IN" sz="2600" dirty="0">
                <a:latin typeface="Courier New" panose="02070309020205020404" pitchFamily="49" charset="0"/>
                <a:cs typeface="Courier New" panose="02070309020205020404" pitchFamily="49" charset="0"/>
              </a:rPr>
              <a:t>&lt;audio src=“url” attributes /&gt;</a:t>
            </a:r>
          </a:p>
          <a:p>
            <a:pPr marL="463550" indent="0">
              <a:buNone/>
            </a:pPr>
            <a:r>
              <a:rPr lang="en-IN" sz="2800" dirty="0"/>
              <a:t>where </a:t>
            </a:r>
            <a:r>
              <a:rPr lang="en-IN" sz="2600" dirty="0">
                <a:latin typeface="Courier New" panose="02070309020205020404" pitchFamily="49" charset="0"/>
                <a:cs typeface="Courier New" panose="02070309020205020404" pitchFamily="49" charset="0"/>
              </a:rPr>
              <a:t>url</a:t>
            </a:r>
            <a:r>
              <a:rPr lang="en-IN" sz="2800" dirty="0"/>
              <a:t> specifies the source of the audio file and </a:t>
            </a:r>
            <a:r>
              <a:rPr lang="en-IN" sz="2600" dirty="0">
                <a:latin typeface="Courier New" panose="02070309020205020404" pitchFamily="49" charset="0"/>
                <a:cs typeface="Courier New" panose="02070309020205020404" pitchFamily="49" charset="0"/>
              </a:rPr>
              <a:t>attributes</a:t>
            </a:r>
            <a:r>
              <a:rPr lang="en-IN" sz="2800" dirty="0"/>
              <a:t> define how the audio clip should be handled by the browser</a:t>
            </a:r>
          </a:p>
        </p:txBody>
      </p:sp>
    </p:spTree>
    <p:extLst>
      <p:ext uri="{BB962C8B-B14F-4D97-AF65-F5344CB8AC3E}">
        <p14:creationId xmlns:p14="http://schemas.microsoft.com/office/powerpoint/2010/main" val="568416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Working with the </a:t>
            </a:r>
            <a:r>
              <a:rPr lang="en-IN" dirty="0">
                <a:latin typeface="Courier New" panose="02070309020205020404" pitchFamily="49" charset="0"/>
                <a:cs typeface="Courier New" panose="02070309020205020404" pitchFamily="49" charset="0"/>
              </a:rPr>
              <a:t>audio</a:t>
            </a:r>
            <a:r>
              <a:rPr lang="en-IN" dirty="0"/>
              <a:t> Element (continued)</a:t>
            </a:r>
            <a:endParaRPr lang="en-US" dirty="0"/>
          </a:p>
        </p:txBody>
      </p:sp>
      <p:graphicFrame>
        <p:nvGraphicFramePr>
          <p:cNvPr id="6" name="Table Placeholder 5"/>
          <p:cNvGraphicFramePr>
            <a:graphicFrameLocks noGrp="1"/>
          </p:cNvGraphicFramePr>
          <p:nvPr>
            <p:ph type="tbl" sz="quarter" idx="10"/>
            <p:extLst>
              <p:ext uri="{D42A27DB-BD31-4B8C-83A1-F6EECF244321}">
                <p14:modId xmlns:p14="http://schemas.microsoft.com/office/powerpoint/2010/main" val="2125093954"/>
              </p:ext>
            </p:extLst>
          </p:nvPr>
        </p:nvGraphicFramePr>
        <p:xfrm>
          <a:off x="492369" y="1374855"/>
          <a:ext cx="8159261" cy="4906010"/>
        </p:xfrm>
        <a:graphic>
          <a:graphicData uri="http://schemas.openxmlformats.org/drawingml/2006/table">
            <a:tbl>
              <a:tblPr firstRow="1"/>
              <a:tblGrid>
                <a:gridCol w="3843130">
                  <a:extLst>
                    <a:ext uri="{9D8B030D-6E8A-4147-A177-3AD203B41FA5}">
                      <a16:colId xmlns:a16="http://schemas.microsoft.com/office/drawing/2014/main" val="20000"/>
                    </a:ext>
                  </a:extLst>
                </a:gridCol>
                <a:gridCol w="4316131">
                  <a:extLst>
                    <a:ext uri="{9D8B030D-6E8A-4147-A177-3AD203B41FA5}">
                      <a16:colId xmlns:a16="http://schemas.microsoft.com/office/drawing/2014/main" val="20001"/>
                    </a:ext>
                  </a:extLst>
                </a:gridCol>
              </a:tblGrid>
              <a:tr h="0">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Attribute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autoplay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Starts playing the media clip as soon as it is loaded by the browser</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controls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Displays the player controls in the web page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loop</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Automatically restarts the media clip when it is finished playing</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muted</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Specifies that the audio output should be muted</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preload=”auto|metadata|none”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Specifies whether the media clip should be preloaded by the browser, where auto preloads the entire clip, metadata preloads descriptive data about the clip, and none preloads nothing. metadata (to preload only descriptive data about the clip), or none (not to preload the media clip)</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src=”</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url</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Specifies the source of the media clip,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url</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the location and name of the media file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24537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Browsers and Audio Formats</a:t>
            </a:r>
          </a:p>
        </p:txBody>
      </p:sp>
      <p:sp>
        <p:nvSpPr>
          <p:cNvPr id="4" name="Text Placeholder 3"/>
          <p:cNvSpPr>
            <a:spLocks noGrp="1"/>
          </p:cNvSpPr>
          <p:nvPr>
            <p:ph type="body" sz="quarter" idx="17"/>
          </p:nvPr>
        </p:nvSpPr>
        <p:spPr/>
        <p:txBody>
          <a:bodyPr>
            <a:normAutofit/>
          </a:bodyPr>
          <a:lstStyle/>
          <a:p>
            <a:r>
              <a:rPr lang="en-IN" dirty="0"/>
              <a:t>HTML does not specify any particular audio format</a:t>
            </a:r>
          </a:p>
          <a:p>
            <a:pPr lvl="1"/>
            <a:r>
              <a:rPr lang="en-US" dirty="0"/>
              <a:t>Developers can pick a format that meets the needs of their customers and clients</a:t>
            </a:r>
          </a:p>
          <a:p>
            <a:r>
              <a:rPr lang="en-US" dirty="0"/>
              <a:t>Browsers and devices differ on the types of audio formats they support</a:t>
            </a:r>
          </a:p>
          <a:p>
            <a:pPr lvl="1"/>
            <a:r>
              <a:rPr lang="en-US" dirty="0"/>
              <a:t>Before choosing an audio format, determine whether the intended browser will be able to play it</a:t>
            </a:r>
          </a:p>
        </p:txBody>
      </p:sp>
    </p:spTree>
    <p:extLst>
      <p:ext uri="{BB962C8B-B14F-4D97-AF65-F5344CB8AC3E}">
        <p14:creationId xmlns:p14="http://schemas.microsoft.com/office/powerpoint/2010/main" val="3652326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Browsers and Audio Formats (continued 1)</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1074310200"/>
              </p:ext>
            </p:extLst>
          </p:nvPr>
        </p:nvGraphicFramePr>
        <p:xfrm>
          <a:off x="518306" y="1628075"/>
          <a:ext cx="8107387" cy="3764308"/>
        </p:xfrm>
        <a:graphic>
          <a:graphicData uri="http://schemas.openxmlformats.org/drawingml/2006/table">
            <a:tbl>
              <a:tblPr firstRow="1"/>
              <a:tblGrid>
                <a:gridCol w="1010302">
                  <a:extLst>
                    <a:ext uri="{9D8B030D-6E8A-4147-A177-3AD203B41FA5}">
                      <a16:colId xmlns:a16="http://schemas.microsoft.com/office/drawing/2014/main" val="20000"/>
                    </a:ext>
                  </a:extLst>
                </a:gridCol>
                <a:gridCol w="3304686">
                  <a:extLst>
                    <a:ext uri="{9D8B030D-6E8A-4147-A177-3AD203B41FA5}">
                      <a16:colId xmlns:a16="http://schemas.microsoft.com/office/drawing/2014/main" val="20001"/>
                    </a:ext>
                  </a:extLst>
                </a:gridCol>
                <a:gridCol w="852251">
                  <a:extLst>
                    <a:ext uri="{9D8B030D-6E8A-4147-A177-3AD203B41FA5}">
                      <a16:colId xmlns:a16="http://schemas.microsoft.com/office/drawing/2014/main" val="20002"/>
                    </a:ext>
                  </a:extLst>
                </a:gridCol>
                <a:gridCol w="1547446">
                  <a:extLst>
                    <a:ext uri="{9D8B030D-6E8A-4147-A177-3AD203B41FA5}">
                      <a16:colId xmlns:a16="http://schemas.microsoft.com/office/drawing/2014/main" val="20003"/>
                    </a:ext>
                  </a:extLst>
                </a:gridCol>
                <a:gridCol w="1392702">
                  <a:extLst>
                    <a:ext uri="{9D8B030D-6E8A-4147-A177-3AD203B41FA5}">
                      <a16:colId xmlns:a16="http://schemas.microsoft.com/office/drawing/2014/main" val="20004"/>
                    </a:ext>
                  </a:extLst>
                </a:gridCol>
              </a:tblGrid>
              <a:tr h="255520">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Format</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1104"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Codec</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File Extension(s)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MIME Type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442901">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MP3</a:t>
                      </a:r>
                    </a:p>
                  </a:txBody>
                  <a:tcPr marL="51104"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MPEG-1 Audio Layer 3</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or </a:t>
                      </a: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MP3</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one of the most widely used audio types and is the standard format for digital audio players</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MP3</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.mp3</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tabLs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audio/mpeg</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3972">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AAC</a:t>
                      </a:r>
                    </a:p>
                  </a:txBody>
                  <a:tcPr marL="51104"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b="1" spc="-1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Advanced Audio Coding </a:t>
                      </a:r>
                      <a:r>
                        <a:rPr lang="en-US" sz="1600" spc="-1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or</a:t>
                      </a:r>
                      <a:r>
                        <a:rPr lang="en-US" sz="1600" b="1" spc="-1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AAC</a:t>
                      </a:r>
                      <a:r>
                        <a:rPr lang="en-US" sz="1600" spc="-1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the encoding standard for all Apple products, as well as YouTube and several gaming systems and mobile devices; AAC was introduced as the successor to MP3 with the goal of achieving better sound quality at similar compression ratios</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AAC</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.aac</a:t>
                      </a:r>
                    </a:p>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.mp4</a:t>
                      </a:r>
                    </a:p>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.m4a</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audio/mp4</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524500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Browsers and Audio Formats (continued 2</a:t>
            </a:r>
            <a:r>
              <a:rPr lang="en-IN" dirty="0"/>
              <a:t>)</a:t>
            </a:r>
            <a:endParaRPr 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705889558"/>
              </p:ext>
            </p:extLst>
          </p:nvPr>
        </p:nvGraphicFramePr>
        <p:xfrm>
          <a:off x="518306" y="1614007"/>
          <a:ext cx="8107387" cy="3520468"/>
        </p:xfrm>
        <a:graphic>
          <a:graphicData uri="http://schemas.openxmlformats.org/drawingml/2006/table">
            <a:tbl>
              <a:tblPr firstRow="1"/>
              <a:tblGrid>
                <a:gridCol w="1010302">
                  <a:extLst>
                    <a:ext uri="{9D8B030D-6E8A-4147-A177-3AD203B41FA5}">
                      <a16:colId xmlns:a16="http://schemas.microsoft.com/office/drawing/2014/main" val="20000"/>
                    </a:ext>
                  </a:extLst>
                </a:gridCol>
                <a:gridCol w="3304686">
                  <a:extLst>
                    <a:ext uri="{9D8B030D-6E8A-4147-A177-3AD203B41FA5}">
                      <a16:colId xmlns:a16="http://schemas.microsoft.com/office/drawing/2014/main" val="20001"/>
                    </a:ext>
                  </a:extLst>
                </a:gridCol>
                <a:gridCol w="852251">
                  <a:extLst>
                    <a:ext uri="{9D8B030D-6E8A-4147-A177-3AD203B41FA5}">
                      <a16:colId xmlns:a16="http://schemas.microsoft.com/office/drawing/2014/main" val="20002"/>
                    </a:ext>
                  </a:extLst>
                </a:gridCol>
                <a:gridCol w="1547446">
                  <a:extLst>
                    <a:ext uri="{9D8B030D-6E8A-4147-A177-3AD203B41FA5}">
                      <a16:colId xmlns:a16="http://schemas.microsoft.com/office/drawing/2014/main" val="20003"/>
                    </a:ext>
                  </a:extLst>
                </a:gridCol>
                <a:gridCol w="1392702">
                  <a:extLst>
                    <a:ext uri="{9D8B030D-6E8A-4147-A177-3AD203B41FA5}">
                      <a16:colId xmlns:a16="http://schemas.microsoft.com/office/drawing/2014/main" val="20004"/>
                    </a:ext>
                  </a:extLst>
                </a:gridCol>
              </a:tblGrid>
              <a:tr h="255520">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Format</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1104"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Codec</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File Extension(s)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MIME Type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536591">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OGG</a:t>
                      </a:r>
                    </a:p>
                  </a:txBody>
                  <a:tcPr marL="51104"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file compression format designed for web audio, </a:t>
                      </a: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Ogg</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an open-source and royalty-free format; in general, Ogg provides better sound quality than MP3, especially at lower bit rates</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Vorbis</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.ogg</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audio/ogg</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591">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WAV</a:t>
                      </a:r>
                    </a:p>
                  </a:txBody>
                  <a:tcPr marL="51104"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original audio format for Windows PCs, </a:t>
                      </a: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WAV</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commonly used for storing uncompressed audio, making it impractical for all but the shortest audio clips</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PCM</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.wav</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audio/wav</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72090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Browsers and Audio Formats (continued 3)</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479874984"/>
              </p:ext>
            </p:extLst>
          </p:nvPr>
        </p:nvGraphicFramePr>
        <p:xfrm>
          <a:off x="518306" y="1628076"/>
          <a:ext cx="8107387" cy="3276628"/>
        </p:xfrm>
        <a:graphic>
          <a:graphicData uri="http://schemas.openxmlformats.org/drawingml/2006/table">
            <a:tbl>
              <a:tblPr firstRow="1"/>
              <a:tblGrid>
                <a:gridCol w="1010302">
                  <a:extLst>
                    <a:ext uri="{9D8B030D-6E8A-4147-A177-3AD203B41FA5}">
                      <a16:colId xmlns:a16="http://schemas.microsoft.com/office/drawing/2014/main" val="20000"/>
                    </a:ext>
                  </a:extLst>
                </a:gridCol>
                <a:gridCol w="3304686">
                  <a:extLst>
                    <a:ext uri="{9D8B030D-6E8A-4147-A177-3AD203B41FA5}">
                      <a16:colId xmlns:a16="http://schemas.microsoft.com/office/drawing/2014/main" val="20001"/>
                    </a:ext>
                  </a:extLst>
                </a:gridCol>
                <a:gridCol w="852251">
                  <a:extLst>
                    <a:ext uri="{9D8B030D-6E8A-4147-A177-3AD203B41FA5}">
                      <a16:colId xmlns:a16="http://schemas.microsoft.com/office/drawing/2014/main" val="20002"/>
                    </a:ext>
                  </a:extLst>
                </a:gridCol>
                <a:gridCol w="1547446">
                  <a:extLst>
                    <a:ext uri="{9D8B030D-6E8A-4147-A177-3AD203B41FA5}">
                      <a16:colId xmlns:a16="http://schemas.microsoft.com/office/drawing/2014/main" val="20003"/>
                    </a:ext>
                  </a:extLst>
                </a:gridCol>
                <a:gridCol w="1392702">
                  <a:extLst>
                    <a:ext uri="{9D8B030D-6E8A-4147-A177-3AD203B41FA5}">
                      <a16:colId xmlns:a16="http://schemas.microsoft.com/office/drawing/2014/main" val="20004"/>
                    </a:ext>
                  </a:extLst>
                </a:gridCol>
              </a:tblGrid>
              <a:tr h="255520">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Format</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1104"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Codec</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File Extension(s)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MIME Type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1104" marT="127760" marB="2555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442901">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FLAC</a:t>
                      </a:r>
                    </a:p>
                  </a:txBody>
                  <a:tcPr marL="51104"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Free Lossless Audio Codec</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or </a:t>
                      </a: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FLAC</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 free open-source digital music format that offers bit-perfect copies of CD-quality music at half the size</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FLAC</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.flac</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audio/flac</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2901">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WebM</a:t>
                      </a:r>
                    </a:p>
                  </a:txBody>
                  <a:tcPr marL="51104"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WebM</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an open-source format introduced by Google to provide royalty-free audio and video to be used with the HTML audio and video elements</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VP8</a:t>
                      </a:r>
                    </a:p>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VP9</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.webm</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audio/webm</a:t>
                      </a:r>
                    </a:p>
                  </a:txBody>
                  <a:tcPr marL="0" marR="51104" marT="34069" marB="3406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65962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Browsers and Audio Formats (continued 4)</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1180221652"/>
              </p:ext>
            </p:extLst>
          </p:nvPr>
        </p:nvGraphicFramePr>
        <p:xfrm>
          <a:off x="1470075" y="2187042"/>
          <a:ext cx="6203850" cy="2230120"/>
        </p:xfrm>
        <a:graphic>
          <a:graphicData uri="http://schemas.openxmlformats.org/drawingml/2006/table">
            <a:tbl>
              <a:tblPr firstRow="1"/>
              <a:tblGrid>
                <a:gridCol w="1526212">
                  <a:extLst>
                    <a:ext uri="{9D8B030D-6E8A-4147-A177-3AD203B41FA5}">
                      <a16:colId xmlns:a16="http://schemas.microsoft.com/office/drawing/2014/main" val="20000"/>
                    </a:ext>
                  </a:extLst>
                </a:gridCol>
                <a:gridCol w="859335">
                  <a:extLst>
                    <a:ext uri="{9D8B030D-6E8A-4147-A177-3AD203B41FA5}">
                      <a16:colId xmlns:a16="http://schemas.microsoft.com/office/drawing/2014/main" val="20001"/>
                    </a:ext>
                  </a:extLst>
                </a:gridCol>
                <a:gridCol w="763502">
                  <a:extLst>
                    <a:ext uri="{9D8B030D-6E8A-4147-A177-3AD203B41FA5}">
                      <a16:colId xmlns:a16="http://schemas.microsoft.com/office/drawing/2014/main" val="20002"/>
                    </a:ext>
                  </a:extLst>
                </a:gridCol>
                <a:gridCol w="763502">
                  <a:extLst>
                    <a:ext uri="{9D8B030D-6E8A-4147-A177-3AD203B41FA5}">
                      <a16:colId xmlns:a16="http://schemas.microsoft.com/office/drawing/2014/main" val="20003"/>
                    </a:ext>
                  </a:extLst>
                </a:gridCol>
                <a:gridCol w="763502">
                  <a:extLst>
                    <a:ext uri="{9D8B030D-6E8A-4147-A177-3AD203B41FA5}">
                      <a16:colId xmlns:a16="http://schemas.microsoft.com/office/drawing/2014/main" val="20004"/>
                    </a:ext>
                  </a:extLst>
                </a:gridCol>
                <a:gridCol w="763502">
                  <a:extLst>
                    <a:ext uri="{9D8B030D-6E8A-4147-A177-3AD203B41FA5}">
                      <a16:colId xmlns:a16="http://schemas.microsoft.com/office/drawing/2014/main" val="20005"/>
                    </a:ext>
                  </a:extLst>
                </a:gridCol>
                <a:gridCol w="764295">
                  <a:extLst>
                    <a:ext uri="{9D8B030D-6E8A-4147-A177-3AD203B41FA5}">
                      <a16:colId xmlns:a16="http://schemas.microsoft.com/office/drawing/2014/main" val="20006"/>
                    </a:ext>
                  </a:extLst>
                </a:gridCol>
              </a:tblGrid>
              <a:tr h="0">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Browser</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gn="ctr">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MP3</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gn="ctr">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AAC</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gn="ctr">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Ogg</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gn="ctr">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WAV</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gn="ctr">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FLAC</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gn="ctr">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WebM</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245496">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Chrome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Firefox</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Microsoft Edge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Opera</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Safari</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fontAlgn="auto">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fontAlgn="auto">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72933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Browsers and Audio Formats (continued 5)</a:t>
            </a:r>
          </a:p>
        </p:txBody>
      </p:sp>
      <p:sp>
        <p:nvSpPr>
          <p:cNvPr id="3" name="Text Placeholder 2"/>
          <p:cNvSpPr>
            <a:spLocks noGrp="1"/>
          </p:cNvSpPr>
          <p:nvPr>
            <p:ph type="body" sz="quarter" idx="17"/>
          </p:nvPr>
        </p:nvSpPr>
        <p:spPr/>
        <p:txBody>
          <a:bodyPr/>
          <a:lstStyle/>
          <a:p>
            <a:r>
              <a:rPr lang="en-IN" dirty="0"/>
              <a:t>Nest several </a:t>
            </a:r>
            <a:r>
              <a:rPr lang="en-IN" sz="2600" dirty="0">
                <a:latin typeface="Courier New" panose="02070309020205020404" pitchFamily="49" charset="0"/>
                <a:cs typeface="Courier New" panose="02070309020205020404" pitchFamily="49" charset="0"/>
              </a:rPr>
              <a:t>source</a:t>
            </a:r>
            <a:r>
              <a:rPr lang="en-IN" dirty="0"/>
              <a:t> elements within a single </a:t>
            </a:r>
            <a:r>
              <a:rPr lang="en-IN" sz="2600" dirty="0">
                <a:latin typeface="Courier New" panose="02070309020205020404" pitchFamily="49" charset="0"/>
                <a:cs typeface="Courier New" panose="02070309020205020404" pitchFamily="49" charset="0"/>
              </a:rPr>
              <a:t>audio</a:t>
            </a:r>
            <a:r>
              <a:rPr lang="en-IN" dirty="0"/>
              <a:t> element to provide several versions of the same media file</a:t>
            </a:r>
          </a:p>
          <a:p>
            <a:pPr marL="457200" lvl="1" indent="0">
              <a:buNone/>
            </a:pPr>
            <a:r>
              <a:rPr lang="en-IN" sz="2600" dirty="0">
                <a:latin typeface="Courier New" panose="02070309020205020404" pitchFamily="49" charset="0"/>
                <a:cs typeface="Courier New" panose="02070309020205020404" pitchFamily="49" charset="0"/>
              </a:rPr>
              <a:t>&lt;audio&gt;</a:t>
            </a:r>
          </a:p>
          <a:p>
            <a:pPr marL="465138" lvl="1" indent="0">
              <a:buNone/>
            </a:pPr>
            <a:r>
              <a:rPr lang="en-IN" sz="2600" dirty="0">
                <a:latin typeface="Courier New" panose="02070309020205020404" pitchFamily="49" charset="0"/>
                <a:cs typeface="Courier New" panose="02070309020205020404" pitchFamily="49" charset="0"/>
              </a:rPr>
              <a:t>&lt;source src=“</a:t>
            </a:r>
            <a:r>
              <a:rPr lang="en-IN" sz="2600" i="1" dirty="0">
                <a:latin typeface="Courier New" panose="02070309020205020404" pitchFamily="49" charset="0"/>
                <a:cs typeface="Courier New" panose="02070309020205020404" pitchFamily="49" charset="0"/>
              </a:rPr>
              <a:t>url1</a:t>
            </a:r>
            <a:r>
              <a:rPr lang="en-IN" sz="2600" dirty="0">
                <a:latin typeface="Courier New" panose="02070309020205020404" pitchFamily="49" charset="0"/>
                <a:cs typeface="Courier New" panose="02070309020205020404" pitchFamily="49" charset="0"/>
              </a:rPr>
              <a:t>” type=“</a:t>
            </a:r>
            <a:r>
              <a:rPr lang="en-IN" sz="2600" i="1" dirty="0">
                <a:latin typeface="Courier New" panose="02070309020205020404" pitchFamily="49" charset="0"/>
                <a:cs typeface="Courier New" panose="02070309020205020404" pitchFamily="49" charset="0"/>
              </a:rPr>
              <a:t>mime-type</a:t>
            </a:r>
            <a:r>
              <a:rPr lang="en-IN" sz="2600" dirty="0">
                <a:latin typeface="Courier New" panose="02070309020205020404" pitchFamily="49" charset="0"/>
                <a:cs typeface="Courier New" panose="02070309020205020404" pitchFamily="49" charset="0"/>
              </a:rPr>
              <a:t>” /&gt;</a:t>
            </a:r>
          </a:p>
          <a:p>
            <a:pPr marL="465138" lvl="1" indent="0">
              <a:buNone/>
            </a:pPr>
            <a:r>
              <a:rPr lang="en-IN" sz="2600" dirty="0">
                <a:latin typeface="Courier New" panose="02070309020205020404" pitchFamily="49" charset="0"/>
                <a:cs typeface="Courier New" panose="02070309020205020404" pitchFamily="49" charset="0"/>
              </a:rPr>
              <a:t>&lt;source src=“</a:t>
            </a:r>
            <a:r>
              <a:rPr lang="en-IN" sz="2600" i="1" dirty="0">
                <a:latin typeface="Courier New" panose="02070309020205020404" pitchFamily="49" charset="0"/>
                <a:cs typeface="Courier New" panose="02070309020205020404" pitchFamily="49" charset="0"/>
              </a:rPr>
              <a:t>url2</a:t>
            </a:r>
            <a:r>
              <a:rPr lang="en-IN" sz="2600" dirty="0">
                <a:latin typeface="Courier New" panose="02070309020205020404" pitchFamily="49" charset="0"/>
                <a:cs typeface="Courier New" panose="02070309020205020404" pitchFamily="49" charset="0"/>
              </a:rPr>
              <a:t>” type=“</a:t>
            </a:r>
            <a:r>
              <a:rPr lang="en-IN" sz="2600" i="1" dirty="0">
                <a:latin typeface="Courier New" panose="02070309020205020404" pitchFamily="49" charset="0"/>
                <a:cs typeface="Courier New" panose="02070309020205020404" pitchFamily="49" charset="0"/>
              </a:rPr>
              <a:t>mime-type</a:t>
            </a:r>
            <a:r>
              <a:rPr lang="en-IN" sz="2600" dirty="0">
                <a:latin typeface="Courier New" panose="02070309020205020404" pitchFamily="49" charset="0"/>
                <a:cs typeface="Courier New" panose="02070309020205020404" pitchFamily="49" charset="0"/>
              </a:rPr>
              <a:t>” /&gt;</a:t>
            </a:r>
          </a:p>
          <a:p>
            <a:pPr marL="465138" lvl="1" indent="0">
              <a:buNone/>
            </a:pPr>
            <a:r>
              <a:rPr lang="en-IN" sz="2600" dirty="0">
                <a:latin typeface="Courier New" panose="02070309020205020404" pitchFamily="49" charset="0"/>
                <a:cs typeface="Courier New" panose="02070309020205020404" pitchFamily="49" charset="0"/>
              </a:rPr>
              <a:t>… &lt;/audio&gt;</a:t>
            </a:r>
          </a:p>
          <a:p>
            <a:pPr marL="341313" lvl="1" indent="0">
              <a:buNone/>
            </a:pPr>
            <a:r>
              <a:rPr lang="en-IN" sz="3200" dirty="0">
                <a:cs typeface="Courier New" panose="02070309020205020404" pitchFamily="49" charset="0"/>
              </a:rPr>
              <a:t>where, </a:t>
            </a:r>
            <a:r>
              <a:rPr lang="en-IN" sz="2600" i="1" dirty="0">
                <a:latin typeface="Courier New" panose="02070309020205020404" pitchFamily="49" charset="0"/>
                <a:cs typeface="Courier New" panose="02070309020205020404" pitchFamily="49" charset="0"/>
              </a:rPr>
              <a:t>url1</a:t>
            </a:r>
            <a:r>
              <a:rPr lang="en-IN" sz="3200" dirty="0"/>
              <a:t>, </a:t>
            </a:r>
            <a:r>
              <a:rPr lang="en-IN" sz="2600" i="1" dirty="0">
                <a:latin typeface="Courier New" panose="02070309020205020404" pitchFamily="49" charset="0"/>
                <a:cs typeface="Courier New" panose="02070309020205020404" pitchFamily="49" charset="0"/>
              </a:rPr>
              <a:t>url2</a:t>
            </a:r>
            <a:r>
              <a:rPr lang="en-IN" sz="3200" dirty="0"/>
              <a:t>,… are the URLs for each audio file </a:t>
            </a:r>
            <a:r>
              <a:rPr lang="en-IN" sz="3200" dirty="0">
                <a:cs typeface="Courier New" panose="02070309020205020404" pitchFamily="49" charset="0"/>
              </a:rPr>
              <a:t>and </a:t>
            </a:r>
            <a:r>
              <a:rPr lang="en-IN" sz="2600" i="1" dirty="0">
                <a:latin typeface="Courier New" panose="02070309020205020404" pitchFamily="49" charset="0"/>
                <a:cs typeface="Courier New" panose="02070309020205020404" pitchFamily="49" charset="0"/>
              </a:rPr>
              <a:t>mime-type</a:t>
            </a:r>
            <a:r>
              <a:rPr lang="en-IN" sz="3200" i="1" dirty="0"/>
              <a:t> </a:t>
            </a:r>
            <a:r>
              <a:rPr lang="en-IN" sz="3200" dirty="0"/>
              <a:t>specifies the audio format associated with each file</a:t>
            </a:r>
          </a:p>
        </p:txBody>
      </p:sp>
    </p:spTree>
    <p:extLst>
      <p:ext uri="{BB962C8B-B14F-4D97-AF65-F5344CB8AC3E}">
        <p14:creationId xmlns:p14="http://schemas.microsoft.com/office/powerpoint/2010/main" val="326022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Browsers and Audio Formats (continued 6)</a:t>
            </a:r>
          </a:p>
        </p:txBody>
      </p:sp>
      <p:pic>
        <p:nvPicPr>
          <p:cNvPr id="5" name="Picture Placeholder 4" descr="This figure explains how to insert an audio clip.&#10;&#10;The figure consists of two rectangular boxes and a few lines of code.&#10;&#10;The first four lines of the code read “&lt;p&gt;Lane’s greatest musical accomplishment may very well be his discovery of an 11-year-old singing sensation named Frances Gumm, whom the world now knows better as Judy Garland.&lt;/p&gt;”.The fifth line of the code reads “&lt;p&gt;Click the play button below to hear the musical overture”. The sixth line of the code reads “for Burton Lane’s &lt;cite&gt;Royal Wedding&lt;/cite&gt;.&lt;/p&gt;”. The seventh line of the code reads “&lt;audio controls&gt;”. The eighth line of the code reads “&lt;source src=“cp_overture.mp3” type=“audio/mp3” /&gt;”. The ninth line of the code reads “&lt;source src=“cp_overture.ogg” type=“audio/ogg” /&gt;”. The tenth line of the code reads “&lt;/audio&gt;”. The eleventh line of the code reads “&lt;/aside&gt;”. &#10;&#10;The first rectangular box labeled “displays the controls for the audio player” is positioned on the left side of the code. An arrow originating from this rectangular box points to the seventh line of the code.&#10;&#10;The second rectangular box labeled “two possible sources for the audio file” is positioned on the right side of the code. An arrow originating from this rectangular box points to the eighth and ninth lines of code collectively.&#10;" title="Figure 8-5 Inserting an audio clip"/>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415474" y="1998235"/>
            <a:ext cx="8313052" cy="2675811"/>
          </a:xfrm>
          <a:prstGeom prst="rect">
            <a:avLst/>
          </a:prstGeom>
        </p:spPr>
      </p:pic>
    </p:spTree>
    <p:extLst>
      <p:ext uri="{BB962C8B-B14F-4D97-AF65-F5344CB8AC3E}">
        <p14:creationId xmlns:p14="http://schemas.microsoft.com/office/powerpoint/2010/main" val="562710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Styles to the Media Player</a:t>
            </a:r>
          </a:p>
        </p:txBody>
      </p:sp>
      <p:sp>
        <p:nvSpPr>
          <p:cNvPr id="8" name="Text Placeholder 7"/>
          <p:cNvSpPr>
            <a:spLocks noGrp="1"/>
          </p:cNvSpPr>
          <p:nvPr>
            <p:ph type="body" sz="quarter" idx="17"/>
          </p:nvPr>
        </p:nvSpPr>
        <p:spPr/>
        <p:txBody>
          <a:bodyPr/>
          <a:lstStyle/>
          <a:p>
            <a:r>
              <a:rPr lang="en-IN" dirty="0"/>
              <a:t>The appearance of a media player is determined by the browser itself</a:t>
            </a:r>
          </a:p>
          <a:p>
            <a:r>
              <a:rPr lang="en-IN" dirty="0"/>
              <a:t>CSS can be applied to set the width of the media player, add borders and drop shadows, and apply filters and transformations to the player’s appearance</a:t>
            </a:r>
          </a:p>
        </p:txBody>
      </p:sp>
    </p:spTree>
    <p:extLst>
      <p:ext uri="{BB962C8B-B14F-4D97-AF65-F5344CB8AC3E}">
        <p14:creationId xmlns:p14="http://schemas.microsoft.com/office/powerpoint/2010/main" val="4210862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Styles to the Media Player (continued)</a:t>
            </a:r>
          </a:p>
        </p:txBody>
      </p:sp>
      <p:pic>
        <p:nvPicPr>
          <p:cNvPr id="5" name="Content Placeholder 8" descr="This figure explains the styles for the native media player.&#10;&#10;The figure consists of a few lines of code.&#10;&#10;The first line of the code reads “/* Audio and Video Player Styles */”. The second line of the code reads “audio {”. The third line of the code reads “box-shadow: rgb(51, 51, 51) 8px 8px 15px;”. The fourth line of the code reads “display: block;”. The fifth line of the code reads “margin: 10px auto;”. The sixth line of the code reads “width: 90%;”. The seventh line of the code reads “}”. &#10;" title="Figure 8-7 Styles for the native media playe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45404" y="2094271"/>
            <a:ext cx="7869946" cy="2715509"/>
          </a:xfrm>
          <a:prstGeom prst="rect">
            <a:avLst/>
          </a:prstGeom>
        </p:spPr>
      </p:pic>
    </p:spTree>
    <p:extLst>
      <p:ext uri="{BB962C8B-B14F-4D97-AF65-F5344CB8AC3E}">
        <p14:creationId xmlns:p14="http://schemas.microsoft.com/office/powerpoint/2010/main" val="5291263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Providing a Fallback to an Audio Clip</a:t>
            </a:r>
          </a:p>
        </p:txBody>
      </p:sp>
      <p:pic>
        <p:nvPicPr>
          <p:cNvPr id="5" name="Picture Placeholder 4" descr="This figure explains how to add fallback text to the audio element.&#10;&#10;The figure consists of a rectangular box and a few lines of code.&#10;&#10;The first line of the code reads “&lt;audio controls&gt;”. The second line of the code reads “&lt;source src=“cp_overture.mp3” type=“audio/mp3” /&gt;”. The third line of the code reads “&lt;source src=“cp_overture.ogg” type=“audio/ogg” /&gt;”. The fourth line of code reads “&lt;p&gt;&lt;em&gt;To play this audio clip, your browser needs to support HTML5.&lt;/em&gt;&lt;/p&gt;”. The fifth line of the code reads “&lt;/audio&gt;”. The sixth line of the code reads “&lt;/aside&gt;”. &#10;&#10;A rectangular box labeled “displays this paragraph when the audio element is not supported” is positioned below the code. An arrow originating from this rectangular box points to the fourth line of the code.&#10;" title="Figure 8-9 Adding fallback text to the audio elemen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527955" y="2123542"/>
            <a:ext cx="8088089" cy="2355239"/>
          </a:xfrm>
          <a:prstGeom prst="rect">
            <a:avLst/>
          </a:prstGeom>
        </p:spPr>
      </p:pic>
    </p:spTree>
    <p:extLst>
      <p:ext uri="{BB962C8B-B14F-4D97-AF65-F5344CB8AC3E}">
        <p14:creationId xmlns:p14="http://schemas.microsoft.com/office/powerpoint/2010/main" val="1288844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Providing a Fallback to an Audio Clip (continued)</a:t>
            </a:r>
          </a:p>
        </p:txBody>
      </p:sp>
      <p:pic>
        <p:nvPicPr>
          <p:cNvPr id="4" name="Content Placeholder 2" descr="This figure shows the fallback text displayed within the web page.&#10;&#10;The figure consists of a rectangular box and two paragraphs.&#10;&#10;The first paragraph reads “Click the play button below to hear the opening of the musical overture for Burton Lane’s Royal Wedding.”&#10;&#10;The second paragraph reads “To play this audio clip, your browser needs to support HTML5.” and is positioned below the first paragraph.&#10;&#10;A rectangular box labeled “fallback text displayed for browsers that don’t support the audio element” is positioned on the left side of the second paragraph. An arrow originating from this rectangular box points to the second paragraph.&#10;&#10;" title="Figure 8-10 Fallback text displayed within the web page"/>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70388" y="2121981"/>
            <a:ext cx="7803224" cy="2603902"/>
          </a:xfrm>
          <a:prstGeom prst="rect">
            <a:avLst/>
          </a:prstGeom>
        </p:spPr>
      </p:pic>
    </p:spTree>
    <p:extLst>
      <p:ext uri="{BB962C8B-B14F-4D97-AF65-F5344CB8AC3E}">
        <p14:creationId xmlns:p14="http://schemas.microsoft.com/office/powerpoint/2010/main" val="18942618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Exploring Embedded Objects </a:t>
            </a:r>
            <a:endParaRPr lang="en-US" dirty="0"/>
          </a:p>
        </p:txBody>
      </p:sp>
      <p:sp>
        <p:nvSpPr>
          <p:cNvPr id="3" name="Text Placeholder 2"/>
          <p:cNvSpPr>
            <a:spLocks noGrp="1"/>
          </p:cNvSpPr>
          <p:nvPr>
            <p:ph type="body" sz="quarter" idx="17"/>
          </p:nvPr>
        </p:nvSpPr>
        <p:spPr/>
        <p:txBody>
          <a:bodyPr/>
          <a:lstStyle/>
          <a:p>
            <a:r>
              <a:rPr lang="en-IN" dirty="0"/>
              <a:t>Plug-ins in older browsers are marked using the </a:t>
            </a:r>
            <a:r>
              <a:rPr lang="en-IN" sz="2600" dirty="0">
                <a:latin typeface="Courier New" panose="02070309020205020404" pitchFamily="49" charset="0"/>
                <a:cs typeface="Courier New" panose="02070309020205020404" pitchFamily="49" charset="0"/>
              </a:rPr>
              <a:t>embed</a:t>
            </a:r>
            <a:r>
              <a:rPr lang="en-IN" dirty="0"/>
              <a:t> element</a:t>
            </a:r>
          </a:p>
          <a:p>
            <a:pPr marL="463550" lvl="1" indent="0">
              <a:buNone/>
            </a:pPr>
            <a:r>
              <a:rPr lang="en-IN" sz="2600" dirty="0">
                <a:latin typeface="Courier New" panose="02070309020205020404" pitchFamily="49" charset="0"/>
                <a:cs typeface="Courier New" panose="02070309020205020404" pitchFamily="49" charset="0"/>
              </a:rPr>
              <a:t>&lt;embed src=“</a:t>
            </a:r>
            <a:r>
              <a:rPr lang="en-IN" sz="2600" i="1" dirty="0">
                <a:latin typeface="Courier New" panose="02070309020205020404" pitchFamily="49" charset="0"/>
                <a:cs typeface="Courier New" panose="02070309020205020404" pitchFamily="49" charset="0"/>
              </a:rPr>
              <a:t>url</a:t>
            </a:r>
            <a:r>
              <a:rPr lang="en-IN" sz="2600" dirty="0">
                <a:latin typeface="Courier New" panose="02070309020205020404" pitchFamily="49" charset="0"/>
                <a:cs typeface="Courier New" panose="02070309020205020404" pitchFamily="49" charset="0"/>
              </a:rPr>
              <a:t>” type=“</a:t>
            </a:r>
            <a:r>
              <a:rPr lang="en-IN" sz="2600" i="1" dirty="0">
                <a:latin typeface="Courier New" panose="02070309020205020404" pitchFamily="49" charset="0"/>
                <a:cs typeface="Courier New" panose="02070309020205020404" pitchFamily="49" charset="0"/>
              </a:rPr>
              <a:t>mime-type</a:t>
            </a:r>
            <a:r>
              <a:rPr lang="en-IN" sz="2600" dirty="0">
                <a:latin typeface="Courier New" panose="02070309020205020404" pitchFamily="49" charset="0"/>
                <a:cs typeface="Courier New" panose="02070309020205020404" pitchFamily="49" charset="0"/>
              </a:rPr>
              <a:t>”</a:t>
            </a:r>
          </a:p>
          <a:p>
            <a:pPr marL="463550" lvl="1" indent="0">
              <a:buNone/>
            </a:pPr>
            <a:r>
              <a:rPr lang="en-IN" sz="2600" dirty="0">
                <a:latin typeface="Courier New" panose="02070309020205020404" pitchFamily="49" charset="0"/>
                <a:cs typeface="Courier New" panose="02070309020205020404" pitchFamily="49" charset="0"/>
              </a:rPr>
              <a:t>	width=“</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 height=“</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 /&gt;</a:t>
            </a:r>
          </a:p>
          <a:p>
            <a:pPr marL="463550" indent="0">
              <a:buNone/>
            </a:pPr>
            <a:r>
              <a:rPr lang="en-IN" sz="2800" dirty="0">
                <a:latin typeface="Arial" panose="020B0604020202020204" pitchFamily="34" charset="0"/>
                <a:cs typeface="Arial" panose="020B0604020202020204" pitchFamily="34" charset="0"/>
              </a:rPr>
              <a:t>where</a:t>
            </a:r>
            <a:r>
              <a:rPr lang="en-IN" sz="2800" i="1" dirty="0">
                <a:latin typeface="Arial" panose="020B0604020202020204" pitchFamily="34" charset="0"/>
                <a:cs typeface="Arial" panose="020B0604020202020204" pitchFamily="34" charset="0"/>
              </a:rPr>
              <a:t> </a:t>
            </a:r>
            <a:r>
              <a:rPr lang="en-IN" sz="2600" i="1" dirty="0">
                <a:latin typeface="Courier New" panose="02070309020205020404" pitchFamily="49" charset="0"/>
                <a:cs typeface="Courier New" panose="02070309020205020404" pitchFamily="49" charset="0"/>
              </a:rPr>
              <a:t>url</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is the location of the media file, </a:t>
            </a:r>
            <a:r>
              <a:rPr lang="en-IN" sz="2600" i="1" dirty="0">
                <a:latin typeface="Courier New" panose="02070309020205020404" pitchFamily="49" charset="0"/>
                <a:cs typeface="Courier New" panose="02070309020205020404" pitchFamily="49" charset="0"/>
              </a:rPr>
              <a:t>type</a:t>
            </a:r>
            <a:r>
              <a:rPr lang="en-IN" sz="2800" dirty="0">
                <a:latin typeface="Arial" panose="020B0604020202020204" pitchFamily="34" charset="0"/>
                <a:cs typeface="Arial" panose="020B0604020202020204" pitchFamily="34" charset="0"/>
              </a:rPr>
              <a:t> attribute provides the mime-type, and </a:t>
            </a:r>
            <a:r>
              <a:rPr lang="en-IN" sz="2600" i="1" dirty="0">
                <a:latin typeface="Courier New" panose="02070309020205020404" pitchFamily="49" charset="0"/>
                <a:cs typeface="Courier New" panose="02070309020205020404" pitchFamily="49" charset="0"/>
              </a:rPr>
              <a:t>width</a:t>
            </a:r>
            <a:r>
              <a:rPr lang="en-IN" sz="2800" dirty="0">
                <a:latin typeface="Arial" panose="020B0604020202020204" pitchFamily="34" charset="0"/>
                <a:cs typeface="Arial" panose="020B0604020202020204" pitchFamily="34" charset="0"/>
              </a:rPr>
              <a:t> and </a:t>
            </a:r>
            <a:r>
              <a:rPr lang="en-IN" sz="2600" i="1" dirty="0">
                <a:latin typeface="Courier New" panose="02070309020205020404" pitchFamily="49" charset="0"/>
                <a:cs typeface="Courier New" panose="02070309020205020404" pitchFamily="49" charset="0"/>
              </a:rPr>
              <a:t>height</a:t>
            </a:r>
            <a:r>
              <a:rPr lang="en-IN" sz="2800" dirty="0">
                <a:latin typeface="Arial" panose="020B0604020202020204" pitchFamily="34" charset="0"/>
                <a:cs typeface="Arial" panose="020B0604020202020204" pitchFamily="34" charset="0"/>
              </a:rPr>
              <a:t> attributes set the width and height of the media player</a:t>
            </a:r>
          </a:p>
        </p:txBody>
      </p:sp>
    </p:spTree>
    <p:extLst>
      <p:ext uri="{BB962C8B-B14F-4D97-AF65-F5344CB8AC3E}">
        <p14:creationId xmlns:p14="http://schemas.microsoft.com/office/powerpoint/2010/main" val="2239907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Plug-In Attributes</a:t>
            </a:r>
            <a:endParaRPr lang="en-US" dirty="0"/>
          </a:p>
        </p:txBody>
      </p:sp>
      <p:sp>
        <p:nvSpPr>
          <p:cNvPr id="3" name="Text Placeholder 2"/>
          <p:cNvSpPr>
            <a:spLocks noGrp="1"/>
          </p:cNvSpPr>
          <p:nvPr>
            <p:ph type="body" sz="quarter" idx="17"/>
          </p:nvPr>
        </p:nvSpPr>
        <p:spPr/>
        <p:txBody>
          <a:bodyPr>
            <a:normAutofit lnSpcReduction="10000"/>
          </a:bodyPr>
          <a:lstStyle/>
          <a:p>
            <a:r>
              <a:rPr lang="en-US" dirty="0">
                <a:latin typeface="Arial" panose="020B0604020202020204" pitchFamily="34" charset="0"/>
                <a:cs typeface="Arial" panose="020B0604020202020204" pitchFamily="34" charset="0"/>
              </a:rPr>
              <a:t>The </a:t>
            </a:r>
            <a:r>
              <a:rPr lang="en-US" sz="2600" dirty="0" err="1">
                <a:latin typeface="Courier New" panose="02070309020205020404" pitchFamily="49" charset="0"/>
                <a:cs typeface="Courier New" panose="02070309020205020404" pitchFamily="49" charset="0"/>
              </a:rPr>
              <a:t>src</a:t>
            </a:r>
            <a:r>
              <a:rPr lang="en-US" dirty="0"/>
              <a:t>, </a:t>
            </a:r>
            <a:r>
              <a:rPr lang="en-US" sz="2600" dirty="0">
                <a:latin typeface="Courier New" panose="02070309020205020404" pitchFamily="49" charset="0"/>
                <a:cs typeface="Courier New" panose="02070309020205020404" pitchFamily="49" charset="0"/>
              </a:rPr>
              <a:t>type</a:t>
            </a:r>
            <a:r>
              <a:rPr lang="en-US" dirty="0"/>
              <a:t>, </a:t>
            </a:r>
            <a:r>
              <a:rPr lang="en-US" sz="2600" dirty="0">
                <a:latin typeface="Courier New" panose="02070309020205020404" pitchFamily="49" charset="0"/>
                <a:cs typeface="Courier New" panose="02070309020205020404" pitchFamily="49" charset="0"/>
              </a:rPr>
              <a:t>height</a:t>
            </a:r>
            <a:r>
              <a:rPr lang="en-US" dirty="0"/>
              <a:t>, and </a:t>
            </a:r>
            <a:r>
              <a:rPr lang="en-US" sz="2600" dirty="0">
                <a:latin typeface="Courier New" panose="02070309020205020404" pitchFamily="49" charset="0"/>
                <a:cs typeface="Courier New" panose="02070309020205020404" pitchFamily="49" charset="0"/>
              </a:rPr>
              <a:t>width</a:t>
            </a:r>
            <a:r>
              <a:rPr lang="en-US" dirty="0"/>
              <a:t> attributes are generic attributes applied to </a:t>
            </a:r>
            <a:r>
              <a:rPr lang="en-US" sz="2600" dirty="0">
                <a:latin typeface="Courier New" panose="02070309020205020404" pitchFamily="49" charset="0"/>
                <a:cs typeface="Courier New" panose="02070309020205020404" pitchFamily="49" charset="0"/>
              </a:rPr>
              <a:t>embed</a:t>
            </a:r>
            <a:r>
              <a:rPr lang="en-US" dirty="0"/>
              <a:t> element for any plug-in</a:t>
            </a:r>
          </a:p>
          <a:p>
            <a:r>
              <a:rPr lang="en-US" dirty="0"/>
              <a:t>The following </a:t>
            </a:r>
            <a:r>
              <a:rPr lang="en-US" sz="2600" dirty="0">
                <a:latin typeface="Courier New" panose="02070309020205020404" pitchFamily="49" charset="0"/>
                <a:cs typeface="Courier New" panose="02070309020205020404" pitchFamily="49" charset="0"/>
              </a:rPr>
              <a:t>embed</a:t>
            </a:r>
            <a:r>
              <a:rPr lang="en-US" dirty="0"/>
              <a:t> element adds attributes that are recognized by Apple’s QuickTime Player to display the media player controls and prevent the playback from starting automatically:</a:t>
            </a:r>
          </a:p>
          <a:p>
            <a:pPr marL="457200" lvl="1" indent="0">
              <a:buNone/>
            </a:pPr>
            <a:r>
              <a:rPr lang="en-IN" sz="2600" dirty="0">
                <a:latin typeface="Courier New" panose="02070309020205020404" pitchFamily="49" charset="0"/>
                <a:cs typeface="Courier New" panose="02070309020205020404" pitchFamily="49" charset="0"/>
              </a:rPr>
              <a:t>&lt;embed src=“cp_overture.mp3” width=“250” height=“50” controller=“yes” autoplay=”no” /&gt;</a:t>
            </a:r>
            <a:endParaRPr lang="en-US" dirty="0"/>
          </a:p>
        </p:txBody>
      </p:sp>
    </p:spTree>
    <p:extLst>
      <p:ext uri="{BB962C8B-B14F-4D97-AF65-F5344CB8AC3E}">
        <p14:creationId xmlns:p14="http://schemas.microsoft.com/office/powerpoint/2010/main" val="37015304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Plug-Ins as Fallback Options</a:t>
            </a:r>
            <a:endParaRPr lang="en-US" dirty="0"/>
          </a:p>
        </p:txBody>
      </p:sp>
      <p:sp>
        <p:nvSpPr>
          <p:cNvPr id="3" name="Text Placeholder 2"/>
          <p:cNvSpPr>
            <a:spLocks noGrp="1"/>
          </p:cNvSpPr>
          <p:nvPr>
            <p:ph type="body" sz="quarter" idx="17"/>
          </p:nvPr>
        </p:nvSpPr>
        <p:spPr/>
        <p:txBody>
          <a:bodyPr/>
          <a:lstStyle/>
          <a:p>
            <a:r>
              <a:rPr lang="en-IN" dirty="0"/>
              <a:t>Add the </a:t>
            </a:r>
            <a:r>
              <a:rPr lang="en-IN" sz="2600" dirty="0">
                <a:latin typeface="Courier New" panose="02070309020205020404" pitchFamily="49" charset="0"/>
                <a:cs typeface="Courier New" panose="02070309020205020404" pitchFamily="49" charset="0"/>
              </a:rPr>
              <a:t>embed</a:t>
            </a:r>
            <a:r>
              <a:rPr lang="en-IN" dirty="0"/>
              <a:t> element to the end of the </a:t>
            </a:r>
            <a:r>
              <a:rPr lang="en-IN" sz="2600" dirty="0">
                <a:latin typeface="Courier New" panose="02070309020205020404" pitchFamily="49" charset="0"/>
                <a:cs typeface="Courier New" panose="02070309020205020404" pitchFamily="49" charset="0"/>
              </a:rPr>
              <a:t>audio</a:t>
            </a:r>
            <a:r>
              <a:rPr lang="en-IN" dirty="0"/>
              <a:t> element as the last option for a browser that does not support HTML5 multimedia elements</a:t>
            </a:r>
          </a:p>
          <a:p>
            <a:r>
              <a:rPr lang="en-IN" dirty="0"/>
              <a:t>Use of plug-ins has steadily declined since the widespread adoption of HTML5 standard</a:t>
            </a:r>
          </a:p>
        </p:txBody>
      </p:sp>
    </p:spTree>
    <p:extLst>
      <p:ext uri="{BB962C8B-B14F-4D97-AF65-F5344CB8AC3E}">
        <p14:creationId xmlns:p14="http://schemas.microsoft.com/office/powerpoint/2010/main" val="20206401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 Formats and Codecs</a:t>
            </a:r>
          </a:p>
        </p:txBody>
      </p:sp>
      <p:sp>
        <p:nvSpPr>
          <p:cNvPr id="3" name="Text Placeholder 2"/>
          <p:cNvSpPr>
            <a:spLocks noGrp="1"/>
          </p:cNvSpPr>
          <p:nvPr>
            <p:ph type="body" sz="quarter" idx="17"/>
          </p:nvPr>
        </p:nvSpPr>
        <p:spPr/>
        <p:txBody>
          <a:bodyPr/>
          <a:lstStyle/>
          <a:p>
            <a:r>
              <a:rPr lang="en-IN" dirty="0"/>
              <a:t>A video file contains codecs for the following:</a:t>
            </a:r>
          </a:p>
          <a:p>
            <a:pPr lvl="1"/>
            <a:r>
              <a:rPr lang="en-IN" dirty="0"/>
              <a:t>Audio </a:t>
            </a:r>
          </a:p>
          <a:p>
            <a:pPr lvl="1"/>
            <a:r>
              <a:rPr lang="en-IN" dirty="0"/>
              <a:t>Video images</a:t>
            </a:r>
          </a:p>
          <a:p>
            <a:r>
              <a:rPr lang="en-US" dirty="0"/>
              <a:t>The most popular video codec is H.264 used by YouTube and most commercial vendors</a:t>
            </a:r>
          </a:p>
          <a:p>
            <a:r>
              <a:rPr lang="en-US" dirty="0"/>
              <a:t>Because H.264 is a commercial product, it is not royalty free</a:t>
            </a:r>
            <a:endParaRPr lang="en-IN" dirty="0"/>
          </a:p>
        </p:txBody>
      </p:sp>
    </p:spTree>
    <p:extLst>
      <p:ext uri="{BB962C8B-B14F-4D97-AF65-F5344CB8AC3E}">
        <p14:creationId xmlns:p14="http://schemas.microsoft.com/office/powerpoint/2010/main" val="1351887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 Formats and Codecs</a:t>
            </a:r>
            <a:br>
              <a:rPr lang="en-US" dirty="0"/>
            </a:br>
            <a:r>
              <a:rPr lang="en-US" dirty="0"/>
              <a:t>(continued 1)</a:t>
            </a:r>
          </a:p>
        </p:txBody>
      </p:sp>
      <p:graphicFrame>
        <p:nvGraphicFramePr>
          <p:cNvPr id="6" name="Table Placeholder 5"/>
          <p:cNvGraphicFramePr>
            <a:graphicFrameLocks noGrp="1"/>
          </p:cNvGraphicFramePr>
          <p:nvPr>
            <p:ph type="tbl" sz="quarter" idx="10"/>
            <p:extLst>
              <p:ext uri="{D42A27DB-BD31-4B8C-83A1-F6EECF244321}">
                <p14:modId xmlns:p14="http://schemas.microsoft.com/office/powerpoint/2010/main" val="805206856"/>
              </p:ext>
            </p:extLst>
          </p:nvPr>
        </p:nvGraphicFramePr>
        <p:xfrm>
          <a:off x="1358423" y="2040523"/>
          <a:ext cx="6427154" cy="3347720"/>
        </p:xfrm>
        <a:graphic>
          <a:graphicData uri="http://schemas.openxmlformats.org/drawingml/2006/table">
            <a:tbl>
              <a:tblPr firstRow="1"/>
              <a:tblGrid>
                <a:gridCol w="1056822">
                  <a:extLst>
                    <a:ext uri="{9D8B030D-6E8A-4147-A177-3AD203B41FA5}">
                      <a16:colId xmlns:a16="http://schemas.microsoft.com/office/drawing/2014/main" val="20000"/>
                    </a:ext>
                  </a:extLst>
                </a:gridCol>
                <a:gridCol w="5370332">
                  <a:extLst>
                    <a:ext uri="{9D8B030D-6E8A-4147-A177-3AD203B41FA5}">
                      <a16:colId xmlns:a16="http://schemas.microsoft.com/office/drawing/2014/main" val="20001"/>
                    </a:ext>
                  </a:extLst>
                </a:gridCol>
              </a:tblGrid>
              <a:tr h="0">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Codec</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H.264</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Developed by the MPEG group, the </a:t>
                      </a: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H.264</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codec is the industry standard for high-definition video streams, movie sharing websites such as YouTube, and video plug-ins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Theora</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Theora </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is a royalty-free codec developed by the Xiph.org Foundation that produces video streams that can be used with almost any container</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VP8</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VP8</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an open-source royalty-free codec owned by Google for use in Google’s WebM video format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VP9</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VP9</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Google’s successor to the VP8 codec, offering the same video quality as VP8 at half the download size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675486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 Formats and Codecs</a:t>
            </a:r>
            <a:br>
              <a:rPr lang="en-US" dirty="0"/>
            </a:br>
            <a:r>
              <a:rPr lang="en-US" dirty="0"/>
              <a:t>(continued 2)</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493806783"/>
              </p:ext>
            </p:extLst>
          </p:nvPr>
        </p:nvGraphicFramePr>
        <p:xfrm>
          <a:off x="323556" y="1501465"/>
          <a:ext cx="8496888" cy="4495800"/>
        </p:xfrm>
        <a:graphic>
          <a:graphicData uri="http://schemas.openxmlformats.org/drawingml/2006/table">
            <a:tbl>
              <a:tblPr firstRow="1"/>
              <a:tblGrid>
                <a:gridCol w="1871508">
                  <a:extLst>
                    <a:ext uri="{9D8B030D-6E8A-4147-A177-3AD203B41FA5}">
                      <a16:colId xmlns:a16="http://schemas.microsoft.com/office/drawing/2014/main" val="20000"/>
                    </a:ext>
                  </a:extLst>
                </a:gridCol>
                <a:gridCol w="3057561">
                  <a:extLst>
                    <a:ext uri="{9D8B030D-6E8A-4147-A177-3AD203B41FA5}">
                      <a16:colId xmlns:a16="http://schemas.microsoft.com/office/drawing/2014/main" val="20001"/>
                    </a:ext>
                  </a:extLst>
                </a:gridCol>
                <a:gridCol w="838687">
                  <a:extLst>
                    <a:ext uri="{9D8B030D-6E8A-4147-A177-3AD203B41FA5}">
                      <a16:colId xmlns:a16="http://schemas.microsoft.com/office/drawing/2014/main" val="20002"/>
                    </a:ext>
                  </a:extLst>
                </a:gridCol>
                <a:gridCol w="1533378">
                  <a:extLst>
                    <a:ext uri="{9D8B030D-6E8A-4147-A177-3AD203B41FA5}">
                      <a16:colId xmlns:a16="http://schemas.microsoft.com/office/drawing/2014/main" val="20003"/>
                    </a:ext>
                  </a:extLst>
                </a:gridCol>
                <a:gridCol w="1195754">
                  <a:extLst>
                    <a:ext uri="{9D8B030D-6E8A-4147-A177-3AD203B41FA5}">
                      <a16:colId xmlns:a16="http://schemas.microsoft.com/office/drawing/2014/main" val="20004"/>
                    </a:ext>
                  </a:extLst>
                </a:gridCol>
              </a:tblGrid>
              <a:tr h="0">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Format</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Video Codec</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File Extension(s)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MIME Type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MPEG-4</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MPEG-4 </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or </a:t>
                      </a: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MP4 </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is a widely used proprietary format developed by Apple based on the Apple QuickTime movie format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H.264</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.mp4</a:t>
                      </a:r>
                    </a:p>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.m4v</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video/mp4</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Ogg</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Ogg</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an open-source format developed by the Xiph.org Foundation using the Theora codec as an alternative to the MPEG-4 codec</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Theora</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.ogg</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video/ogg</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WebM</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WebM </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is an open-source format introduced by Google to provide royalty-free video and audio to be used with the HTML5 video element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VP8</a:t>
                      </a:r>
                    </a:p>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VP9</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.webm</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video/webm</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47724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 Formats and Codecs</a:t>
            </a:r>
            <a:br>
              <a:rPr lang="en-US" dirty="0"/>
            </a:br>
            <a:r>
              <a:rPr lang="en-US" dirty="0"/>
              <a:t>(continued 3)</a:t>
            </a:r>
          </a:p>
        </p:txBody>
      </p:sp>
      <p:graphicFrame>
        <p:nvGraphicFramePr>
          <p:cNvPr id="5" name="Table Placeholder 4"/>
          <p:cNvGraphicFramePr>
            <a:graphicFrameLocks noGrp="1"/>
          </p:cNvGraphicFramePr>
          <p:nvPr>
            <p:ph type="tbl" sz="quarter" idx="10"/>
            <p:extLst>
              <p:ext uri="{D42A27DB-BD31-4B8C-83A1-F6EECF244321}">
                <p14:modId xmlns:p14="http://schemas.microsoft.com/office/powerpoint/2010/main" val="868378634"/>
              </p:ext>
            </p:extLst>
          </p:nvPr>
        </p:nvGraphicFramePr>
        <p:xfrm>
          <a:off x="1892519" y="2096085"/>
          <a:ext cx="5358961" cy="2230120"/>
        </p:xfrm>
        <a:graphic>
          <a:graphicData uri="http://schemas.openxmlformats.org/drawingml/2006/table">
            <a:tbl>
              <a:tblPr firstRow="1"/>
              <a:tblGrid>
                <a:gridCol w="2719861">
                  <a:extLst>
                    <a:ext uri="{9D8B030D-6E8A-4147-A177-3AD203B41FA5}">
                      <a16:colId xmlns:a16="http://schemas.microsoft.com/office/drawing/2014/main" val="20000"/>
                    </a:ext>
                  </a:extLst>
                </a:gridCol>
                <a:gridCol w="1145656">
                  <a:extLst>
                    <a:ext uri="{9D8B030D-6E8A-4147-A177-3AD203B41FA5}">
                      <a16:colId xmlns:a16="http://schemas.microsoft.com/office/drawing/2014/main" val="20001"/>
                    </a:ext>
                  </a:extLst>
                </a:gridCol>
                <a:gridCol w="557166">
                  <a:extLst>
                    <a:ext uri="{9D8B030D-6E8A-4147-A177-3AD203B41FA5}">
                      <a16:colId xmlns:a16="http://schemas.microsoft.com/office/drawing/2014/main" val="20002"/>
                    </a:ext>
                  </a:extLst>
                </a:gridCol>
                <a:gridCol w="936278">
                  <a:extLst>
                    <a:ext uri="{9D8B030D-6E8A-4147-A177-3AD203B41FA5}">
                      <a16:colId xmlns:a16="http://schemas.microsoft.com/office/drawing/2014/main" val="20003"/>
                    </a:ext>
                  </a:extLst>
                </a:gridCol>
              </a:tblGrid>
              <a:tr h="284387">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Browser</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MPEG-4</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Ogg</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WebM</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Chrome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Firefox</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Microsoft Edge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Opera</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Safari</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342900" marR="0" lvl="0" indent="-342900" algn="ctr" fontAlgn="base">
                        <a:lnSpc>
                          <a:spcPct val="100000"/>
                        </a:lnSpc>
                        <a:spcBef>
                          <a:spcPts val="0"/>
                        </a:spcBef>
                        <a:spcAft>
                          <a:spcPts val="0"/>
                        </a:spcAft>
                        <a:buFont typeface="Wingdings" panose="05000000000000000000" pitchFamily="2" charset="2"/>
                        <a:buChar char=""/>
                      </a:pPr>
                      <a:r>
                        <a:rPr lang="en-US" sz="1600" u="none" strike="noStrike"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fontAlgn="auto">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fontAlgn="auto">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22998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HTML5 </a:t>
            </a:r>
            <a:r>
              <a:rPr lang="en-US" dirty="0">
                <a:latin typeface="Courier New" panose="02070309020205020404" pitchFamily="49" charset="0"/>
                <a:cs typeface="Courier New" panose="02070309020205020404" pitchFamily="49" charset="0"/>
              </a:rPr>
              <a:t>video</a:t>
            </a:r>
            <a:r>
              <a:rPr lang="en-US" dirty="0"/>
              <a:t> Element</a:t>
            </a:r>
          </a:p>
        </p:txBody>
      </p:sp>
      <p:sp>
        <p:nvSpPr>
          <p:cNvPr id="3" name="Text Placeholder 2"/>
          <p:cNvSpPr>
            <a:spLocks noGrp="1"/>
          </p:cNvSpPr>
          <p:nvPr>
            <p:ph type="body" sz="quarter" idx="17"/>
          </p:nvPr>
        </p:nvSpPr>
        <p:spPr/>
        <p:txBody>
          <a:bodyPr>
            <a:normAutofit lnSpcReduction="10000"/>
          </a:bodyPr>
          <a:lstStyle/>
          <a:p>
            <a:r>
              <a:rPr lang="en-IN" dirty="0"/>
              <a:t>Videos are embedded into a web page using </a:t>
            </a:r>
            <a:r>
              <a:rPr lang="en-IN" sz="2600" dirty="0">
                <a:latin typeface="Courier New" panose="02070309020205020404" pitchFamily="49" charset="0"/>
                <a:cs typeface="Courier New" panose="02070309020205020404" pitchFamily="49" charset="0"/>
              </a:rPr>
              <a:t>video</a:t>
            </a:r>
            <a:r>
              <a:rPr lang="en-IN" dirty="0"/>
              <a:t> element</a:t>
            </a:r>
          </a:p>
          <a:p>
            <a:pPr marL="457200" lvl="1" indent="0">
              <a:buNone/>
            </a:pPr>
            <a:r>
              <a:rPr lang="en-IN" sz="2600" dirty="0">
                <a:latin typeface="Courier New" panose="02070309020205020404" pitchFamily="49" charset="0"/>
                <a:cs typeface="Courier New" panose="02070309020205020404" pitchFamily="49" charset="0"/>
              </a:rPr>
              <a:t>&lt;video </a:t>
            </a:r>
            <a:r>
              <a:rPr lang="en-IN" sz="2600" i="1" dirty="0">
                <a:latin typeface="Courier New" panose="02070309020205020404" pitchFamily="49" charset="0"/>
                <a:cs typeface="Courier New" panose="02070309020205020404" pitchFamily="49" charset="0"/>
              </a:rPr>
              <a:t>attributes</a:t>
            </a:r>
            <a:r>
              <a:rPr lang="en-IN" sz="2600" dirty="0">
                <a:latin typeface="Courier New" panose="02070309020205020404" pitchFamily="49" charset="0"/>
                <a:cs typeface="Courier New" panose="02070309020205020404" pitchFamily="49" charset="0"/>
              </a:rPr>
              <a:t>&gt;</a:t>
            </a:r>
          </a:p>
          <a:p>
            <a:pPr marL="457200" lvl="1" indent="0">
              <a:buNone/>
            </a:pPr>
            <a:r>
              <a:rPr lang="en-IN" sz="2600" dirty="0">
                <a:latin typeface="Courier New" panose="02070309020205020404" pitchFamily="49" charset="0"/>
                <a:cs typeface="Courier New" panose="02070309020205020404" pitchFamily="49" charset="0"/>
              </a:rPr>
              <a:t>&lt;source src=“</a:t>
            </a:r>
            <a:r>
              <a:rPr lang="en-IN" sz="2600" i="1" dirty="0">
                <a:latin typeface="Courier New" panose="02070309020205020404" pitchFamily="49" charset="0"/>
                <a:cs typeface="Courier New" panose="02070309020205020404" pitchFamily="49" charset="0"/>
              </a:rPr>
              <a:t>url1</a:t>
            </a:r>
            <a:r>
              <a:rPr lang="en-IN" sz="2600" dirty="0">
                <a:latin typeface="Courier New" panose="02070309020205020404" pitchFamily="49" charset="0"/>
                <a:cs typeface="Courier New" panose="02070309020205020404" pitchFamily="49" charset="0"/>
              </a:rPr>
              <a:t>” type=“</a:t>
            </a:r>
            <a:r>
              <a:rPr lang="en-IN" sz="2600" i="1" dirty="0">
                <a:latin typeface="Courier New" panose="02070309020205020404" pitchFamily="49" charset="0"/>
                <a:cs typeface="Courier New" panose="02070309020205020404" pitchFamily="49" charset="0"/>
              </a:rPr>
              <a:t>mime-type</a:t>
            </a:r>
            <a:r>
              <a:rPr lang="en-IN" sz="2600" dirty="0">
                <a:latin typeface="Courier New" panose="02070309020205020404" pitchFamily="49" charset="0"/>
                <a:cs typeface="Courier New" panose="02070309020205020404" pitchFamily="49" charset="0"/>
              </a:rPr>
              <a:t>” /&gt;</a:t>
            </a:r>
          </a:p>
          <a:p>
            <a:pPr marL="457200" lvl="1" indent="0">
              <a:buNone/>
            </a:pPr>
            <a:r>
              <a:rPr lang="en-IN" sz="2600" dirty="0">
                <a:latin typeface="Courier New" panose="02070309020205020404" pitchFamily="49" charset="0"/>
                <a:cs typeface="Courier New" panose="02070309020205020404" pitchFamily="49" charset="0"/>
              </a:rPr>
              <a:t>&lt;source src=“</a:t>
            </a:r>
            <a:r>
              <a:rPr lang="en-IN" sz="2600" i="1" dirty="0">
                <a:latin typeface="Courier New" panose="02070309020205020404" pitchFamily="49" charset="0"/>
                <a:cs typeface="Courier New" panose="02070309020205020404" pitchFamily="49" charset="0"/>
              </a:rPr>
              <a:t>url2</a:t>
            </a:r>
            <a:r>
              <a:rPr lang="en-IN" sz="2600" dirty="0">
                <a:latin typeface="Courier New" panose="02070309020205020404" pitchFamily="49" charset="0"/>
                <a:cs typeface="Courier New" panose="02070309020205020404" pitchFamily="49" charset="0"/>
              </a:rPr>
              <a:t>” type=“</a:t>
            </a:r>
            <a:r>
              <a:rPr lang="en-IN" sz="2600" i="1" dirty="0">
                <a:latin typeface="Courier New" panose="02070309020205020404" pitchFamily="49" charset="0"/>
                <a:cs typeface="Courier New" panose="02070309020205020404" pitchFamily="49" charset="0"/>
              </a:rPr>
              <a:t>mime-type</a:t>
            </a:r>
            <a:r>
              <a:rPr lang="en-IN" sz="2600" dirty="0">
                <a:latin typeface="Courier New" panose="02070309020205020404" pitchFamily="49" charset="0"/>
                <a:cs typeface="Courier New" panose="02070309020205020404" pitchFamily="49" charset="0"/>
              </a:rPr>
              <a:t>” /&gt;</a:t>
            </a:r>
          </a:p>
          <a:p>
            <a:pPr marL="457200" lvl="1" indent="0">
              <a:buNone/>
            </a:pPr>
            <a:r>
              <a:rPr lang="en-IN" sz="2600" dirty="0">
                <a:latin typeface="Courier New" panose="02070309020205020404" pitchFamily="49" charset="0"/>
                <a:cs typeface="Courier New" panose="02070309020205020404" pitchFamily="49" charset="0"/>
              </a:rPr>
              <a:t>… &lt;/video&gt;</a:t>
            </a:r>
          </a:p>
          <a:p>
            <a:pPr marL="357188" indent="0">
              <a:buNone/>
            </a:pPr>
            <a:r>
              <a:rPr lang="en-IN" sz="2800" dirty="0">
                <a:latin typeface="Arial" panose="020B0604020202020204" pitchFamily="34" charset="0"/>
                <a:cs typeface="Arial" panose="020B0604020202020204" pitchFamily="34" charset="0"/>
              </a:rPr>
              <a:t>where </a:t>
            </a:r>
            <a:r>
              <a:rPr lang="en-IN" sz="2600" i="1" dirty="0">
                <a:latin typeface="Courier New" panose="02070309020205020404" pitchFamily="49" charset="0"/>
                <a:cs typeface="Courier New" panose="02070309020205020404" pitchFamily="49" charset="0"/>
              </a:rPr>
              <a:t>attributes</a:t>
            </a:r>
            <a:r>
              <a:rPr lang="en-IN" sz="2800" dirty="0">
                <a:latin typeface="Arial" panose="020B0604020202020204" pitchFamily="34" charset="0"/>
                <a:cs typeface="Arial" panose="020B0604020202020204" pitchFamily="34" charset="0"/>
              </a:rPr>
              <a:t> are HTML attributes that control the behaviour and appearance of the video playback, </a:t>
            </a:r>
            <a:r>
              <a:rPr lang="en-IN" sz="2600" i="1" dirty="0">
                <a:latin typeface="Courier New" panose="02070309020205020404" pitchFamily="49" charset="0"/>
                <a:cs typeface="Courier New" panose="02070309020205020404" pitchFamily="49" charset="0"/>
              </a:rPr>
              <a:t>url1</a:t>
            </a:r>
            <a:r>
              <a:rPr lang="en-IN" sz="2800" dirty="0">
                <a:latin typeface="Arial" panose="020B0604020202020204" pitchFamily="34" charset="0"/>
                <a:cs typeface="Arial" panose="020B0604020202020204" pitchFamily="34" charset="0"/>
              </a:rPr>
              <a:t>, </a:t>
            </a:r>
            <a:r>
              <a:rPr lang="en-IN" sz="2600" i="1" dirty="0">
                <a:latin typeface="Courier New" panose="02070309020205020404" pitchFamily="49" charset="0"/>
                <a:cs typeface="Courier New" panose="02070309020205020404" pitchFamily="49" charset="0"/>
              </a:rPr>
              <a:t>url2</a:t>
            </a:r>
            <a:r>
              <a:rPr lang="en-IN" sz="2800" dirty="0">
                <a:latin typeface="Arial" panose="020B0604020202020204" pitchFamily="34" charset="0"/>
                <a:cs typeface="Arial" panose="020B0604020202020204" pitchFamily="34" charset="0"/>
              </a:rPr>
              <a:t>,… are the possible sources of the video, and </a:t>
            </a:r>
            <a:r>
              <a:rPr lang="en-US" sz="2600" dirty="0">
                <a:latin typeface="Courier New" panose="02070309020205020404" pitchFamily="49" charset="0"/>
                <a:cs typeface="Courier New" panose="02070309020205020404" pitchFamily="49" charset="0"/>
              </a:rPr>
              <a:t>mime-type</a:t>
            </a:r>
            <a:r>
              <a:rPr lang="en-US" sz="2800" dirty="0">
                <a:latin typeface="Arial" panose="020B0604020202020204" pitchFamily="34" charset="0"/>
                <a:cs typeface="Arial" panose="020B0604020202020204" pitchFamily="34" charset="0"/>
              </a:rPr>
              <a:t> specifies the format associated with each video file</a:t>
            </a:r>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1923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HTML5 </a:t>
            </a:r>
            <a:r>
              <a:rPr lang="en-US" dirty="0">
                <a:latin typeface="Courier New" panose="02070309020205020404" pitchFamily="49" charset="0"/>
                <a:cs typeface="Courier New" panose="02070309020205020404" pitchFamily="49" charset="0"/>
              </a:rPr>
              <a:t>video</a:t>
            </a:r>
            <a:r>
              <a:rPr lang="en-US" dirty="0"/>
              <a:t> Element (continued 1)</a:t>
            </a:r>
          </a:p>
        </p:txBody>
      </p:sp>
      <p:pic>
        <p:nvPicPr>
          <p:cNvPr id="7" name="Content Placeholder 1" descr="This figure explains how to add a video clip to a web page.&#10;&#10;The figure consists of three rectangular boxes and a few lines of code.&#10;&#10;The first line of the code reads “&lt;aside&gt;”. The second line of the code reads “&lt;h1&gt;In Focus&lt;/h1&gt;”. &#10;The third line to the tenth line of the code reads “&lt;p&gt;The high point of &lt;cite&gt;Royal Wedding&lt;/cite&gt; is the &lt;cite&gt;Ceiling Dance&lt;/cite&gt; in which Astaire appears to dance on the ceiling and walls of his hotel room. The effect was accomplished by putting the whole set inside of a rotating cage with fixed camera mount. As the cage turned, Astaire would seamlessly dance across the four sides of the box, creating the illusion of weightlessness.&lt;/p&gt;. The eleventh line of the code reads “&lt;p&gt;Click the play button to view this classic dance sequence.&lt;/p&gt;”. The twelfth line of the code reads “&lt;video controls&gt;”. The thirteenth line of the code reads “&lt;source src=“cp_dance.mp4” type=“video/mp4” /&gt;”. The fourteenth line of the code reads “&lt;source src=“cp_dance.webm” type=“video/webm” /&gt;”. The fifteenth line of the code reads “&lt;p&gt;&lt;em&gt;To play this video clip, your browser needs to support HTML5.&lt;/em&gt;&lt;/p&gt;”. The sixteenth line of the code reads “&lt;/video&gt;”. The seventeenth line of the code reads “&lt;/aside&gt;”. &#10;&#10;The first rectangular box labeled “displays the browser’s native media player” is positioned on the left side of the code. An arrow originating from this rectangular box points to the twelfth line of the code.&#10;&#10;The second rectangular box labeled “sources for the video clip” is positioned below the first rectangular box. An arrow originating from the second rectangular box points to the thirteenth and fourteenth lines of code collectively.&#10;&#10;The third rectangular box labeled “fallback text for browsers that don’t support HTML5 video” is positioned below the code. An arrow originating from this rectangular box points to the fifteenth line of the code.&#10;" title="Figure 8-14 Adding a video clip to a web page"/>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bwMode="auto">
          <a:xfrm>
            <a:off x="492097" y="1902542"/>
            <a:ext cx="8159806" cy="4136726"/>
          </a:xfrm>
          <a:prstGeom prst="rect">
            <a:avLst/>
          </a:prstGeom>
          <a:noFill/>
          <a:ln w="9525">
            <a:noFill/>
            <a:miter lim="800000"/>
            <a:headEnd/>
            <a:tailEnd/>
          </a:ln>
        </p:spPr>
      </p:pic>
    </p:spTree>
    <p:extLst>
      <p:ext uri="{BB962C8B-B14F-4D97-AF65-F5344CB8AC3E}">
        <p14:creationId xmlns:p14="http://schemas.microsoft.com/office/powerpoint/2010/main" val="7099009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HTML5 </a:t>
            </a:r>
            <a:r>
              <a:rPr lang="en-US" dirty="0">
                <a:latin typeface="Courier New" panose="02070309020205020404" pitchFamily="49" charset="0"/>
                <a:cs typeface="Courier New" panose="02070309020205020404" pitchFamily="49" charset="0"/>
              </a:rPr>
              <a:t>video</a:t>
            </a:r>
            <a:r>
              <a:rPr lang="en-US" dirty="0"/>
              <a:t> Element (continued 2)</a:t>
            </a:r>
          </a:p>
        </p:txBody>
      </p:sp>
      <p:pic>
        <p:nvPicPr>
          <p:cNvPr id="5" name="Content Placeholder 3" descr="This figure explains how to define the video player styles.&#10;&#10;The figure consists of a rectangular box and a few lines of code.&#10;&#10;The first line of the code reads “audio, video {”. The second line of the code reads “box-shadow: rgb(51, 51, 51) 8px 8px 15px;”. The third line of the code reads “display: block;”. The fourth line of the code reads “margin: 10px auto;”. The fifth line of the code reads “width: 90%;”. The sixth line of the code reads “}”. &#10;&#10;A rectangular box labeled “add video to the style rule selector” is positioned above the code. An arrow originating from this rectangular box points to “video” in the first line of the code.&#10;" title="Figure 8-15 Defining the video player style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28650" y="2068762"/>
            <a:ext cx="7894389" cy="2992092"/>
          </a:xfrm>
          <a:prstGeom prst="rect">
            <a:avLst/>
          </a:prstGeom>
        </p:spPr>
      </p:pic>
    </p:spTree>
    <p:extLst>
      <p:ext uri="{BB962C8B-B14F-4D97-AF65-F5344CB8AC3E}">
        <p14:creationId xmlns:p14="http://schemas.microsoft.com/office/powerpoint/2010/main" val="10929933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HTML5 </a:t>
            </a:r>
            <a:r>
              <a:rPr lang="en-US" dirty="0">
                <a:latin typeface="Courier New" panose="02070309020205020404" pitchFamily="49" charset="0"/>
                <a:cs typeface="Courier New" panose="02070309020205020404" pitchFamily="49" charset="0"/>
              </a:rPr>
              <a:t>video</a:t>
            </a:r>
            <a:r>
              <a:rPr lang="en-US" dirty="0"/>
              <a:t> Element (continued 4)</a:t>
            </a:r>
          </a:p>
        </p:txBody>
      </p:sp>
      <p:sp>
        <p:nvSpPr>
          <p:cNvPr id="3" name="Text Placeholder 2"/>
          <p:cNvSpPr>
            <a:spLocks noGrp="1"/>
          </p:cNvSpPr>
          <p:nvPr>
            <p:ph type="body" sz="quarter" idx="17"/>
          </p:nvPr>
        </p:nvSpPr>
        <p:spPr/>
        <p:txBody>
          <a:bodyPr>
            <a:normAutofit fontScale="92500" lnSpcReduction="10000"/>
          </a:bodyPr>
          <a:lstStyle/>
          <a:p>
            <a:r>
              <a:rPr lang="en-IN" sz="3500" dirty="0"/>
              <a:t>The </a:t>
            </a:r>
            <a:r>
              <a:rPr lang="en-IN" sz="2800" dirty="0">
                <a:latin typeface="Courier New" panose="02070309020205020404" pitchFamily="49" charset="0"/>
                <a:cs typeface="Courier New" panose="02070309020205020404" pitchFamily="49" charset="0"/>
              </a:rPr>
              <a:t>poster</a:t>
            </a:r>
            <a:r>
              <a:rPr lang="en-IN" sz="3500" dirty="0">
                <a:latin typeface="Arial" panose="020B0604020202020204" pitchFamily="34" charset="0"/>
                <a:cs typeface="Arial" panose="020B0604020202020204" pitchFamily="34" charset="0"/>
              </a:rPr>
              <a:t> </a:t>
            </a:r>
            <a:r>
              <a:rPr lang="en-IN" sz="3500" dirty="0"/>
              <a:t>attribute defines a video’s preview image</a:t>
            </a:r>
          </a:p>
          <a:p>
            <a:pPr marL="457200" indent="0">
              <a:buNone/>
            </a:pPr>
            <a:r>
              <a:rPr lang="en-IN" sz="2800" dirty="0">
                <a:latin typeface="Courier New" panose="02070309020205020404" pitchFamily="49" charset="0"/>
                <a:cs typeface="Courier New" panose="02070309020205020404" pitchFamily="49" charset="0"/>
              </a:rPr>
              <a:t>&lt;video poster=”url”&gt;</a:t>
            </a:r>
          </a:p>
          <a:p>
            <a:pPr marL="457200" indent="0">
              <a:buNone/>
            </a:pPr>
            <a:r>
              <a:rPr lang="en-IN" sz="2800" dirty="0">
                <a:latin typeface="Courier New" panose="02070309020205020404" pitchFamily="49" charset="0"/>
                <a:cs typeface="Courier New" panose="02070309020205020404" pitchFamily="49" charset="0"/>
              </a:rPr>
              <a:t>…</a:t>
            </a:r>
          </a:p>
          <a:p>
            <a:pPr marL="457200" indent="0">
              <a:buNone/>
            </a:pPr>
            <a:r>
              <a:rPr lang="en-IN" sz="2800" dirty="0">
                <a:latin typeface="Courier New" panose="02070309020205020404" pitchFamily="49" charset="0"/>
                <a:cs typeface="Courier New" panose="02070309020205020404" pitchFamily="49" charset="0"/>
              </a:rPr>
              <a:t>&lt;/video&gt;</a:t>
            </a:r>
          </a:p>
          <a:p>
            <a:pPr marL="457200" indent="0">
              <a:buNone/>
            </a:pPr>
            <a:r>
              <a:rPr lang="en-IN" sz="3000" dirty="0"/>
              <a:t>where </a:t>
            </a:r>
            <a:r>
              <a:rPr lang="en-IN" sz="2800" dirty="0">
                <a:latin typeface="Courier New" panose="02070309020205020404" pitchFamily="49" charset="0"/>
                <a:cs typeface="Courier New" panose="02070309020205020404" pitchFamily="49" charset="0"/>
              </a:rPr>
              <a:t>url</a:t>
            </a:r>
            <a:r>
              <a:rPr lang="en-IN" sz="3000" dirty="0"/>
              <a:t> points to an image file containing the preview image</a:t>
            </a:r>
          </a:p>
          <a:p>
            <a:r>
              <a:rPr lang="en-IN" sz="3500" dirty="0"/>
              <a:t>The </a:t>
            </a:r>
            <a:r>
              <a:rPr lang="en-IN" sz="2800" dirty="0">
                <a:latin typeface="Courier New" panose="02070309020205020404" pitchFamily="49" charset="0"/>
                <a:cs typeface="Courier New" panose="02070309020205020404" pitchFamily="49" charset="0"/>
              </a:rPr>
              <a:t>poster</a:t>
            </a:r>
            <a:r>
              <a:rPr lang="en-IN" sz="3500" dirty="0"/>
              <a:t> attribute is used as a placeholder image that is displayed when a video is being downloaded</a:t>
            </a:r>
          </a:p>
        </p:txBody>
      </p:sp>
    </p:spTree>
    <p:extLst>
      <p:ext uri="{BB962C8B-B14F-4D97-AF65-F5344CB8AC3E}">
        <p14:creationId xmlns:p14="http://schemas.microsoft.com/office/powerpoint/2010/main" val="12908975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a Text Track to Video</a:t>
            </a:r>
          </a:p>
        </p:txBody>
      </p:sp>
      <p:sp>
        <p:nvSpPr>
          <p:cNvPr id="3" name="Text Placeholder 2"/>
          <p:cNvSpPr>
            <a:spLocks noGrp="1"/>
          </p:cNvSpPr>
          <p:nvPr>
            <p:ph type="body" sz="quarter" idx="17"/>
          </p:nvPr>
        </p:nvSpPr>
        <p:spPr/>
        <p:txBody>
          <a:bodyPr/>
          <a:lstStyle/>
          <a:p>
            <a:r>
              <a:rPr lang="en-IN" dirty="0"/>
              <a:t>A text track that needs to be read or recited to visually impaired users can be added to a media clip</a:t>
            </a:r>
          </a:p>
          <a:p>
            <a:r>
              <a:rPr lang="en-IN" dirty="0"/>
              <a:t>Allows audio and video content to be accessible to all users</a:t>
            </a:r>
          </a:p>
          <a:p>
            <a:r>
              <a:rPr lang="en-IN" dirty="0"/>
              <a:t>Text tracks are added to an audio or video clip using </a:t>
            </a:r>
            <a:r>
              <a:rPr lang="en-IN" sz="2600" dirty="0">
                <a:latin typeface="Courier New" panose="02070309020205020404" pitchFamily="49" charset="0"/>
                <a:cs typeface="Courier New" panose="02070309020205020404" pitchFamily="49" charset="0"/>
              </a:rPr>
              <a:t>track</a:t>
            </a:r>
            <a:r>
              <a:rPr lang="en-IN" dirty="0"/>
              <a:t> element</a:t>
            </a:r>
            <a:endParaRPr lang="en-US" dirty="0"/>
          </a:p>
        </p:txBody>
      </p:sp>
    </p:spTree>
    <p:extLst>
      <p:ext uri="{BB962C8B-B14F-4D97-AF65-F5344CB8AC3E}">
        <p14:creationId xmlns:p14="http://schemas.microsoft.com/office/powerpoint/2010/main" val="31125340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a Text Track to Video (continued 1)</a:t>
            </a:r>
          </a:p>
        </p:txBody>
      </p:sp>
      <p:sp>
        <p:nvSpPr>
          <p:cNvPr id="4" name="Text Placeholder 3"/>
          <p:cNvSpPr>
            <a:spLocks noGrp="1"/>
          </p:cNvSpPr>
          <p:nvPr>
            <p:ph type="body" sz="quarter" idx="17"/>
          </p:nvPr>
        </p:nvSpPr>
        <p:spPr/>
        <p:txBody>
          <a:bodyPr>
            <a:normAutofit/>
          </a:bodyPr>
          <a:lstStyle/>
          <a:p>
            <a:pPr marL="463550" indent="0">
              <a:buNone/>
            </a:pPr>
            <a:r>
              <a:rPr lang="en-IN" sz="2600" dirty="0">
                <a:latin typeface="Courier New" panose="02070309020205020404" pitchFamily="49" charset="0"/>
                <a:cs typeface="Courier New" panose="02070309020205020404" pitchFamily="49" charset="0"/>
              </a:rPr>
              <a:t>&lt;track kind=“type” src=“url” label=“text” srclang=“lang” /&gt;</a:t>
            </a:r>
          </a:p>
          <a:p>
            <a:pPr marL="463550" indent="0">
              <a:buNone/>
            </a:pPr>
            <a:r>
              <a:rPr lang="en-IN" sz="2800" dirty="0"/>
              <a:t>where,</a:t>
            </a:r>
          </a:p>
          <a:p>
            <a:pPr lvl="2"/>
            <a:r>
              <a:rPr lang="en-IN" dirty="0"/>
              <a:t>the </a:t>
            </a:r>
            <a:r>
              <a:rPr lang="en-IN" sz="2600" dirty="0">
                <a:latin typeface="Courier New" panose="02070309020205020404" pitchFamily="49" charset="0"/>
                <a:cs typeface="Courier New" panose="02070309020205020404" pitchFamily="49" charset="0"/>
              </a:rPr>
              <a:t>kind</a:t>
            </a:r>
            <a:r>
              <a:rPr lang="en-IN" dirty="0"/>
              <a:t> attribute defines the track type</a:t>
            </a:r>
          </a:p>
          <a:p>
            <a:pPr lvl="2"/>
            <a:r>
              <a:rPr lang="en-IN" dirty="0"/>
              <a:t>the </a:t>
            </a:r>
            <a:r>
              <a:rPr lang="en-IN" sz="2600" dirty="0">
                <a:latin typeface="Courier New" panose="02070309020205020404" pitchFamily="49" charset="0"/>
                <a:cs typeface="Courier New" panose="02070309020205020404" pitchFamily="49" charset="0"/>
              </a:rPr>
              <a:t>src</a:t>
            </a:r>
            <a:r>
              <a:rPr lang="en-IN" dirty="0"/>
              <a:t> attribute references a file containing the track text</a:t>
            </a:r>
          </a:p>
          <a:p>
            <a:pPr lvl="2"/>
            <a:r>
              <a:rPr lang="en-IN" dirty="0"/>
              <a:t>the </a:t>
            </a:r>
            <a:r>
              <a:rPr lang="en-IN" sz="2600" dirty="0">
                <a:latin typeface="Courier New" panose="02070309020205020404" pitchFamily="49" charset="0"/>
                <a:cs typeface="Courier New" panose="02070309020205020404" pitchFamily="49" charset="0"/>
              </a:rPr>
              <a:t>label</a:t>
            </a:r>
            <a:r>
              <a:rPr lang="en-IN" dirty="0"/>
              <a:t> attribute gives the track name</a:t>
            </a:r>
          </a:p>
          <a:p>
            <a:pPr lvl="2"/>
            <a:r>
              <a:rPr lang="en-IN" dirty="0"/>
              <a:t>the </a:t>
            </a:r>
            <a:r>
              <a:rPr lang="en-IN" sz="2600" dirty="0">
                <a:latin typeface="Courier New" panose="02070309020205020404" pitchFamily="49" charset="0"/>
                <a:cs typeface="Courier New" panose="02070309020205020404" pitchFamily="49" charset="0"/>
              </a:rPr>
              <a:t>srclang</a:t>
            </a:r>
            <a:r>
              <a:rPr lang="en-IN" dirty="0"/>
              <a:t> attribute indicates the language of the track</a:t>
            </a:r>
          </a:p>
        </p:txBody>
      </p:sp>
    </p:spTree>
    <p:extLst>
      <p:ext uri="{BB962C8B-B14F-4D97-AF65-F5344CB8AC3E}">
        <p14:creationId xmlns:p14="http://schemas.microsoft.com/office/powerpoint/2010/main" val="4901192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a Text Track to Video (continued 2)</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3372073532"/>
              </p:ext>
            </p:extLst>
          </p:nvPr>
        </p:nvGraphicFramePr>
        <p:xfrm>
          <a:off x="768008" y="2088196"/>
          <a:ext cx="7607984" cy="3449320"/>
        </p:xfrm>
        <a:graphic>
          <a:graphicData uri="http://schemas.openxmlformats.org/drawingml/2006/table">
            <a:tbl>
              <a:tblPr firstRow="1"/>
              <a:tblGrid>
                <a:gridCol w="1651635">
                  <a:extLst>
                    <a:ext uri="{9D8B030D-6E8A-4147-A177-3AD203B41FA5}">
                      <a16:colId xmlns:a16="http://schemas.microsoft.com/office/drawing/2014/main" val="20000"/>
                    </a:ext>
                  </a:extLst>
                </a:gridCol>
                <a:gridCol w="5956349">
                  <a:extLst>
                    <a:ext uri="{9D8B030D-6E8A-4147-A177-3AD203B41FA5}">
                      <a16:colId xmlns:a16="http://schemas.microsoft.com/office/drawing/2014/main" val="20001"/>
                    </a:ext>
                  </a:extLst>
                </a:gridCol>
              </a:tblGrid>
              <a:tr h="0">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Kind Value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captions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Brief text descriptions synced to specified time points within the media clip; designed for hearing impaired users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chapters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Chapter titles used by the media player to navigate the user to specific time points within the media clip</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descriptions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Longer descriptions synced to specified time points within the media clip; designed for visually impaired users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subtitles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default) Translation of dialog from the media clip; the language of the subtitle must be specified in the srclang attribute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metadata</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Metadata content used by external scripts accessing the media file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916514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Making Tracks with WebVTT</a:t>
            </a:r>
          </a:p>
        </p:txBody>
      </p:sp>
      <p:sp>
        <p:nvSpPr>
          <p:cNvPr id="3" name="Text Placeholder 2"/>
          <p:cNvSpPr>
            <a:spLocks noGrp="1"/>
          </p:cNvSpPr>
          <p:nvPr>
            <p:ph type="body" sz="quarter" idx="17"/>
          </p:nvPr>
        </p:nvSpPr>
        <p:spPr/>
        <p:txBody>
          <a:bodyPr>
            <a:normAutofit/>
          </a:bodyPr>
          <a:lstStyle/>
          <a:p>
            <a:r>
              <a:rPr lang="en-IN" dirty="0"/>
              <a:t>Tracks are stored as simple text files written in </a:t>
            </a:r>
            <a:r>
              <a:rPr lang="en-IN" b="1" dirty="0"/>
              <a:t>Web Video Text Tracks </a:t>
            </a:r>
            <a:r>
              <a:rPr lang="en-IN" dirty="0"/>
              <a:t>or </a:t>
            </a:r>
            <a:r>
              <a:rPr lang="en-IN" b="1" dirty="0"/>
              <a:t>WebVTT </a:t>
            </a:r>
            <a:r>
              <a:rPr lang="en-IN" dirty="0"/>
              <a:t>language</a:t>
            </a:r>
          </a:p>
          <a:p>
            <a:r>
              <a:rPr lang="en-IN" dirty="0"/>
              <a:t>Format of a WebVTT file</a:t>
            </a:r>
          </a:p>
          <a:p>
            <a:pPr marL="463550" lvl="1" indent="0">
              <a:buNone/>
            </a:pPr>
            <a:r>
              <a:rPr lang="en-IN" sz="2600" dirty="0">
                <a:latin typeface="Courier New" panose="02070309020205020404" pitchFamily="49" charset="0"/>
                <a:cs typeface="Courier New" panose="02070309020205020404" pitchFamily="49" charset="0"/>
              </a:rPr>
              <a:t>WEBVTT</a:t>
            </a:r>
          </a:p>
          <a:p>
            <a:pPr marL="463550" lvl="1" indent="0">
              <a:buNone/>
            </a:pPr>
            <a:r>
              <a:rPr lang="en-IN" sz="2600" i="1" dirty="0">
                <a:latin typeface="Courier New" panose="02070309020205020404" pitchFamily="49" charset="0"/>
                <a:cs typeface="Courier New" panose="02070309020205020404" pitchFamily="49" charset="0"/>
              </a:rPr>
              <a:t>cue1</a:t>
            </a:r>
          </a:p>
          <a:p>
            <a:pPr marL="463550" lvl="1" indent="0">
              <a:buNone/>
            </a:pPr>
            <a:r>
              <a:rPr lang="en-IN" sz="2600" i="1" dirty="0">
                <a:latin typeface="Courier New" panose="02070309020205020404" pitchFamily="49" charset="0"/>
                <a:cs typeface="Courier New" panose="02070309020205020404" pitchFamily="49" charset="0"/>
              </a:rPr>
              <a:t>cue2</a:t>
            </a:r>
          </a:p>
          <a:p>
            <a:pPr marL="463550" lvl="1" indent="0">
              <a:buNone/>
            </a:pPr>
            <a:r>
              <a:rPr lang="en-IN" sz="2600" dirty="0">
                <a:latin typeface="Courier New" panose="02070309020205020404" pitchFamily="49" charset="0"/>
                <a:cs typeface="Courier New" panose="02070309020205020404" pitchFamily="49" charset="0"/>
              </a:rPr>
              <a:t>…</a:t>
            </a:r>
          </a:p>
          <a:p>
            <a:pPr marL="463550" lvl="1" indent="0">
              <a:buNone/>
            </a:pPr>
            <a:r>
              <a:rPr lang="en-IN" dirty="0">
                <a:latin typeface="Arial" panose="020B0604020202020204" pitchFamily="34" charset="0"/>
                <a:cs typeface="Arial" panose="020B0604020202020204" pitchFamily="34" charset="0"/>
              </a:rPr>
              <a:t>where </a:t>
            </a:r>
            <a:r>
              <a:rPr lang="en-IN" sz="2600" i="1" dirty="0">
                <a:latin typeface="Courier New" panose="02070309020205020404" pitchFamily="49" charset="0"/>
                <a:cs typeface="Courier New" panose="02070309020205020404" pitchFamily="49" charset="0"/>
              </a:rPr>
              <a:t>cue1</a:t>
            </a:r>
            <a:r>
              <a:rPr lang="en-IN" dirty="0">
                <a:latin typeface="Arial" panose="020B0604020202020204" pitchFamily="34" charset="0"/>
                <a:cs typeface="Arial" panose="020B0604020202020204" pitchFamily="34" charset="0"/>
              </a:rPr>
              <a:t>, </a:t>
            </a:r>
            <a:r>
              <a:rPr lang="en-IN" sz="2600" i="1" dirty="0">
                <a:latin typeface="Courier New" panose="02070309020205020404" pitchFamily="49" charset="0"/>
                <a:cs typeface="Courier New" panose="02070309020205020404" pitchFamily="49" charset="0"/>
              </a:rPr>
              <a:t>cue2</a:t>
            </a:r>
            <a:r>
              <a:rPr lang="en-IN" dirty="0">
                <a:latin typeface="Arial" panose="020B0604020202020204" pitchFamily="34" charset="0"/>
                <a:cs typeface="Arial" panose="020B0604020202020204" pitchFamily="34" charset="0"/>
              </a:rPr>
              <a:t>,</a:t>
            </a:r>
            <a:r>
              <a:rPr lang="en-IN" sz="2600" dirty="0">
                <a:latin typeface="Courier New" panose="02070309020205020404" pitchFamily="49" charset="0"/>
                <a:cs typeface="Courier New" panose="02070309020205020404" pitchFamily="49" charset="0"/>
              </a:rPr>
              <a:t>…</a:t>
            </a:r>
            <a:r>
              <a:rPr lang="en-IN" dirty="0">
                <a:latin typeface="Arial" panose="020B0604020202020204" pitchFamily="34" charset="0"/>
                <a:cs typeface="Arial" panose="020B0604020202020204" pitchFamily="34" charset="0"/>
              </a:rPr>
              <a:t> are cues matched with specific time intervals within a media clip</a:t>
            </a:r>
          </a:p>
        </p:txBody>
      </p:sp>
    </p:spTree>
    <p:extLst>
      <p:ext uri="{BB962C8B-B14F-4D97-AF65-F5344CB8AC3E}">
        <p14:creationId xmlns:p14="http://schemas.microsoft.com/office/powerpoint/2010/main" val="5635033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Making Tracks with WebVTT (continued 1)</a:t>
            </a:r>
          </a:p>
        </p:txBody>
      </p:sp>
      <p:sp>
        <p:nvSpPr>
          <p:cNvPr id="6" name="Text Placeholder 5"/>
          <p:cNvSpPr>
            <a:spLocks noGrp="1"/>
          </p:cNvSpPr>
          <p:nvPr>
            <p:ph type="body" sz="quarter" idx="17"/>
          </p:nvPr>
        </p:nvSpPr>
        <p:spPr/>
        <p:txBody>
          <a:bodyPr>
            <a:normAutofit lnSpcReduction="10000"/>
          </a:bodyPr>
          <a:lstStyle/>
          <a:p>
            <a:r>
              <a:rPr lang="en-IN" dirty="0"/>
              <a:t>List of cues is separated by a single blank line after a cue text</a:t>
            </a:r>
          </a:p>
          <a:p>
            <a:r>
              <a:rPr lang="en-IN" dirty="0"/>
              <a:t>White space is not ignored in WebVTT files</a:t>
            </a:r>
          </a:p>
          <a:p>
            <a:r>
              <a:rPr lang="en-IN" dirty="0"/>
              <a:t>General form of a cue</a:t>
            </a:r>
          </a:p>
          <a:p>
            <a:pPr marL="463550" lvl="1" indent="0">
              <a:buNone/>
            </a:pPr>
            <a:r>
              <a:rPr lang="en-IN" sz="2600" i="1" dirty="0">
                <a:latin typeface="Courier New" panose="02070309020205020404" pitchFamily="49" charset="0"/>
                <a:cs typeface="Courier New" panose="02070309020205020404" pitchFamily="49" charset="0"/>
              </a:rPr>
              <a:t>label</a:t>
            </a:r>
          </a:p>
          <a:p>
            <a:pPr marL="463550" lvl="1" indent="0">
              <a:buNone/>
            </a:pPr>
            <a:r>
              <a:rPr lang="en-IN" sz="2600" i="1" dirty="0">
                <a:latin typeface="Courier New" panose="02070309020205020404" pitchFamily="49" charset="0"/>
                <a:cs typeface="Courier New" panose="02070309020205020404" pitchFamily="49" charset="0"/>
              </a:rPr>
              <a:t>start --&gt; stop</a:t>
            </a:r>
          </a:p>
          <a:p>
            <a:pPr marL="463550" lvl="1" indent="0">
              <a:buNone/>
            </a:pPr>
            <a:r>
              <a:rPr lang="en-IN" sz="2600" i="1" dirty="0">
                <a:latin typeface="Courier New" panose="02070309020205020404" pitchFamily="49" charset="0"/>
                <a:cs typeface="Courier New" panose="02070309020205020404" pitchFamily="49" charset="0"/>
              </a:rPr>
              <a:t>cue text</a:t>
            </a:r>
          </a:p>
          <a:p>
            <a:pPr marL="463550" indent="0">
              <a:buNone/>
            </a:pPr>
            <a:r>
              <a:rPr lang="en-US" sz="2800" dirty="0">
                <a:latin typeface="Arial" panose="020B0604020202020204" pitchFamily="34" charset="0"/>
                <a:cs typeface="Arial" panose="020B0604020202020204" pitchFamily="34" charset="0"/>
              </a:rPr>
              <a:t>where </a:t>
            </a:r>
            <a:r>
              <a:rPr lang="en-US" sz="2600" i="1" dirty="0">
                <a:latin typeface="Courier New" panose="02070309020205020404" pitchFamily="49" charset="0"/>
                <a:cs typeface="Courier New" panose="02070309020205020404" pitchFamily="49" charset="0"/>
              </a:rPr>
              <a:t>label</a:t>
            </a:r>
            <a:r>
              <a:rPr lang="en-US" sz="2800" i="1"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is the name assigned to the cue, </a:t>
            </a:r>
            <a:r>
              <a:rPr lang="en-US" sz="2600" i="1" dirty="0">
                <a:latin typeface="Courier New" panose="02070309020205020404" pitchFamily="49" charset="0"/>
                <a:cs typeface="Courier New" panose="02070309020205020404" pitchFamily="49" charset="0"/>
              </a:rPr>
              <a:t>start</a:t>
            </a:r>
            <a:r>
              <a:rPr lang="en-US" sz="2800" i="1"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and </a:t>
            </a:r>
            <a:r>
              <a:rPr lang="en-US" sz="2800" i="1" dirty="0">
                <a:latin typeface="Courier New" panose="02070309020205020404" pitchFamily="49" charset="0"/>
                <a:cs typeface="Courier New" panose="02070309020205020404" pitchFamily="49" charset="0"/>
              </a:rPr>
              <a:t>stop</a:t>
            </a:r>
            <a:r>
              <a:rPr lang="en-US" sz="2800" i="1"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define the time interval, and </a:t>
            </a:r>
            <a:r>
              <a:rPr lang="en-US" sz="2600" i="1" dirty="0">
                <a:latin typeface="Courier New" panose="02070309020205020404" pitchFamily="49" charset="0"/>
                <a:cs typeface="Courier New" panose="02070309020205020404" pitchFamily="49" charset="0"/>
              </a:rPr>
              <a:t>cue text </a:t>
            </a:r>
            <a:r>
              <a:rPr lang="en-US" sz="2800" dirty="0">
                <a:latin typeface="Arial" panose="020B0604020202020204" pitchFamily="34" charset="0"/>
                <a:cs typeface="Arial" panose="020B0604020202020204" pitchFamily="34" charset="0"/>
              </a:rPr>
              <a:t>is the text of the cue</a:t>
            </a:r>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329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Making Tracks with WebVTT (continued 2)</a:t>
            </a:r>
          </a:p>
        </p:txBody>
      </p:sp>
      <p:pic>
        <p:nvPicPr>
          <p:cNvPr id="7" name="Content Placeholder 1" descr="This figure shows a WebVTT file to define track text.&#10;&#10;The figure consists of seven rectangular boxes and a few lines of code.&#10;&#10;The first line of the code reads “WEBVTT”. The second line of the code reads “Title”. The third line of the code reads “00:00.500 -- &gt; 00:04.000”. The fourth line of the code reads “The Ceiling Dance”. The fifth line of the code reads “Subtitle”. The sixth line of the code reads “00:04.500 -- &gt; 00:08.000”. The seventh line of the code reads “from Royal Wedding (1951)”. The eighth line of the code reads “Ending”. The ninth line of the code reads “01:38.000 -- &gt; 01:44.000”. The tenth line of the code reads “See more videos at Cinema Penguin”.&#10;&#10;The first rectangular box labeled “first line indicates the format of the file” is positioned on the right side of the first line of the code. An arrow originating from this rectangular box points to the first line of the code.&#10;&#10;The second rectangular box labeled “cue label” is positioned on the left side of the code. An arrow originating from this rectangular box points to the second line of the code.&#10;&#10;The third rectangular box labeled “cue spans the interval from 0.5 seconds to 4 seconds” is positioned below the second rectangular box. An arrow originating from the third rectangular box points to the third line of the code.&#10;&#10;The fourth rectangular box labeled “cue text” is positioned below the third rectangular box. An arrow originating from the fourth rectangular box points to the fourth line of the code.&#10;&#10;The fifth rectangular box labeled “1st cue” is positioned on the right side of the code. An arrow originating from the box points to the second, third, and fourth line of the code.&#10;&#10;The sixth rectangular box labeled “2st cue” is positioned below the fifth rectangular box. An arrow originating from the sixth rectangular box points to the fifth, sixth, and seventh line of the code.&#10;&#10;The seventh rectangular box labeled “3rd cue” is positioned below the sixth rectangular box. An arrow originating from the seventh rectangular box points to the eighth, ninth, and tenth line of the code.&#10;" title="Figure 8-20 WebVTT file to define track tex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549132" y="1587318"/>
            <a:ext cx="8045735" cy="4616534"/>
          </a:xfrm>
          <a:prstGeom prst="rect">
            <a:avLst/>
          </a:prstGeom>
        </p:spPr>
      </p:pic>
    </p:spTree>
    <p:extLst>
      <p:ext uri="{BB962C8B-B14F-4D97-AF65-F5344CB8AC3E}">
        <p14:creationId xmlns:p14="http://schemas.microsoft.com/office/powerpoint/2010/main" val="6559261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Placing the Cue Text</a:t>
            </a:r>
            <a:endParaRPr lang="en-US" dirty="0"/>
          </a:p>
        </p:txBody>
      </p:sp>
      <p:sp>
        <p:nvSpPr>
          <p:cNvPr id="6" name="Text Placeholder 5"/>
          <p:cNvSpPr>
            <a:spLocks noGrp="1"/>
          </p:cNvSpPr>
          <p:nvPr>
            <p:ph type="body" sz="quarter" idx="17"/>
          </p:nvPr>
        </p:nvSpPr>
        <p:spPr/>
        <p:txBody>
          <a:bodyPr/>
          <a:lstStyle/>
          <a:p>
            <a:r>
              <a:rPr lang="en-IN" dirty="0"/>
              <a:t>Size and position of a cue text can be set using cue settings directly after the cue’s time interval</a:t>
            </a:r>
          </a:p>
          <a:p>
            <a:pPr marL="457200" lvl="1" indent="0">
              <a:buNone/>
            </a:pPr>
            <a:r>
              <a:rPr lang="en-IN" sz="2600" i="1" dirty="0">
                <a:latin typeface="Courier New" panose="02070309020205020404" pitchFamily="49" charset="0"/>
                <a:cs typeface="Courier New" panose="02070309020205020404" pitchFamily="49" charset="0"/>
              </a:rPr>
              <a:t>setting1:value1 setting2:value2 </a:t>
            </a:r>
            <a:r>
              <a:rPr lang="en-IN" sz="2600" dirty="0">
                <a:latin typeface="Courier New" panose="02070309020205020404" pitchFamily="49" charset="0"/>
                <a:cs typeface="Courier New" panose="02070309020205020404" pitchFamily="49" charset="0"/>
              </a:rPr>
              <a:t>…</a:t>
            </a:r>
          </a:p>
          <a:p>
            <a:pPr marL="457200" lvl="1" indent="0">
              <a:buNone/>
            </a:pPr>
            <a:r>
              <a:rPr lang="en-IN" dirty="0">
                <a:latin typeface="Arial" panose="020B0604020202020204" pitchFamily="34" charset="0"/>
                <a:cs typeface="Arial" panose="020B0604020202020204" pitchFamily="34" charset="0"/>
              </a:rPr>
              <a:t>where </a:t>
            </a:r>
            <a:r>
              <a:rPr lang="en-IN" sz="2600" i="1" dirty="0">
                <a:latin typeface="Courier New" panose="02070309020205020404" pitchFamily="49" charset="0"/>
                <a:cs typeface="Courier New" panose="02070309020205020404" pitchFamily="49" charset="0"/>
              </a:rPr>
              <a:t>setting1</a:t>
            </a:r>
            <a:r>
              <a:rPr lang="en-IN" dirty="0">
                <a:latin typeface="Arial" panose="020B0604020202020204" pitchFamily="34" charset="0"/>
                <a:cs typeface="Arial" panose="020B0604020202020204" pitchFamily="34" charset="0"/>
              </a:rPr>
              <a:t>, </a:t>
            </a:r>
            <a:r>
              <a:rPr lang="en-IN" sz="2600" i="1" dirty="0">
                <a:latin typeface="Courier New" panose="02070309020205020404" pitchFamily="49" charset="0"/>
                <a:cs typeface="Courier New" panose="02070309020205020404" pitchFamily="49" charset="0"/>
              </a:rPr>
              <a:t>setting2</a:t>
            </a:r>
            <a:r>
              <a:rPr lang="en-IN" dirty="0">
                <a:latin typeface="Arial" panose="020B0604020202020204" pitchFamily="34" charset="0"/>
                <a:cs typeface="Arial" panose="020B0604020202020204" pitchFamily="34" charset="0"/>
              </a:rPr>
              <a:t>, </a:t>
            </a:r>
            <a:r>
              <a:rPr lang="en-IN" sz="2600" dirty="0">
                <a:latin typeface="Courier New" panose="02070309020205020404" pitchFamily="49" charset="0"/>
                <a:cs typeface="Courier New" panose="02070309020205020404" pitchFamily="49" charset="0"/>
              </a:rPr>
              <a:t>…</a:t>
            </a:r>
            <a:r>
              <a:rPr lang="en-IN" dirty="0">
                <a:latin typeface="Arial" panose="020B0604020202020204" pitchFamily="34" charset="0"/>
                <a:cs typeface="Arial" panose="020B0604020202020204" pitchFamily="34" charset="0"/>
              </a:rPr>
              <a:t> define the size and position of the cue text and </a:t>
            </a:r>
            <a:r>
              <a:rPr lang="en-IN" sz="2600" i="1" dirty="0">
                <a:latin typeface="Courier New" panose="02070309020205020404" pitchFamily="49" charset="0"/>
                <a:cs typeface="Courier New" panose="02070309020205020404" pitchFamily="49" charset="0"/>
              </a:rPr>
              <a:t>value1</a:t>
            </a:r>
            <a:r>
              <a:rPr lang="en-IN" dirty="0">
                <a:latin typeface="Arial" panose="020B0604020202020204" pitchFamily="34" charset="0"/>
                <a:cs typeface="Arial" panose="020B0604020202020204" pitchFamily="34" charset="0"/>
              </a:rPr>
              <a:t>, </a:t>
            </a:r>
            <a:r>
              <a:rPr lang="en-IN" sz="2600" i="1" dirty="0">
                <a:latin typeface="Courier New" panose="02070309020205020404" pitchFamily="49" charset="0"/>
                <a:cs typeface="Courier New" panose="02070309020205020404" pitchFamily="49" charset="0"/>
              </a:rPr>
              <a:t>value2</a:t>
            </a:r>
            <a:r>
              <a:rPr lang="en-IN" dirty="0">
                <a:latin typeface="Arial" panose="020B0604020202020204" pitchFamily="34" charset="0"/>
                <a:cs typeface="Arial" panose="020B0604020202020204" pitchFamily="34" charset="0"/>
              </a:rPr>
              <a:t>, … are the setting values</a:t>
            </a:r>
          </a:p>
          <a:p>
            <a:r>
              <a:rPr lang="en-IN" dirty="0"/>
              <a:t>There is no space between the setting name and value</a:t>
            </a:r>
          </a:p>
        </p:txBody>
      </p:sp>
    </p:spTree>
    <p:extLst>
      <p:ext uri="{BB962C8B-B14F-4D97-AF65-F5344CB8AC3E}">
        <p14:creationId xmlns:p14="http://schemas.microsoft.com/office/powerpoint/2010/main" val="20230489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Placing the Cue Text</a:t>
            </a:r>
            <a:br>
              <a:rPr lang="en-IN" dirty="0"/>
            </a:br>
            <a:r>
              <a:rPr lang="en-IN" dirty="0"/>
              <a:t>(continued 1)</a:t>
            </a:r>
            <a:endParaRPr lang="en-US" dirty="0"/>
          </a:p>
        </p:txBody>
      </p:sp>
      <p:graphicFrame>
        <p:nvGraphicFramePr>
          <p:cNvPr id="8" name="Table Placeholder 7"/>
          <p:cNvGraphicFramePr>
            <a:graphicFrameLocks noGrp="1"/>
          </p:cNvGraphicFramePr>
          <p:nvPr>
            <p:ph type="tbl" sz="quarter" idx="10"/>
            <p:extLst>
              <p:ext uri="{D42A27DB-BD31-4B8C-83A1-F6EECF244321}">
                <p14:modId xmlns:p14="http://schemas.microsoft.com/office/powerpoint/2010/main" val="2858601943"/>
              </p:ext>
            </p:extLst>
          </p:nvPr>
        </p:nvGraphicFramePr>
        <p:xfrm>
          <a:off x="574578" y="1764641"/>
          <a:ext cx="7994844" cy="4066419"/>
        </p:xfrm>
        <a:graphic>
          <a:graphicData uri="http://schemas.openxmlformats.org/drawingml/2006/table">
            <a:tbl>
              <a:tblPr firstRow="1"/>
              <a:tblGrid>
                <a:gridCol w="1875399">
                  <a:extLst>
                    <a:ext uri="{9D8B030D-6E8A-4147-A177-3AD203B41FA5}">
                      <a16:colId xmlns:a16="http://schemas.microsoft.com/office/drawing/2014/main" val="20000"/>
                    </a:ext>
                  </a:extLst>
                </a:gridCol>
                <a:gridCol w="6119445">
                  <a:extLst>
                    <a:ext uri="{9D8B030D-6E8A-4147-A177-3AD203B41FA5}">
                      <a16:colId xmlns:a16="http://schemas.microsoft.com/office/drawing/2014/main" val="20001"/>
                    </a:ext>
                  </a:extLst>
                </a:gridCol>
              </a:tblGrid>
              <a:tr h="0">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Cue Setting</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align:</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horizontal alignment of the text within the cue,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start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(left-aligned),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middle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(center-aligned), or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end </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(right-aligned)</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8699">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line: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vertical position of the cue within the video window,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ranges from 0% (top) to 100% (bottom)</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position:</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horizontal position of the cue within the video window,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ranges from 0% (left) to 100% (right)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size: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width of the cue as a percentage of the width of the video window</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vertical:</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type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Displays the cue text vertically rather than horizontally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type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rl</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(writing direction is right to left) or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lr</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(writing direction is left to right)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333938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Placing the Cue Text</a:t>
            </a:r>
            <a:br>
              <a:rPr lang="en-IN" dirty="0"/>
            </a:br>
            <a:r>
              <a:rPr lang="en-IN" dirty="0"/>
              <a:t>(continued 2)</a:t>
            </a:r>
            <a:endParaRPr lang="en-US" dirty="0"/>
          </a:p>
        </p:txBody>
      </p:sp>
      <p:pic>
        <p:nvPicPr>
          <p:cNvPr id="6" name="Content Placeholder 3" descr="This figure explains how to place the cue text.&#10;&#10;The figure consists of two rectangular boxes and a few lines of code.&#10;&#10;The first line of the code reads “Title”. The second line of the code reads “00:00:00.500 -- &gt; 00:00:04.000 line:5% align:middle”. The third line of the code reads “The Ceiling Dance”. The fourth line of the code reads “Subtitle”. The fifth line of the code reads “00:00:04.500 -- &gt; 00:00:08.000 line:5% align:middle”. The sixth line of the code reads “from Royal Wedding (1951)”. The seventh line of the code reads “Ending”. The eighth line of the code reads “00:01:38.000 -- &gt; 00:01:44.000 line:80% position:95% align:end”. The ninth line of the code reads “See more videos at Cinema Penguin”.&#10;&#10;The first rectangular box labeled “places the Title and Subtitle cues near the top of the video window with the text centered” is positioned on the left side of the code. An arrow originating from this rectangular box points from the second line to the sixth line of the code.&#10;&#10;The second rectangular box labeled “places the Ending cue near the bottom-right corner of the video window with the text right-aligned” is positioned below the code. An arrow originating from this rectangular box points to “line:80% position:95% align:end” in the eighth line of the code.&#10;" title="Figure 8-24 Placing the cue tex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438686" y="2044815"/>
            <a:ext cx="8266628" cy="3576906"/>
          </a:xfrm>
          <a:prstGeom prst="rect">
            <a:avLst/>
          </a:prstGeom>
        </p:spPr>
      </p:pic>
    </p:spTree>
    <p:extLst>
      <p:ext uri="{BB962C8B-B14F-4D97-AF65-F5344CB8AC3E}">
        <p14:creationId xmlns:p14="http://schemas.microsoft.com/office/powerpoint/2010/main" val="11597223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Applying Styles to Track Cues</a:t>
            </a:r>
            <a:endParaRPr lang="en-US" dirty="0"/>
          </a:p>
        </p:txBody>
      </p:sp>
      <p:sp>
        <p:nvSpPr>
          <p:cNvPr id="3" name="Text Placeholder 2"/>
          <p:cNvSpPr>
            <a:spLocks noGrp="1"/>
          </p:cNvSpPr>
          <p:nvPr>
            <p:ph type="body" sz="quarter" idx="17"/>
          </p:nvPr>
        </p:nvSpPr>
        <p:spPr/>
        <p:txBody>
          <a:bodyPr>
            <a:normAutofit lnSpcReduction="10000"/>
          </a:bodyPr>
          <a:lstStyle/>
          <a:p>
            <a:r>
              <a:rPr lang="en-IN" sz="2600" dirty="0">
                <a:latin typeface="Courier New" panose="02070309020205020404" pitchFamily="49" charset="0"/>
                <a:cs typeface="Courier New" panose="02070309020205020404" pitchFamily="49" charset="0"/>
              </a:rPr>
              <a:t>cue</a:t>
            </a:r>
            <a:r>
              <a:rPr lang="en-IN" dirty="0"/>
              <a:t> pseudo-element to format the appearance of the cues appearing within a media clip</a:t>
            </a:r>
          </a:p>
          <a:p>
            <a:pPr marL="463550" lvl="1" indent="0">
              <a:buNone/>
            </a:pPr>
            <a:r>
              <a:rPr lang="en-IN" sz="2600" dirty="0">
                <a:latin typeface="Courier New" panose="02070309020205020404" pitchFamily="49" charset="0"/>
                <a:cs typeface="Courier New" panose="02070309020205020404" pitchFamily="49" charset="0"/>
              </a:rPr>
              <a:t>::cue {</a:t>
            </a:r>
          </a:p>
          <a:p>
            <a:pPr marL="463550" lvl="1" indent="0">
              <a:buNone/>
            </a:pPr>
            <a:r>
              <a:rPr lang="en-IN" sz="2600" i="1" dirty="0">
                <a:latin typeface="Courier New" panose="02070309020205020404" pitchFamily="49" charset="0"/>
                <a:cs typeface="Courier New" panose="02070309020205020404" pitchFamily="49" charset="0"/>
              </a:rPr>
              <a:t>styles</a:t>
            </a:r>
          </a:p>
          <a:p>
            <a:pPr marL="463550" lvl="1" indent="0">
              <a:buNone/>
            </a:pPr>
            <a:r>
              <a:rPr lang="en-IN" sz="2600" dirty="0">
                <a:latin typeface="Courier New" panose="02070309020205020404" pitchFamily="49" charset="0"/>
                <a:cs typeface="Courier New" panose="02070309020205020404" pitchFamily="49" charset="0"/>
              </a:rPr>
              <a:t>}</a:t>
            </a:r>
          </a:p>
          <a:p>
            <a:r>
              <a:rPr lang="en-IN" dirty="0"/>
              <a:t>Styles for the </a:t>
            </a:r>
            <a:r>
              <a:rPr lang="en-IN" sz="2600" dirty="0">
                <a:latin typeface="Courier New" panose="02070309020205020404" pitchFamily="49" charset="0"/>
                <a:cs typeface="Courier New" panose="02070309020205020404" pitchFamily="49" charset="0"/>
              </a:rPr>
              <a:t>cue</a:t>
            </a:r>
            <a:r>
              <a:rPr lang="en-IN" dirty="0"/>
              <a:t> pseudo-element are limited to </a:t>
            </a:r>
            <a:r>
              <a:rPr lang="en-IN" sz="2600" dirty="0">
                <a:latin typeface="Courier New" panose="02070309020205020404" pitchFamily="49" charset="0"/>
                <a:cs typeface="Courier New" panose="02070309020205020404" pitchFamily="49" charset="0"/>
              </a:rPr>
              <a:t>background, color, font, opacity, outline, text-decoration, text-shadow, visibility</a:t>
            </a:r>
            <a:r>
              <a:rPr lang="en-IN" dirty="0"/>
              <a:t>, and </a:t>
            </a:r>
            <a:r>
              <a:rPr lang="en-IN" sz="2600" dirty="0">
                <a:latin typeface="Courier New" panose="02070309020205020404" pitchFamily="49" charset="0"/>
                <a:cs typeface="Courier New" panose="02070309020205020404" pitchFamily="49" charset="0"/>
              </a:rPr>
              <a:t>white-space</a:t>
            </a:r>
            <a:r>
              <a:rPr lang="en-IN" dirty="0"/>
              <a:t> properties</a:t>
            </a:r>
          </a:p>
        </p:txBody>
      </p:sp>
    </p:spTree>
    <p:extLst>
      <p:ext uri="{BB962C8B-B14F-4D97-AF65-F5344CB8AC3E}">
        <p14:creationId xmlns:p14="http://schemas.microsoft.com/office/powerpoint/2010/main" val="16649099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Applying Styles to Track Cues (continued 1)</a:t>
            </a:r>
            <a:endParaRPr lang="en-US" dirty="0"/>
          </a:p>
        </p:txBody>
      </p:sp>
      <p:sp>
        <p:nvSpPr>
          <p:cNvPr id="4" name="Text Placeholder 3"/>
          <p:cNvSpPr>
            <a:spLocks noGrp="1"/>
          </p:cNvSpPr>
          <p:nvPr>
            <p:ph type="body" sz="quarter" idx="17"/>
          </p:nvPr>
        </p:nvSpPr>
        <p:spPr/>
        <p:txBody>
          <a:bodyPr/>
          <a:lstStyle/>
          <a:p>
            <a:r>
              <a:rPr lang="en-IN" dirty="0"/>
              <a:t>Format specific cues or text strings within a cue using the following markup tags:</a:t>
            </a:r>
          </a:p>
          <a:p>
            <a:pPr lvl="1"/>
            <a:r>
              <a:rPr lang="en-IN" sz="2600" dirty="0">
                <a:latin typeface="Courier New" panose="02070309020205020404" pitchFamily="49" charset="0"/>
                <a:cs typeface="Courier New" panose="02070309020205020404" pitchFamily="49" charset="0"/>
              </a:rPr>
              <a:t>&lt;i&gt;&lt;/i&gt; </a:t>
            </a:r>
            <a:r>
              <a:rPr lang="en-IN" dirty="0"/>
              <a:t>for italicized text</a:t>
            </a:r>
          </a:p>
          <a:p>
            <a:pPr lvl="1"/>
            <a:r>
              <a:rPr lang="en-IN" sz="2600" dirty="0">
                <a:latin typeface="Courier New" panose="02070309020205020404" pitchFamily="49" charset="0"/>
                <a:cs typeface="Courier New" panose="02070309020205020404" pitchFamily="49" charset="0"/>
              </a:rPr>
              <a:t>&lt;b&gt;&lt;/b&gt; </a:t>
            </a:r>
            <a:r>
              <a:rPr lang="en-IN" dirty="0"/>
              <a:t>for bold-faced text</a:t>
            </a:r>
          </a:p>
          <a:p>
            <a:pPr lvl="1"/>
            <a:r>
              <a:rPr lang="en-IN" sz="2600" dirty="0">
                <a:latin typeface="Courier New" panose="02070309020205020404" pitchFamily="49" charset="0"/>
                <a:cs typeface="Courier New" panose="02070309020205020404" pitchFamily="49" charset="0"/>
              </a:rPr>
              <a:t>&lt;u&gt;&lt;/u&gt; </a:t>
            </a:r>
            <a:r>
              <a:rPr lang="en-IN" dirty="0"/>
              <a:t>for underlined text</a:t>
            </a:r>
          </a:p>
          <a:p>
            <a:pPr lvl="1"/>
            <a:r>
              <a:rPr lang="en-IN" sz="2600" dirty="0">
                <a:latin typeface="Courier New" panose="02070309020205020404" pitchFamily="49" charset="0"/>
                <a:cs typeface="Courier New" panose="02070309020205020404" pitchFamily="49" charset="0"/>
              </a:rPr>
              <a:t>&lt;span&gt;&lt;/span&gt; </a:t>
            </a:r>
            <a:r>
              <a:rPr lang="en-IN" dirty="0"/>
              <a:t>to mark spans of text</a:t>
            </a:r>
          </a:p>
          <a:p>
            <a:pPr lvl="1"/>
            <a:r>
              <a:rPr lang="en-IN" sz="2600" dirty="0">
                <a:latin typeface="Courier New" panose="02070309020205020404" pitchFamily="49" charset="0"/>
                <a:cs typeface="Courier New" panose="02070309020205020404" pitchFamily="49" charset="0"/>
              </a:rPr>
              <a:t>&lt;ruby&gt;&lt;/ruby&gt; </a:t>
            </a:r>
            <a:r>
              <a:rPr lang="en-IN" dirty="0"/>
              <a:t>to mark ruby text</a:t>
            </a:r>
          </a:p>
          <a:p>
            <a:pPr lvl="1"/>
            <a:r>
              <a:rPr lang="en-IN" sz="2600" dirty="0">
                <a:latin typeface="Courier New" panose="02070309020205020404" pitchFamily="49" charset="0"/>
                <a:cs typeface="Courier New" panose="02070309020205020404" pitchFamily="49" charset="0"/>
              </a:rPr>
              <a:t>&lt;rt&gt;&lt;/rt&gt;</a:t>
            </a:r>
            <a:r>
              <a:rPr lang="en-IN" dirty="0"/>
              <a:t> to mark ruby text</a:t>
            </a:r>
          </a:p>
        </p:txBody>
      </p:sp>
    </p:spTree>
    <p:extLst>
      <p:ext uri="{BB962C8B-B14F-4D97-AF65-F5344CB8AC3E}">
        <p14:creationId xmlns:p14="http://schemas.microsoft.com/office/powerpoint/2010/main" val="27323627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Applying Styles to Track Cues (continued 2)</a:t>
            </a:r>
            <a:endParaRPr lang="en-US" dirty="0"/>
          </a:p>
        </p:txBody>
      </p:sp>
      <p:sp>
        <p:nvSpPr>
          <p:cNvPr id="6" name="Text Placeholder 5"/>
          <p:cNvSpPr>
            <a:spLocks noGrp="1"/>
          </p:cNvSpPr>
          <p:nvPr>
            <p:ph type="body" sz="quarter" idx="17"/>
          </p:nvPr>
        </p:nvSpPr>
        <p:spPr/>
        <p:txBody>
          <a:bodyPr/>
          <a:lstStyle/>
          <a:p>
            <a:r>
              <a:rPr lang="en-IN" dirty="0"/>
              <a:t>WebVTT supports tags that are not part of the HTML library</a:t>
            </a:r>
          </a:p>
          <a:p>
            <a:r>
              <a:rPr lang="en-IN" sz="2600" dirty="0">
                <a:latin typeface="Courier New" panose="02070309020205020404" pitchFamily="49" charset="0"/>
                <a:cs typeface="Courier New" panose="02070309020205020404" pitchFamily="49" charset="0"/>
              </a:rPr>
              <a:t>&lt;c&gt;&lt;/c&gt;</a:t>
            </a:r>
            <a:r>
              <a:rPr lang="en-IN" dirty="0">
                <a:cs typeface="Courier New" panose="02070309020205020404" pitchFamily="49" charset="0"/>
              </a:rPr>
              <a:t> </a:t>
            </a:r>
            <a:r>
              <a:rPr lang="en-IN" dirty="0"/>
              <a:t>tag is used to mark text strings belonging to a particular class</a:t>
            </a:r>
          </a:p>
          <a:p>
            <a:pPr marL="457200" lvl="1" indent="0">
              <a:buNone/>
            </a:pPr>
            <a:r>
              <a:rPr lang="en-IN" sz="2600" dirty="0">
                <a:latin typeface="Courier New" panose="02070309020205020404" pitchFamily="49" charset="0"/>
                <a:cs typeface="Courier New" panose="02070309020205020404" pitchFamily="49" charset="0"/>
              </a:rPr>
              <a:t>&lt;c.</a:t>
            </a:r>
            <a:r>
              <a:rPr lang="en-IN" sz="2600" i="1" dirty="0">
                <a:latin typeface="Courier New" panose="02070309020205020404" pitchFamily="49" charset="0"/>
                <a:cs typeface="Courier New" panose="02070309020205020404" pitchFamily="49" charset="0"/>
              </a:rPr>
              <a:t>classname</a:t>
            </a:r>
            <a:r>
              <a:rPr lang="en-IN" sz="2600" dirty="0">
                <a:latin typeface="Courier New" panose="02070309020205020404" pitchFamily="49" charset="0"/>
                <a:cs typeface="Courier New" panose="02070309020205020404" pitchFamily="49" charset="0"/>
              </a:rPr>
              <a:t>&gt;&lt;/c&gt;</a:t>
            </a:r>
          </a:p>
          <a:p>
            <a:r>
              <a:rPr lang="en-IN" sz="2600" dirty="0">
                <a:latin typeface="Courier New" panose="02070309020205020404" pitchFamily="49" charset="0"/>
                <a:cs typeface="Courier New" panose="02070309020205020404" pitchFamily="49" charset="0"/>
              </a:rPr>
              <a:t>&lt;v&gt;&lt;/v&gt;</a:t>
            </a:r>
            <a:r>
              <a:rPr lang="en-IN" dirty="0">
                <a:cs typeface="Courier New" panose="02070309020205020404" pitchFamily="49" charset="0"/>
              </a:rPr>
              <a:t> </a:t>
            </a:r>
            <a:r>
              <a:rPr lang="en-IN" dirty="0"/>
              <a:t>tag is used for captions that distinguish between one voice and another</a:t>
            </a:r>
          </a:p>
          <a:p>
            <a:pPr marL="457200" lvl="1" indent="0">
              <a:buNone/>
            </a:pPr>
            <a:r>
              <a:rPr lang="en-IN" sz="2600" i="1" dirty="0">
                <a:latin typeface="Courier New" panose="02070309020205020404" pitchFamily="49" charset="0"/>
                <a:cs typeface="Courier New" panose="02070309020205020404" pitchFamily="49" charset="0"/>
              </a:rPr>
              <a:t>&lt;v name&gt;&lt;/v&gt;</a:t>
            </a:r>
          </a:p>
        </p:txBody>
      </p:sp>
    </p:spTree>
    <p:extLst>
      <p:ext uri="{BB962C8B-B14F-4D97-AF65-F5344CB8AC3E}">
        <p14:creationId xmlns:p14="http://schemas.microsoft.com/office/powerpoint/2010/main" val="12125991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Applying Styles to Track Cues (continued 3)</a:t>
            </a:r>
            <a:endParaRPr lang="en-US" dirty="0"/>
          </a:p>
        </p:txBody>
      </p:sp>
      <p:pic>
        <p:nvPicPr>
          <p:cNvPr id="7" name="Content Placeholder 2" descr="This figure shows how to apply a class to cue text.&#10;&#10;The figure consists of two rectangular boxes and a few lines of code.&#10;&#10;The first line of the code reads “WEBVTT”. The second line of the code reads “Title”. The third line of the code reads “00:00.500 -- &gt; 00:04.000 line:5% align:middle”. The fourth line of the code reads “&lt;c.Main&gt;The Ceiling Dance&lt;/c&gt;”. The fifth line of the code reads “Subtitle”. The sixth line of the code reads “00:04.500 -- &gt; 00:08.000 line:5% align:middle”. The seventh line of the code reads “from Royal Wedding (1951)”. The eighth line of the code reads “Ending”. The ninth line of the code reads “01:38.000 -- &gt; 01:44.000 line:80% position:95% align:end”. The tenth line of the code reads “See more videos at &lt;i&gt;Cinema Penguin&lt;/i&gt;”.&#10;&#10;The first rectangular box labeled “markup tag for the Main class” is positioned on the left side of the code. An arrow originating from this rectangular box points to the “&lt;c.Main&gt;” in the third line of the code.&#10;&#10;The second rectangular box labeled “displays the website title in italics” is positioned below the code. An arrow originating from this rectangular box points to the “&lt;i&gt;Cinema Penguin&lt;/i&gt;” in the tenth line of the code.&#10;" title="Figure 8-26 Applying a class to cue tex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437303" y="1606167"/>
            <a:ext cx="8269394" cy="4384552"/>
          </a:xfrm>
          <a:prstGeom prst="rect">
            <a:avLst/>
          </a:prstGeom>
        </p:spPr>
      </p:pic>
    </p:spTree>
    <p:extLst>
      <p:ext uri="{BB962C8B-B14F-4D97-AF65-F5344CB8AC3E}">
        <p14:creationId xmlns:p14="http://schemas.microsoft.com/office/powerpoint/2010/main" val="40931909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Using Third-Party Video Players</a:t>
            </a:r>
            <a:endParaRPr lang="en-US" dirty="0"/>
          </a:p>
        </p:txBody>
      </p:sp>
      <p:sp>
        <p:nvSpPr>
          <p:cNvPr id="6" name="Text Placeholder 5"/>
          <p:cNvSpPr>
            <a:spLocks noGrp="1"/>
          </p:cNvSpPr>
          <p:nvPr>
            <p:ph type="body" sz="quarter" idx="17"/>
          </p:nvPr>
        </p:nvSpPr>
        <p:spPr/>
        <p:txBody>
          <a:bodyPr/>
          <a:lstStyle/>
          <a:p>
            <a:r>
              <a:rPr lang="en-IN" dirty="0">
                <a:latin typeface="Arial" panose="020B0604020202020204" pitchFamily="34" charset="0"/>
                <a:cs typeface="Arial" panose="020B0604020202020204" pitchFamily="34" charset="0"/>
              </a:rPr>
              <a:t>The </a:t>
            </a:r>
            <a:r>
              <a:rPr lang="en-IN" sz="2600" dirty="0">
                <a:latin typeface="Courier New" panose="02070309020205020404" pitchFamily="49" charset="0"/>
                <a:cs typeface="Courier New" panose="02070309020205020404" pitchFamily="49" charset="0"/>
              </a:rPr>
              <a:t>object</a:t>
            </a:r>
            <a:r>
              <a:rPr lang="en-IN" dirty="0"/>
              <a:t> element is used to define browsers with plug-ins</a:t>
            </a:r>
          </a:p>
          <a:p>
            <a:pPr marL="457200" lvl="1" indent="0">
              <a:buNone/>
            </a:pPr>
            <a:r>
              <a:rPr lang="en-IN" sz="2600" dirty="0">
                <a:latin typeface="Courier New" panose="02070309020205020404" pitchFamily="49" charset="0"/>
                <a:cs typeface="Courier New" panose="02070309020205020404" pitchFamily="49" charset="0"/>
              </a:rPr>
              <a:t>&lt;object </a:t>
            </a:r>
            <a:r>
              <a:rPr lang="en-IN" sz="2600" i="1" dirty="0">
                <a:latin typeface="Courier New" panose="02070309020205020404" pitchFamily="49" charset="0"/>
                <a:cs typeface="Courier New" panose="02070309020205020404" pitchFamily="49" charset="0"/>
              </a:rPr>
              <a:t>attributes</a:t>
            </a:r>
            <a:r>
              <a:rPr lang="en-IN" sz="2600" dirty="0">
                <a:latin typeface="Courier New" panose="02070309020205020404" pitchFamily="49" charset="0"/>
                <a:cs typeface="Courier New" panose="02070309020205020404" pitchFamily="49" charset="0"/>
              </a:rPr>
              <a:t>&gt;</a:t>
            </a:r>
          </a:p>
          <a:p>
            <a:pPr marL="457200" lvl="1" indent="0">
              <a:buNone/>
            </a:pPr>
            <a:r>
              <a:rPr lang="en-IN" sz="2600" i="1" dirty="0">
                <a:latin typeface="Courier New" panose="02070309020205020404" pitchFamily="49" charset="0"/>
                <a:cs typeface="Courier New" panose="02070309020205020404" pitchFamily="49" charset="0"/>
              </a:rPr>
              <a:t>	parameters</a:t>
            </a:r>
          </a:p>
          <a:p>
            <a:pPr marL="457200" lvl="1" indent="0">
              <a:buNone/>
            </a:pPr>
            <a:r>
              <a:rPr lang="en-IN" sz="2600" dirty="0">
                <a:latin typeface="Courier New" panose="02070309020205020404" pitchFamily="49" charset="0"/>
                <a:cs typeface="Courier New" panose="02070309020205020404" pitchFamily="49" charset="0"/>
              </a:rPr>
              <a:t>&lt;/object&gt;</a:t>
            </a:r>
          </a:p>
          <a:p>
            <a:pPr marL="463550" indent="0">
              <a:buNone/>
            </a:pPr>
            <a:r>
              <a:rPr lang="en-IN" sz="2800" dirty="0">
                <a:latin typeface="Arial" panose="020B0604020202020204" pitchFamily="34" charset="0"/>
                <a:cs typeface="Arial" panose="020B0604020202020204" pitchFamily="34" charset="0"/>
              </a:rPr>
              <a:t>where</a:t>
            </a:r>
            <a:r>
              <a:rPr lang="en-IN" sz="2800" i="1" dirty="0">
                <a:latin typeface="Arial" panose="020B0604020202020204" pitchFamily="34" charset="0"/>
                <a:cs typeface="Arial" panose="020B0604020202020204" pitchFamily="34" charset="0"/>
              </a:rPr>
              <a:t> </a:t>
            </a:r>
            <a:r>
              <a:rPr lang="en-IN" sz="2600" i="1" dirty="0">
                <a:latin typeface="Courier New" panose="02070309020205020404" pitchFamily="49" charset="0"/>
                <a:cs typeface="Courier New" panose="02070309020205020404" pitchFamily="49" charset="0"/>
              </a:rPr>
              <a:t>attributes</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define the object and </a:t>
            </a:r>
            <a:r>
              <a:rPr lang="en-IN" sz="2600" i="1" dirty="0">
                <a:latin typeface="Courier New" panose="02070309020205020404" pitchFamily="49" charset="0"/>
                <a:cs typeface="Courier New" panose="02070309020205020404" pitchFamily="49" charset="0"/>
              </a:rPr>
              <a:t>parameters</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are values passed to the object controlling the object’s appearance and actions</a:t>
            </a:r>
          </a:p>
        </p:txBody>
      </p:sp>
    </p:spTree>
    <p:extLst>
      <p:ext uri="{BB962C8B-B14F-4D97-AF65-F5344CB8AC3E}">
        <p14:creationId xmlns:p14="http://schemas.microsoft.com/office/powerpoint/2010/main" val="8618905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Using Third-Party Video Players (continued)</a:t>
            </a:r>
            <a:endParaRPr lang="en-US" dirty="0"/>
          </a:p>
        </p:txBody>
      </p:sp>
      <p:sp>
        <p:nvSpPr>
          <p:cNvPr id="2" name="Text Placeholder 1"/>
          <p:cNvSpPr>
            <a:spLocks noGrp="1"/>
          </p:cNvSpPr>
          <p:nvPr>
            <p:ph type="body" sz="quarter" idx="17"/>
          </p:nvPr>
        </p:nvSpPr>
        <p:spPr/>
        <p:txBody>
          <a:bodyPr/>
          <a:lstStyle/>
          <a:p>
            <a:r>
              <a:rPr lang="en-IN" dirty="0"/>
              <a:t>Parameters of the object are defined using </a:t>
            </a:r>
            <a:r>
              <a:rPr lang="en-IN" sz="2600" dirty="0">
                <a:latin typeface="Courier New" panose="02070309020205020404" pitchFamily="49" charset="0"/>
                <a:cs typeface="Courier New" panose="02070309020205020404" pitchFamily="49" charset="0"/>
              </a:rPr>
              <a:t>param</a:t>
            </a:r>
            <a:r>
              <a:rPr lang="en-IN" dirty="0"/>
              <a:t> element</a:t>
            </a:r>
          </a:p>
          <a:p>
            <a:pPr marL="463550" lvl="1" indent="0">
              <a:buNone/>
            </a:pPr>
            <a:r>
              <a:rPr lang="en-IN" sz="2600" dirty="0">
                <a:latin typeface="Courier New" panose="02070309020205020404" pitchFamily="49" charset="0"/>
                <a:cs typeface="Courier New" panose="02070309020205020404" pitchFamily="49" charset="0"/>
              </a:rPr>
              <a:t>&lt;param name=“</a:t>
            </a:r>
            <a:r>
              <a:rPr lang="en-IN" sz="2600" i="1" dirty="0">
                <a:latin typeface="Courier New" panose="02070309020205020404" pitchFamily="49" charset="0"/>
                <a:cs typeface="Courier New" panose="02070309020205020404" pitchFamily="49" charset="0"/>
              </a:rPr>
              <a:t>name</a:t>
            </a:r>
            <a:r>
              <a:rPr lang="en-IN" sz="2600" dirty="0">
                <a:latin typeface="Courier New" panose="02070309020205020404" pitchFamily="49" charset="0"/>
                <a:cs typeface="Courier New" panose="02070309020205020404" pitchFamily="49" charset="0"/>
              </a:rPr>
              <a:t>” value=“</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 /&gt;</a:t>
            </a:r>
          </a:p>
          <a:p>
            <a:pPr marL="463550" indent="0">
              <a:buNone/>
            </a:pPr>
            <a:r>
              <a:rPr lang="en-IN" sz="2800" dirty="0">
                <a:latin typeface="Arial" panose="020B0604020202020204" pitchFamily="34" charset="0"/>
                <a:cs typeface="Arial" panose="020B0604020202020204" pitchFamily="34" charset="0"/>
              </a:rPr>
              <a:t>where </a:t>
            </a:r>
            <a:r>
              <a:rPr lang="en-IN" sz="2600" i="1" dirty="0">
                <a:latin typeface="Courier New" panose="02070309020205020404" pitchFamily="49" charset="0"/>
                <a:cs typeface="Courier New" panose="02070309020205020404" pitchFamily="49" charset="0"/>
              </a:rPr>
              <a:t>name</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is the name of the parameter and </a:t>
            </a:r>
            <a:r>
              <a:rPr lang="en-IN" sz="2600" i="1" dirty="0">
                <a:latin typeface="Courier New" panose="02070309020205020404" pitchFamily="49" charset="0"/>
                <a:cs typeface="Courier New" panose="02070309020205020404" pitchFamily="49" charset="0"/>
              </a:rPr>
              <a:t>value</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is the parameter’s value</a:t>
            </a:r>
          </a:p>
        </p:txBody>
      </p:sp>
    </p:spTree>
    <p:extLst>
      <p:ext uri="{BB962C8B-B14F-4D97-AF65-F5344CB8AC3E}">
        <p14:creationId xmlns:p14="http://schemas.microsoft.com/office/powerpoint/2010/main" val="25795174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Exploring the Flash Player</a:t>
            </a:r>
            <a:endParaRPr lang="en-US" dirty="0"/>
          </a:p>
        </p:txBody>
      </p:sp>
      <p:sp>
        <p:nvSpPr>
          <p:cNvPr id="3" name="Text Placeholder 2"/>
          <p:cNvSpPr>
            <a:spLocks noGrp="1"/>
          </p:cNvSpPr>
          <p:nvPr>
            <p:ph type="body" sz="quarter" idx="17"/>
          </p:nvPr>
        </p:nvSpPr>
        <p:spPr/>
        <p:txBody>
          <a:bodyPr/>
          <a:lstStyle/>
          <a:p>
            <a:r>
              <a:rPr lang="en-IN" dirty="0"/>
              <a:t>The most-used plug-in for video playback is Adobe Flash player embedded using the following </a:t>
            </a:r>
            <a:r>
              <a:rPr lang="en-IN" sz="2600" dirty="0">
                <a:latin typeface="Courier New" panose="02070309020205020404" pitchFamily="49" charset="0"/>
                <a:cs typeface="Courier New" panose="02070309020205020404" pitchFamily="49" charset="0"/>
              </a:rPr>
              <a:t>object</a:t>
            </a:r>
            <a:r>
              <a:rPr lang="en-IN" dirty="0"/>
              <a:t> element:</a:t>
            </a:r>
          </a:p>
          <a:p>
            <a:pPr marL="463550" lvl="1" indent="0">
              <a:buNone/>
            </a:pPr>
            <a:r>
              <a:rPr lang="en-IN" sz="2600" dirty="0">
                <a:latin typeface="Courier New" panose="02070309020205020404" pitchFamily="49" charset="0"/>
                <a:cs typeface="Courier New" panose="02070309020205020404" pitchFamily="49" charset="0"/>
              </a:rPr>
              <a:t>&lt;object data=“</a:t>
            </a:r>
            <a:r>
              <a:rPr lang="en-IN" sz="2600" i="1" dirty="0">
                <a:latin typeface="Courier New" panose="02070309020205020404" pitchFamily="49" charset="0"/>
                <a:cs typeface="Courier New" panose="02070309020205020404" pitchFamily="49" charset="0"/>
              </a:rPr>
              <a:t>url</a:t>
            </a:r>
            <a:r>
              <a:rPr lang="en-IN" sz="2600" dirty="0">
                <a:latin typeface="Courier New" panose="02070309020205020404" pitchFamily="49" charset="0"/>
                <a:cs typeface="Courier New" panose="02070309020205020404" pitchFamily="49" charset="0"/>
              </a:rPr>
              <a:t>”</a:t>
            </a:r>
          </a:p>
          <a:p>
            <a:pPr marL="463550" lvl="1" indent="0">
              <a:buNone/>
            </a:pPr>
            <a:r>
              <a:rPr lang="en-IN" sz="2600" dirty="0">
                <a:latin typeface="Courier New" panose="02070309020205020404" pitchFamily="49" charset="0"/>
                <a:cs typeface="Courier New" panose="02070309020205020404" pitchFamily="49" charset="0"/>
              </a:rPr>
              <a:t>type=“application/x-shockwave-flash”</a:t>
            </a:r>
          </a:p>
          <a:p>
            <a:pPr marL="463550" lvl="1" indent="0">
              <a:buNone/>
            </a:pPr>
            <a:r>
              <a:rPr lang="en-IN" sz="2600" dirty="0">
                <a:latin typeface="Courier New" panose="02070309020205020404" pitchFamily="49" charset="0"/>
                <a:cs typeface="Courier New" panose="02070309020205020404" pitchFamily="49" charset="0"/>
              </a:rPr>
              <a:t>width=“</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 height=“</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”&gt;</a:t>
            </a:r>
          </a:p>
          <a:p>
            <a:pPr marL="463550" lvl="1" indent="0">
              <a:buNone/>
            </a:pPr>
            <a:r>
              <a:rPr lang="en-IN" sz="2600" dirty="0">
                <a:latin typeface="Courier New" panose="02070309020205020404" pitchFamily="49" charset="0"/>
                <a:cs typeface="Courier New" panose="02070309020205020404" pitchFamily="49" charset="0"/>
              </a:rPr>
              <a:t>&lt;param name=“movie” value=“</a:t>
            </a:r>
            <a:r>
              <a:rPr lang="en-IN" sz="2600" i="1" dirty="0">
                <a:latin typeface="Courier New" panose="02070309020205020404" pitchFamily="49" charset="0"/>
                <a:cs typeface="Courier New" panose="02070309020205020404" pitchFamily="49" charset="0"/>
              </a:rPr>
              <a:t>url</a:t>
            </a:r>
            <a:r>
              <a:rPr lang="en-IN" sz="2600" dirty="0">
                <a:latin typeface="Courier New" panose="02070309020205020404" pitchFamily="49" charset="0"/>
                <a:cs typeface="Courier New" panose="02070309020205020404" pitchFamily="49" charset="0"/>
              </a:rPr>
              <a:t>” /&gt;</a:t>
            </a:r>
          </a:p>
          <a:p>
            <a:pPr marL="463550" lvl="1" indent="0">
              <a:buNone/>
            </a:pPr>
            <a:r>
              <a:rPr lang="en-IN" sz="2600" i="1" dirty="0">
                <a:latin typeface="Courier New" panose="02070309020205020404" pitchFamily="49" charset="0"/>
                <a:cs typeface="Courier New" panose="02070309020205020404" pitchFamily="49" charset="0"/>
              </a:rPr>
              <a:t>parameters</a:t>
            </a:r>
          </a:p>
          <a:p>
            <a:pPr marL="463550" lvl="1" indent="0">
              <a:buNone/>
            </a:pPr>
            <a:r>
              <a:rPr lang="en-IN" sz="2600" dirty="0">
                <a:latin typeface="Courier New" panose="02070309020205020404" pitchFamily="49" charset="0"/>
                <a:cs typeface="Courier New" panose="02070309020205020404" pitchFamily="49" charset="0"/>
              </a:rPr>
              <a:t>&lt;/object&gt;</a:t>
            </a:r>
          </a:p>
        </p:txBody>
      </p:sp>
    </p:spTree>
    <p:extLst>
      <p:ext uri="{BB962C8B-B14F-4D97-AF65-F5344CB8AC3E}">
        <p14:creationId xmlns:p14="http://schemas.microsoft.com/office/powerpoint/2010/main" val="7257748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Exploring the Flash Player</a:t>
            </a:r>
            <a:br>
              <a:rPr lang="en-IN" dirty="0"/>
            </a:br>
            <a:r>
              <a:rPr lang="en-IN" dirty="0"/>
              <a:t>(continued 1)</a:t>
            </a:r>
            <a:endParaRPr 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616246186"/>
              </p:ext>
            </p:extLst>
          </p:nvPr>
        </p:nvGraphicFramePr>
        <p:xfrm>
          <a:off x="727124" y="1847369"/>
          <a:ext cx="7970229" cy="3402031"/>
        </p:xfrm>
        <a:graphic>
          <a:graphicData uri="http://schemas.openxmlformats.org/drawingml/2006/table">
            <a:tbl>
              <a:tblPr firstRow="1"/>
              <a:tblGrid>
                <a:gridCol w="1228285">
                  <a:extLst>
                    <a:ext uri="{9D8B030D-6E8A-4147-A177-3AD203B41FA5}">
                      <a16:colId xmlns:a16="http://schemas.microsoft.com/office/drawing/2014/main" val="20000"/>
                    </a:ext>
                  </a:extLst>
                </a:gridCol>
                <a:gridCol w="1623321">
                  <a:extLst>
                    <a:ext uri="{9D8B030D-6E8A-4147-A177-3AD203B41FA5}">
                      <a16:colId xmlns:a16="http://schemas.microsoft.com/office/drawing/2014/main" val="20001"/>
                    </a:ext>
                  </a:extLst>
                </a:gridCol>
                <a:gridCol w="5118623">
                  <a:extLst>
                    <a:ext uri="{9D8B030D-6E8A-4147-A177-3AD203B41FA5}">
                      <a16:colId xmlns:a16="http://schemas.microsoft.com/office/drawing/2014/main" val="20002"/>
                    </a:ext>
                  </a:extLst>
                </a:gridCol>
              </a:tblGrid>
              <a:tr h="0">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Name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5890" marR="55890" marT="139726" marB="27945"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Value(s)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5890" marT="139726" marB="27945"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5890" marT="139726" marB="27945"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17698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bgcolor</a:t>
                      </a:r>
                    </a:p>
                  </a:txBody>
                  <a:tcPr marL="5589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color value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111781"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background color of the player</a:t>
                      </a:r>
                    </a:p>
                  </a:txBody>
                  <a:tcPr marL="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9452">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flashvar</a:t>
                      </a:r>
                    </a:p>
                  </a:txBody>
                  <a:tcPr marL="5589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111781"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text values that are passed to the player as variables to control the behavior and content of the movie</a:t>
                      </a:r>
                    </a:p>
                  </a:txBody>
                  <a:tcPr marL="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7698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id</a:t>
                      </a:r>
                    </a:p>
                  </a:txBody>
                  <a:tcPr marL="5589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111781"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Identifies the movie so that it can be referenced</a:t>
                      </a:r>
                    </a:p>
                  </a:txBody>
                  <a:tcPr marL="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7698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loop</a:t>
                      </a:r>
                    </a:p>
                  </a:txBody>
                  <a:tcPr marL="5589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false</a:t>
                      </a:r>
                    </a:p>
                  </a:txBody>
                  <a:tcPr marL="0" marR="111781"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Plays the movie in a continuous loop</a:t>
                      </a:r>
                    </a:p>
                  </a:txBody>
                  <a:tcPr marL="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7698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menu</a:t>
                      </a:r>
                    </a:p>
                  </a:txBody>
                  <a:tcPr marL="5589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false</a:t>
                      </a:r>
                    </a:p>
                  </a:txBody>
                  <a:tcPr marL="0" marR="111781"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Displays a popup menu when a user right-clicks the player</a:t>
                      </a:r>
                    </a:p>
                  </a:txBody>
                  <a:tcPr marL="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7698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name</a:t>
                      </a:r>
                    </a:p>
                  </a:txBody>
                  <a:tcPr marL="5589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111781"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Names the movie so that it can be referenced</a:t>
                      </a:r>
                    </a:p>
                  </a:txBody>
                  <a:tcPr marL="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7698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play</a:t>
                      </a:r>
                    </a:p>
                  </a:txBody>
                  <a:tcPr marL="5589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false</a:t>
                      </a:r>
                    </a:p>
                  </a:txBody>
                  <a:tcPr marL="0" marR="111781"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Starts the player when the page loads</a:t>
                      </a:r>
                    </a:p>
                  </a:txBody>
                  <a:tcPr marL="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172526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Exploring the Flash Player</a:t>
            </a:r>
            <a:br>
              <a:rPr lang="en-IN" dirty="0"/>
            </a:br>
            <a:r>
              <a:rPr lang="en-IN" dirty="0"/>
              <a:t>(continued 2)</a:t>
            </a:r>
            <a:endParaRPr 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500338513"/>
              </p:ext>
            </p:extLst>
          </p:nvPr>
        </p:nvGraphicFramePr>
        <p:xfrm>
          <a:off x="420271" y="1457772"/>
          <a:ext cx="8303457" cy="4810831"/>
        </p:xfrm>
        <a:graphic>
          <a:graphicData uri="http://schemas.openxmlformats.org/drawingml/2006/table">
            <a:tbl>
              <a:tblPr firstRow="1"/>
              <a:tblGrid>
                <a:gridCol w="1055076">
                  <a:extLst>
                    <a:ext uri="{9D8B030D-6E8A-4147-A177-3AD203B41FA5}">
                      <a16:colId xmlns:a16="http://schemas.microsoft.com/office/drawing/2014/main" val="20000"/>
                    </a:ext>
                  </a:extLst>
                </a:gridCol>
                <a:gridCol w="2489982">
                  <a:extLst>
                    <a:ext uri="{9D8B030D-6E8A-4147-A177-3AD203B41FA5}">
                      <a16:colId xmlns:a16="http://schemas.microsoft.com/office/drawing/2014/main" val="20001"/>
                    </a:ext>
                  </a:extLst>
                </a:gridCol>
                <a:gridCol w="4758399">
                  <a:extLst>
                    <a:ext uri="{9D8B030D-6E8A-4147-A177-3AD203B41FA5}">
                      <a16:colId xmlns:a16="http://schemas.microsoft.com/office/drawing/2014/main" val="20002"/>
                    </a:ext>
                  </a:extLst>
                </a:gridCol>
              </a:tblGrid>
              <a:tr h="279452">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Name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5890" marR="55890" marT="139726" marB="27945"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Value(s)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5890" marT="139726" marB="27945"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5890" marT="139726" marB="27945"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381918">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quality</a:t>
                      </a:r>
                    </a:p>
                  </a:txBody>
                  <a:tcPr marL="5589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low</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autolow</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autohigh</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medium</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high</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best</a:t>
                      </a:r>
                    </a:p>
                  </a:txBody>
                  <a:tcPr marL="0" marR="111781"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playback quality of the movie; low values favor playback speed over display quality; high values favor display quality over playback speed</a:t>
                      </a:r>
                    </a:p>
                  </a:txBody>
                  <a:tcPr marL="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1782">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scale</a:t>
                      </a:r>
                    </a:p>
                  </a:txBody>
                  <a:tcPr marL="5589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showall</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noborder</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exactfit</a:t>
                      </a:r>
                    </a:p>
                  </a:txBody>
                  <a:tcPr marL="0" marR="111781"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Defines how the movie clip is scaled within the defined space; a value of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showall</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makes the entire clip visible in the specified area without distortion; a value of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noborder</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scales the movie to fill the specified area without distortion but possibly with some cropping; a value of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exactfit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makes the entire movie visible in the specified area without trying to preserve the original aspect ratio</a:t>
                      </a:r>
                    </a:p>
                  </a:txBody>
                  <a:tcPr marL="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685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wmode</a:t>
                      </a:r>
                    </a:p>
                  </a:txBody>
                  <a:tcPr marL="5589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window</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opaque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transparent</a:t>
                      </a:r>
                    </a:p>
                  </a:txBody>
                  <a:tcPr marL="0" marR="111781"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spc="-1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appearance of the player against the page background; </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value of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window</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causes the movie to play within its own window; a value of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opaque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hides everything behind the player; a value of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transparent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allows the page background to show through transparent colors in the player</a:t>
                      </a:r>
                    </a:p>
                  </a:txBody>
                  <a:tcPr marL="0" marR="55890" marT="37260" marB="3726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932837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Embedding Videos from YouTube</a:t>
            </a:r>
            <a:endParaRPr lang="en-US" dirty="0"/>
          </a:p>
        </p:txBody>
      </p:sp>
      <p:sp>
        <p:nvSpPr>
          <p:cNvPr id="5" name="Text Placeholder 4"/>
          <p:cNvSpPr>
            <a:spLocks noGrp="1"/>
          </p:cNvSpPr>
          <p:nvPr>
            <p:ph type="body" sz="quarter" idx="17"/>
          </p:nvPr>
        </p:nvSpPr>
        <p:spPr/>
        <p:txBody>
          <a:bodyPr/>
          <a:lstStyle/>
          <a:p>
            <a:r>
              <a:rPr lang="en-IN" dirty="0"/>
              <a:t>YouTube videos are easy to embed in a web page using YouTube’s HTML5 video player</a:t>
            </a:r>
          </a:p>
          <a:p>
            <a:r>
              <a:rPr lang="en-IN" dirty="0"/>
              <a:t>Click the Share button below the YouTube video player to share it</a:t>
            </a:r>
          </a:p>
          <a:p>
            <a:r>
              <a:rPr lang="en-IN" dirty="0"/>
              <a:t>YouTube provides options to post a hypertext link to the video to a multitude of social media sites or to share the link via e-mail</a:t>
            </a:r>
            <a:endParaRPr lang="en-US" dirty="0"/>
          </a:p>
        </p:txBody>
      </p:sp>
    </p:spTree>
    <p:extLst>
      <p:ext uri="{BB962C8B-B14F-4D97-AF65-F5344CB8AC3E}">
        <p14:creationId xmlns:p14="http://schemas.microsoft.com/office/powerpoint/2010/main" val="29428989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Embedding Videos from YouTube (continued 1)</a:t>
            </a:r>
            <a:endParaRPr lang="en-US" dirty="0"/>
          </a:p>
        </p:txBody>
      </p:sp>
      <p:sp>
        <p:nvSpPr>
          <p:cNvPr id="6" name="Text Placeholder 5"/>
          <p:cNvSpPr>
            <a:spLocks noGrp="1"/>
          </p:cNvSpPr>
          <p:nvPr>
            <p:ph type="body" sz="quarter" idx="17"/>
          </p:nvPr>
        </p:nvSpPr>
        <p:spPr/>
        <p:txBody>
          <a:bodyPr>
            <a:normAutofit/>
          </a:bodyPr>
          <a:lstStyle/>
          <a:p>
            <a:r>
              <a:rPr lang="en-IN" dirty="0"/>
              <a:t>To embed a video within a website, click Embed, which brings up a preview of the embedded player and the HTML code that needs to be added to the web page</a:t>
            </a:r>
          </a:p>
          <a:p>
            <a:r>
              <a:rPr lang="en-IN" dirty="0"/>
              <a:t>The general code for the embedded player is:</a:t>
            </a:r>
          </a:p>
          <a:p>
            <a:pPr marL="457200" lvl="1" indent="0">
              <a:buNone/>
            </a:pPr>
            <a:r>
              <a:rPr lang="en-IN" sz="2600" dirty="0">
                <a:latin typeface="Courier New" panose="02070309020205020404" pitchFamily="49" charset="0"/>
                <a:cs typeface="Courier New" panose="02070309020205020404" pitchFamily="49" charset="0"/>
              </a:rPr>
              <a:t>&lt;iframe width=“</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 height=“</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 src=“</a:t>
            </a:r>
            <a:r>
              <a:rPr lang="en-IN" sz="2600" i="1" dirty="0">
                <a:latin typeface="Courier New" panose="02070309020205020404" pitchFamily="49" charset="0"/>
                <a:cs typeface="Courier New" panose="02070309020205020404" pitchFamily="49" charset="0"/>
              </a:rPr>
              <a:t>url</a:t>
            </a:r>
            <a:r>
              <a:rPr lang="en-IN" sz="2600" dirty="0">
                <a:latin typeface="Courier New" panose="02070309020205020404" pitchFamily="49" charset="0"/>
                <a:cs typeface="Courier New" panose="02070309020205020404" pitchFamily="49" charset="0"/>
              </a:rPr>
              <a:t>”</a:t>
            </a:r>
          </a:p>
          <a:p>
            <a:pPr marL="457200" lvl="1" indent="0">
              <a:buNone/>
            </a:pPr>
            <a:r>
              <a:rPr lang="en-IN" sz="2600" dirty="0">
                <a:latin typeface="Courier New" panose="02070309020205020404" pitchFamily="49" charset="0"/>
                <a:cs typeface="Courier New" panose="02070309020205020404" pitchFamily="49" charset="0"/>
              </a:rPr>
              <a:t>frameborder=“0” allowfullscreen&gt;</a:t>
            </a:r>
          </a:p>
          <a:p>
            <a:pPr marL="457200" lvl="1" indent="0">
              <a:buNone/>
            </a:pPr>
            <a:r>
              <a:rPr lang="en-IN" sz="2600" dirty="0">
                <a:latin typeface="Courier New" panose="02070309020205020404" pitchFamily="49" charset="0"/>
                <a:cs typeface="Courier New" panose="02070309020205020404" pitchFamily="49" charset="0"/>
              </a:rPr>
              <a:t>&lt;/iframe&gt;</a:t>
            </a:r>
          </a:p>
        </p:txBody>
      </p:sp>
    </p:spTree>
    <p:extLst>
      <p:ext uri="{BB962C8B-B14F-4D97-AF65-F5344CB8AC3E}">
        <p14:creationId xmlns:p14="http://schemas.microsoft.com/office/powerpoint/2010/main" val="10092643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Embedding Videos from YouTube (continued 2)</a:t>
            </a:r>
            <a:endParaRPr lang="en-US" dirty="0"/>
          </a:p>
        </p:txBody>
      </p:sp>
      <p:sp>
        <p:nvSpPr>
          <p:cNvPr id="2" name="Text Placeholder 1"/>
          <p:cNvSpPr>
            <a:spLocks noGrp="1"/>
          </p:cNvSpPr>
          <p:nvPr>
            <p:ph type="body" sz="quarter" idx="17"/>
          </p:nvPr>
        </p:nvSpPr>
        <p:spPr/>
        <p:txBody>
          <a:bodyPr>
            <a:normAutofit/>
          </a:bodyPr>
          <a:lstStyle/>
          <a:p>
            <a:pPr marL="463550" indent="0">
              <a:buNone/>
            </a:pPr>
            <a:r>
              <a:rPr lang="en-IN" sz="2800" dirty="0"/>
              <a:t>where,</a:t>
            </a:r>
          </a:p>
          <a:p>
            <a:pPr lvl="2"/>
            <a:r>
              <a:rPr lang="en-IN" dirty="0"/>
              <a:t>the </a:t>
            </a:r>
            <a:r>
              <a:rPr lang="en-IN" dirty="0">
                <a:latin typeface="Courier New" panose="02070309020205020404" pitchFamily="49" charset="0"/>
                <a:cs typeface="Courier New" panose="02070309020205020404" pitchFamily="49" charset="0"/>
              </a:rPr>
              <a:t>url</a:t>
            </a:r>
            <a:r>
              <a:rPr lang="en-IN" dirty="0"/>
              <a:t> provides the link to the</a:t>
            </a:r>
            <a:r>
              <a:rPr lang="en-US" dirty="0"/>
              <a:t> </a:t>
            </a:r>
            <a:r>
              <a:rPr lang="en-IN" dirty="0"/>
              <a:t>YouTube video</a:t>
            </a:r>
          </a:p>
          <a:p>
            <a:pPr lvl="2"/>
            <a:r>
              <a:rPr lang="en-IN" dirty="0">
                <a:latin typeface="Courier New" panose="02070309020205020404" pitchFamily="49" charset="0"/>
                <a:cs typeface="Courier New" panose="02070309020205020404" pitchFamily="49" charset="0"/>
              </a:rPr>
              <a:t>width</a:t>
            </a:r>
            <a:r>
              <a:rPr lang="en-IN" dirty="0"/>
              <a:t> and </a:t>
            </a:r>
            <a:r>
              <a:rPr lang="en-IN" dirty="0">
                <a:latin typeface="Courier New" panose="02070309020205020404" pitchFamily="49" charset="0"/>
                <a:cs typeface="Courier New" panose="02070309020205020404" pitchFamily="49" charset="0"/>
              </a:rPr>
              <a:t>height</a:t>
            </a:r>
            <a:r>
              <a:rPr lang="en-IN" dirty="0"/>
              <a:t> attributes define the dimensions of the player embedded on a web page</a:t>
            </a:r>
          </a:p>
          <a:p>
            <a:pPr lvl="2"/>
            <a:r>
              <a:rPr lang="en-IN" dirty="0">
                <a:latin typeface="Courier New" panose="02070309020205020404" pitchFamily="49" charset="0"/>
                <a:cs typeface="Courier New" panose="02070309020205020404" pitchFamily="49" charset="0"/>
              </a:rPr>
              <a:t>frameborder</a:t>
            </a:r>
            <a:r>
              <a:rPr lang="en-IN" dirty="0"/>
              <a:t> attribute sets the width of the border around the player in pixels</a:t>
            </a:r>
          </a:p>
          <a:p>
            <a:pPr lvl="2"/>
            <a:r>
              <a:rPr lang="en-IN" dirty="0">
                <a:latin typeface="Courier New" panose="02070309020205020404" pitchFamily="49" charset="0"/>
                <a:cs typeface="Courier New" panose="02070309020205020404" pitchFamily="49" charset="0"/>
              </a:rPr>
              <a:t>allowfullscreen</a:t>
            </a:r>
            <a:r>
              <a:rPr lang="en-IN" dirty="0"/>
              <a:t> attribute allows the user to play the video in full screen mode</a:t>
            </a:r>
          </a:p>
        </p:txBody>
      </p:sp>
    </p:spTree>
    <p:extLst>
      <p:ext uri="{BB962C8B-B14F-4D97-AF65-F5344CB8AC3E}">
        <p14:creationId xmlns:p14="http://schemas.microsoft.com/office/powerpoint/2010/main" val="12246526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Embedding Videos from YouTube (continued 3)</a:t>
            </a:r>
            <a:endParaRPr lang="en-US" dirty="0"/>
          </a:p>
        </p:txBody>
      </p:sp>
      <p:sp>
        <p:nvSpPr>
          <p:cNvPr id="5" name="Text Placeholder 4"/>
          <p:cNvSpPr>
            <a:spLocks noGrp="1"/>
          </p:cNvSpPr>
          <p:nvPr>
            <p:ph type="body" sz="quarter" idx="17"/>
          </p:nvPr>
        </p:nvSpPr>
        <p:spPr/>
        <p:txBody>
          <a:bodyPr/>
          <a:lstStyle/>
          <a:p>
            <a:r>
              <a:rPr lang="en-US" dirty="0"/>
              <a:t>The </a:t>
            </a:r>
            <a:r>
              <a:rPr lang="en-US" b="1" dirty="0"/>
              <a:t>iframe element</a:t>
            </a:r>
            <a:r>
              <a:rPr lang="en-US" dirty="0"/>
              <a:t> itself is used to mark </a:t>
            </a:r>
            <a:r>
              <a:rPr lang="en-US" b="1" dirty="0"/>
              <a:t>inline frames</a:t>
            </a:r>
          </a:p>
          <a:p>
            <a:r>
              <a:rPr lang="en-US" b="1" dirty="0"/>
              <a:t>Inline frames</a:t>
            </a:r>
            <a:endParaRPr lang="en-US" dirty="0"/>
          </a:p>
          <a:p>
            <a:pPr lvl="1"/>
            <a:r>
              <a:rPr lang="en-US" dirty="0"/>
              <a:t>Windows embedded within a web page that display the content of another page or Internet resource</a:t>
            </a:r>
          </a:p>
        </p:txBody>
      </p:sp>
    </p:spTree>
    <p:extLst>
      <p:ext uri="{BB962C8B-B14F-4D97-AF65-F5344CB8AC3E}">
        <p14:creationId xmlns:p14="http://schemas.microsoft.com/office/powerpoint/2010/main" val="35373796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HTML5 Video Players</a:t>
            </a:r>
            <a:endParaRPr lang="en-US" dirty="0"/>
          </a:p>
        </p:txBody>
      </p:sp>
      <p:sp>
        <p:nvSpPr>
          <p:cNvPr id="8" name="Text Placeholder 7"/>
          <p:cNvSpPr>
            <a:spLocks noGrp="1"/>
          </p:cNvSpPr>
          <p:nvPr>
            <p:ph type="body" sz="quarter" idx="17"/>
          </p:nvPr>
        </p:nvSpPr>
        <p:spPr/>
        <p:txBody>
          <a:bodyPr/>
          <a:lstStyle/>
          <a:p>
            <a:r>
              <a:rPr lang="en-IN" dirty="0"/>
              <a:t>HTML5 video player works within a browser with CSS and JavaScript files</a:t>
            </a:r>
          </a:p>
          <a:p>
            <a:r>
              <a:rPr lang="en-IN" dirty="0"/>
              <a:t>It presents a customizable player that can be adapted to the needs of business or organization</a:t>
            </a:r>
          </a:p>
          <a:p>
            <a:r>
              <a:rPr lang="en-IN" dirty="0"/>
              <a:t>For example, YouTube player that provides both the player and a hosting service for the video content</a:t>
            </a:r>
          </a:p>
        </p:txBody>
      </p:sp>
    </p:spTree>
    <p:extLst>
      <p:ext uri="{BB962C8B-B14F-4D97-AF65-F5344CB8AC3E}">
        <p14:creationId xmlns:p14="http://schemas.microsoft.com/office/powerpoint/2010/main" val="39824228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a:t>HTML5 Video Players</a:t>
            </a:r>
            <a:br>
              <a:rPr lang="en-IN"/>
            </a:br>
            <a:r>
              <a:rPr lang="en-IN"/>
              <a:t>(continued 1)</a:t>
            </a:r>
            <a:endParaRPr lang="en-US" dirty="0"/>
          </a:p>
        </p:txBody>
      </p:sp>
      <p:sp>
        <p:nvSpPr>
          <p:cNvPr id="2" name="Text Placeholder 1"/>
          <p:cNvSpPr>
            <a:spLocks noGrp="1"/>
          </p:cNvSpPr>
          <p:nvPr>
            <p:ph type="body" sz="quarter" idx="17"/>
          </p:nvPr>
        </p:nvSpPr>
        <p:spPr/>
        <p:txBody>
          <a:bodyPr/>
          <a:lstStyle/>
          <a:p>
            <a:r>
              <a:rPr lang="en-IN" dirty="0"/>
              <a:t>HTML5 includes video players</a:t>
            </a:r>
          </a:p>
          <a:p>
            <a:pPr lvl="1"/>
            <a:r>
              <a:rPr lang="en-US" b="1" dirty="0"/>
              <a:t>JWPlayer</a:t>
            </a:r>
          </a:p>
          <a:p>
            <a:pPr lvl="2"/>
            <a:r>
              <a:rPr lang="en-US" dirty="0"/>
              <a:t>A popular commercial player that supports both HTML 5 and Flash video</a:t>
            </a:r>
          </a:p>
          <a:p>
            <a:pPr lvl="1"/>
            <a:r>
              <a:rPr lang="en-US" b="1" dirty="0"/>
              <a:t>VideoJS</a:t>
            </a:r>
          </a:p>
          <a:p>
            <a:pPr lvl="2"/>
            <a:r>
              <a:rPr lang="en-US" dirty="0"/>
              <a:t>A free player that works with the popular WordPress HTML framework </a:t>
            </a:r>
          </a:p>
          <a:p>
            <a:pPr lvl="1"/>
            <a:r>
              <a:rPr lang="en-US" b="1" dirty="0"/>
              <a:t>Flowplayer</a:t>
            </a:r>
          </a:p>
          <a:p>
            <a:pPr lvl="2"/>
            <a:r>
              <a:rPr lang="en-US" dirty="0"/>
              <a:t>Originally marketed as a Flash player, Flowplayer is a commercially licensed audio and video player, payable as a one-time fee for perpetual use </a:t>
            </a:r>
          </a:p>
        </p:txBody>
      </p:sp>
    </p:spTree>
    <p:extLst>
      <p:ext uri="{BB962C8B-B14F-4D97-AF65-F5344CB8AC3E}">
        <p14:creationId xmlns:p14="http://schemas.microsoft.com/office/powerpoint/2010/main" val="35549458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a:t>HTML5 Video Players</a:t>
            </a:r>
            <a:br>
              <a:rPr lang="en-IN"/>
            </a:br>
            <a:r>
              <a:rPr lang="en-IN"/>
              <a:t>(continued 2)</a:t>
            </a:r>
            <a:endParaRPr lang="en-US" dirty="0"/>
          </a:p>
        </p:txBody>
      </p:sp>
      <p:sp>
        <p:nvSpPr>
          <p:cNvPr id="2" name="Text Placeholder 1"/>
          <p:cNvSpPr>
            <a:spLocks noGrp="1"/>
          </p:cNvSpPr>
          <p:nvPr>
            <p:ph type="body" sz="quarter" idx="17"/>
          </p:nvPr>
        </p:nvSpPr>
        <p:spPr/>
        <p:txBody>
          <a:bodyPr/>
          <a:lstStyle/>
          <a:p>
            <a:r>
              <a:rPr lang="en-IN" dirty="0"/>
              <a:t>HTML5 includes video players (continued)</a:t>
            </a:r>
          </a:p>
          <a:p>
            <a:pPr lvl="1"/>
            <a:r>
              <a:rPr lang="en-US" b="1" dirty="0"/>
              <a:t>Kaltura Player</a:t>
            </a:r>
          </a:p>
          <a:p>
            <a:pPr lvl="2"/>
            <a:r>
              <a:rPr lang="en-US" dirty="0"/>
              <a:t>A free open-source video player that can be customized with user-created player controls and skins to match the design of one’s website</a:t>
            </a:r>
          </a:p>
          <a:p>
            <a:pPr lvl="1"/>
            <a:r>
              <a:rPr lang="en-IN" b="1" dirty="0"/>
              <a:t>Wistia</a:t>
            </a:r>
          </a:p>
          <a:p>
            <a:pPr lvl="2"/>
            <a:r>
              <a:rPr lang="en-US" dirty="0"/>
              <a:t>An HTML 5 video player focused on business needs and applications</a:t>
            </a:r>
            <a:endParaRPr lang="en-IN" dirty="0"/>
          </a:p>
          <a:p>
            <a:pPr lvl="2"/>
            <a:endParaRPr lang="en-IN" dirty="0"/>
          </a:p>
        </p:txBody>
      </p:sp>
    </p:spTree>
    <p:extLst>
      <p:ext uri="{BB962C8B-B14F-4D97-AF65-F5344CB8AC3E}">
        <p14:creationId xmlns:p14="http://schemas.microsoft.com/office/powerpoint/2010/main" val="24777660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Introducing Transitions</a:t>
            </a:r>
            <a:endParaRPr lang="en-US" dirty="0"/>
          </a:p>
        </p:txBody>
      </p:sp>
      <p:sp>
        <p:nvSpPr>
          <p:cNvPr id="3" name="Text Placeholder 2"/>
          <p:cNvSpPr>
            <a:spLocks noGrp="1"/>
          </p:cNvSpPr>
          <p:nvPr>
            <p:ph type="body" sz="quarter" idx="17"/>
          </p:nvPr>
        </p:nvSpPr>
        <p:spPr/>
        <p:txBody>
          <a:bodyPr/>
          <a:lstStyle/>
          <a:p>
            <a:r>
              <a:rPr lang="en-IN" b="1" dirty="0"/>
              <a:t>Transition: </a:t>
            </a:r>
            <a:r>
              <a:rPr lang="en-IN" dirty="0"/>
              <a:t>Change in an object’s style from the initial state to the ending state, usually in response to an event initiated by the user or the browser</a:t>
            </a:r>
          </a:p>
          <a:p>
            <a:r>
              <a:rPr lang="en-IN" dirty="0"/>
              <a:t>It slows down the change from one color to another and provides intermediate styles</a:t>
            </a:r>
          </a:p>
        </p:txBody>
      </p:sp>
    </p:spTree>
    <p:extLst>
      <p:ext uri="{BB962C8B-B14F-4D97-AF65-F5344CB8AC3E}">
        <p14:creationId xmlns:p14="http://schemas.microsoft.com/office/powerpoint/2010/main" val="33024850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Introducing Transitions (continued)</a:t>
            </a:r>
            <a:endParaRPr lang="en-US" dirty="0"/>
          </a:p>
        </p:txBody>
      </p:sp>
      <p:sp>
        <p:nvSpPr>
          <p:cNvPr id="6" name="Text Placeholder 5"/>
          <p:cNvSpPr>
            <a:spLocks noGrp="1"/>
          </p:cNvSpPr>
          <p:nvPr>
            <p:ph type="body" sz="quarter" idx="17"/>
          </p:nvPr>
        </p:nvSpPr>
        <p:spPr/>
        <p:txBody>
          <a:bodyPr/>
          <a:lstStyle/>
          <a:p>
            <a:r>
              <a:rPr lang="en-IN" dirty="0"/>
              <a:t>To create transition, employ the following transition style:</a:t>
            </a:r>
          </a:p>
          <a:p>
            <a:pPr marL="463550" lvl="1" indent="0">
              <a:buNone/>
            </a:pPr>
            <a:r>
              <a:rPr lang="en-IN" sz="2600" dirty="0">
                <a:latin typeface="Courier New" panose="02070309020205020404" pitchFamily="49" charset="0"/>
                <a:cs typeface="Courier New" panose="02070309020205020404" pitchFamily="49" charset="0"/>
              </a:rPr>
              <a:t>transition: </a:t>
            </a:r>
            <a:r>
              <a:rPr lang="en-IN" sz="2600" i="1" dirty="0">
                <a:latin typeface="Courier New" panose="02070309020205020404" pitchFamily="49" charset="0"/>
                <a:cs typeface="Courier New" panose="02070309020205020404" pitchFamily="49" charset="0"/>
              </a:rPr>
              <a:t>property duration</a:t>
            </a:r>
            <a:r>
              <a:rPr lang="en-IN" sz="2600" dirty="0">
                <a:latin typeface="Courier New" panose="02070309020205020404" pitchFamily="49" charset="0"/>
                <a:cs typeface="Courier New" panose="02070309020205020404" pitchFamily="49" charset="0"/>
              </a:rPr>
              <a:t>;</a:t>
            </a:r>
          </a:p>
          <a:p>
            <a:pPr marL="463550" indent="0">
              <a:buNone/>
            </a:pPr>
            <a:r>
              <a:rPr lang="en-IN" sz="2800" dirty="0">
                <a:latin typeface="Arial" panose="020B0604020202020204" pitchFamily="34" charset="0"/>
                <a:cs typeface="Arial" panose="020B0604020202020204" pitchFamily="34" charset="0"/>
              </a:rPr>
              <a:t>where </a:t>
            </a:r>
            <a:r>
              <a:rPr lang="en-IN" sz="2600" i="1" dirty="0">
                <a:latin typeface="Courier New" panose="02070309020205020404" pitchFamily="49" charset="0"/>
                <a:cs typeface="Courier New" panose="02070309020205020404" pitchFamily="49" charset="0"/>
              </a:rPr>
              <a:t>property</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is a property of the object that changes between the initial and end states and </a:t>
            </a:r>
            <a:r>
              <a:rPr lang="en-IN" sz="2600" i="1" dirty="0">
                <a:latin typeface="Courier New" panose="02070309020205020404" pitchFamily="49" charset="0"/>
                <a:cs typeface="Courier New" panose="02070309020205020404" pitchFamily="49" charset="0"/>
              </a:rPr>
              <a:t>duration</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is the transition time in seconds or milliseconds</a:t>
            </a:r>
          </a:p>
        </p:txBody>
      </p:sp>
    </p:spTree>
    <p:extLst>
      <p:ext uri="{BB962C8B-B14F-4D97-AF65-F5344CB8AC3E}">
        <p14:creationId xmlns:p14="http://schemas.microsoft.com/office/powerpoint/2010/main" val="37951444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Setting the Transition Timing</a:t>
            </a:r>
            <a:endParaRPr lang="en-US" dirty="0"/>
          </a:p>
        </p:txBody>
      </p:sp>
      <p:sp>
        <p:nvSpPr>
          <p:cNvPr id="3" name="Text Placeholder 2"/>
          <p:cNvSpPr>
            <a:spLocks noGrp="1"/>
          </p:cNvSpPr>
          <p:nvPr>
            <p:ph type="body" sz="quarter" idx="17"/>
          </p:nvPr>
        </p:nvSpPr>
        <p:spPr/>
        <p:txBody>
          <a:bodyPr/>
          <a:lstStyle/>
          <a:p>
            <a:r>
              <a:rPr lang="en-IN" dirty="0"/>
              <a:t>Varying speed of transition is defined using</a:t>
            </a:r>
          </a:p>
          <a:p>
            <a:pPr marL="463550" lvl="1" indent="0">
              <a:buNone/>
            </a:pPr>
            <a:r>
              <a:rPr lang="en-IN" sz="2600" dirty="0">
                <a:latin typeface="Courier New" panose="02070309020205020404" pitchFamily="49" charset="0"/>
                <a:cs typeface="Courier New" panose="02070309020205020404" pitchFamily="49" charset="0"/>
              </a:rPr>
              <a:t>transition: </a:t>
            </a:r>
            <a:r>
              <a:rPr lang="en-IN" sz="2600" i="1" dirty="0">
                <a:latin typeface="Courier New" panose="02070309020205020404" pitchFamily="49" charset="0"/>
                <a:cs typeface="Courier New" panose="02070309020205020404" pitchFamily="49" charset="0"/>
              </a:rPr>
              <a:t>property duration timing-function</a:t>
            </a:r>
            <a:r>
              <a:rPr lang="en-IN" sz="2600" dirty="0">
                <a:latin typeface="Courier New" panose="02070309020205020404" pitchFamily="49" charset="0"/>
                <a:cs typeface="Courier New" panose="02070309020205020404" pitchFamily="49" charset="0"/>
              </a:rPr>
              <a:t>;</a:t>
            </a:r>
          </a:p>
          <a:p>
            <a:pPr marL="463550" indent="0">
              <a:buNone/>
            </a:pPr>
            <a:r>
              <a:rPr lang="en-IN" sz="2800" dirty="0">
                <a:latin typeface="Arial" panose="020B0604020202020204" pitchFamily="34" charset="0"/>
                <a:ea typeface="Cambria Math" panose="02040503050406030204" pitchFamily="18" charset="0"/>
                <a:cs typeface="Arial" panose="020B0604020202020204" pitchFamily="34" charset="0"/>
              </a:rPr>
              <a:t>where </a:t>
            </a:r>
            <a:r>
              <a:rPr lang="en-IN" sz="2600" i="1" dirty="0">
                <a:latin typeface="Courier New" panose="02070309020205020404" pitchFamily="49" charset="0"/>
                <a:cs typeface="Courier New" panose="02070309020205020404" pitchFamily="49" charset="0"/>
              </a:rPr>
              <a:t>timing-function</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is one of the following keywords:</a:t>
            </a:r>
          </a:p>
          <a:p>
            <a:pPr marL="914400" lvl="1"/>
            <a:r>
              <a:rPr lang="en-IN" sz="2600" dirty="0">
                <a:latin typeface="Courier New" panose="02070309020205020404" pitchFamily="49" charset="0"/>
                <a:cs typeface="Courier New" panose="02070309020205020404" pitchFamily="49" charset="0"/>
              </a:rPr>
              <a:t>ease</a:t>
            </a:r>
            <a:r>
              <a:rPr lang="en-IN" dirty="0"/>
              <a:t>: </a:t>
            </a:r>
            <a:r>
              <a:rPr lang="en-IN" sz="2400" dirty="0"/>
              <a:t>(the default) Transition occurs more rapidly at the beginning and slows down near the end</a:t>
            </a:r>
          </a:p>
          <a:p>
            <a:pPr marL="914400" lvl="1"/>
            <a:r>
              <a:rPr lang="en-IN" sz="2600" dirty="0">
                <a:latin typeface="Courier New" panose="02070309020205020404" pitchFamily="49" charset="0"/>
                <a:cs typeface="Courier New" panose="02070309020205020404" pitchFamily="49" charset="0"/>
              </a:rPr>
              <a:t>ease-in</a:t>
            </a:r>
            <a:r>
              <a:rPr lang="en-IN" sz="2400" dirty="0">
                <a:latin typeface="Arial" panose="020B0604020202020204" pitchFamily="34" charset="0"/>
                <a:cs typeface="Arial" panose="020B0604020202020204" pitchFamily="34" charset="0"/>
              </a:rPr>
              <a:t>: Transition starts slowly and maintains a constant rate until the finish</a:t>
            </a:r>
          </a:p>
          <a:p>
            <a:pPr marL="914400" lvl="1"/>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39648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Setting the Transition Timing (continued 1)</a:t>
            </a:r>
            <a:endParaRPr lang="en-US" dirty="0"/>
          </a:p>
        </p:txBody>
      </p:sp>
      <p:sp>
        <p:nvSpPr>
          <p:cNvPr id="3" name="Text Placeholder 2"/>
          <p:cNvSpPr>
            <a:spLocks noGrp="1"/>
          </p:cNvSpPr>
          <p:nvPr>
            <p:ph type="body" sz="quarter" idx="17"/>
          </p:nvPr>
        </p:nvSpPr>
        <p:spPr/>
        <p:txBody>
          <a:bodyPr/>
          <a:lstStyle/>
          <a:p>
            <a:pPr marL="463550" indent="0">
              <a:buNone/>
            </a:pPr>
            <a:r>
              <a:rPr lang="en-IN" sz="2600" i="1" dirty="0">
                <a:latin typeface="Courier New" panose="02070309020205020404" pitchFamily="49" charset="0"/>
                <a:cs typeface="Courier New" panose="02070309020205020404" pitchFamily="49" charset="0"/>
              </a:rPr>
              <a:t>timing-function</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keywords (continued)</a:t>
            </a:r>
          </a:p>
          <a:p>
            <a:pPr marL="914400" lvl="1"/>
            <a:r>
              <a:rPr lang="en-US" sz="2600" dirty="0">
                <a:latin typeface="Courier New" panose="02070309020205020404" pitchFamily="49" charset="0"/>
                <a:cs typeface="Courier New" panose="02070309020205020404" pitchFamily="49" charset="0"/>
              </a:rPr>
              <a:t>ease-out</a:t>
            </a:r>
            <a:r>
              <a:rPr lang="en-US" sz="2400" dirty="0">
                <a:latin typeface="Arial" panose="020B0604020202020204" pitchFamily="34" charset="0"/>
                <a:cs typeface="Arial" panose="020B0604020202020204" pitchFamily="34" charset="0"/>
              </a:rPr>
              <a:t>: Transition starts at a constant rate and then slows down toward the finish</a:t>
            </a:r>
          </a:p>
          <a:p>
            <a:pPr marL="914400" lvl="1"/>
            <a:r>
              <a:rPr lang="en-US" sz="2600" dirty="0">
                <a:latin typeface="Courier New" panose="02070309020205020404" pitchFamily="49" charset="0"/>
                <a:cs typeface="Courier New" panose="02070309020205020404" pitchFamily="49" charset="0"/>
              </a:rPr>
              <a:t>ease-in-ou</a:t>
            </a:r>
            <a:r>
              <a:rPr lang="en-US" sz="2400" dirty="0">
                <a:latin typeface="Arial" panose="020B0604020202020204" pitchFamily="34" charset="0"/>
                <a:cs typeface="Arial" panose="020B0604020202020204" pitchFamily="34" charset="0"/>
              </a:rPr>
              <a:t>t: Transition starts slowly, reaches a constant rate, and then slows down toward the finish</a:t>
            </a:r>
          </a:p>
          <a:p>
            <a:pPr marL="914400" lvl="1"/>
            <a:r>
              <a:rPr lang="en-US" sz="2600" dirty="0">
                <a:latin typeface="Courier New" panose="02070309020205020404" pitchFamily="49" charset="0"/>
                <a:cs typeface="Courier New" panose="02070309020205020404" pitchFamily="49" charset="0"/>
              </a:rPr>
              <a:t>linear</a:t>
            </a:r>
            <a:r>
              <a:rPr lang="en-US" sz="2400" dirty="0">
                <a:latin typeface="Arial" panose="020B0604020202020204" pitchFamily="34" charset="0"/>
                <a:cs typeface="Arial" panose="020B0604020202020204" pitchFamily="34" charset="0"/>
              </a:rPr>
              <a:t>: Transition is applied at a constant rate throughout the duration</a:t>
            </a:r>
          </a:p>
          <a:p>
            <a:pPr marL="914400" lvl="1"/>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11569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Setting the Transition Timing (continued 2)</a:t>
            </a:r>
            <a:endParaRPr lang="en-US" dirty="0"/>
          </a:p>
        </p:txBody>
      </p:sp>
      <p:sp>
        <p:nvSpPr>
          <p:cNvPr id="6" name="Text Placeholder 5"/>
          <p:cNvSpPr>
            <a:spLocks noGrp="1"/>
          </p:cNvSpPr>
          <p:nvPr>
            <p:ph type="body" sz="quarter" idx="17"/>
          </p:nvPr>
        </p:nvSpPr>
        <p:spPr/>
        <p:txBody>
          <a:bodyPr>
            <a:normAutofit lnSpcReduction="10000"/>
          </a:bodyPr>
          <a:lstStyle/>
          <a:p>
            <a:r>
              <a:rPr lang="en-IN" dirty="0"/>
              <a:t>Timing function can be visualized as a graph</a:t>
            </a:r>
          </a:p>
          <a:p>
            <a:r>
              <a:rPr lang="en-IN" dirty="0"/>
              <a:t>It shows the progress of transition vs. duration</a:t>
            </a:r>
          </a:p>
          <a:p>
            <a:r>
              <a:rPr lang="en-IN" dirty="0"/>
              <a:t>The graphical representation of the timing function is the basis of another measure of transition timing using</a:t>
            </a:r>
          </a:p>
          <a:p>
            <a:pPr marL="341313" indent="0">
              <a:buNone/>
            </a:pPr>
            <a:r>
              <a:rPr lang="en-IN" sz="2600" dirty="0">
                <a:latin typeface="Courier New" panose="02070309020205020404" pitchFamily="49" charset="0"/>
                <a:cs typeface="Courier New" panose="02070309020205020404" pitchFamily="49" charset="0"/>
              </a:rPr>
              <a:t>	cubic-bezier(</a:t>
            </a:r>
            <a:r>
              <a:rPr lang="en-IN" sz="2600" i="1" dirty="0">
                <a:latin typeface="Courier New" panose="02070309020205020404" pitchFamily="49" charset="0"/>
                <a:cs typeface="Courier New" panose="02070309020205020404" pitchFamily="49" charset="0"/>
              </a:rPr>
              <a:t>n</a:t>
            </a:r>
            <a:r>
              <a:rPr lang="en-IN" sz="2600" dirty="0">
                <a:latin typeface="Courier New" panose="02070309020205020404" pitchFamily="49" charset="0"/>
                <a:cs typeface="Courier New" panose="02070309020205020404" pitchFamily="49" charset="0"/>
              </a:rPr>
              <a:t>, </a:t>
            </a:r>
            <a:r>
              <a:rPr lang="en-IN" sz="2600" i="1" dirty="0">
                <a:latin typeface="Courier New" panose="02070309020205020404" pitchFamily="49" charset="0"/>
                <a:cs typeface="Courier New" panose="02070309020205020404" pitchFamily="49" charset="0"/>
              </a:rPr>
              <a:t>n</a:t>
            </a:r>
            <a:r>
              <a:rPr lang="en-IN" sz="2600" dirty="0">
                <a:latin typeface="Courier New" panose="02070309020205020404" pitchFamily="49" charset="0"/>
                <a:cs typeface="Courier New" panose="02070309020205020404" pitchFamily="49" charset="0"/>
              </a:rPr>
              <a:t>, </a:t>
            </a:r>
            <a:r>
              <a:rPr lang="en-IN" sz="2600" i="1" dirty="0">
                <a:latin typeface="Courier New" panose="02070309020205020404" pitchFamily="49" charset="0"/>
                <a:cs typeface="Courier New" panose="02070309020205020404" pitchFamily="49" charset="0"/>
              </a:rPr>
              <a:t>n</a:t>
            </a:r>
            <a:r>
              <a:rPr lang="en-IN" sz="2600" dirty="0">
                <a:latin typeface="Courier New" panose="02070309020205020404" pitchFamily="49" charset="0"/>
                <a:cs typeface="Courier New" panose="02070309020205020404" pitchFamily="49" charset="0"/>
              </a:rPr>
              <a:t>, </a:t>
            </a:r>
            <a:r>
              <a:rPr lang="en-IN" sz="2600" i="1" dirty="0">
                <a:latin typeface="Courier New" panose="02070309020205020404" pitchFamily="49" charset="0"/>
                <a:cs typeface="Courier New" panose="02070309020205020404" pitchFamily="49" charset="0"/>
              </a:rPr>
              <a:t>n</a:t>
            </a:r>
            <a:r>
              <a:rPr lang="en-IN" sz="2600" dirty="0">
                <a:latin typeface="Courier New" panose="02070309020205020404" pitchFamily="49" charset="0"/>
                <a:cs typeface="Courier New" panose="02070309020205020404" pitchFamily="49" charset="0"/>
              </a:rPr>
              <a:t>)</a:t>
            </a:r>
          </a:p>
          <a:p>
            <a:pPr marL="341313" indent="0">
              <a:buNone/>
            </a:pPr>
            <a:r>
              <a:rPr lang="en-IN" sz="2800" dirty="0"/>
              <a:t>Where the </a:t>
            </a:r>
            <a:r>
              <a:rPr lang="en-IN" sz="2600" i="1" dirty="0">
                <a:latin typeface="Courier New" panose="02070309020205020404" pitchFamily="49" charset="0"/>
                <a:cs typeface="Courier New" panose="02070309020205020404" pitchFamily="49" charset="0"/>
              </a:rPr>
              <a:t>n</a:t>
            </a:r>
            <a:r>
              <a:rPr lang="en-IN" sz="2800" dirty="0"/>
              <a:t> parameter values define the shape of the timing curve</a:t>
            </a:r>
          </a:p>
        </p:txBody>
      </p:sp>
    </p:spTree>
    <p:extLst>
      <p:ext uri="{BB962C8B-B14F-4D97-AF65-F5344CB8AC3E}">
        <p14:creationId xmlns:p14="http://schemas.microsoft.com/office/powerpoint/2010/main" val="21185072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Delaying a Transition</a:t>
            </a:r>
            <a:endParaRPr lang="en-US" dirty="0"/>
          </a:p>
        </p:txBody>
      </p:sp>
      <p:sp>
        <p:nvSpPr>
          <p:cNvPr id="3" name="Text Placeholder 2"/>
          <p:cNvSpPr>
            <a:spLocks noGrp="1"/>
          </p:cNvSpPr>
          <p:nvPr>
            <p:ph type="body" sz="quarter" idx="17"/>
          </p:nvPr>
        </p:nvSpPr>
        <p:spPr/>
        <p:txBody>
          <a:bodyPr/>
          <a:lstStyle/>
          <a:p>
            <a:r>
              <a:rPr lang="en-IN" dirty="0"/>
              <a:t>Transition does not need to start immediately after the event that triggers it</a:t>
            </a:r>
          </a:p>
          <a:p>
            <a:r>
              <a:rPr lang="en-IN" dirty="0"/>
              <a:t>Start of the transition can be delayed by adding </a:t>
            </a:r>
            <a:r>
              <a:rPr lang="en-IN" sz="2600" i="1" dirty="0">
                <a:latin typeface="Courier New" panose="02070309020205020404" pitchFamily="49" charset="0"/>
                <a:cs typeface="Courier New" panose="02070309020205020404" pitchFamily="49" charset="0"/>
              </a:rPr>
              <a:t>delay</a:t>
            </a:r>
            <a:r>
              <a:rPr lang="en-IN" i="1" dirty="0"/>
              <a:t> </a:t>
            </a:r>
            <a:r>
              <a:rPr lang="en-IN" dirty="0"/>
              <a:t>value to the following:</a:t>
            </a:r>
          </a:p>
          <a:p>
            <a:pPr marL="463550" lvl="1" indent="0">
              <a:buNone/>
            </a:pPr>
            <a:r>
              <a:rPr lang="en-IN" sz="2600" dirty="0">
                <a:latin typeface="Courier New" panose="02070309020205020404" pitchFamily="49" charset="0"/>
                <a:cs typeface="Courier New" panose="02070309020205020404" pitchFamily="49" charset="0"/>
              </a:rPr>
              <a:t>transition: property duration timing-function delay;</a:t>
            </a:r>
          </a:p>
          <a:p>
            <a:pPr marL="463550" indent="0">
              <a:buNone/>
            </a:pPr>
            <a:r>
              <a:rPr lang="en-IN" sz="2800" dirty="0">
                <a:latin typeface="Arial" panose="020B0604020202020204" pitchFamily="34" charset="0"/>
                <a:cs typeface="Arial" panose="020B0604020202020204" pitchFamily="34" charset="0"/>
              </a:rPr>
              <a:t>where </a:t>
            </a:r>
            <a:r>
              <a:rPr lang="en-IN" sz="2600" i="1" dirty="0">
                <a:latin typeface="Courier New" panose="02070309020205020404" pitchFamily="49" charset="0"/>
                <a:cs typeface="Courier New" panose="02070309020205020404" pitchFamily="49" charset="0"/>
              </a:rPr>
              <a:t>delay</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is measured in seconds or milliseconds</a:t>
            </a:r>
          </a:p>
        </p:txBody>
      </p:sp>
    </p:spTree>
    <p:extLst>
      <p:ext uri="{BB962C8B-B14F-4D97-AF65-F5344CB8AC3E}">
        <p14:creationId xmlns:p14="http://schemas.microsoft.com/office/powerpoint/2010/main" val="34118048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Creating a Hover Transition</a:t>
            </a:r>
            <a:endParaRPr lang="en-US" dirty="0"/>
          </a:p>
        </p:txBody>
      </p:sp>
      <p:sp>
        <p:nvSpPr>
          <p:cNvPr id="3" name="Text Placeholder 2"/>
          <p:cNvSpPr>
            <a:spLocks noGrp="1"/>
          </p:cNvSpPr>
          <p:nvPr>
            <p:ph type="body" sz="quarter" idx="17"/>
          </p:nvPr>
        </p:nvSpPr>
        <p:spPr/>
        <p:txBody>
          <a:bodyPr>
            <a:normAutofit lnSpcReduction="10000"/>
          </a:bodyPr>
          <a:lstStyle/>
          <a:p>
            <a:r>
              <a:rPr lang="en-US" dirty="0"/>
              <a:t>The </a:t>
            </a:r>
            <a:r>
              <a:rPr lang="en-IN" dirty="0"/>
              <a:t>transition property can be added to slow down the transition from initial to end state</a:t>
            </a:r>
          </a:p>
          <a:p>
            <a:r>
              <a:rPr lang="en-US" dirty="0"/>
              <a:t>Limitations of transition</a:t>
            </a:r>
          </a:p>
          <a:p>
            <a:pPr lvl="1"/>
            <a:r>
              <a:rPr lang="en-US" dirty="0"/>
              <a:t>It can only be run when a CSS property is being changed, such as during the hover event</a:t>
            </a:r>
          </a:p>
          <a:p>
            <a:pPr lvl="1"/>
            <a:r>
              <a:rPr lang="en-US" dirty="0"/>
              <a:t>It is run once and cannot be looped for repetition</a:t>
            </a:r>
          </a:p>
          <a:p>
            <a:pPr lvl="1"/>
            <a:r>
              <a:rPr lang="en-US" dirty="0"/>
              <a:t>Initial and end states of the transition can be defined but not the styles of intermediate states</a:t>
            </a:r>
          </a:p>
          <a:p>
            <a:pPr marL="341313" lvl="1" indent="-341313">
              <a:buFont typeface="Arial" panose="020B0604020202020204" pitchFamily="34" charset="0"/>
              <a:buChar char="•"/>
            </a:pPr>
            <a:r>
              <a:rPr lang="en-US" dirty="0"/>
              <a:t>Animation is created to overcome the limitations</a:t>
            </a:r>
          </a:p>
        </p:txBody>
      </p:sp>
    </p:spTree>
    <p:extLst>
      <p:ext uri="{BB962C8B-B14F-4D97-AF65-F5344CB8AC3E}">
        <p14:creationId xmlns:p14="http://schemas.microsoft.com/office/powerpoint/2010/main" val="18553910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Creating a Hover Transition (continued)</a:t>
            </a:r>
            <a:endParaRPr lang="en-US" dirty="0"/>
          </a:p>
        </p:txBody>
      </p:sp>
      <p:pic>
        <p:nvPicPr>
          <p:cNvPr id="5" name="Picture Placeholder 4" descr="This figure shows style rules for the initial state and end state of a hover transition.&#10;&#10;The figure consists of two rectangular boxes and a few lines of code.&#10;&#10;The first line of the code reads “/* Transition Styles */”. The second line of the code reads “nav#topLinks a {”. The third line of the code reads “color: rgb(255, 255, 255);”. The fourth line of the code reads “font-size: 1em;”. The fifth line of the code reads “letter-spacing: 0em;”. The sixth line of the code reads “text-shadow: rgba (0, 0, 0, 1) 1px -1px 1px;”. The seventh line of the code reads “}”.The eighth line of the code reads “nav#topLinks a:hover {”. The ninth line of the code reads “color: rgb(255, 183, 25);”. The tenth line of the code reads “font-size: 3em;”. The eleventh line of the code reads “letter-spacing: 0.1em;”. The twelfth line of the code reads “text-shadow: rgba (0, 0, 0, 0.5) 15px -3px 8px;”. The thirteenth line of the code reads “}”. &#10;&#10;The first rectangular box labeled “initial state displays the hypertext links in white with a small text shadow” is positioned on the left side of the code. An arrow originating from this rectangular box points from the second line to the seventh line of the code.&#10;&#10;The second rectangular box labeled “end state displays the hypertext links in light orange with a larger font and a larger text shadow” is positioned below the first rectangular box. An arrow originating from the second rectangular box points from the eighth line to the thirteenth line of the code.&#10;" title="Figure 8-39 Style rules for the initial state and end state"/>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28650" y="1504337"/>
            <a:ext cx="8184007" cy="4175684"/>
          </a:xfrm>
          <a:prstGeom prst="rect">
            <a:avLst/>
          </a:prstGeom>
        </p:spPr>
      </p:pic>
    </p:spTree>
    <p:extLst>
      <p:ext uri="{BB962C8B-B14F-4D97-AF65-F5344CB8AC3E}">
        <p14:creationId xmlns:p14="http://schemas.microsoft.com/office/powerpoint/2010/main" val="13549861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Animating Objects with CSS</a:t>
            </a:r>
            <a:endParaRPr lang="en-US" dirty="0"/>
          </a:p>
        </p:txBody>
      </p:sp>
      <p:sp>
        <p:nvSpPr>
          <p:cNvPr id="3" name="Text Placeholder 2"/>
          <p:cNvSpPr>
            <a:spLocks noGrp="1"/>
          </p:cNvSpPr>
          <p:nvPr>
            <p:ph type="body" sz="quarter" idx="17"/>
          </p:nvPr>
        </p:nvSpPr>
        <p:spPr/>
        <p:txBody>
          <a:bodyPr>
            <a:normAutofit/>
          </a:bodyPr>
          <a:lstStyle/>
          <a:p>
            <a:r>
              <a:rPr lang="en-IN" b="1" dirty="0"/>
              <a:t>Key frame</a:t>
            </a:r>
            <a:r>
              <a:rPr lang="en-IN" dirty="0"/>
              <a:t>: Sequence of changing images to create illusive movement for animation</a:t>
            </a:r>
          </a:p>
          <a:p>
            <a:r>
              <a:rPr lang="en-IN" dirty="0"/>
              <a:t>CSS replaces the concept of key frame images with key frame styles that are applied in rapid succession to a page object</a:t>
            </a:r>
          </a:p>
        </p:txBody>
      </p:sp>
    </p:spTree>
    <p:extLst>
      <p:ext uri="{BB962C8B-B14F-4D97-AF65-F5344CB8AC3E}">
        <p14:creationId xmlns:p14="http://schemas.microsoft.com/office/powerpoint/2010/main" val="8390279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a:latin typeface="Courier New" panose="02070309020205020404" pitchFamily="49" charset="0"/>
                <a:cs typeface="Courier New" panose="02070309020205020404" pitchFamily="49" charset="0"/>
              </a:rPr>
              <a:t>@keyframes</a:t>
            </a:r>
            <a:r>
              <a:rPr lang="en-US" dirty="0"/>
              <a:t> Rule</a:t>
            </a:r>
          </a:p>
        </p:txBody>
      </p:sp>
      <p:sp>
        <p:nvSpPr>
          <p:cNvPr id="3" name="Text Placeholder 2"/>
          <p:cNvSpPr>
            <a:spLocks noGrp="1"/>
          </p:cNvSpPr>
          <p:nvPr>
            <p:ph type="body" sz="quarter" idx="17"/>
          </p:nvPr>
        </p:nvSpPr>
        <p:spPr/>
        <p:txBody>
          <a:bodyPr/>
          <a:lstStyle/>
          <a:p>
            <a:r>
              <a:rPr lang="en-US" dirty="0"/>
              <a:t>To define a sequence of key frames in CSS, apply the following </a:t>
            </a:r>
            <a:r>
              <a:rPr lang="en-US" sz="2600" dirty="0">
                <a:latin typeface="Courier New" panose="02070309020205020404" pitchFamily="49" charset="0"/>
                <a:cs typeface="Courier New" panose="02070309020205020404" pitchFamily="49" charset="0"/>
              </a:rPr>
              <a:t>@keyframes</a:t>
            </a:r>
            <a:r>
              <a:rPr lang="en-US" dirty="0">
                <a:latin typeface="Arial" panose="020B0604020202020204" pitchFamily="34" charset="0"/>
                <a:cs typeface="Arial" panose="020B0604020202020204" pitchFamily="34" charset="0"/>
              </a:rPr>
              <a:t> </a:t>
            </a:r>
            <a:r>
              <a:rPr lang="en-US" dirty="0"/>
              <a:t>rule</a:t>
            </a:r>
          </a:p>
          <a:p>
            <a:endParaRPr lang="en-US" dirty="0"/>
          </a:p>
          <a:p>
            <a:pPr marL="914400" indent="0">
              <a:buNone/>
            </a:pPr>
            <a:r>
              <a:rPr lang="en-IN" sz="2600" dirty="0">
                <a:latin typeface="Courier New" panose="02070309020205020404" pitchFamily="49" charset="0"/>
                <a:cs typeface="Courier New" panose="02070309020205020404" pitchFamily="49" charset="0"/>
              </a:rPr>
              <a:t>@keyframes name {</a:t>
            </a:r>
          </a:p>
          <a:p>
            <a:pPr marL="914400" indent="0">
              <a:buNone/>
            </a:pPr>
            <a:r>
              <a:rPr lang="en-IN" sz="2600" dirty="0">
                <a:latin typeface="Courier New" panose="02070309020205020404" pitchFamily="49" charset="0"/>
                <a:cs typeface="Courier New" panose="02070309020205020404" pitchFamily="49" charset="0"/>
              </a:rPr>
              <a:t>keyframe1 {styles;}</a:t>
            </a:r>
          </a:p>
          <a:p>
            <a:pPr marL="914400" indent="0">
              <a:buNone/>
            </a:pPr>
            <a:r>
              <a:rPr lang="en-IN" sz="2600" dirty="0">
                <a:latin typeface="Courier New" panose="02070309020205020404" pitchFamily="49" charset="0"/>
                <a:cs typeface="Courier New" panose="02070309020205020404" pitchFamily="49" charset="0"/>
              </a:rPr>
              <a:t>keyframe2 {styles;}</a:t>
            </a:r>
          </a:p>
          <a:p>
            <a:pPr marL="914400" indent="0">
              <a:buNone/>
            </a:pPr>
            <a:r>
              <a:rPr lang="en-IN" sz="2600" dirty="0">
                <a:latin typeface="Courier New" panose="02070309020205020404" pitchFamily="49" charset="0"/>
                <a:cs typeface="Courier New" panose="02070309020205020404" pitchFamily="49" charset="0"/>
              </a:rPr>
              <a:t>…}</a:t>
            </a:r>
            <a:endParaRPr lang="en-US" dirty="0"/>
          </a:p>
        </p:txBody>
      </p:sp>
    </p:spTree>
    <p:extLst>
      <p:ext uri="{BB962C8B-B14F-4D97-AF65-F5344CB8AC3E}">
        <p14:creationId xmlns:p14="http://schemas.microsoft.com/office/powerpoint/2010/main" val="3017720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a:latin typeface="Courier New" panose="02070309020205020404" pitchFamily="49" charset="0"/>
                <a:cs typeface="Courier New" panose="02070309020205020404" pitchFamily="49" charset="0"/>
              </a:rPr>
              <a:t>@keyframes</a:t>
            </a:r>
            <a:r>
              <a:rPr lang="en-US" dirty="0"/>
              <a:t> Rule (continued) </a:t>
            </a:r>
          </a:p>
        </p:txBody>
      </p:sp>
      <p:sp>
        <p:nvSpPr>
          <p:cNvPr id="3" name="Text Placeholder 2"/>
          <p:cNvSpPr>
            <a:spLocks noGrp="1"/>
          </p:cNvSpPr>
          <p:nvPr>
            <p:ph type="body" sz="quarter" idx="17"/>
          </p:nvPr>
        </p:nvSpPr>
        <p:spPr/>
        <p:txBody>
          <a:bodyPr/>
          <a:lstStyle/>
          <a:p>
            <a:pPr marL="0" lvl="0" indent="0">
              <a:buNone/>
            </a:pPr>
            <a:r>
              <a:rPr lang="en-US" sz="2800" dirty="0"/>
              <a:t>where,</a:t>
            </a:r>
          </a:p>
          <a:p>
            <a:pPr lvl="1"/>
            <a:r>
              <a:rPr lang="en-US" sz="2400" dirty="0">
                <a:latin typeface="Courier New" panose="02070309020205020404" pitchFamily="49" charset="0"/>
                <a:cs typeface="Courier New" panose="02070309020205020404" pitchFamily="49" charset="0"/>
              </a:rPr>
              <a:t>name</a:t>
            </a:r>
            <a:r>
              <a:rPr lang="en-US" sz="2400" dirty="0"/>
              <a:t> provides the name or title of the animated sequence</a:t>
            </a:r>
          </a:p>
          <a:p>
            <a:pPr lvl="1"/>
            <a:r>
              <a:rPr lang="en-US" sz="2400" dirty="0">
                <a:latin typeface="Courier New" panose="02070309020205020404" pitchFamily="49" charset="0"/>
                <a:cs typeface="Courier New" panose="02070309020205020404" pitchFamily="49" charset="0"/>
              </a:rPr>
              <a:t>keyframe1</a:t>
            </a:r>
            <a:r>
              <a:rPr lang="en-US" sz="2400" dirty="0"/>
              <a:t>, </a:t>
            </a:r>
            <a:r>
              <a:rPr lang="en-US" sz="2400" dirty="0">
                <a:latin typeface="Courier New" panose="02070309020205020404" pitchFamily="49" charset="0"/>
                <a:cs typeface="Courier New" panose="02070309020205020404" pitchFamily="49" charset="0"/>
              </a:rPr>
              <a:t>keyframe2</a:t>
            </a:r>
            <a:r>
              <a:rPr lang="en-US" sz="2400" dirty="0"/>
              <a:t>, and so on defines the progress of individual key frames</a:t>
            </a:r>
          </a:p>
          <a:p>
            <a:pPr lvl="1"/>
            <a:r>
              <a:rPr lang="en-US" sz="2400" dirty="0">
                <a:latin typeface="Courier New" panose="02070309020205020404" pitchFamily="49" charset="0"/>
                <a:cs typeface="Courier New" panose="02070309020205020404" pitchFamily="49" charset="0"/>
              </a:rPr>
              <a:t>styles</a:t>
            </a:r>
            <a:r>
              <a:rPr lang="en-US" sz="2400" dirty="0"/>
              <a:t> are the styles applied within each key frame</a:t>
            </a:r>
          </a:p>
        </p:txBody>
      </p:sp>
    </p:spTree>
    <p:extLst>
      <p:ext uri="{BB962C8B-B14F-4D97-AF65-F5344CB8AC3E}">
        <p14:creationId xmlns:p14="http://schemas.microsoft.com/office/powerpoint/2010/main" val="33911359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Applying an Animation</a:t>
            </a:r>
            <a:endParaRPr lang="en-US" dirty="0"/>
          </a:p>
        </p:txBody>
      </p:sp>
      <p:sp>
        <p:nvSpPr>
          <p:cNvPr id="3" name="Text Placeholder 2"/>
          <p:cNvSpPr>
            <a:spLocks noGrp="1"/>
          </p:cNvSpPr>
          <p:nvPr>
            <p:ph type="body" sz="quarter" idx="17"/>
          </p:nvPr>
        </p:nvSpPr>
        <p:spPr/>
        <p:txBody>
          <a:bodyPr>
            <a:normAutofit/>
          </a:bodyPr>
          <a:lstStyle/>
          <a:p>
            <a:r>
              <a:rPr lang="en-IN" dirty="0"/>
              <a:t>Key frames animation is applied to an object using </a:t>
            </a:r>
            <a:r>
              <a:rPr lang="en-IN" sz="2600" dirty="0">
                <a:latin typeface="Courier New" panose="02070309020205020404" pitchFamily="49" charset="0"/>
                <a:cs typeface="Courier New" panose="02070309020205020404" pitchFamily="49" charset="0"/>
              </a:rPr>
              <a:t>animation-name</a:t>
            </a:r>
            <a:r>
              <a:rPr lang="en-IN" dirty="0"/>
              <a:t> and </a:t>
            </a:r>
            <a:r>
              <a:rPr lang="en-IN" sz="2600" dirty="0">
                <a:latin typeface="Courier New" panose="02070309020205020404" pitchFamily="49" charset="0"/>
                <a:cs typeface="Courier New" panose="02070309020205020404" pitchFamily="49" charset="0"/>
              </a:rPr>
              <a:t>animation-duration</a:t>
            </a:r>
            <a:r>
              <a:rPr lang="en-IN" dirty="0"/>
              <a:t> properties</a:t>
            </a:r>
          </a:p>
          <a:p>
            <a:pPr marL="914400" indent="0">
              <a:buNone/>
            </a:pPr>
            <a:r>
              <a:rPr lang="en-IN" sz="2600" dirty="0">
                <a:latin typeface="Courier New" panose="02070309020205020404" pitchFamily="49" charset="0"/>
                <a:cs typeface="Courier New" panose="02070309020205020404" pitchFamily="49" charset="0"/>
              </a:rPr>
              <a:t>animation-name: </a:t>
            </a:r>
            <a:r>
              <a:rPr lang="en-IN" sz="2600" i="1" dirty="0">
                <a:latin typeface="Courier New" panose="02070309020205020404" pitchFamily="49" charset="0"/>
                <a:cs typeface="Courier New" panose="02070309020205020404" pitchFamily="49" charset="0"/>
              </a:rPr>
              <a:t>keyframes</a:t>
            </a:r>
            <a:r>
              <a:rPr lang="en-IN" sz="2600" dirty="0">
                <a:latin typeface="Courier New" panose="02070309020205020404" pitchFamily="49" charset="0"/>
                <a:cs typeface="Courier New" panose="02070309020205020404" pitchFamily="49" charset="0"/>
              </a:rPr>
              <a:t>;</a:t>
            </a:r>
          </a:p>
          <a:p>
            <a:pPr marL="914400" indent="0">
              <a:buNone/>
            </a:pPr>
            <a:r>
              <a:rPr lang="en-IN" sz="2600" dirty="0">
                <a:latin typeface="Courier New" panose="02070309020205020404" pitchFamily="49" charset="0"/>
                <a:cs typeface="Courier New" panose="02070309020205020404" pitchFamily="49" charset="0"/>
              </a:rPr>
              <a:t>animation-duration: </a:t>
            </a:r>
            <a:r>
              <a:rPr lang="en-IN" sz="2600" i="1" dirty="0">
                <a:latin typeface="Courier New" panose="02070309020205020404" pitchFamily="49" charset="0"/>
                <a:cs typeface="Courier New" panose="02070309020205020404" pitchFamily="49" charset="0"/>
              </a:rPr>
              <a:t>times</a:t>
            </a:r>
            <a:r>
              <a:rPr lang="en-IN" sz="2600" dirty="0">
                <a:latin typeface="Courier New" panose="02070309020205020404" pitchFamily="49" charset="0"/>
                <a:cs typeface="Courier New" panose="02070309020205020404" pitchFamily="49" charset="0"/>
              </a:rPr>
              <a:t>;</a:t>
            </a:r>
          </a:p>
          <a:p>
            <a:pPr marL="463550" indent="0">
              <a:buNone/>
            </a:pPr>
            <a:r>
              <a:rPr lang="en-IN" sz="2800" dirty="0">
                <a:latin typeface="Arial" panose="020B0604020202020204" pitchFamily="34" charset="0"/>
                <a:cs typeface="Arial" panose="020B0604020202020204" pitchFamily="34" charset="0"/>
              </a:rPr>
              <a:t>where </a:t>
            </a:r>
            <a:r>
              <a:rPr lang="en-IN" sz="2600" i="1" dirty="0">
                <a:latin typeface="Courier New" panose="02070309020205020404" pitchFamily="49" charset="0"/>
                <a:cs typeface="Courier New" panose="02070309020205020404" pitchFamily="49" charset="0"/>
              </a:rPr>
              <a:t>keyframes</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is a comma-separated list of animations applied to the object using the names from the </a:t>
            </a:r>
            <a:r>
              <a:rPr lang="en-IN" sz="2600" i="1" dirty="0">
                <a:latin typeface="Courier New" panose="02070309020205020404" pitchFamily="49" charset="0"/>
                <a:cs typeface="Courier New" panose="02070309020205020404" pitchFamily="49" charset="0"/>
              </a:rPr>
              <a:t>@keyframes </a:t>
            </a:r>
            <a:r>
              <a:rPr lang="en-IN" sz="2800" dirty="0">
                <a:latin typeface="Arial" panose="020B0604020202020204" pitchFamily="34" charset="0"/>
                <a:cs typeface="Arial" panose="020B0604020202020204" pitchFamily="34" charset="0"/>
              </a:rPr>
              <a:t>rule and </a:t>
            </a:r>
            <a:r>
              <a:rPr lang="en-IN" sz="2600" i="1" dirty="0">
                <a:latin typeface="Courier New" panose="02070309020205020404" pitchFamily="49" charset="0"/>
                <a:cs typeface="Courier New" panose="02070309020205020404" pitchFamily="49" charset="0"/>
              </a:rPr>
              <a:t>times</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are the lengths of each animation expressed in seconds or milliseconds</a:t>
            </a:r>
          </a:p>
        </p:txBody>
      </p:sp>
    </p:spTree>
    <p:extLst>
      <p:ext uri="{BB962C8B-B14F-4D97-AF65-F5344CB8AC3E}">
        <p14:creationId xmlns:p14="http://schemas.microsoft.com/office/powerpoint/2010/main" val="8778680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Applying an Animation (continued 1)</a:t>
            </a:r>
            <a:endParaRPr lang="en-US" dirty="0"/>
          </a:p>
        </p:txBody>
      </p:sp>
      <p:graphicFrame>
        <p:nvGraphicFramePr>
          <p:cNvPr id="6" name="Table Placeholder 5"/>
          <p:cNvGraphicFramePr>
            <a:graphicFrameLocks noGrp="1"/>
          </p:cNvGraphicFramePr>
          <p:nvPr>
            <p:ph type="tbl" sz="quarter" idx="10"/>
            <p:extLst>
              <p:ext uri="{D42A27DB-BD31-4B8C-83A1-F6EECF244321}">
                <p14:modId xmlns:p14="http://schemas.microsoft.com/office/powerpoint/2010/main" val="397201142"/>
              </p:ext>
            </p:extLst>
          </p:nvPr>
        </p:nvGraphicFramePr>
        <p:xfrm>
          <a:off x="321798" y="1511349"/>
          <a:ext cx="8500403" cy="3731885"/>
        </p:xfrm>
        <a:graphic>
          <a:graphicData uri="http://schemas.openxmlformats.org/drawingml/2006/table">
            <a:tbl>
              <a:tblPr firstRow="1"/>
              <a:tblGrid>
                <a:gridCol w="3713977">
                  <a:extLst>
                    <a:ext uri="{9D8B030D-6E8A-4147-A177-3AD203B41FA5}">
                      <a16:colId xmlns:a16="http://schemas.microsoft.com/office/drawing/2014/main" val="20000"/>
                    </a:ext>
                  </a:extLst>
                </a:gridCol>
                <a:gridCol w="4786426">
                  <a:extLst>
                    <a:ext uri="{9D8B030D-6E8A-4147-A177-3AD203B41FA5}">
                      <a16:colId xmlns:a16="http://schemas.microsoft.com/office/drawing/2014/main" val="20001"/>
                    </a:ext>
                  </a:extLst>
                </a:gridCol>
              </a:tblGrid>
              <a:tr h="274909">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Property</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4982" marR="54982" marT="137454" marB="2749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4982" marT="137454" marB="2749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174109">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animation-name =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keyframes</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54982"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Assigns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keyframes</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animation to the object</a:t>
                      </a:r>
                    </a:p>
                  </a:txBody>
                  <a:tcPr marL="0"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909">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animation-duration =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time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54982"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length of the animation in seconds or milliseconds (default = 0s)</a:t>
                      </a:r>
                    </a:p>
                  </a:txBody>
                  <a:tcPr marL="0"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5708">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animation-timing-function = ease|ease-in|ease-out|ease-in-out|linear|cubic-bezier(</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4982"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Defines the default timing between key frames in the animation (default = ease)</a:t>
                      </a:r>
                    </a:p>
                  </a:txBody>
                  <a:tcPr marL="0"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909">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animation-delay =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time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54982"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delay time in seconds and milliseconds before animation is started (default = 0s)</a:t>
                      </a:r>
                    </a:p>
                  </a:txBody>
                  <a:tcPr marL="0"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5708">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animation-iteration-count =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|infinite</a:t>
                      </a:r>
                    </a:p>
                  </a:txBody>
                  <a:tcPr marL="54982"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Specifies the number of times the animation is played,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an integer and infinite repeats the animation without stopping (default = 1)</a:t>
                      </a:r>
                    </a:p>
                  </a:txBody>
                  <a:tcPr marL="0"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615912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Applying an Animation (continued 2)</a:t>
            </a:r>
            <a:endParaRPr lang="en-US" dirty="0"/>
          </a:p>
        </p:txBody>
      </p:sp>
      <p:graphicFrame>
        <p:nvGraphicFramePr>
          <p:cNvPr id="6" name="Table Placeholder 5"/>
          <p:cNvGraphicFramePr>
            <a:graphicFrameLocks noGrp="1"/>
          </p:cNvGraphicFramePr>
          <p:nvPr>
            <p:ph type="tbl" sz="quarter" idx="10"/>
            <p:extLst>
              <p:ext uri="{D42A27DB-BD31-4B8C-83A1-F6EECF244321}">
                <p14:modId xmlns:p14="http://schemas.microsoft.com/office/powerpoint/2010/main" val="1310428402"/>
              </p:ext>
            </p:extLst>
          </p:nvPr>
        </p:nvGraphicFramePr>
        <p:xfrm>
          <a:off x="499403" y="1145585"/>
          <a:ext cx="8145193" cy="4804469"/>
        </p:xfrm>
        <a:graphic>
          <a:graphicData uri="http://schemas.openxmlformats.org/drawingml/2006/table">
            <a:tbl>
              <a:tblPr firstRow="1"/>
              <a:tblGrid>
                <a:gridCol w="3629464">
                  <a:extLst>
                    <a:ext uri="{9D8B030D-6E8A-4147-A177-3AD203B41FA5}">
                      <a16:colId xmlns:a16="http://schemas.microsoft.com/office/drawing/2014/main" val="20000"/>
                    </a:ext>
                  </a:extLst>
                </a:gridCol>
                <a:gridCol w="4515729">
                  <a:extLst>
                    <a:ext uri="{9D8B030D-6E8A-4147-A177-3AD203B41FA5}">
                      <a16:colId xmlns:a16="http://schemas.microsoft.com/office/drawing/2014/main" val="20001"/>
                    </a:ext>
                  </a:extLst>
                </a:gridCol>
              </a:tblGrid>
              <a:tr h="274909">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Property</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4982" marR="54982" marT="137454" marB="2749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4982" marT="137454" marB="2749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7789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animation-direction = normal|reverse|alternate|alternate-reverse</a:t>
                      </a:r>
                    </a:p>
                  </a:txBody>
                  <a:tcPr marL="54982"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Defines the direction of the animation, where normal plays the animation as defined in the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@keyframes </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rule, reverse reverses the order, alternate plays the animation in the normal direction followed by the reverse direction (for multiple iterations), and alternate-reverse plays the animation in reverse direction followed by normal direction (default=normal)</a:t>
                      </a:r>
                    </a:p>
                  </a:txBody>
                  <a:tcPr marL="0"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7308">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animation-fill-mode = none|backwards|forwards|both</a:t>
                      </a:r>
                    </a:p>
                  </a:txBody>
                  <a:tcPr marL="54982"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Defines what styles from the animation are applied to the object outside the time it is running, where none does not apply any styles, backwards applies the styles from the first key frame, forwards applies the styles from the last key frame, and both applies styles in both directions (default=none)</a:t>
                      </a:r>
                    </a:p>
                  </a:txBody>
                  <a:tcPr marL="0"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909">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animation-play-state = running|paused</a:t>
                      </a:r>
                    </a:p>
                  </a:txBody>
                  <a:tcPr marL="54982"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Defines whether the animation is running or paused (default = running)</a:t>
                      </a:r>
                    </a:p>
                  </a:txBody>
                  <a:tcPr marL="0" marR="54982" marT="36654" marB="3665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28889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Controlling an Animation</a:t>
            </a:r>
            <a:endParaRPr lang="en-US" dirty="0"/>
          </a:p>
        </p:txBody>
      </p:sp>
      <p:sp>
        <p:nvSpPr>
          <p:cNvPr id="3" name="Text Placeholder 2"/>
          <p:cNvSpPr>
            <a:spLocks noGrp="1"/>
          </p:cNvSpPr>
          <p:nvPr>
            <p:ph type="body" sz="quarter" idx="17"/>
          </p:nvPr>
        </p:nvSpPr>
        <p:spPr/>
        <p:txBody>
          <a:bodyPr/>
          <a:lstStyle/>
          <a:p>
            <a:r>
              <a:rPr lang="en-IN" dirty="0"/>
              <a:t>Animation can have two states of operation</a:t>
            </a:r>
          </a:p>
          <a:p>
            <a:pPr lvl="1"/>
            <a:r>
              <a:rPr lang="en-IN" dirty="0"/>
              <a:t>Play or pause</a:t>
            </a:r>
          </a:p>
          <a:p>
            <a:r>
              <a:rPr lang="en-IN" dirty="0"/>
              <a:t>Check box can be used to control animation</a:t>
            </a:r>
          </a:p>
          <a:p>
            <a:r>
              <a:rPr lang="en-IN" dirty="0"/>
              <a:t>Selecting the check box will play the animation</a:t>
            </a:r>
          </a:p>
          <a:p>
            <a:r>
              <a:rPr lang="en-IN" dirty="0"/>
              <a:t>Unselecting the check box will pause the animation</a:t>
            </a:r>
          </a:p>
        </p:txBody>
      </p:sp>
    </p:spTree>
    <p:extLst>
      <p:ext uri="{BB962C8B-B14F-4D97-AF65-F5344CB8AC3E}">
        <p14:creationId xmlns:p14="http://schemas.microsoft.com/office/powerpoint/2010/main" val="12826396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Controlling an Animation</a:t>
            </a:r>
            <a:br>
              <a:rPr lang="en-IN" dirty="0"/>
            </a:br>
            <a:r>
              <a:rPr lang="en-IN" dirty="0"/>
              <a:t>(continued 1)</a:t>
            </a:r>
            <a:endParaRPr lang="en-US" dirty="0"/>
          </a:p>
        </p:txBody>
      </p:sp>
      <p:pic>
        <p:nvPicPr>
          <p:cNvPr id="5" name="Content Placeholder 1" descr="This figure shows how to use a check box to control the animation playback.&#10;The figure consists of text, two rectangular boxes, and a check box.&#10;The text reads “Click the play button to view this classic dance sequence”.&#10;The check box is positioned below the text.&#10;The first rectangular box contains a video and is positioned to the right of the check box.&#10;The second rectangular box labeled “check to play the spin animation and uncheck to pause it” is positioned on the left side of the check box. An arrow originating from this rectangular box points to the check box.&#10;The source is mentioned below the figure, which reads “Source: wiki”.&#10;" title="Figure 8-51 Using a check box to control the animation playback"/>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228761" y="1575582"/>
            <a:ext cx="7083910" cy="4537763"/>
          </a:xfrm>
          <a:prstGeom prst="rect">
            <a:avLst/>
          </a:prstGeom>
        </p:spPr>
      </p:pic>
    </p:spTree>
    <p:extLst>
      <p:ext uri="{BB962C8B-B14F-4D97-AF65-F5344CB8AC3E}">
        <p14:creationId xmlns:p14="http://schemas.microsoft.com/office/powerpoint/2010/main" val="14183725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Controlling an Animation</a:t>
            </a:r>
            <a:br>
              <a:rPr lang="en-IN"/>
            </a:br>
            <a:r>
              <a:rPr lang="en-IN"/>
              <a:t>(continued 2)</a:t>
            </a:r>
            <a:endParaRPr lang="en-US" dirty="0"/>
          </a:p>
        </p:txBody>
      </p:sp>
      <p:sp>
        <p:nvSpPr>
          <p:cNvPr id="6" name="Text Placeholder 5"/>
          <p:cNvSpPr>
            <a:spLocks noGrp="1"/>
          </p:cNvSpPr>
          <p:nvPr>
            <p:ph type="body" sz="quarter" idx="17"/>
          </p:nvPr>
        </p:nvSpPr>
        <p:spPr/>
        <p:txBody>
          <a:bodyPr/>
          <a:lstStyle/>
          <a:p>
            <a:r>
              <a:rPr lang="en-IN" dirty="0"/>
              <a:t>Check box can be replaced with more attractive icons</a:t>
            </a:r>
          </a:p>
          <a:p>
            <a:r>
              <a:rPr lang="en-IN" dirty="0"/>
              <a:t>Display symbol </a:t>
            </a:r>
            <a:r>
              <a:rPr lang="en-IN" dirty="0">
                <a:sym typeface="Wingdings 3" panose="05040102010807070707" pitchFamily="18" charset="2"/>
              </a:rPr>
              <a:t></a:t>
            </a:r>
            <a:r>
              <a:rPr lang="en-IN" dirty="0"/>
              <a:t> to run the animation</a:t>
            </a:r>
          </a:p>
          <a:p>
            <a:pPr lvl="1"/>
            <a:r>
              <a:rPr lang="en-IN" dirty="0"/>
              <a:t>Unicode value of \21bb </a:t>
            </a:r>
          </a:p>
          <a:p>
            <a:r>
              <a:rPr lang="en-IN" dirty="0"/>
              <a:t>Display symbol </a:t>
            </a:r>
            <a:r>
              <a:rPr lang="en-IN" dirty="0">
                <a:sym typeface="Wingdings" panose="05000000000000000000" pitchFamily="2" charset="2"/>
              </a:rPr>
              <a:t></a:t>
            </a:r>
            <a:r>
              <a:rPr lang="en-IN" dirty="0"/>
              <a:t> to pause the animation</a:t>
            </a:r>
          </a:p>
          <a:p>
            <a:pPr lvl="1"/>
            <a:r>
              <a:rPr lang="en-IN" dirty="0"/>
              <a:t>Unicode values of \270b</a:t>
            </a:r>
            <a:endParaRPr lang="en-US" dirty="0"/>
          </a:p>
        </p:txBody>
      </p:sp>
    </p:spTree>
    <p:extLst>
      <p:ext uri="{BB962C8B-B14F-4D97-AF65-F5344CB8AC3E}">
        <p14:creationId xmlns:p14="http://schemas.microsoft.com/office/powerpoint/2010/main" val="858174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Controlling an Animation</a:t>
            </a:r>
            <a:br>
              <a:rPr lang="en-IN" dirty="0"/>
            </a:br>
            <a:r>
              <a:rPr lang="en-IN" dirty="0"/>
              <a:t>(continued 3)</a:t>
            </a:r>
            <a:endParaRPr lang="en-US" dirty="0"/>
          </a:p>
        </p:txBody>
      </p:sp>
      <p:pic>
        <p:nvPicPr>
          <p:cNvPr id="5" name="Content Placeholder 3" descr="This figure shows how to display playback icons for animations.&#10;&#10;The figure consists of three rectangular boxes and a few lines of code.&#10;&#10;The first line of the code reads “/* Animation Icon Styles */”. The second line of the code reads “input#rotatevideo {”. The third line of the code reads “display: none;”. The fourth line of the code reads “}”. The fifth line of the code reads “input#rotateVideo:not(:checked)+label::after  {”. The sixth line of the code reads “content: “\21bb”;”. The seventh line of the code reads “input#rotateVideo:checked+label::after  {”. The eighth line of the code reads “content: “\270b”;”. The ninth line of the code reads “}”.&#10;&#10;The first rectangular box labeled “hides the rotateVideo check box” is positioned on the left side of the code. An arrow originating from this rectangular box points from the second line to the fourth line of the code.&#10;&#10;The second rectangular box labeled “inserts the ‘curved arrow’ symbol when the rotateVideo check box is not checked” is positioned below the first rectangular box. An arrow originating from the second rectangular box points from the fifth line to the seventh line of the code.&#10;&#10;The third rectangular box labeled “inserts the ‘hand’ symbol when the rotateVideo check box is checked” is positioned below the second rectangular box. An arrow originating from the third rectangular box points from the eighth line to the tenth line of the code.&#10;&#10;" title="Figure 8-52 Displaying playback icon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750719" y="1664555"/>
            <a:ext cx="7642562" cy="3914089"/>
          </a:xfrm>
          <a:prstGeom prst="rect">
            <a:avLst/>
          </a:prstGeom>
        </p:spPr>
      </p:pic>
    </p:spTree>
    <p:extLst>
      <p:ext uri="{BB962C8B-B14F-4D97-AF65-F5344CB8AC3E}">
        <p14:creationId xmlns:p14="http://schemas.microsoft.com/office/powerpoint/2010/main" val="3426893723"/>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Presentation1" id="{276F6C23-6457-4163-906F-9FD71B1D340C}" vid="{9A4A37B5-06EA-4573-8274-FD94E47E4E80}"/>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4491</Words>
  <Application>Microsoft Office PowerPoint</Application>
  <PresentationFormat>On-screen Show (4:3)</PresentationFormat>
  <Paragraphs>553</Paragraphs>
  <Slides>79</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79</vt:i4>
      </vt:variant>
    </vt:vector>
  </HeadingPairs>
  <TitlesOfParts>
    <vt:vector size="89" baseType="lpstr">
      <vt:lpstr>Arial</vt:lpstr>
      <vt:lpstr>Arial</vt:lpstr>
      <vt:lpstr>Courier New</vt:lpstr>
      <vt:lpstr>Helvetica</vt:lpstr>
      <vt:lpstr>LucidaGrande</vt:lpstr>
      <vt:lpstr>Open Sans</vt:lpstr>
      <vt:lpstr>Summer Font</vt:lpstr>
      <vt:lpstr>Times New Roman</vt:lpstr>
      <vt:lpstr>Wingdings</vt:lpstr>
      <vt:lpstr>Office Theme</vt:lpstr>
      <vt:lpstr>Tutorial 08</vt:lpstr>
      <vt:lpstr>Objectives</vt:lpstr>
      <vt:lpstr>Objectives (continued)</vt:lpstr>
      <vt:lpstr>Introducing Multimedia on the Web</vt:lpstr>
      <vt:lpstr>Understanding Codecs and Containers</vt:lpstr>
      <vt:lpstr>Understanding Codecs and Containers (continued 1)</vt:lpstr>
      <vt:lpstr>Understanding Codecs and Containers (continued 2)</vt:lpstr>
      <vt:lpstr>Understanding Codecs and Containers (continued 3)</vt:lpstr>
      <vt:lpstr>Understanding Codecs and Containers (continued 4)</vt:lpstr>
      <vt:lpstr>Understanding Plug-Ins</vt:lpstr>
      <vt:lpstr>Understanding Plug-Ins (continued 1)</vt:lpstr>
      <vt:lpstr>Understanding Plug-Ins (continued 2)</vt:lpstr>
      <vt:lpstr>Working with the audio Element</vt:lpstr>
      <vt:lpstr>Working with the audio Element (continued)</vt:lpstr>
      <vt:lpstr>Browsers and Audio Formats</vt:lpstr>
      <vt:lpstr>Browsers and Audio Formats (continued 1)</vt:lpstr>
      <vt:lpstr>Browsers and Audio Formats (continued 2)</vt:lpstr>
      <vt:lpstr>Browsers and Audio Formats (continued 3)</vt:lpstr>
      <vt:lpstr>Browsers and Audio Formats (continued 4)</vt:lpstr>
      <vt:lpstr>Browsers and Audio Formats (continued 5)</vt:lpstr>
      <vt:lpstr>Browsers and Audio Formats (continued 6)</vt:lpstr>
      <vt:lpstr>Applying Styles to the Media Player</vt:lpstr>
      <vt:lpstr>Applying Styles to the Media Player (continued)</vt:lpstr>
      <vt:lpstr>Providing a Fallback to an Audio Clip</vt:lpstr>
      <vt:lpstr>Providing a Fallback to an Audio Clip (continued)</vt:lpstr>
      <vt:lpstr>Exploring Embedded Objects </vt:lpstr>
      <vt:lpstr>Plug-In Attributes</vt:lpstr>
      <vt:lpstr>Plug-Ins as Fallback Options</vt:lpstr>
      <vt:lpstr>Video Formats and Codecs</vt:lpstr>
      <vt:lpstr>Video Formats and Codecs (continued 1)</vt:lpstr>
      <vt:lpstr>Video Formats and Codecs (continued 2)</vt:lpstr>
      <vt:lpstr>Video Formats and Codecs (continued 3)</vt:lpstr>
      <vt:lpstr>Using the HTML5 video Element</vt:lpstr>
      <vt:lpstr>Using the HTML5 video Element (continued 1)</vt:lpstr>
      <vt:lpstr>Using the HTML5 video Element (continued 2)</vt:lpstr>
      <vt:lpstr>Using the HTML5 video Element (continued 4)</vt:lpstr>
      <vt:lpstr>Adding a Text Track to Video</vt:lpstr>
      <vt:lpstr>Adding a Text Track to Video (continued 1)</vt:lpstr>
      <vt:lpstr>Adding a Text Track to Video (continued 2)</vt:lpstr>
      <vt:lpstr>Making Tracks with WebVTT</vt:lpstr>
      <vt:lpstr>Making Tracks with WebVTT (continued 1)</vt:lpstr>
      <vt:lpstr>Making Tracks with WebVTT (continued 2)</vt:lpstr>
      <vt:lpstr>Placing the Cue Text</vt:lpstr>
      <vt:lpstr>Placing the Cue Text (continued 1)</vt:lpstr>
      <vt:lpstr>Placing the Cue Text (continued 2)</vt:lpstr>
      <vt:lpstr>Applying Styles to Track Cues</vt:lpstr>
      <vt:lpstr>Applying Styles to Track Cues (continued 1)</vt:lpstr>
      <vt:lpstr>Applying Styles to Track Cues (continued 2)</vt:lpstr>
      <vt:lpstr>Applying Styles to Track Cues (continued 3)</vt:lpstr>
      <vt:lpstr>Using Third-Party Video Players</vt:lpstr>
      <vt:lpstr>Using Third-Party Video Players (continued)</vt:lpstr>
      <vt:lpstr>Exploring the Flash Player</vt:lpstr>
      <vt:lpstr>Exploring the Flash Player (continued 1)</vt:lpstr>
      <vt:lpstr>Exploring the Flash Player (continued 2)</vt:lpstr>
      <vt:lpstr>Embedding Videos from YouTube</vt:lpstr>
      <vt:lpstr>Embedding Videos from YouTube (continued 1)</vt:lpstr>
      <vt:lpstr>Embedding Videos from YouTube (continued 2)</vt:lpstr>
      <vt:lpstr>Embedding Videos from YouTube (continued 3)</vt:lpstr>
      <vt:lpstr>HTML5 Video Players</vt:lpstr>
      <vt:lpstr>HTML5 Video Players (continued 1)</vt:lpstr>
      <vt:lpstr>HTML5 Video Players (continued 2)</vt:lpstr>
      <vt:lpstr>Introducing Transitions</vt:lpstr>
      <vt:lpstr>Introducing Transitions (continued)</vt:lpstr>
      <vt:lpstr>Setting the Transition Timing</vt:lpstr>
      <vt:lpstr>Setting the Transition Timing (continued 1)</vt:lpstr>
      <vt:lpstr>Setting the Transition Timing (continued 2)</vt:lpstr>
      <vt:lpstr>Delaying a Transition</vt:lpstr>
      <vt:lpstr>Creating a Hover Transition</vt:lpstr>
      <vt:lpstr>Creating a Hover Transition (continued)</vt:lpstr>
      <vt:lpstr>Animating Objects with CSS</vt:lpstr>
      <vt:lpstr>The @keyframes Rule</vt:lpstr>
      <vt:lpstr>The @keyframes Rule (continued) </vt:lpstr>
      <vt:lpstr>Applying an Animation</vt:lpstr>
      <vt:lpstr>Applying an Animation (continued 1)</vt:lpstr>
      <vt:lpstr>Applying an Animation (continued 2)</vt:lpstr>
      <vt:lpstr>Controlling an Animation</vt:lpstr>
      <vt:lpstr>Controlling an Animation (continued 1)</vt:lpstr>
      <vt:lpstr>Controlling an Animation (continued 2)</vt:lpstr>
      <vt:lpstr>Controlling an Animation (continued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modified xsi:type="dcterms:W3CDTF">2019-11-07T19:28:49Z</dcterms:modified>
</cp:coreProperties>
</file>