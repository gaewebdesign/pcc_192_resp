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00" r:id="rId1"/>
  </p:sldMasterIdLst>
  <p:notesMasterIdLst>
    <p:notesMasterId r:id="rId72"/>
  </p:notesMasterIdLst>
  <p:handoutMasterIdLst>
    <p:handoutMasterId r:id="rId73"/>
  </p:handoutMasterIdLst>
  <p:sldIdLst>
    <p:sldId id="258" r:id="rId2"/>
    <p:sldId id="259" r:id="rId3"/>
    <p:sldId id="344" r:id="rId4"/>
    <p:sldId id="263" r:id="rId5"/>
    <p:sldId id="345" r:id="rId6"/>
    <p:sldId id="264" r:id="rId7"/>
    <p:sldId id="265" r:id="rId8"/>
    <p:sldId id="266" r:id="rId9"/>
    <p:sldId id="267" r:id="rId10"/>
    <p:sldId id="268" r:id="rId11"/>
    <p:sldId id="270" r:id="rId12"/>
    <p:sldId id="271" r:id="rId13"/>
    <p:sldId id="272" r:id="rId14"/>
    <p:sldId id="273" r:id="rId15"/>
    <p:sldId id="276" r:id="rId16"/>
    <p:sldId id="277" r:id="rId17"/>
    <p:sldId id="278" r:id="rId18"/>
    <p:sldId id="281" r:id="rId19"/>
    <p:sldId id="282" r:id="rId20"/>
    <p:sldId id="284" r:id="rId21"/>
    <p:sldId id="285" r:id="rId22"/>
    <p:sldId id="287" r:id="rId23"/>
    <p:sldId id="288" r:id="rId24"/>
    <p:sldId id="290" r:id="rId25"/>
    <p:sldId id="291" r:id="rId26"/>
    <p:sldId id="292" r:id="rId27"/>
    <p:sldId id="293" r:id="rId28"/>
    <p:sldId id="295" r:id="rId29"/>
    <p:sldId id="296" r:id="rId30"/>
    <p:sldId id="298" r:id="rId31"/>
    <p:sldId id="299" r:id="rId32"/>
    <p:sldId id="351" r:id="rId33"/>
    <p:sldId id="300" r:id="rId34"/>
    <p:sldId id="301" r:id="rId35"/>
    <p:sldId id="302" r:id="rId36"/>
    <p:sldId id="303" r:id="rId37"/>
    <p:sldId id="347" r:id="rId38"/>
    <p:sldId id="305" r:id="rId39"/>
    <p:sldId id="308" r:id="rId40"/>
    <p:sldId id="310" r:id="rId41"/>
    <p:sldId id="348" r:id="rId42"/>
    <p:sldId id="312" r:id="rId43"/>
    <p:sldId id="349" r:id="rId44"/>
    <p:sldId id="311" r:id="rId45"/>
    <p:sldId id="314" r:id="rId46"/>
    <p:sldId id="315" r:id="rId47"/>
    <p:sldId id="316" r:id="rId48"/>
    <p:sldId id="317" r:id="rId49"/>
    <p:sldId id="319" r:id="rId50"/>
    <p:sldId id="320" r:id="rId51"/>
    <p:sldId id="322" r:id="rId52"/>
    <p:sldId id="323" r:id="rId53"/>
    <p:sldId id="350" r:id="rId54"/>
    <p:sldId id="324" r:id="rId55"/>
    <p:sldId id="325" r:id="rId56"/>
    <p:sldId id="326" r:id="rId57"/>
    <p:sldId id="328" r:id="rId58"/>
    <p:sldId id="346" r:id="rId59"/>
    <p:sldId id="329" r:id="rId60"/>
    <p:sldId id="330" r:id="rId61"/>
    <p:sldId id="332" r:id="rId62"/>
    <p:sldId id="334" r:id="rId63"/>
    <p:sldId id="335" r:id="rId64"/>
    <p:sldId id="336" r:id="rId65"/>
    <p:sldId id="337" r:id="rId66"/>
    <p:sldId id="338" r:id="rId67"/>
    <p:sldId id="339" r:id="rId68"/>
    <p:sldId id="340" r:id="rId69"/>
    <p:sldId id="341" r:id="rId70"/>
    <p:sldId id="342" r:id="rId71"/>
  </p:sldIdLst>
  <p:sldSz cx="9144000" cy="6858000" type="screen4x3"/>
  <p:notesSz cx="7077075" cy="9363075"/>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00"/>
    <a:srgbClr val="990033"/>
    <a:srgbClr val="CC0000"/>
    <a:srgbClr val="FFFFFF"/>
    <a:srgbClr val="EAEAEA"/>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1815" autoAdjust="0"/>
    <p:restoredTop sz="88225" autoAdjust="0"/>
  </p:normalViewPr>
  <p:slideViewPr>
    <p:cSldViewPr snapToGrid="0">
      <p:cViewPr varScale="1">
        <p:scale>
          <a:sx n="61" d="100"/>
          <a:sy n="61" d="100"/>
        </p:scale>
        <p:origin x="941" y="58"/>
      </p:cViewPr>
      <p:guideLst>
        <p:guide orient="horz" pos="2160"/>
        <p:guide pos="2880"/>
      </p:guideLst>
    </p:cSldViewPr>
  </p:slideViewPr>
  <p:notesTextViewPr>
    <p:cViewPr>
      <p:scale>
        <a:sx n="1" d="1"/>
        <a:sy n="1" d="1"/>
      </p:scale>
      <p:origin x="0" y="0"/>
    </p:cViewPr>
  </p:notesTextViewPr>
  <p:sorterViewPr>
    <p:cViewPr>
      <p:scale>
        <a:sx n="160" d="100"/>
        <a:sy n="160" d="100"/>
      </p:scale>
      <p:origin x="0" y="-4415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dirty="0"/>
          </a:p>
        </p:txBody>
      </p:sp>
      <p:sp>
        <p:nvSpPr>
          <p:cNvPr id="3" name="Date Placeholder 2"/>
          <p:cNvSpPr>
            <a:spLocks noGrp="1"/>
          </p:cNvSpPr>
          <p:nvPr>
            <p:ph type="dt" sz="quarter" idx="1"/>
          </p:nvPr>
        </p:nvSpPr>
        <p:spPr>
          <a:xfrm>
            <a:off x="4008705" y="0"/>
            <a:ext cx="3066733" cy="469780"/>
          </a:xfrm>
          <a:prstGeom prst="rect">
            <a:avLst/>
          </a:prstGeom>
        </p:spPr>
        <p:txBody>
          <a:bodyPr vert="horz" lIns="93936" tIns="46968" rIns="93936" bIns="46968" rtlCol="0"/>
          <a:lstStyle>
            <a:lvl1pPr algn="r">
              <a:defRPr sz="1200"/>
            </a:lvl1pPr>
          </a:lstStyle>
          <a:p>
            <a:fld id="{F828C31B-4A29-4AC7-BA5D-4D38F35C35BF}" type="datetimeFigureOut">
              <a:rPr lang="en-US" smtClean="0"/>
              <a:t>11/7/2019</a:t>
            </a:fld>
            <a:endParaRPr lang="en-US" dirty="0"/>
          </a:p>
        </p:txBody>
      </p:sp>
      <p:sp>
        <p:nvSpPr>
          <p:cNvPr id="4" name="Footer Placeholder 3"/>
          <p:cNvSpPr>
            <a:spLocks noGrp="1"/>
          </p:cNvSpPr>
          <p:nvPr>
            <p:ph type="ftr" sz="quarter" idx="2"/>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08705" y="8893297"/>
            <a:ext cx="3066733" cy="469779"/>
          </a:xfrm>
          <a:prstGeom prst="rect">
            <a:avLst/>
          </a:prstGeom>
        </p:spPr>
        <p:txBody>
          <a:bodyPr vert="horz" lIns="93936" tIns="46968" rIns="93936" bIns="46968" rtlCol="0" anchor="b"/>
          <a:lstStyle>
            <a:lvl1pPr algn="r">
              <a:defRPr sz="1200"/>
            </a:lvl1pPr>
          </a:lstStyle>
          <a:p>
            <a:fld id="{0737FAA5-A42F-4054-87F6-0DE43D98B245}" type="slidenum">
              <a:rPr lang="en-US" smtClean="0"/>
              <a:t>‹#›</a:t>
            </a:fld>
            <a:endParaRPr lang="en-US" dirty="0"/>
          </a:p>
        </p:txBody>
      </p:sp>
    </p:spTree>
    <p:extLst>
      <p:ext uri="{BB962C8B-B14F-4D97-AF65-F5344CB8AC3E}">
        <p14:creationId xmlns:p14="http://schemas.microsoft.com/office/powerpoint/2010/main" val="2109349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defRPr sz="1200">
                <a:cs typeface="+mn-cs"/>
              </a:defRPr>
            </a:lvl1pPr>
          </a:lstStyle>
          <a:p>
            <a:pPr>
              <a:defRPr/>
            </a:pPr>
            <a:endParaRPr lang="en-US" dirty="0"/>
          </a:p>
        </p:txBody>
      </p:sp>
      <p:sp>
        <p:nvSpPr>
          <p:cNvPr id="4099" name="Rectangle 3"/>
          <p:cNvSpPr>
            <a:spLocks noGrp="1" noChangeArrowheads="1"/>
          </p:cNvSpPr>
          <p:nvPr>
            <p:ph type="dt" idx="1"/>
          </p:nvPr>
        </p:nvSpPr>
        <p:spPr bwMode="auto">
          <a:xfrm>
            <a:off x="4008705"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a:defRPr sz="1200">
                <a:cs typeface="+mn-cs"/>
              </a:defRPr>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7708" y="4447461"/>
            <a:ext cx="5661660"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defRPr sz="1200">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4008705"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a:defRPr sz="1200">
                <a:cs typeface="+mn-cs"/>
              </a:defRPr>
            </a:lvl1pPr>
          </a:lstStyle>
          <a:p>
            <a:pPr>
              <a:defRPr/>
            </a:pPr>
            <a:fld id="{B8FD0BC6-8D0F-4AA6-92ED-A084BB254BA3}"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2</a:t>
            </a:fld>
            <a:endParaRPr lang="en-US" dirty="0"/>
          </a:p>
        </p:txBody>
      </p:sp>
    </p:spTree>
    <p:extLst>
      <p:ext uri="{BB962C8B-B14F-4D97-AF65-F5344CB8AC3E}">
        <p14:creationId xmlns:p14="http://schemas.microsoft.com/office/powerpoint/2010/main" val="3038056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3</a:t>
            </a:fld>
            <a:endParaRPr lang="en-US" dirty="0"/>
          </a:p>
        </p:txBody>
      </p:sp>
    </p:spTree>
    <p:extLst>
      <p:ext uri="{BB962C8B-B14F-4D97-AF65-F5344CB8AC3E}">
        <p14:creationId xmlns:p14="http://schemas.microsoft.com/office/powerpoint/2010/main" val="192371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9</a:t>
            </a:fld>
            <a:endParaRPr lang="en-US" dirty="0"/>
          </a:p>
        </p:txBody>
      </p:sp>
    </p:spTree>
    <p:extLst>
      <p:ext uri="{BB962C8B-B14F-4D97-AF65-F5344CB8AC3E}">
        <p14:creationId xmlns:p14="http://schemas.microsoft.com/office/powerpoint/2010/main" val="712378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27</a:t>
            </a:fld>
            <a:endParaRPr lang="en-US" dirty="0"/>
          </a:p>
        </p:txBody>
      </p:sp>
    </p:spTree>
    <p:extLst>
      <p:ext uri="{BB962C8B-B14F-4D97-AF65-F5344CB8AC3E}">
        <p14:creationId xmlns:p14="http://schemas.microsoft.com/office/powerpoint/2010/main" val="3656723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37</a:t>
            </a:fld>
            <a:endParaRPr lang="en-US" dirty="0"/>
          </a:p>
        </p:txBody>
      </p:sp>
    </p:spTree>
    <p:extLst>
      <p:ext uri="{BB962C8B-B14F-4D97-AF65-F5344CB8AC3E}">
        <p14:creationId xmlns:p14="http://schemas.microsoft.com/office/powerpoint/2010/main" val="351830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47</a:t>
            </a:fld>
            <a:endParaRPr lang="en-US" dirty="0"/>
          </a:p>
        </p:txBody>
      </p:sp>
    </p:spTree>
    <p:extLst>
      <p:ext uri="{BB962C8B-B14F-4D97-AF65-F5344CB8AC3E}">
        <p14:creationId xmlns:p14="http://schemas.microsoft.com/office/powerpoint/2010/main" val="23014871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44" y="16"/>
            <a:ext cx="9143855" cy="6865874"/>
          </a:xfrm>
          <a:prstGeom prst="rect">
            <a:avLst/>
          </a:prstGeom>
        </p:spPr>
      </p:pic>
      <p:sp>
        <p:nvSpPr>
          <p:cNvPr id="2" name="Title 1"/>
          <p:cNvSpPr>
            <a:spLocks noGrp="1"/>
          </p:cNvSpPr>
          <p:nvPr>
            <p:ph type="title"/>
          </p:nvPr>
        </p:nvSpPr>
        <p:spPr>
          <a:xfrm>
            <a:off x="628650" y="2291187"/>
            <a:ext cx="78867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3650456" y="3619986"/>
            <a:ext cx="1843088" cy="597477"/>
          </a:xfrm>
        </p:spPr>
        <p:txBody>
          <a:bodyPr>
            <a:normAutofit/>
          </a:bodyPr>
          <a:lstStyle>
            <a:lvl1pPr marL="0" indent="0" algn="ctr">
              <a:buNone/>
              <a:defRPr sz="15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192918" y="6356351"/>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01151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nit Slide">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955931" y="2193424"/>
            <a:ext cx="7232139"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628650" y="3096123"/>
            <a:ext cx="7886700" cy="672105"/>
          </a:xfrm>
        </p:spPr>
        <p:txBody>
          <a:bodyPr/>
          <a:lstStyle>
            <a:lvl1pPr>
              <a:defRPr sz="3400">
                <a:solidFill>
                  <a:schemeClr val="bg1"/>
                </a:solidFill>
              </a:defRPr>
            </a:lvl1pPr>
          </a:lstStyle>
          <a:p>
            <a:r>
              <a:rPr lang="en-US" dirty="0"/>
              <a:t>Click to edit Master title style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192918" y="6356351"/>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9245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2997682" y="3112899"/>
            <a:ext cx="2473070" cy="618014"/>
          </a:xfrm>
        </p:spPr>
        <p:txBody>
          <a:bodyPr anchor="b">
            <a:noAutofit/>
          </a:bodyPr>
          <a:lstStyle>
            <a:lvl1pPr marL="0" indent="0" algn="l">
              <a:buNone/>
              <a:defRPr sz="27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2997683" y="4035475"/>
            <a:ext cx="4802013"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184548" y="314482"/>
            <a:ext cx="2507456" cy="4318000"/>
          </a:xfrm>
        </p:spPr>
        <p:txBody>
          <a:bodyPr/>
          <a:lstStyle/>
          <a:p>
            <a:r>
              <a:rPr lang="en-US" dirty="0"/>
              <a:t>Click icon to add picture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192918" y="6356351"/>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1544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6" name="Text Placeholder 5"/>
          <p:cNvSpPr>
            <a:spLocks noGrp="1"/>
          </p:cNvSpPr>
          <p:nvPr>
            <p:ph type="body" sz="quarter" idx="15" hasCustomPrompt="1"/>
          </p:nvPr>
        </p:nvSpPr>
        <p:spPr>
          <a:xfrm>
            <a:off x="557683" y="1289684"/>
            <a:ext cx="8033657" cy="3732692"/>
          </a:xfrm>
        </p:spPr>
        <p:txBody>
          <a:bodyPr>
            <a:noAutofit/>
          </a:bodyPr>
          <a:lstStyle>
            <a:lvl1pPr marL="0" indent="0" algn="l">
              <a:buNone/>
              <a:defRPr sz="32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14119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557681" y="1290691"/>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557680" y="1737343"/>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557680" y="3389728"/>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557680" y="3856204"/>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52313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557682"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3813351" cy="3953578"/>
          </a:xfrm>
        </p:spPr>
        <p:txBody>
          <a:bodyPr>
            <a:normAutofit/>
          </a:bodyPr>
          <a:lstStyle>
            <a:lvl1pPr marL="171450" indent="-171450">
              <a:buClr>
                <a:srgbClr val="004A78"/>
              </a:buClr>
              <a:buFont typeface="Arial" charset="0"/>
              <a:buChar char="•"/>
              <a:defRPr sz="1350">
                <a:solidFill>
                  <a:srgbClr val="000000"/>
                </a:solidFill>
              </a:defRPr>
            </a:lvl1pPr>
            <a:lvl2pPr marL="514350" indent="-171450">
              <a:buClr>
                <a:srgbClr val="004A78"/>
              </a:buClr>
              <a:buFont typeface="Arial" charset="0"/>
              <a:buChar char="•"/>
              <a:defRPr sz="1350">
                <a:solidFill>
                  <a:srgbClr val="000000"/>
                </a:solidFill>
              </a:defRPr>
            </a:lvl2pPr>
            <a:lvl3pPr marL="857250" indent="-171450">
              <a:buClr>
                <a:srgbClr val="004A78"/>
              </a:buClr>
              <a:buFont typeface="Arial" charset="0"/>
              <a:buChar char="•"/>
              <a:defRPr sz="1350">
                <a:solidFill>
                  <a:srgbClr val="000000"/>
                </a:solidFill>
              </a:defRPr>
            </a:lvl3pPr>
            <a:lvl4pPr marL="1200150" indent="-171450">
              <a:buClr>
                <a:srgbClr val="004A78"/>
              </a:buClr>
              <a:buFont typeface="Arial" charset="0"/>
              <a:buChar char="•"/>
              <a:defRPr sz="1350">
                <a:solidFill>
                  <a:srgbClr val="000000"/>
                </a:solidFill>
              </a:defRPr>
            </a:lvl4pPr>
            <a:lvl5pPr marL="1543050" indent="-171450">
              <a:buClr>
                <a:srgbClr val="004A78"/>
              </a:buClr>
              <a:buFont typeface="Arial" charset="0"/>
              <a:buChar cha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4777988"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4777988" y="2202774"/>
            <a:ext cx="3813351" cy="3953578"/>
          </a:xfrm>
        </p:spPr>
        <p:txBody>
          <a:bodyPr>
            <a:normAutofit/>
          </a:bodyPr>
          <a:lstStyle>
            <a:lvl1pPr>
              <a:buClr>
                <a:srgbClr val="004A78"/>
              </a:buClr>
              <a:defRPr sz="1350">
                <a:solidFill>
                  <a:srgbClr val="000000"/>
                </a:solidFill>
              </a:defRPr>
            </a:lvl1pPr>
            <a:lvl2pPr marL="514350" indent="-171450">
              <a:buClr>
                <a:srgbClr val="004A78"/>
              </a:buClr>
              <a:buFontTx/>
              <a:buChar char="‒"/>
              <a:defRPr sz="1350">
                <a:solidFill>
                  <a:srgbClr val="000000"/>
                </a:solidFill>
              </a:defRPr>
            </a:lvl2pPr>
            <a:lvl3pPr>
              <a:buClr>
                <a:srgbClr val="004A78"/>
              </a:buClr>
              <a:defRPr sz="1350">
                <a:solidFill>
                  <a:srgbClr val="000000"/>
                </a:solidFill>
              </a:defRPr>
            </a:lvl3pPr>
            <a:lvl4pPr>
              <a:buClr>
                <a:srgbClr val="004A78"/>
              </a:buClr>
              <a:defRPr sz="1350">
                <a:solidFill>
                  <a:srgbClr val="000000"/>
                </a:solidFill>
              </a:defRPr>
            </a:lvl4pPr>
            <a:lvl5pPr>
              <a:buClr>
                <a:srgbClr val="004A78"/>
              </a:buCl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02074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557682"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3334349"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3334349"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6109465"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6116038"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6893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557683" y="1289685"/>
            <a:ext cx="8033657" cy="2750053"/>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555172" y="4846655"/>
            <a:ext cx="8033657" cy="825500"/>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09443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549839" y="1619557"/>
            <a:ext cx="485775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5609229" y="4070658"/>
            <a:ext cx="2982305" cy="1808163"/>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1783079" y="6365706"/>
            <a:ext cx="6965770"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35303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65420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342900" indent="-342900">
              <a:buClr>
                <a:srgbClr val="004A78"/>
              </a:buClr>
              <a:buFont typeface="+mj-lt"/>
              <a:buAutoNum type="arabicPeriod"/>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51988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3200">
                <a:solidFill>
                  <a:srgbClr val="004A78"/>
                </a:solidFill>
              </a:defRPr>
            </a:lvl1pPr>
            <a:lvl2pPr marL="514350" marR="0" indent="-171450" algn="l" defTabSz="685800" rtl="0" eaLnBrk="1" fontAlgn="base" latinLnBrk="0" hangingPunct="1">
              <a:lnSpc>
                <a:spcPct val="90000"/>
              </a:lnSpc>
              <a:spcBef>
                <a:spcPts val="375"/>
              </a:spcBef>
              <a:spcAft>
                <a:spcPct val="0"/>
              </a:spcAft>
              <a:buClr>
                <a:srgbClr val="004A78"/>
              </a:buClr>
              <a:buSzTx/>
              <a:buFont typeface="Arial" charset="0"/>
              <a:buChar char="•"/>
              <a:tabLst/>
              <a:defRPr sz="2800" baseline="0"/>
            </a:lvl2pPr>
            <a:lvl3pPr marL="857250" indent="-171450">
              <a:buClr>
                <a:srgbClr val="004A78"/>
              </a:buClr>
              <a:buFont typeface="Arial" charset="0"/>
              <a:buChar char="•"/>
              <a:defRPr sz="2400"/>
            </a:lvl3pPr>
            <a:lvl4pPr marL="1200150" indent="-171450">
              <a:buClr>
                <a:srgbClr val="004A78"/>
              </a:buClr>
              <a:buSzPct val="50000"/>
              <a:buFont typeface="LucidaGrande" charset="0"/>
              <a:buChar char="▶"/>
              <a:defRPr sz="2400"/>
            </a:lvl4pPr>
            <a:lvl5pPr marL="1543050" indent="-171450">
              <a:buClr>
                <a:srgbClr val="000000"/>
              </a:buClr>
              <a:buFont typeface="Helvetica" charset="0"/>
              <a:buChar char="⁃"/>
              <a:defRPr sz="24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713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Table Placeholder 4"/>
          <p:cNvSpPr>
            <a:spLocks noGrp="1"/>
          </p:cNvSpPr>
          <p:nvPr>
            <p:ph type="tbl" sz="quarter" idx="10"/>
          </p:nvPr>
        </p:nvSpPr>
        <p:spPr>
          <a:xfrm>
            <a:off x="1421642" y="2019869"/>
            <a:ext cx="6096000" cy="3380095"/>
          </a:xfrm>
        </p:spPr>
        <p:txBody>
          <a:bodyPr/>
          <a:lstStyle/>
          <a:p>
            <a:r>
              <a:rPr lang="en-US" dirty="0"/>
              <a:t>Click icon to add table</a:t>
            </a:r>
          </a:p>
        </p:txBody>
      </p:sp>
      <p:sp>
        <p:nvSpPr>
          <p:cNvPr id="6"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22407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6"/>
            <a:ext cx="78867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57632" y="6356351"/>
            <a:ext cx="118467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1744717" y="6310311"/>
            <a:ext cx="6770633"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rgbClr val="006298"/>
                </a:solidFill>
                <a:latin typeface="arial" charset="0"/>
              </a:defRPr>
            </a:lvl1pPr>
          </a:lstStyle>
          <a:p>
            <a:pPr defTabSz="685800"/>
            <a:r>
              <a:rPr lang="en-US" dirty="0">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9598742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Lst>
  <p:hf sldNum="0" hd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5pPr>
      <a:lvl6pPr marL="3429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6pPr>
      <a:lvl7pPr marL="6858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7pPr>
      <a:lvl8pPr marL="10287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8pPr>
      <a:lvl9pPr marL="13716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750"/>
        </a:spcBef>
        <a:spcAft>
          <a:spcPct val="0"/>
        </a:spcAft>
        <a:buFont typeface="Arial" charset="0"/>
        <a:buNone/>
        <a:defRPr sz="3200" kern="1200" baseline="0">
          <a:solidFill>
            <a:srgbClr val="000000"/>
          </a:solidFill>
          <a:latin typeface="Arial" charset="0"/>
          <a:ea typeface="Arial" charset="0"/>
          <a:cs typeface="Arial" charset="0"/>
        </a:defRPr>
      </a:lvl1pPr>
      <a:lvl2pPr marL="514350" indent="-171450" algn="l" rtl="0" eaLnBrk="1" fontAlgn="base" hangingPunct="1">
        <a:lnSpc>
          <a:spcPct val="90000"/>
        </a:lnSpc>
        <a:spcBef>
          <a:spcPts val="375"/>
        </a:spcBef>
        <a:spcAft>
          <a:spcPct val="0"/>
        </a:spcAft>
        <a:buFont typeface="Arial" charset="0"/>
        <a:buChar char="•"/>
        <a:defRPr sz="1800" kern="1200" baseline="0">
          <a:solidFill>
            <a:srgbClr val="004A78"/>
          </a:solidFill>
          <a:latin typeface="Arial" charset="0"/>
          <a:ea typeface="Arial" charset="0"/>
          <a:cs typeface="Arial" charset="0"/>
        </a:defRPr>
      </a:lvl2pPr>
      <a:lvl3pPr marL="857250" indent="-171450" algn="l" rtl="0" eaLnBrk="1" fontAlgn="base" hangingPunct="1">
        <a:lnSpc>
          <a:spcPct val="90000"/>
        </a:lnSpc>
        <a:spcBef>
          <a:spcPts val="375"/>
        </a:spcBef>
        <a:spcAft>
          <a:spcPct val="0"/>
        </a:spcAft>
        <a:buFont typeface="Arial" charset="0"/>
        <a:buChar char="•"/>
        <a:defRPr sz="1500" kern="1200" baseline="0">
          <a:solidFill>
            <a:srgbClr val="004A78"/>
          </a:solidFill>
          <a:latin typeface="Arial" charset="0"/>
          <a:ea typeface="Arial" charset="0"/>
          <a:cs typeface="Arial" charset="0"/>
        </a:defRPr>
      </a:lvl3pPr>
      <a:lvl4pPr marL="12001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4pPr>
      <a:lvl5pPr marL="15430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BB88C5-9CA0-4A23-82E3-0A057E3763D0}"/>
              </a:ext>
            </a:extLst>
          </p:cNvPr>
          <p:cNvSpPr>
            <a:spLocks noGrp="1"/>
          </p:cNvSpPr>
          <p:nvPr>
            <p:ph type="title"/>
          </p:nvPr>
        </p:nvSpPr>
        <p:spPr/>
        <p:txBody>
          <a:bodyPr/>
          <a:lstStyle/>
          <a:p>
            <a:r>
              <a:rPr lang="en-US" sz="5000" dirty="0"/>
              <a:t>Tutorial 10</a:t>
            </a:r>
          </a:p>
        </p:txBody>
      </p:sp>
      <p:sp>
        <p:nvSpPr>
          <p:cNvPr id="5" name="Text Placeholder 4">
            <a:extLst>
              <a:ext uri="{FF2B5EF4-FFF2-40B4-BE49-F238E27FC236}">
                <a16:creationId xmlns:a16="http://schemas.microsoft.com/office/drawing/2014/main" id="{6172A042-96CD-495D-921B-6FFE20D0BA08}"/>
              </a:ext>
            </a:extLst>
          </p:cNvPr>
          <p:cNvSpPr>
            <a:spLocks noGrp="1"/>
          </p:cNvSpPr>
          <p:nvPr>
            <p:ph type="body" sz="quarter" idx="10"/>
          </p:nvPr>
        </p:nvSpPr>
        <p:spPr>
          <a:xfrm>
            <a:off x="776614" y="3619986"/>
            <a:ext cx="7603297" cy="1014644"/>
          </a:xfrm>
        </p:spPr>
        <p:txBody>
          <a:bodyPr>
            <a:noAutofit/>
          </a:bodyPr>
          <a:lstStyle/>
          <a:p>
            <a:r>
              <a:rPr lang="en-US" sz="3400" b="1" dirty="0">
                <a:solidFill>
                  <a:srgbClr val="FFFFFF"/>
                </a:solidFill>
              </a:rPr>
              <a:t>Exploring Arrays, Loops, and Conditional Statements</a:t>
            </a:r>
            <a:endParaRPr lang="en-US" sz="3400" dirty="0"/>
          </a:p>
        </p:txBody>
      </p:sp>
      <p:sp>
        <p:nvSpPr>
          <p:cNvPr id="12" name="Footer Placeholder 11">
            <a:extLst>
              <a:ext uri="{FF2B5EF4-FFF2-40B4-BE49-F238E27FC236}">
                <a16:creationId xmlns:a16="http://schemas.microsoft.com/office/drawing/2014/main" id="{B8B256E9-DF2C-4D8F-A3CE-E53FEDA99FD5}"/>
              </a:ext>
            </a:extLst>
          </p:cNvPr>
          <p:cNvSpPr>
            <a:spLocks noGrp="1"/>
          </p:cNvSpPr>
          <p:nvPr>
            <p:ph type="ftr" sz="quarter" idx="3"/>
          </p:nvPr>
        </p:nvSpPr>
        <p:spPr/>
        <p:txBody>
          <a:body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pPr eaLnBrk="1" hangingPunct="1"/>
            <a:r>
              <a:rPr lang="en-US" dirty="0"/>
              <a:t>Objectives</a:t>
            </a:r>
          </a:p>
        </p:txBody>
      </p:sp>
      <p:sp>
        <p:nvSpPr>
          <p:cNvPr id="27650" name="Rectangle 3"/>
          <p:cNvSpPr>
            <a:spLocks noGrp="1" noChangeArrowheads="1"/>
          </p:cNvSpPr>
          <p:nvPr>
            <p:ph type="body" sz="quarter" idx="17"/>
          </p:nvPr>
        </p:nvSpPr>
        <p:spPr/>
        <p:txBody>
          <a:bodyPr/>
          <a:lstStyle/>
          <a:p>
            <a:r>
              <a:rPr lang="en-IN" dirty="0"/>
              <a:t>Create an array</a:t>
            </a:r>
          </a:p>
          <a:p>
            <a:r>
              <a:rPr lang="en-IN" dirty="0"/>
              <a:t>Work with array properties and methods</a:t>
            </a:r>
          </a:p>
          <a:p>
            <a:r>
              <a:rPr lang="en-IN" dirty="0"/>
              <a:t>Create a program loop</a:t>
            </a:r>
          </a:p>
          <a:p>
            <a:r>
              <a:rPr lang="en-IN" dirty="0"/>
              <a:t>Work with the </a:t>
            </a:r>
            <a:r>
              <a:rPr lang="en-IN" sz="2600" dirty="0">
                <a:latin typeface="Courier New" panose="02070309020205020404" pitchFamily="49" charset="0"/>
                <a:cs typeface="Courier New" panose="02070309020205020404" pitchFamily="49" charset="0"/>
              </a:rPr>
              <a:t>for</a:t>
            </a:r>
            <a:r>
              <a:rPr lang="en-IN" dirty="0"/>
              <a:t> loop</a:t>
            </a:r>
          </a:p>
          <a:p>
            <a:r>
              <a:rPr lang="en-IN" dirty="0"/>
              <a:t>Write comparison and logical operators</a:t>
            </a:r>
          </a:p>
          <a:p>
            <a:r>
              <a:rPr lang="en-IN" dirty="0"/>
              <a:t>Create a conditional statement</a:t>
            </a:r>
          </a:p>
          <a:p>
            <a:r>
              <a:rPr lang="en-IN" dirty="0"/>
              <a:t>Use the </a:t>
            </a:r>
            <a:r>
              <a:rPr lang="en-IN" sz="2600" dirty="0">
                <a:latin typeface="Courier New" panose="02070309020205020404" pitchFamily="49" charset="0"/>
                <a:cs typeface="Courier New" panose="02070309020205020404" pitchFamily="49" charset="0"/>
              </a:rPr>
              <a:t>if</a:t>
            </a:r>
            <a:r>
              <a:rPr lang="en-IN" dirty="0"/>
              <a:t> statement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r>
              <a:rPr lang="en-US" dirty="0"/>
              <a:t>Introducing the Monthly Calendar</a:t>
            </a:r>
          </a:p>
        </p:txBody>
      </p:sp>
      <p:sp>
        <p:nvSpPr>
          <p:cNvPr id="27650" name="Rectangle 3"/>
          <p:cNvSpPr>
            <a:spLocks noGrp="1" noChangeArrowheads="1"/>
          </p:cNvSpPr>
          <p:nvPr>
            <p:ph type="body" sz="quarter" idx="17"/>
          </p:nvPr>
        </p:nvSpPr>
        <p:spPr/>
        <p:txBody>
          <a:bodyPr/>
          <a:lstStyle/>
          <a:p>
            <a:r>
              <a:rPr lang="en-IN" dirty="0"/>
              <a:t>Calendar should appear in the form of a web table with links to specific events placed within the table cells</a:t>
            </a:r>
          </a:p>
          <a:p>
            <a:r>
              <a:rPr lang="en-IN" dirty="0"/>
              <a:t>Appearance and placement of the calendar will be set using a CSS style sheet</a:t>
            </a:r>
          </a:p>
          <a:p>
            <a:r>
              <a:rPr lang="en-IN" dirty="0"/>
              <a:t>The program created should be easily adaptable so that it can be used to create other monthly calendars</a:t>
            </a:r>
          </a:p>
        </p:txBody>
      </p:sp>
    </p:spTree>
    <p:extLst>
      <p:ext uri="{BB962C8B-B14F-4D97-AF65-F5344CB8AC3E}">
        <p14:creationId xmlns:p14="http://schemas.microsoft.com/office/powerpoint/2010/main" val="1815627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Introducing the Monthly Calendar (continued 1)</a:t>
            </a:r>
          </a:p>
        </p:txBody>
      </p:sp>
      <p:pic>
        <p:nvPicPr>
          <p:cNvPr id="4" name="Picture Placeholder 3" descr="This figure explains the process of linking to the style sheet and JavaScript file.&#10;The figure consists of two rectangular boxes and a few lines of code.&#10;The first line of the code reads “&lt;title&gt;Lyman Hall Theater in September&lt;/title&gt;”. The second line of the code reads “&lt;link href=”lht_base.css” rel=“stylesheet” /&gt;”. The third line of the code reads “&lt;link href=“lht_layout.css” rel=“stylesheet”/&gt;”. The fourth line of the code reads “&lt;link href=“lht_calendar.css” rel=“stylesheet” /&gt;”. The fifth line of the code reads “&lt;script src=“lht_calendar.js” defer&gt;&lt;/script&gt;”. The sixth line of the code reads “&lt;/head&gt;”.&#10;The first rectangular box labeled “style sheet for the calendar table” is positioned at the left side of the code. An arrow originating from this rectangular box points to the fourth line of the code.&#10;The second rectangular box labeled “JavaScript file that will generate the HTML code for the calendar table” is positioned below the first rectangular box. An arrow originating from this rectangular box points to the fifth line of the code." title="Figure 10-2 Linking to the style sheet and JavaScript file"/>
          <p:cNvPicPr>
            <a:picLocks noGrp="1" noChangeAspect="1"/>
          </p:cNvPicPr>
          <p:nvPr>
            <p:ph type="pic" sz="quarter" idx="10"/>
          </p:nvPr>
        </p:nvPicPr>
        <p:blipFill>
          <a:blip r:embed="rId2"/>
          <a:stretch>
            <a:fillRect/>
          </a:stretch>
        </p:blipFill>
        <p:spPr>
          <a:xfrm>
            <a:off x="628650" y="2095045"/>
            <a:ext cx="7905750" cy="2419350"/>
          </a:xfrm>
          <a:prstGeom prst="rect">
            <a:avLst/>
          </a:prstGeom>
        </p:spPr>
      </p:pic>
    </p:spTree>
    <p:extLst>
      <p:ext uri="{BB962C8B-B14F-4D97-AF65-F5344CB8AC3E}">
        <p14:creationId xmlns:p14="http://schemas.microsoft.com/office/powerpoint/2010/main" val="580002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Introducing the Monthly Calendar (continued 2)</a:t>
            </a:r>
          </a:p>
        </p:txBody>
      </p:sp>
      <p:pic>
        <p:nvPicPr>
          <p:cNvPr id="5" name="Picture Placeholder 4" descr="This figure shows the location of the calendar table.&#10;The figure consists of a rectangular box and a few lines of code.&#10;The first line of the code reads “&lt;/section&gt;”. The second line of the code reads “&lt;/article&gt;”. The third line of the code reads “&lt;div id=“calendar”&gt;&lt;/div&gt;”.&#10;A rectangular box labeled “HTML code for the calendar table will be placed within this div element” is positioned at the right side of the code. An arrow originating from this rectangular box points to the third line of the code. &#10;" title="Figure 10-3 Location of the calendar table"/>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529738" y="2070929"/>
            <a:ext cx="7985612" cy="1909979"/>
          </a:xfrm>
          <a:prstGeom prst="rect">
            <a:avLst/>
          </a:prstGeom>
        </p:spPr>
      </p:pic>
    </p:spTree>
    <p:extLst>
      <p:ext uri="{BB962C8B-B14F-4D97-AF65-F5344CB8AC3E}">
        <p14:creationId xmlns:p14="http://schemas.microsoft.com/office/powerpoint/2010/main" val="2603827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Reviewing the Calendar Structure</a:t>
            </a:r>
          </a:p>
        </p:txBody>
      </p:sp>
      <p:sp>
        <p:nvSpPr>
          <p:cNvPr id="2" name="Content Placeholder 1"/>
          <p:cNvSpPr>
            <a:spLocks noGrp="1"/>
          </p:cNvSpPr>
          <p:nvPr>
            <p:ph type="body" sz="quarter" idx="17"/>
          </p:nvPr>
        </p:nvSpPr>
        <p:spPr/>
        <p:txBody>
          <a:bodyPr/>
          <a:lstStyle/>
          <a:p>
            <a:r>
              <a:rPr lang="en-IN" dirty="0"/>
              <a:t>Names and IDs assigned to the different parts of the table</a:t>
            </a:r>
          </a:p>
          <a:p>
            <a:pPr lvl="1"/>
            <a:r>
              <a:rPr lang="en-IN" dirty="0"/>
              <a:t>Entire calendar is set in a web table with the ID </a:t>
            </a:r>
            <a:r>
              <a:rPr lang="en-IN" sz="2600" dirty="0">
                <a:latin typeface="Courier New" panose="02070309020205020404" pitchFamily="49" charset="0"/>
                <a:cs typeface="Courier New" panose="02070309020205020404" pitchFamily="49" charset="0"/>
              </a:rPr>
              <a:t>calendar_table</a:t>
            </a:r>
          </a:p>
          <a:p>
            <a:pPr lvl="1"/>
            <a:r>
              <a:rPr lang="en-IN" dirty="0"/>
              <a:t>Cell containing the calendar title has the ID </a:t>
            </a:r>
            <a:r>
              <a:rPr lang="en-IN" sz="2600" dirty="0">
                <a:latin typeface="Courier New" panose="02070309020205020404" pitchFamily="49" charset="0"/>
                <a:cs typeface="Courier New" panose="02070309020205020404" pitchFamily="49" charset="0"/>
              </a:rPr>
              <a:t>calendar_head</a:t>
            </a:r>
          </a:p>
          <a:p>
            <a:pPr lvl="1"/>
            <a:r>
              <a:rPr lang="en-IN" dirty="0"/>
              <a:t>Seven cells containing the days of the week abbreviations all belong to the class </a:t>
            </a:r>
            <a:r>
              <a:rPr lang="en-IN" sz="2600" i="1" dirty="0">
                <a:latin typeface="Courier New" panose="02070309020205020404" pitchFamily="49" charset="0"/>
                <a:cs typeface="Courier New" panose="02070309020205020404" pitchFamily="49" charset="0"/>
              </a:rPr>
              <a:t>calendar_weekdays</a:t>
            </a:r>
            <a:endParaRPr lang="en-IN" sz="2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49146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Reviewing the Calendar Structure (continued)</a:t>
            </a:r>
          </a:p>
        </p:txBody>
      </p:sp>
      <p:sp>
        <p:nvSpPr>
          <p:cNvPr id="2" name="Content Placeholder 1"/>
          <p:cNvSpPr>
            <a:spLocks noGrp="1"/>
          </p:cNvSpPr>
          <p:nvPr>
            <p:ph type="body" sz="quarter" idx="17"/>
          </p:nvPr>
        </p:nvSpPr>
        <p:spPr/>
        <p:txBody>
          <a:bodyPr/>
          <a:lstStyle/>
          <a:p>
            <a:pPr lvl="1"/>
            <a:r>
              <a:rPr lang="en-IN" dirty="0"/>
              <a:t>All cells containing the dates of the month belong to the class </a:t>
            </a:r>
            <a:r>
              <a:rPr lang="en-IN" sz="2600" dirty="0">
                <a:latin typeface="Courier New" panose="02070309020205020404" pitchFamily="49" charset="0"/>
                <a:cs typeface="Courier New" panose="02070309020205020404" pitchFamily="49" charset="0"/>
              </a:rPr>
              <a:t>calendar_dates</a:t>
            </a:r>
          </a:p>
          <a:p>
            <a:pPr lvl="1"/>
            <a:r>
              <a:rPr lang="en-IN" dirty="0"/>
              <a:t>The cell containing the current date has the ID </a:t>
            </a:r>
            <a:r>
              <a:rPr lang="en-IN" sz="2600" dirty="0">
                <a:latin typeface="Courier New" panose="02070309020205020404" pitchFamily="49" charset="0"/>
                <a:cs typeface="Courier New" panose="02070309020205020404" pitchFamily="49" charset="0"/>
              </a:rPr>
              <a:t>calendar_today</a:t>
            </a:r>
          </a:p>
          <a:p>
            <a:r>
              <a:rPr lang="en-IN" dirty="0"/>
              <a:t>Class and ID designations make it easier for page developers to assign different styles to the different parts of the calendar</a:t>
            </a:r>
          </a:p>
          <a:p>
            <a:endParaRPr lang="en-IN" dirty="0"/>
          </a:p>
        </p:txBody>
      </p:sp>
    </p:spTree>
    <p:extLst>
      <p:ext uri="{BB962C8B-B14F-4D97-AF65-F5344CB8AC3E}">
        <p14:creationId xmlns:p14="http://schemas.microsoft.com/office/powerpoint/2010/main" val="1975747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Adding the calendar() Function</a:t>
            </a:r>
          </a:p>
        </p:txBody>
      </p:sp>
      <p:sp>
        <p:nvSpPr>
          <p:cNvPr id="2" name="Content Placeholder 1"/>
          <p:cNvSpPr>
            <a:spLocks noGrp="1"/>
          </p:cNvSpPr>
          <p:nvPr>
            <p:ph type="body" sz="quarter" idx="17"/>
          </p:nvPr>
        </p:nvSpPr>
        <p:spPr/>
        <p:txBody>
          <a:bodyPr/>
          <a:lstStyle/>
          <a:p>
            <a:r>
              <a:rPr lang="en-IN" dirty="0"/>
              <a:t>Place the commands that generate the calendar within a single function named </a:t>
            </a:r>
            <a:r>
              <a:rPr lang="en-IN" sz="2600" dirty="0">
                <a:latin typeface="Courier New" panose="02070309020205020404" pitchFamily="49" charset="0"/>
                <a:cs typeface="Courier New" panose="02070309020205020404" pitchFamily="49" charset="0"/>
              </a:rPr>
              <a:t>createCalendar()</a:t>
            </a:r>
          </a:p>
          <a:p>
            <a:r>
              <a:rPr lang="en-IN" dirty="0"/>
              <a:t>Initial code to generate the calendar</a:t>
            </a:r>
          </a:p>
          <a:p>
            <a:pPr marL="357188" lvl="1" indent="0">
              <a:buNone/>
            </a:pPr>
            <a:r>
              <a:rPr lang="en-IN" sz="2600" dirty="0">
                <a:latin typeface="Courier New" panose="02070309020205020404" pitchFamily="49" charset="0"/>
                <a:cs typeface="Courier New" panose="02070309020205020404" pitchFamily="49" charset="0"/>
              </a:rPr>
              <a:t>var thisDay = new Date(“September 24, 2021”);</a:t>
            </a:r>
          </a:p>
          <a:p>
            <a:pPr marL="357188" lvl="1" indent="0">
              <a:buNone/>
            </a:pPr>
            <a:r>
              <a:rPr lang="en-IN" sz="2600" dirty="0">
                <a:latin typeface="Courier New" panose="02070309020205020404" pitchFamily="49" charset="0"/>
                <a:cs typeface="Courier New" panose="02070309020205020404" pitchFamily="49" charset="0"/>
              </a:rPr>
              <a:t>document.getElementById(“calendar”).innerHTML = createCalendar(thisDay);</a:t>
            </a:r>
          </a:p>
        </p:txBody>
      </p:sp>
    </p:spTree>
    <p:extLst>
      <p:ext uri="{BB962C8B-B14F-4D97-AF65-F5344CB8AC3E}">
        <p14:creationId xmlns:p14="http://schemas.microsoft.com/office/powerpoint/2010/main" val="2734739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Adding the calendar() Function (continued)</a:t>
            </a:r>
          </a:p>
        </p:txBody>
      </p:sp>
      <p:sp>
        <p:nvSpPr>
          <p:cNvPr id="2" name="Content Placeholder 1"/>
          <p:cNvSpPr>
            <a:spLocks noGrp="1"/>
          </p:cNvSpPr>
          <p:nvPr>
            <p:ph type="body" sz="quarter" idx="17"/>
          </p:nvPr>
        </p:nvSpPr>
        <p:spPr/>
        <p:txBody>
          <a:bodyPr/>
          <a:lstStyle/>
          <a:p>
            <a:pPr marL="357188" lvl="1" indent="0">
              <a:buNone/>
            </a:pPr>
            <a:r>
              <a:rPr lang="en-IN" sz="2600" dirty="0">
                <a:latin typeface="Courier New" panose="02070309020205020404" pitchFamily="49" charset="0"/>
                <a:cs typeface="Courier New" panose="02070309020205020404" pitchFamily="49" charset="0"/>
              </a:rPr>
              <a:t>function createCalendar(calDate) {</a:t>
            </a:r>
          </a:p>
          <a:p>
            <a:pPr marL="357188" lvl="1" indent="0">
              <a:buNone/>
            </a:pPr>
            <a:r>
              <a:rPr lang="en-IN" sz="2600" dirty="0">
                <a:latin typeface="Courier New" panose="02070309020205020404" pitchFamily="49" charset="0"/>
                <a:cs typeface="Courier New" panose="02070309020205020404" pitchFamily="49" charset="0"/>
              </a:rPr>
              <a:t>var calendarHTML = “&lt;table id='calendar_table'&gt;”;</a:t>
            </a:r>
          </a:p>
          <a:p>
            <a:pPr marL="357188" lvl="1" indent="0">
              <a:buNone/>
            </a:pPr>
            <a:r>
              <a:rPr lang="en-IN" sz="2600" dirty="0">
                <a:latin typeface="Courier New" panose="02070309020205020404" pitchFamily="49" charset="0"/>
                <a:cs typeface="Courier New" panose="02070309020205020404" pitchFamily="49" charset="0"/>
              </a:rPr>
              <a:t>calendarHTML += “&lt;/table&gt;”;</a:t>
            </a:r>
          </a:p>
          <a:p>
            <a:pPr marL="357188" lvl="1" indent="0">
              <a:buNone/>
            </a:pPr>
            <a:r>
              <a:rPr lang="en-IN" sz="2600" dirty="0">
                <a:latin typeface="Courier New" panose="02070309020205020404" pitchFamily="49" charset="0"/>
                <a:cs typeface="Courier New" panose="02070309020205020404" pitchFamily="49" charset="0"/>
              </a:rPr>
              <a:t>return calendarHTML;</a:t>
            </a:r>
          </a:p>
          <a:p>
            <a:pPr marL="357188" lvl="1" indent="0">
              <a:buNone/>
            </a:pPr>
            <a:r>
              <a:rPr lang="en-IN" sz="2600" dirty="0">
                <a:latin typeface="Courier New" panose="02070309020205020404" pitchFamily="49" charset="0"/>
                <a:cs typeface="Courier New" panose="02070309020205020404" pitchFamily="49" charset="0"/>
              </a:rPr>
              <a:t>}</a:t>
            </a:r>
          </a:p>
          <a:p>
            <a:r>
              <a:rPr lang="en-IN" sz="2600" dirty="0">
                <a:latin typeface="Courier New" panose="02070309020205020404" pitchFamily="49" charset="0"/>
                <a:cs typeface="Courier New" panose="02070309020205020404" pitchFamily="49" charset="0"/>
              </a:rPr>
              <a:t>thisDay</a:t>
            </a:r>
            <a:r>
              <a:rPr lang="en-IN" dirty="0"/>
              <a:t> variable: Stores the current date</a:t>
            </a:r>
          </a:p>
        </p:txBody>
      </p:sp>
    </p:spTree>
    <p:extLst>
      <p:ext uri="{BB962C8B-B14F-4D97-AF65-F5344CB8AC3E}">
        <p14:creationId xmlns:p14="http://schemas.microsoft.com/office/powerpoint/2010/main" val="1174080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Introducing Arrays</a:t>
            </a:r>
          </a:p>
        </p:txBody>
      </p:sp>
      <p:sp>
        <p:nvSpPr>
          <p:cNvPr id="2" name="Content Placeholder 1"/>
          <p:cNvSpPr>
            <a:spLocks noGrp="1"/>
          </p:cNvSpPr>
          <p:nvPr>
            <p:ph type="body" sz="quarter" idx="17"/>
          </p:nvPr>
        </p:nvSpPr>
        <p:spPr/>
        <p:txBody>
          <a:bodyPr/>
          <a:lstStyle/>
          <a:p>
            <a:r>
              <a:rPr lang="en-IN" sz="2600" dirty="0">
                <a:latin typeface="Courier New" panose="02070309020205020404" pitchFamily="49" charset="0"/>
                <a:cs typeface="Courier New" panose="02070309020205020404" pitchFamily="49" charset="0"/>
              </a:rPr>
              <a:t>getMonth()</a:t>
            </a:r>
            <a:r>
              <a:rPr lang="en-IN" dirty="0">
                <a:cs typeface="Courier New" panose="02070309020205020404" pitchFamily="49" charset="0"/>
              </a:rPr>
              <a:t> </a:t>
            </a:r>
            <a:r>
              <a:rPr lang="en-IN" dirty="0"/>
              <a:t>method: Extracts a month number </a:t>
            </a:r>
          </a:p>
          <a:p>
            <a:r>
              <a:rPr lang="en-IN" sz="2600" dirty="0">
                <a:latin typeface="Courier New" panose="02070309020205020404" pitchFamily="49" charset="0"/>
                <a:cs typeface="Courier New" panose="02070309020205020404" pitchFamily="49" charset="0"/>
              </a:rPr>
              <a:t>getFullYear()</a:t>
            </a:r>
            <a:r>
              <a:rPr lang="en-IN" dirty="0">
                <a:cs typeface="Courier New" panose="02070309020205020404" pitchFamily="49" charset="0"/>
              </a:rPr>
              <a:t> </a:t>
            </a:r>
            <a:r>
              <a:rPr lang="en-IN" dirty="0"/>
              <a:t>method: Extracts the four-digit year value</a:t>
            </a:r>
          </a:p>
          <a:p>
            <a:r>
              <a:rPr lang="en-IN" dirty="0"/>
              <a:t>The </a:t>
            </a:r>
            <a:r>
              <a:rPr lang="en-IN" sz="2600" dirty="0">
                <a:latin typeface="Courier New" panose="02070309020205020404" pitchFamily="49" charset="0"/>
                <a:cs typeface="Courier New" panose="02070309020205020404" pitchFamily="49" charset="0"/>
              </a:rPr>
              <a:t>Date</a:t>
            </a:r>
            <a:r>
              <a:rPr lang="en-IN" dirty="0"/>
              <a:t> method does not return the name of the month</a:t>
            </a:r>
          </a:p>
          <a:p>
            <a:r>
              <a:rPr lang="en-IN" dirty="0"/>
              <a:t>One way to associate each month number with a month name is by using an array</a:t>
            </a:r>
          </a:p>
          <a:p>
            <a:pPr marL="0" indent="0">
              <a:buNone/>
            </a:pPr>
            <a:endParaRPr lang="en-IN" dirty="0"/>
          </a:p>
        </p:txBody>
      </p:sp>
    </p:spTree>
    <p:extLst>
      <p:ext uri="{BB962C8B-B14F-4D97-AF65-F5344CB8AC3E}">
        <p14:creationId xmlns:p14="http://schemas.microsoft.com/office/powerpoint/2010/main" val="1942956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Introducing Arrays (continued 1)</a:t>
            </a:r>
          </a:p>
        </p:txBody>
      </p:sp>
      <p:sp>
        <p:nvSpPr>
          <p:cNvPr id="2" name="Content Placeholder 1"/>
          <p:cNvSpPr>
            <a:spLocks noGrp="1"/>
          </p:cNvSpPr>
          <p:nvPr>
            <p:ph type="body" sz="quarter" idx="17"/>
          </p:nvPr>
        </p:nvSpPr>
        <p:spPr>
          <a:xfrm>
            <a:off x="628650" y="1037231"/>
            <a:ext cx="8033657" cy="4394200"/>
          </a:xfrm>
        </p:spPr>
        <p:txBody>
          <a:bodyPr>
            <a:noAutofit/>
          </a:bodyPr>
          <a:lstStyle/>
          <a:p>
            <a:r>
              <a:rPr lang="en-IN" dirty="0"/>
              <a:t>Array: Collection of values organized under a single name</a:t>
            </a:r>
          </a:p>
          <a:p>
            <a:r>
              <a:rPr lang="en-IN" b="1" dirty="0"/>
              <a:t>Index</a:t>
            </a:r>
            <a:r>
              <a:rPr lang="en-IN" dirty="0"/>
              <a:t>: The number that each individual value is associated with and that distinguishes it from other values in the array</a:t>
            </a:r>
          </a:p>
          <a:p>
            <a:r>
              <a:rPr lang="en-IN" dirty="0"/>
              <a:t>Array values are referenced using the expression </a:t>
            </a:r>
            <a:r>
              <a:rPr lang="en-IN" sz="2600" dirty="0">
                <a:latin typeface="Courier New" panose="02070309020205020404" pitchFamily="49" charset="0"/>
                <a:cs typeface="Courier New" panose="02070309020205020404" pitchFamily="49" charset="0"/>
              </a:rPr>
              <a:t>array[i]</a:t>
            </a:r>
          </a:p>
          <a:p>
            <a:pPr marL="363538" indent="0">
              <a:buNone/>
            </a:pPr>
            <a:r>
              <a:rPr lang="en-IN" dirty="0"/>
              <a:t>where </a:t>
            </a:r>
            <a:r>
              <a:rPr lang="en-IN" sz="2600" dirty="0">
                <a:latin typeface="Courier New" panose="02070309020205020404" pitchFamily="49" charset="0"/>
                <a:cs typeface="Courier New" panose="02070309020205020404" pitchFamily="49" charset="0"/>
              </a:rPr>
              <a:t>array</a:t>
            </a:r>
            <a:r>
              <a:rPr lang="en-IN" i="1" dirty="0"/>
              <a:t> </a:t>
            </a:r>
            <a:r>
              <a:rPr lang="en-IN" dirty="0"/>
              <a:t>is the name of the array and </a:t>
            </a:r>
            <a:r>
              <a:rPr lang="en-IN" dirty="0">
                <a:latin typeface="Courier New" panose="02070309020205020404" pitchFamily="49" charset="0"/>
                <a:cs typeface="Courier New" panose="02070309020205020404" pitchFamily="49" charset="0"/>
              </a:rPr>
              <a:t>i</a:t>
            </a:r>
            <a:r>
              <a:rPr lang="en-IN" i="1" dirty="0"/>
              <a:t> </a:t>
            </a:r>
            <a:r>
              <a:rPr lang="en-IN" dirty="0"/>
              <a:t>is the index of a specific value in the array</a:t>
            </a:r>
          </a:p>
        </p:txBody>
      </p:sp>
    </p:spTree>
    <p:extLst>
      <p:ext uri="{BB962C8B-B14F-4D97-AF65-F5344CB8AC3E}">
        <p14:creationId xmlns:p14="http://schemas.microsoft.com/office/powerpoint/2010/main" val="3045153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Introducing Arrays (continued 2)</a:t>
            </a:r>
          </a:p>
        </p:txBody>
      </p:sp>
      <p:sp>
        <p:nvSpPr>
          <p:cNvPr id="2" name="Content Placeholder 1"/>
          <p:cNvSpPr>
            <a:spLocks noGrp="1"/>
          </p:cNvSpPr>
          <p:nvPr>
            <p:ph type="body" sz="quarter" idx="17"/>
          </p:nvPr>
        </p:nvSpPr>
        <p:spPr/>
        <p:txBody>
          <a:bodyPr/>
          <a:lstStyle/>
          <a:p>
            <a:r>
              <a:rPr lang="en-IN" dirty="0"/>
              <a:t>Index values start with 0 so that the initial item in an array has an index value of 0 </a:t>
            </a:r>
          </a:p>
          <a:p>
            <a:r>
              <a:rPr lang="en-IN" dirty="0"/>
              <a:t>Second item in the array will have an index value of 1, and so on</a:t>
            </a:r>
          </a:p>
          <a:p>
            <a:r>
              <a:rPr lang="en-IN" dirty="0"/>
              <a:t>Example</a:t>
            </a:r>
          </a:p>
          <a:p>
            <a:pPr marL="363538" indent="0">
              <a:buNone/>
            </a:pPr>
            <a:r>
              <a:rPr lang="en-IN" dirty="0"/>
              <a:t>The expression </a:t>
            </a:r>
            <a:r>
              <a:rPr lang="en-IN" sz="2600" dirty="0">
                <a:latin typeface="Courier New" panose="02070309020205020404" pitchFamily="49" charset="0"/>
                <a:cs typeface="Courier New" panose="02070309020205020404" pitchFamily="49" charset="0"/>
              </a:rPr>
              <a:t>monthName[4] </a:t>
            </a:r>
            <a:r>
              <a:rPr lang="en-IN" dirty="0"/>
              <a:t>references the fifth (not the fourth) item in the </a:t>
            </a:r>
            <a:r>
              <a:rPr lang="en-IN" sz="2600" dirty="0">
                <a:latin typeface="Courier New" panose="02070309020205020404" pitchFamily="49" charset="0"/>
                <a:cs typeface="Courier New" panose="02070309020205020404" pitchFamily="49" charset="0"/>
              </a:rPr>
              <a:t>monthName</a:t>
            </a:r>
            <a:r>
              <a:rPr lang="en-IN" dirty="0"/>
              <a:t> array</a:t>
            </a:r>
          </a:p>
        </p:txBody>
      </p:sp>
    </p:spTree>
    <p:extLst>
      <p:ext uri="{BB962C8B-B14F-4D97-AF65-F5344CB8AC3E}">
        <p14:creationId xmlns:p14="http://schemas.microsoft.com/office/powerpoint/2010/main" val="3063168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Creating and Populating an Array</a:t>
            </a:r>
          </a:p>
        </p:txBody>
      </p:sp>
      <p:sp>
        <p:nvSpPr>
          <p:cNvPr id="2" name="Content Placeholder 1"/>
          <p:cNvSpPr>
            <a:spLocks noGrp="1"/>
          </p:cNvSpPr>
          <p:nvPr>
            <p:ph type="body" sz="quarter" idx="17"/>
          </p:nvPr>
        </p:nvSpPr>
        <p:spPr/>
        <p:txBody>
          <a:bodyPr/>
          <a:lstStyle/>
          <a:p>
            <a:r>
              <a:rPr lang="en-IN" dirty="0"/>
              <a:t>To create an array, apply the object constructor</a:t>
            </a:r>
          </a:p>
          <a:p>
            <a:pPr marL="357188" lvl="1" indent="0">
              <a:buNone/>
            </a:pPr>
            <a:r>
              <a:rPr lang="en-IN" sz="2600" dirty="0">
                <a:latin typeface="Courier New" panose="02070309020205020404" pitchFamily="49" charset="0"/>
                <a:cs typeface="Courier New" panose="02070309020205020404" pitchFamily="49" charset="0"/>
              </a:rPr>
              <a:t>var array = new Array(length);</a:t>
            </a:r>
          </a:p>
          <a:p>
            <a:pPr marL="357188" lvl="1" indent="0">
              <a:buNone/>
            </a:pPr>
            <a:r>
              <a:rPr lang="en-IN" dirty="0"/>
              <a:t>where </a:t>
            </a:r>
            <a:r>
              <a:rPr lang="en-IN" sz="2600" dirty="0">
                <a:latin typeface="Courier New" panose="02070309020205020404" pitchFamily="49" charset="0"/>
                <a:cs typeface="Courier New" panose="02070309020205020404" pitchFamily="49" charset="0"/>
              </a:rPr>
              <a:t>array</a:t>
            </a:r>
            <a:r>
              <a:rPr lang="en-IN" i="1" dirty="0"/>
              <a:t> </a:t>
            </a:r>
            <a:r>
              <a:rPr lang="en-IN" dirty="0"/>
              <a:t>is the name of the array and </a:t>
            </a:r>
            <a:r>
              <a:rPr lang="en-IN" sz="2600" dirty="0">
                <a:latin typeface="Courier New" panose="02070309020205020404" pitchFamily="49" charset="0"/>
                <a:cs typeface="Courier New" panose="02070309020205020404" pitchFamily="49" charset="0"/>
              </a:rPr>
              <a:t>length</a:t>
            </a:r>
            <a:r>
              <a:rPr lang="en-IN" i="1" dirty="0"/>
              <a:t> </a:t>
            </a:r>
            <a:r>
              <a:rPr lang="en-IN" dirty="0"/>
              <a:t>is the number of items in the array</a:t>
            </a:r>
          </a:p>
          <a:p>
            <a:r>
              <a:rPr lang="en-IN" dirty="0"/>
              <a:t>The </a:t>
            </a:r>
            <a:r>
              <a:rPr lang="en-IN" sz="2600" dirty="0">
                <a:latin typeface="Courier New" panose="02070309020205020404" pitchFamily="49" charset="0"/>
                <a:cs typeface="Courier New" panose="02070309020205020404" pitchFamily="49" charset="0"/>
              </a:rPr>
              <a:t>length</a:t>
            </a:r>
            <a:r>
              <a:rPr lang="en-IN" i="1" dirty="0"/>
              <a:t> </a:t>
            </a:r>
            <a:r>
              <a:rPr lang="en-IN" dirty="0"/>
              <a:t>value is optional; if the </a:t>
            </a:r>
            <a:r>
              <a:rPr lang="en-IN" sz="2600" dirty="0">
                <a:latin typeface="Courier New" panose="02070309020205020404" pitchFamily="49" charset="0"/>
                <a:cs typeface="Courier New" panose="02070309020205020404" pitchFamily="49" charset="0"/>
              </a:rPr>
              <a:t>length</a:t>
            </a:r>
            <a:r>
              <a:rPr lang="en-IN" dirty="0"/>
              <a:t> parameter is omitted then the array expands automatically as more items are added to it</a:t>
            </a:r>
          </a:p>
        </p:txBody>
      </p:sp>
    </p:spTree>
    <p:extLst>
      <p:ext uri="{BB962C8B-B14F-4D97-AF65-F5344CB8AC3E}">
        <p14:creationId xmlns:p14="http://schemas.microsoft.com/office/powerpoint/2010/main" val="3915806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Creating and Populating an Array (continued 1)</a:t>
            </a:r>
          </a:p>
        </p:txBody>
      </p:sp>
      <p:sp>
        <p:nvSpPr>
          <p:cNvPr id="2" name="Content Placeholder 1"/>
          <p:cNvSpPr>
            <a:spLocks noGrp="1"/>
          </p:cNvSpPr>
          <p:nvPr>
            <p:ph type="body" sz="quarter" idx="17"/>
          </p:nvPr>
        </p:nvSpPr>
        <p:spPr/>
        <p:txBody>
          <a:bodyPr/>
          <a:lstStyle/>
          <a:p>
            <a:r>
              <a:rPr lang="en-IN" dirty="0"/>
              <a:t>An array can be populated with values by specifying both the array name and the index number of the array item</a:t>
            </a:r>
          </a:p>
          <a:p>
            <a:r>
              <a:rPr lang="en-US" dirty="0"/>
              <a:t>Command to set the value of a specific item in an array</a:t>
            </a:r>
            <a:endParaRPr lang="en-IN" dirty="0"/>
          </a:p>
          <a:p>
            <a:pPr marL="363538" indent="0">
              <a:buNone/>
            </a:pPr>
            <a:r>
              <a:rPr lang="en-IN" sz="2600" dirty="0">
                <a:latin typeface="Courier New" panose="02070309020205020404" pitchFamily="49" charset="0"/>
                <a:cs typeface="Courier New" panose="02070309020205020404" pitchFamily="49" charset="0"/>
              </a:rPr>
              <a:t>array[i] = value;</a:t>
            </a:r>
          </a:p>
          <a:p>
            <a:pPr marL="363538" indent="0">
              <a:buNone/>
            </a:pPr>
            <a:r>
              <a:rPr lang="en-IN" dirty="0"/>
              <a:t>where </a:t>
            </a:r>
            <a:r>
              <a:rPr lang="en-IN" sz="2600" dirty="0">
                <a:latin typeface="Courier New" panose="02070309020205020404" pitchFamily="49" charset="0"/>
                <a:cs typeface="Courier New" panose="02070309020205020404" pitchFamily="49" charset="0"/>
              </a:rPr>
              <a:t>value</a:t>
            </a:r>
            <a:r>
              <a:rPr lang="en-IN" i="1" dirty="0"/>
              <a:t> </a:t>
            </a:r>
            <a:r>
              <a:rPr lang="en-IN" dirty="0"/>
              <a:t>is the value assigned to the array item with the index value </a:t>
            </a:r>
            <a:r>
              <a:rPr lang="en-IN" sz="2600" dirty="0">
                <a:latin typeface="Courier New" panose="02070309020205020404" pitchFamily="49" charset="0"/>
                <a:cs typeface="Courier New" panose="02070309020205020404" pitchFamily="49" charset="0"/>
              </a:rPr>
              <a:t>i</a:t>
            </a:r>
          </a:p>
          <a:p>
            <a:pPr marL="0" indent="0">
              <a:buNone/>
            </a:pPr>
            <a:endParaRPr lang="en-IN" sz="2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75147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Creating and Populating an Array (continued 2)</a:t>
            </a:r>
          </a:p>
        </p:txBody>
      </p:sp>
      <p:sp>
        <p:nvSpPr>
          <p:cNvPr id="2" name="Content Placeholder 1"/>
          <p:cNvSpPr>
            <a:spLocks noGrp="1"/>
          </p:cNvSpPr>
          <p:nvPr>
            <p:ph type="body" sz="quarter" idx="17"/>
          </p:nvPr>
        </p:nvSpPr>
        <p:spPr/>
        <p:txBody>
          <a:bodyPr/>
          <a:lstStyle/>
          <a:p>
            <a:r>
              <a:rPr lang="en-IN" dirty="0"/>
              <a:t>Populate the entire array in a single statement using the following command:</a:t>
            </a:r>
          </a:p>
          <a:p>
            <a:pPr marL="357188" lvl="1" indent="0">
              <a:buNone/>
            </a:pPr>
            <a:r>
              <a:rPr lang="en-IN" sz="2600" dirty="0">
                <a:latin typeface="Courier New" panose="02070309020205020404" pitchFamily="49" charset="0"/>
                <a:cs typeface="Courier New" panose="02070309020205020404" pitchFamily="49" charset="0"/>
              </a:rPr>
              <a:t>var array = new Array(values);</a:t>
            </a:r>
          </a:p>
          <a:p>
            <a:pPr marL="357188" lvl="1" indent="0">
              <a:buNone/>
            </a:pPr>
            <a:r>
              <a:rPr lang="en-IN" sz="3200" dirty="0"/>
              <a:t>where</a:t>
            </a:r>
            <a:r>
              <a:rPr lang="en-IN" sz="2800" dirty="0"/>
              <a:t> </a:t>
            </a:r>
            <a:r>
              <a:rPr lang="en-IN" sz="2600" dirty="0">
                <a:latin typeface="Courier New" panose="02070309020205020404" pitchFamily="49" charset="0"/>
                <a:cs typeface="Courier New" panose="02070309020205020404" pitchFamily="49" charset="0"/>
              </a:rPr>
              <a:t>values</a:t>
            </a:r>
            <a:r>
              <a:rPr lang="en-IN" sz="2800" i="1" dirty="0"/>
              <a:t> </a:t>
            </a:r>
            <a:r>
              <a:rPr lang="en-IN" sz="3200" dirty="0"/>
              <a:t>is a comma-separated list of the values in the array</a:t>
            </a:r>
          </a:p>
          <a:p>
            <a:r>
              <a:rPr lang="en-IN" dirty="0"/>
              <a:t>Example</a:t>
            </a:r>
            <a:endParaRPr lang="en-IN" sz="2800" dirty="0"/>
          </a:p>
          <a:p>
            <a:pPr marL="357188" lvl="1" indent="0">
              <a:buNone/>
            </a:pPr>
            <a:r>
              <a:rPr lang="en-IN" sz="2600" dirty="0">
                <a:latin typeface="Courier New" panose="02070309020205020404" pitchFamily="49" charset="0"/>
                <a:cs typeface="Courier New" panose="02070309020205020404" pitchFamily="49" charset="0"/>
              </a:rPr>
              <a:t>var monthName = new Array(“January”, “February”, “March”, “April”, “May”, “June”, “July”, “August”, “September”, “October”, “November”, “December”);</a:t>
            </a:r>
            <a:endParaRPr lang="en-IN" sz="2600"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01657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Creating and Populating an Array (continued 3)</a:t>
            </a:r>
          </a:p>
        </p:txBody>
      </p:sp>
      <p:sp>
        <p:nvSpPr>
          <p:cNvPr id="2" name="Content Placeholder 1"/>
          <p:cNvSpPr>
            <a:spLocks noGrp="1"/>
          </p:cNvSpPr>
          <p:nvPr>
            <p:ph type="body" sz="quarter" idx="17"/>
          </p:nvPr>
        </p:nvSpPr>
        <p:spPr/>
        <p:txBody>
          <a:bodyPr>
            <a:normAutofit lnSpcReduction="10000"/>
          </a:bodyPr>
          <a:lstStyle/>
          <a:p>
            <a:r>
              <a:rPr lang="en-IN" b="1" dirty="0"/>
              <a:t>Array literal: </a:t>
            </a:r>
            <a:r>
              <a:rPr lang="en-IN" dirty="0"/>
              <a:t> Creates an array in which the array values are a comma-separated list within a set of square brackets</a:t>
            </a:r>
          </a:p>
          <a:p>
            <a:pPr marL="357188" lvl="1" indent="0">
              <a:buNone/>
            </a:pPr>
            <a:r>
              <a:rPr lang="en-IN" sz="2600" dirty="0">
                <a:latin typeface="Courier New" panose="02070309020205020404" pitchFamily="49" charset="0"/>
                <a:cs typeface="Courier New" panose="02070309020205020404" pitchFamily="49" charset="0"/>
              </a:rPr>
              <a:t>var </a:t>
            </a:r>
            <a:r>
              <a:rPr lang="en-IN" sz="2600" i="1" dirty="0">
                <a:latin typeface="Courier New" panose="02070309020205020404" pitchFamily="49" charset="0"/>
                <a:cs typeface="Courier New" panose="02070309020205020404" pitchFamily="49" charset="0"/>
              </a:rPr>
              <a:t>array </a:t>
            </a:r>
            <a:r>
              <a:rPr lang="en-IN" sz="2600" dirty="0">
                <a:latin typeface="Courier New" panose="02070309020205020404" pitchFamily="49" charset="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values</a:t>
            </a:r>
            <a:r>
              <a:rPr lang="en-IN" sz="2600" dirty="0">
                <a:latin typeface="Courier New" panose="02070309020205020404" pitchFamily="49" charset="0"/>
                <a:cs typeface="Courier New" panose="02070309020205020404" pitchFamily="49" charset="0"/>
              </a:rPr>
              <a:t>];</a:t>
            </a:r>
          </a:p>
          <a:p>
            <a:pPr marL="357188" lvl="1" indent="0">
              <a:buNone/>
            </a:pPr>
            <a:r>
              <a:rPr lang="en-IN" sz="3200" dirty="0"/>
              <a:t>where</a:t>
            </a:r>
            <a:r>
              <a:rPr lang="en-IN" sz="2400" dirty="0"/>
              <a:t> </a:t>
            </a:r>
            <a:r>
              <a:rPr lang="en-IN" sz="2600" i="1" dirty="0">
                <a:latin typeface="Courier New" panose="02070309020205020404" pitchFamily="49" charset="0"/>
                <a:cs typeface="Courier New" panose="02070309020205020404" pitchFamily="49" charset="0"/>
              </a:rPr>
              <a:t>values</a:t>
            </a:r>
            <a:r>
              <a:rPr lang="en-IN" sz="2400" i="1" dirty="0"/>
              <a:t> </a:t>
            </a:r>
            <a:r>
              <a:rPr lang="en-IN" sz="3200" dirty="0"/>
              <a:t>are the values of the array</a:t>
            </a:r>
          </a:p>
          <a:p>
            <a:pPr marL="357188" indent="-357188"/>
            <a:r>
              <a:rPr lang="en-IN" dirty="0"/>
              <a:t>Example</a:t>
            </a:r>
            <a:endParaRPr lang="en-IN" sz="2800" dirty="0"/>
          </a:p>
          <a:p>
            <a:pPr marL="357188" lvl="1" indent="0">
              <a:buNone/>
            </a:pPr>
            <a:r>
              <a:rPr lang="en-IN" sz="2600" dirty="0">
                <a:latin typeface="Courier New" panose="02070309020205020404" pitchFamily="49" charset="0"/>
                <a:cs typeface="Courier New" panose="02070309020205020404" pitchFamily="49" charset="0"/>
              </a:rPr>
              <a:t>var monthName = [“January”, February”, “March”, “April”, “May”, “June”, “July”, “August”, “September”, “October”, “November”, “December”];</a:t>
            </a:r>
            <a:br>
              <a:rPr lang="en-IN" sz="2400" dirty="0"/>
            </a:br>
            <a:endParaRPr lang="en-IN" sz="2600"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24971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Creating and Populating an Array (continued 4)</a:t>
            </a:r>
          </a:p>
        </p:txBody>
      </p:sp>
      <p:sp>
        <p:nvSpPr>
          <p:cNvPr id="6" name="Content Placeholder 5"/>
          <p:cNvSpPr>
            <a:spLocks noGrp="1"/>
          </p:cNvSpPr>
          <p:nvPr>
            <p:ph type="body" sz="quarter" idx="17"/>
          </p:nvPr>
        </p:nvSpPr>
        <p:spPr/>
        <p:txBody>
          <a:bodyPr/>
          <a:lstStyle/>
          <a:p>
            <a:r>
              <a:rPr lang="en-IN" dirty="0"/>
              <a:t>Array values need not be of the same data type</a:t>
            </a:r>
          </a:p>
          <a:p>
            <a:r>
              <a:rPr lang="en-IN" dirty="0"/>
              <a:t>Mix of numeric values, text strings, and other data types within a single array is allowed</a:t>
            </a:r>
          </a:p>
          <a:p>
            <a:r>
              <a:rPr lang="en-IN" dirty="0"/>
              <a:t>Example </a:t>
            </a:r>
          </a:p>
          <a:p>
            <a:pPr marL="357188" lvl="1" indent="0">
              <a:buNone/>
            </a:pPr>
            <a:r>
              <a:rPr lang="en-IN" sz="2600" dirty="0">
                <a:latin typeface="Courier New" panose="02070309020205020404" pitchFamily="49" charset="0"/>
                <a:cs typeface="Courier New" panose="02070309020205020404" pitchFamily="49" charset="0"/>
              </a:rPr>
              <a:t>var x = [“April”, 3.14, true, null];</a:t>
            </a:r>
          </a:p>
        </p:txBody>
      </p:sp>
    </p:spTree>
    <p:extLst>
      <p:ext uri="{BB962C8B-B14F-4D97-AF65-F5344CB8AC3E}">
        <p14:creationId xmlns:p14="http://schemas.microsoft.com/office/powerpoint/2010/main" val="108202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Working with Array Length</a:t>
            </a:r>
          </a:p>
        </p:txBody>
      </p:sp>
      <p:sp>
        <p:nvSpPr>
          <p:cNvPr id="9" name="Content Placeholder 8"/>
          <p:cNvSpPr>
            <a:spLocks noGrp="1"/>
          </p:cNvSpPr>
          <p:nvPr>
            <p:ph type="body" sz="quarter" idx="17"/>
          </p:nvPr>
        </p:nvSpPr>
        <p:spPr/>
        <p:txBody>
          <a:bodyPr/>
          <a:lstStyle/>
          <a:p>
            <a:r>
              <a:rPr lang="en-IN" dirty="0"/>
              <a:t>JavaScript array automatically expands in length as more items are added</a:t>
            </a:r>
          </a:p>
          <a:p>
            <a:r>
              <a:rPr lang="en-IN" dirty="0"/>
              <a:t>Apply the following </a:t>
            </a:r>
            <a:r>
              <a:rPr lang="en-IN" sz="2600" dirty="0">
                <a:latin typeface="Courier New" panose="02070309020205020404" pitchFamily="49" charset="0"/>
                <a:cs typeface="Courier New" panose="02070309020205020404" pitchFamily="49" charset="0"/>
              </a:rPr>
              <a:t>length</a:t>
            </a:r>
            <a:r>
              <a:rPr lang="en-IN" dirty="0"/>
              <a:t> property to determine the array’s current size:</a:t>
            </a:r>
          </a:p>
          <a:p>
            <a:pPr marL="357188" indent="0">
              <a:buNone/>
            </a:pPr>
            <a:r>
              <a:rPr lang="en-IN" sz="2600" dirty="0">
                <a:latin typeface="Courier New" panose="02070309020205020404" pitchFamily="49" charset="0"/>
                <a:cs typeface="Courier New" panose="02070309020205020404" pitchFamily="49" charset="0"/>
              </a:rPr>
              <a:t>array.length</a:t>
            </a:r>
          </a:p>
          <a:p>
            <a:pPr marL="363538" indent="0">
              <a:buNone/>
            </a:pPr>
            <a:r>
              <a:rPr lang="en-IN" dirty="0"/>
              <a:t>where </a:t>
            </a:r>
            <a:r>
              <a:rPr lang="en-IN" sz="2600" dirty="0">
                <a:latin typeface="Courier New" panose="02070309020205020404" pitchFamily="49" charset="0"/>
                <a:cs typeface="Courier New" panose="02070309020205020404" pitchFamily="49" charset="0"/>
              </a:rPr>
              <a:t>array</a:t>
            </a:r>
            <a:r>
              <a:rPr lang="en-IN" i="1" dirty="0"/>
              <a:t> </a:t>
            </a:r>
            <a:r>
              <a:rPr lang="en-IN" dirty="0"/>
              <a:t>is the name of the array</a:t>
            </a:r>
          </a:p>
          <a:p>
            <a:r>
              <a:rPr lang="en-IN" dirty="0"/>
              <a:t>Value returned by the </a:t>
            </a:r>
            <a:r>
              <a:rPr lang="en-IN" sz="2600" dirty="0">
                <a:latin typeface="Courier New" panose="02070309020205020404" pitchFamily="49" charset="0"/>
                <a:cs typeface="Courier New" panose="02070309020205020404" pitchFamily="49" charset="0"/>
              </a:rPr>
              <a:t>length</a:t>
            </a:r>
            <a:r>
              <a:rPr lang="en-IN" dirty="0"/>
              <a:t> property is equal to one more than the highest index number in the array</a:t>
            </a:r>
          </a:p>
        </p:txBody>
      </p:sp>
    </p:spTree>
    <p:extLst>
      <p:ext uri="{BB962C8B-B14F-4D97-AF65-F5344CB8AC3E}">
        <p14:creationId xmlns:p14="http://schemas.microsoft.com/office/powerpoint/2010/main" val="1366985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Working with Array Length (continued)</a:t>
            </a:r>
          </a:p>
        </p:txBody>
      </p:sp>
      <p:sp>
        <p:nvSpPr>
          <p:cNvPr id="9" name="Content Placeholder 8"/>
          <p:cNvSpPr>
            <a:spLocks noGrp="1"/>
          </p:cNvSpPr>
          <p:nvPr>
            <p:ph type="body" sz="quarter" idx="17"/>
          </p:nvPr>
        </p:nvSpPr>
        <p:spPr/>
        <p:txBody>
          <a:bodyPr/>
          <a:lstStyle/>
          <a:p>
            <a:r>
              <a:rPr lang="en-IN" b="1" dirty="0"/>
              <a:t>Sparse arrays</a:t>
            </a:r>
            <a:r>
              <a:rPr lang="en-IN" dirty="0"/>
              <a:t>: Created in JavaScript in which some of the array values are undefined</a:t>
            </a:r>
          </a:p>
          <a:p>
            <a:r>
              <a:rPr lang="en-IN" dirty="0"/>
              <a:t>The </a:t>
            </a:r>
            <a:r>
              <a:rPr lang="en-IN" sz="2600" dirty="0">
                <a:latin typeface="Courier New" panose="02070309020205020404" pitchFamily="49" charset="0"/>
                <a:cs typeface="Courier New" panose="02070309020205020404" pitchFamily="49" charset="0"/>
              </a:rPr>
              <a:t>length</a:t>
            </a:r>
            <a:r>
              <a:rPr lang="en-IN" dirty="0">
                <a:cs typeface="Courier New" panose="02070309020205020404" pitchFamily="49" charset="0"/>
              </a:rPr>
              <a:t> </a:t>
            </a:r>
            <a:r>
              <a:rPr lang="en-IN" dirty="0"/>
              <a:t>value is not always the same as the number of array values</a:t>
            </a:r>
          </a:p>
          <a:p>
            <a:r>
              <a:rPr lang="en-IN" dirty="0"/>
              <a:t>Occurs frequently in database applications</a:t>
            </a:r>
          </a:p>
          <a:p>
            <a:r>
              <a:rPr lang="en-US" dirty="0"/>
              <a:t>Value of the </a:t>
            </a:r>
            <a:r>
              <a:rPr lang="en-US" sz="2600" dirty="0">
                <a:latin typeface="Courier New" panose="02070309020205020404" pitchFamily="49" charset="0"/>
                <a:cs typeface="Courier New" panose="02070309020205020404" pitchFamily="49" charset="0"/>
              </a:rPr>
              <a:t>length</a:t>
            </a:r>
            <a:r>
              <a:rPr lang="en-US" dirty="0"/>
              <a:t> property cannot be reduced without removing items from the end of the array</a:t>
            </a:r>
            <a:endParaRPr lang="en-IN" dirty="0"/>
          </a:p>
          <a:p>
            <a:endParaRPr lang="en-IN" dirty="0"/>
          </a:p>
        </p:txBody>
      </p:sp>
    </p:spTree>
    <p:extLst>
      <p:ext uri="{BB962C8B-B14F-4D97-AF65-F5344CB8AC3E}">
        <p14:creationId xmlns:p14="http://schemas.microsoft.com/office/powerpoint/2010/main" val="520718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Reversing an Array</a:t>
            </a:r>
          </a:p>
        </p:txBody>
      </p:sp>
      <p:sp>
        <p:nvSpPr>
          <p:cNvPr id="9" name="Content Placeholder 8"/>
          <p:cNvSpPr>
            <a:spLocks noGrp="1"/>
          </p:cNvSpPr>
          <p:nvPr>
            <p:ph type="body" sz="quarter" idx="17"/>
          </p:nvPr>
        </p:nvSpPr>
        <p:spPr/>
        <p:txBody>
          <a:bodyPr>
            <a:normAutofit lnSpcReduction="10000"/>
          </a:bodyPr>
          <a:lstStyle/>
          <a:p>
            <a:r>
              <a:rPr lang="en-IN" dirty="0"/>
              <a:t>Items are placed in an array either in the order in which they are defined or explicitly by index number, by default</a:t>
            </a:r>
          </a:p>
          <a:p>
            <a:r>
              <a:rPr lang="en-IN" dirty="0"/>
              <a:t>JavaScript supports two methods for changing the order of the array items</a:t>
            </a:r>
          </a:p>
          <a:p>
            <a:pPr lvl="1"/>
            <a:r>
              <a:rPr lang="en-IN" sz="2600" dirty="0">
                <a:latin typeface="Courier New" panose="02070309020205020404" pitchFamily="49" charset="0"/>
                <a:cs typeface="Courier New" panose="02070309020205020404" pitchFamily="49" charset="0"/>
              </a:rPr>
              <a:t>reverse()</a:t>
            </a:r>
          </a:p>
          <a:p>
            <a:pPr lvl="1"/>
            <a:r>
              <a:rPr lang="en-IN" sz="2600" dirty="0">
                <a:latin typeface="Courier New" panose="02070309020205020404" pitchFamily="49" charset="0"/>
                <a:cs typeface="Courier New" panose="02070309020205020404" pitchFamily="49" charset="0"/>
              </a:rPr>
              <a:t>sort()</a:t>
            </a:r>
          </a:p>
          <a:p>
            <a:r>
              <a:rPr lang="en-IN" sz="2600" dirty="0">
                <a:latin typeface="Courier New" panose="02070309020205020404" pitchFamily="49" charset="0"/>
                <a:cs typeface="Courier New" panose="02070309020205020404" pitchFamily="49" charset="0"/>
              </a:rPr>
              <a:t>reverse()</a:t>
            </a:r>
            <a:r>
              <a:rPr lang="en-IN" sz="2600" dirty="0">
                <a:cs typeface="Courier New" panose="02070309020205020404" pitchFamily="49" charset="0"/>
              </a:rPr>
              <a:t>: </a:t>
            </a:r>
            <a:r>
              <a:rPr lang="en-IN" dirty="0"/>
              <a:t>Reverses the order of items in an array, making the last items first and the first items last</a:t>
            </a:r>
          </a:p>
        </p:txBody>
      </p:sp>
    </p:spTree>
    <p:extLst>
      <p:ext uri="{BB962C8B-B14F-4D97-AF65-F5344CB8AC3E}">
        <p14:creationId xmlns:p14="http://schemas.microsoft.com/office/powerpoint/2010/main" val="313212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Sorting an Array</a:t>
            </a:r>
          </a:p>
        </p:txBody>
      </p:sp>
      <p:sp>
        <p:nvSpPr>
          <p:cNvPr id="9" name="Content Placeholder 8"/>
          <p:cNvSpPr>
            <a:spLocks noGrp="1"/>
          </p:cNvSpPr>
          <p:nvPr>
            <p:ph type="body" sz="quarter" idx="17"/>
          </p:nvPr>
        </p:nvSpPr>
        <p:spPr/>
        <p:txBody>
          <a:bodyPr/>
          <a:lstStyle/>
          <a:p>
            <a:r>
              <a:rPr lang="en-IN" sz="2600" dirty="0">
                <a:latin typeface="Courier New" panose="02070309020205020404" pitchFamily="49" charset="0"/>
                <a:cs typeface="Courier New" panose="02070309020205020404" pitchFamily="49" charset="0"/>
              </a:rPr>
              <a:t>sort()</a:t>
            </a:r>
            <a:r>
              <a:rPr lang="en-IN" dirty="0">
                <a:cs typeface="Courier New" panose="02070309020205020404" pitchFamily="49" charset="0"/>
              </a:rPr>
              <a:t>: R</a:t>
            </a:r>
            <a:r>
              <a:rPr lang="en-IN" dirty="0"/>
              <a:t>earranges array items in alphabetical order</a:t>
            </a:r>
          </a:p>
          <a:p>
            <a:r>
              <a:rPr lang="en-IN" dirty="0"/>
              <a:t>The </a:t>
            </a:r>
            <a:r>
              <a:rPr lang="en-IN" sz="2600" dirty="0">
                <a:latin typeface="Courier New" panose="02070309020205020404" pitchFamily="49" charset="0"/>
                <a:cs typeface="Courier New" panose="02070309020205020404" pitchFamily="49" charset="0"/>
              </a:rPr>
              <a:t>sort()</a:t>
            </a:r>
            <a:r>
              <a:rPr lang="en-IN" sz="2600" dirty="0">
                <a:cs typeface="Courier New" panose="02070309020205020404" pitchFamily="49" charset="0"/>
              </a:rPr>
              <a:t> </a:t>
            </a:r>
            <a:r>
              <a:rPr lang="en-IN" dirty="0"/>
              <a:t>method when applied to numeric values will sort the values in order by their leading digits, rather than by their numerical values</a:t>
            </a:r>
          </a:p>
          <a:p>
            <a:endParaRPr lang="en-IN" dirty="0"/>
          </a:p>
        </p:txBody>
      </p:sp>
    </p:spTree>
    <p:extLst>
      <p:ext uri="{BB962C8B-B14F-4D97-AF65-F5344CB8AC3E}">
        <p14:creationId xmlns:p14="http://schemas.microsoft.com/office/powerpoint/2010/main" val="172414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Sorting an Array (continued 1)</a:t>
            </a:r>
          </a:p>
        </p:txBody>
      </p:sp>
      <p:sp>
        <p:nvSpPr>
          <p:cNvPr id="9" name="Content Placeholder 8"/>
          <p:cNvSpPr>
            <a:spLocks noGrp="1"/>
          </p:cNvSpPr>
          <p:nvPr>
            <p:ph type="body" sz="quarter" idx="17"/>
          </p:nvPr>
        </p:nvSpPr>
        <p:spPr/>
        <p:txBody>
          <a:bodyPr/>
          <a:lstStyle/>
          <a:p>
            <a:r>
              <a:rPr lang="en-IN" b="1" dirty="0"/>
              <a:t>Compare function</a:t>
            </a:r>
            <a:r>
              <a:rPr lang="en-IN" dirty="0"/>
              <a:t>:</a:t>
            </a:r>
            <a:r>
              <a:rPr lang="en-IN" b="1" dirty="0"/>
              <a:t> </a:t>
            </a:r>
            <a:r>
              <a:rPr lang="en-IN" dirty="0"/>
              <a:t>Compares values of two adjacent array items</a:t>
            </a:r>
          </a:p>
          <a:p>
            <a:r>
              <a:rPr lang="en-IN" dirty="0"/>
              <a:t>General form of a compare function is</a:t>
            </a:r>
          </a:p>
          <a:p>
            <a:pPr marL="357188" lvl="1" indent="0">
              <a:buNone/>
            </a:pPr>
            <a:r>
              <a:rPr lang="en-IN" sz="2600" dirty="0">
                <a:latin typeface="Courier New" panose="02070309020205020404" pitchFamily="49" charset="0"/>
                <a:cs typeface="Courier New" panose="02070309020205020404" pitchFamily="49" charset="0"/>
              </a:rPr>
              <a:t>function fname(a, b) {</a:t>
            </a:r>
          </a:p>
          <a:p>
            <a:pPr marL="357188" lvl="1" indent="0">
              <a:buNone/>
            </a:pPr>
            <a:r>
              <a:rPr lang="en-IN" sz="2600" dirty="0">
                <a:latin typeface="Courier New" panose="02070309020205020404" pitchFamily="49" charset="0"/>
                <a:cs typeface="Courier New" panose="02070309020205020404" pitchFamily="49" charset="0"/>
              </a:rPr>
              <a:t>return a negative, positive, or 0 value</a:t>
            </a:r>
          </a:p>
          <a:p>
            <a:pPr marL="357188" lvl="1" indent="0">
              <a:buNone/>
            </a:pPr>
            <a:r>
              <a:rPr lang="en-IN" sz="2600" dirty="0">
                <a:latin typeface="Courier New" panose="02070309020205020404" pitchFamily="49" charset="0"/>
                <a:cs typeface="Courier New" panose="02070309020205020404" pitchFamily="49" charset="0"/>
              </a:rPr>
              <a:t>}</a:t>
            </a:r>
          </a:p>
          <a:p>
            <a:pPr marL="363538" lvl="1" indent="0">
              <a:buNone/>
            </a:pPr>
            <a:r>
              <a:rPr lang="en-IN" sz="3200" dirty="0">
                <a:ea typeface="+mn-ea"/>
                <a:cs typeface="+mn-cs"/>
              </a:rPr>
              <a:t>where </a:t>
            </a:r>
            <a:r>
              <a:rPr lang="en-IN" sz="2600" dirty="0">
                <a:latin typeface="Courier New" panose="02070309020205020404" pitchFamily="49" charset="0"/>
                <a:cs typeface="Courier New" panose="02070309020205020404" pitchFamily="49" charset="0"/>
              </a:rPr>
              <a:t>fname</a:t>
            </a:r>
            <a:r>
              <a:rPr lang="en-IN" sz="3200" dirty="0">
                <a:ea typeface="+mn-ea"/>
                <a:cs typeface="+mn-cs"/>
              </a:rPr>
              <a:t> is the name of the compare function and </a:t>
            </a:r>
            <a:r>
              <a:rPr lang="en-IN" sz="2600" dirty="0">
                <a:latin typeface="Courier New" panose="02070309020205020404" pitchFamily="49" charset="0"/>
                <a:cs typeface="Courier New" panose="02070309020205020404" pitchFamily="49" charset="0"/>
              </a:rPr>
              <a:t>a</a:t>
            </a:r>
            <a:r>
              <a:rPr lang="en-IN" sz="3200" dirty="0">
                <a:ea typeface="+mn-ea"/>
                <a:cs typeface="+mn-cs"/>
              </a:rPr>
              <a:t> and </a:t>
            </a:r>
            <a:r>
              <a:rPr lang="en-IN" sz="2600" dirty="0">
                <a:latin typeface="Courier New" panose="02070309020205020404" pitchFamily="49" charset="0"/>
                <a:cs typeface="Courier New" panose="02070309020205020404" pitchFamily="49" charset="0"/>
              </a:rPr>
              <a:t>b</a:t>
            </a:r>
            <a:r>
              <a:rPr lang="en-IN" sz="3200" dirty="0">
                <a:ea typeface="+mn-ea"/>
                <a:cs typeface="+mn-cs"/>
              </a:rPr>
              <a:t> are parameters that represent a pair of array values</a:t>
            </a:r>
          </a:p>
          <a:p>
            <a:pPr marL="400050" lvl="1" indent="0">
              <a:buNone/>
            </a:pPr>
            <a:endParaRPr lang="en-IN" sz="2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45302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Sorting an Array (continued 2)</a:t>
            </a:r>
          </a:p>
        </p:txBody>
      </p:sp>
      <p:sp>
        <p:nvSpPr>
          <p:cNvPr id="9" name="Content Placeholder 8"/>
          <p:cNvSpPr>
            <a:spLocks noGrp="1"/>
          </p:cNvSpPr>
          <p:nvPr>
            <p:ph type="body" sz="quarter" idx="17"/>
          </p:nvPr>
        </p:nvSpPr>
        <p:spPr/>
        <p:txBody>
          <a:bodyPr/>
          <a:lstStyle/>
          <a:p>
            <a:r>
              <a:rPr lang="en-IN" dirty="0"/>
              <a:t>Based on comparison of two adjacent array item values, the function returns a negative, positive, or zero value</a:t>
            </a:r>
          </a:p>
          <a:p>
            <a:pPr lvl="1"/>
            <a:r>
              <a:rPr lang="en-IN" dirty="0"/>
              <a:t>If a negative value is returned, then </a:t>
            </a:r>
            <a:r>
              <a:rPr lang="en-IN" sz="2600" dirty="0">
                <a:latin typeface="Courier New" panose="02070309020205020404" pitchFamily="49" charset="0"/>
                <a:cs typeface="Courier New" panose="02070309020205020404" pitchFamily="49" charset="0"/>
              </a:rPr>
              <a:t>a</a:t>
            </a:r>
            <a:r>
              <a:rPr lang="en-IN" i="1" dirty="0"/>
              <a:t> </a:t>
            </a:r>
            <a:r>
              <a:rPr lang="en-IN" dirty="0"/>
              <a:t>is placed before </a:t>
            </a:r>
            <a:r>
              <a:rPr lang="en-IN" sz="2600" dirty="0">
                <a:latin typeface="Courier New" panose="02070309020205020404" pitchFamily="49" charset="0"/>
                <a:cs typeface="Courier New" panose="02070309020205020404" pitchFamily="49" charset="0"/>
              </a:rPr>
              <a:t>b</a:t>
            </a:r>
            <a:r>
              <a:rPr lang="en-IN" sz="2600" i="1" dirty="0"/>
              <a:t> </a:t>
            </a:r>
            <a:r>
              <a:rPr lang="en-IN" dirty="0"/>
              <a:t>in the array</a:t>
            </a:r>
          </a:p>
          <a:p>
            <a:pPr lvl="1"/>
            <a:r>
              <a:rPr lang="en-IN" dirty="0"/>
              <a:t>If a positive value is returned, then </a:t>
            </a:r>
            <a:r>
              <a:rPr lang="en-IN" sz="2600" dirty="0">
                <a:latin typeface="Courier New" panose="02070309020205020404" pitchFamily="49" charset="0"/>
                <a:cs typeface="Courier New" panose="02070309020205020404" pitchFamily="49" charset="0"/>
              </a:rPr>
              <a:t>b</a:t>
            </a:r>
            <a:r>
              <a:rPr lang="en-IN" sz="2600" i="1" dirty="0"/>
              <a:t> </a:t>
            </a:r>
            <a:r>
              <a:rPr lang="en-IN" dirty="0"/>
              <a:t>is placed before </a:t>
            </a:r>
            <a:r>
              <a:rPr lang="en-IN" sz="2600" dirty="0">
                <a:latin typeface="Courier New" panose="02070309020205020404" pitchFamily="49" charset="0"/>
                <a:cs typeface="Courier New" panose="02070309020205020404" pitchFamily="49" charset="0"/>
              </a:rPr>
              <a:t>a</a:t>
            </a:r>
            <a:endParaRPr lang="en-IN" sz="2600" dirty="0"/>
          </a:p>
          <a:p>
            <a:pPr lvl="1"/>
            <a:r>
              <a:rPr lang="en-IN" dirty="0"/>
              <a:t>If a zero value is returned, </a:t>
            </a:r>
            <a:r>
              <a:rPr lang="en-IN" sz="2600" dirty="0">
                <a:latin typeface="Courier New" panose="02070309020205020404" pitchFamily="49" charset="0"/>
                <a:cs typeface="Courier New" panose="02070309020205020404" pitchFamily="49" charset="0"/>
              </a:rPr>
              <a:t>a</a:t>
            </a:r>
            <a:r>
              <a:rPr lang="en-IN" i="1" dirty="0"/>
              <a:t> </a:t>
            </a:r>
            <a:r>
              <a:rPr lang="en-IN" dirty="0"/>
              <a:t>and </a:t>
            </a:r>
            <a:r>
              <a:rPr lang="en-IN" sz="2600" dirty="0">
                <a:latin typeface="Courier New" panose="02070309020205020404" pitchFamily="49" charset="0"/>
                <a:cs typeface="Courier New" panose="02070309020205020404" pitchFamily="49" charset="0"/>
              </a:rPr>
              <a:t>b</a:t>
            </a:r>
            <a:r>
              <a:rPr lang="en-IN" i="1" dirty="0"/>
              <a:t> </a:t>
            </a:r>
            <a:r>
              <a:rPr lang="en-IN" dirty="0"/>
              <a:t>retain their original positions</a:t>
            </a:r>
          </a:p>
          <a:p>
            <a:pPr lvl="1"/>
            <a:endParaRPr lang="en-IN"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1273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Sorting an Array (continued 3)</a:t>
            </a:r>
          </a:p>
        </p:txBody>
      </p:sp>
      <p:sp>
        <p:nvSpPr>
          <p:cNvPr id="9" name="Content Placeholder 8"/>
          <p:cNvSpPr>
            <a:spLocks noGrp="1"/>
          </p:cNvSpPr>
          <p:nvPr>
            <p:ph type="body" sz="quarter" idx="17"/>
          </p:nvPr>
        </p:nvSpPr>
        <p:spPr/>
        <p:txBody>
          <a:bodyPr/>
          <a:lstStyle/>
          <a:p>
            <a:r>
              <a:rPr lang="en-IN" dirty="0"/>
              <a:t>Function to sort numeric values in ascending order</a:t>
            </a:r>
          </a:p>
          <a:p>
            <a:pPr marL="357188" lvl="1" indent="0">
              <a:buNone/>
            </a:pPr>
            <a:r>
              <a:rPr lang="en-IN" sz="2600" dirty="0">
                <a:latin typeface="Courier New" panose="02070309020205020404" pitchFamily="49" charset="0"/>
                <a:cs typeface="Courier New" panose="02070309020205020404" pitchFamily="49" charset="0"/>
              </a:rPr>
              <a:t>function ascending(a, b) {</a:t>
            </a:r>
          </a:p>
          <a:p>
            <a:pPr marL="357188" lvl="1" indent="0">
              <a:buNone/>
            </a:pPr>
            <a:r>
              <a:rPr lang="en-IN" sz="2600" dirty="0">
                <a:latin typeface="Courier New" panose="02070309020205020404" pitchFamily="49" charset="0"/>
                <a:cs typeface="Courier New" panose="02070309020205020404" pitchFamily="49" charset="0"/>
              </a:rPr>
              <a:t>return a - b;</a:t>
            </a:r>
          </a:p>
          <a:p>
            <a:pPr marL="357188" lvl="1" indent="0">
              <a:buNone/>
            </a:pPr>
            <a:r>
              <a:rPr lang="en-IN" sz="2600" dirty="0">
                <a:latin typeface="Courier New" panose="02070309020205020404" pitchFamily="49" charset="0"/>
                <a:cs typeface="Courier New" panose="02070309020205020404" pitchFamily="49" charset="0"/>
              </a:rPr>
              <a:t>}</a:t>
            </a:r>
          </a:p>
          <a:p>
            <a:r>
              <a:rPr lang="en-IN" dirty="0"/>
              <a:t>Function to sort numbers in descending order</a:t>
            </a:r>
          </a:p>
          <a:p>
            <a:pPr marL="357188" lvl="1" indent="0">
              <a:buNone/>
            </a:pPr>
            <a:r>
              <a:rPr lang="en-IN" sz="2600" dirty="0">
                <a:latin typeface="Courier New" panose="02070309020205020404" pitchFamily="49" charset="0"/>
                <a:cs typeface="Courier New" panose="02070309020205020404" pitchFamily="49" charset="0"/>
              </a:rPr>
              <a:t>function descending(a, b) {</a:t>
            </a:r>
          </a:p>
          <a:p>
            <a:pPr marL="357188" lvl="1" indent="0">
              <a:buNone/>
            </a:pPr>
            <a:r>
              <a:rPr lang="en-IN" sz="2600" dirty="0">
                <a:latin typeface="Courier New" panose="02070309020205020404" pitchFamily="49" charset="0"/>
                <a:cs typeface="Courier New" panose="02070309020205020404" pitchFamily="49" charset="0"/>
              </a:rPr>
              <a:t>return b - a;</a:t>
            </a:r>
          </a:p>
          <a:p>
            <a:pPr marL="357188" lvl="1" indent="0">
              <a:buNone/>
            </a:pPr>
            <a:r>
              <a:rPr lang="en-IN" sz="2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583902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Sorting an Array (continued 4)</a:t>
            </a:r>
          </a:p>
        </p:txBody>
      </p:sp>
      <p:sp>
        <p:nvSpPr>
          <p:cNvPr id="9" name="Content Placeholder 8"/>
          <p:cNvSpPr>
            <a:spLocks noGrp="1"/>
          </p:cNvSpPr>
          <p:nvPr>
            <p:ph type="body" sz="quarter" idx="17"/>
          </p:nvPr>
        </p:nvSpPr>
        <p:spPr/>
        <p:txBody>
          <a:bodyPr/>
          <a:lstStyle/>
          <a:p>
            <a:r>
              <a:rPr lang="en-IN" dirty="0"/>
              <a:t>The compare function is applied to the </a:t>
            </a:r>
            <a:r>
              <a:rPr lang="en-IN" sz="2600" dirty="0">
                <a:latin typeface="Courier New" panose="02070309020205020404" pitchFamily="49" charset="0"/>
                <a:cs typeface="Courier New" panose="02070309020205020404" pitchFamily="49" charset="0"/>
              </a:rPr>
              <a:t>sort() </a:t>
            </a:r>
            <a:r>
              <a:rPr lang="en-IN" dirty="0"/>
              <a:t>method as follows</a:t>
            </a:r>
          </a:p>
          <a:p>
            <a:pPr marL="357188" lvl="1" indent="0">
              <a:buNone/>
            </a:pPr>
            <a:r>
              <a:rPr lang="en-IN" sz="2600" dirty="0">
                <a:latin typeface="Courier New" panose="02070309020205020404" pitchFamily="49" charset="0"/>
                <a:cs typeface="Courier New" panose="02070309020205020404" pitchFamily="49" charset="0"/>
              </a:rPr>
              <a:t>array.sort(fname)</a:t>
            </a:r>
          </a:p>
          <a:p>
            <a:pPr marL="363538" lvl="1" indent="0">
              <a:buNone/>
            </a:pPr>
            <a:r>
              <a:rPr lang="en-IN" sz="3200" dirty="0"/>
              <a:t>where</a:t>
            </a:r>
            <a:r>
              <a:rPr lang="en-IN" sz="3200" dirty="0">
                <a:ea typeface="+mn-ea"/>
                <a:cs typeface="+mn-cs"/>
              </a:rPr>
              <a:t> </a:t>
            </a:r>
            <a:r>
              <a:rPr lang="en-IN" sz="2600" dirty="0">
                <a:latin typeface="Courier New" panose="02070309020205020404" pitchFamily="49" charset="0"/>
                <a:cs typeface="Courier New" panose="02070309020205020404" pitchFamily="49" charset="0"/>
              </a:rPr>
              <a:t>fname</a:t>
            </a:r>
            <a:r>
              <a:rPr lang="en-IN" sz="3200" dirty="0">
                <a:ea typeface="+mn-ea"/>
                <a:cs typeface="+mn-cs"/>
              </a:rPr>
              <a:t> </a:t>
            </a:r>
            <a:r>
              <a:rPr lang="en-IN" sz="3200" dirty="0"/>
              <a:t>is the name of the compare function</a:t>
            </a:r>
            <a:endParaRPr lang="en-IN" dirty="0"/>
          </a:p>
          <a:p>
            <a:pPr marL="357188" indent="-357188"/>
            <a:r>
              <a:rPr lang="en-IN" dirty="0"/>
              <a:t>Example</a:t>
            </a:r>
          </a:p>
          <a:p>
            <a:pPr marL="357188" indent="0">
              <a:buNone/>
            </a:pPr>
            <a:r>
              <a:rPr lang="en-IN" sz="2600" dirty="0">
                <a:latin typeface="Courier New" panose="02070309020205020404" pitchFamily="49" charset="0"/>
                <a:cs typeface="Courier New" panose="02070309020205020404" pitchFamily="49" charset="0"/>
              </a:rPr>
              <a:t>x.sort(ascending)</a:t>
            </a:r>
          </a:p>
          <a:p>
            <a:pPr marL="457200" indent="-457200"/>
            <a:endParaRPr lang="en-IN" dirty="0"/>
          </a:p>
          <a:p>
            <a:pPr marL="457200" indent="-457200"/>
            <a:endParaRPr lang="en-IN" sz="3600" dirty="0">
              <a:ea typeface="+mn-ea"/>
              <a:cs typeface="+mn-cs"/>
            </a:endParaRPr>
          </a:p>
        </p:txBody>
      </p:sp>
    </p:spTree>
    <p:extLst>
      <p:ext uri="{BB962C8B-B14F-4D97-AF65-F5344CB8AC3E}">
        <p14:creationId xmlns:p14="http://schemas.microsoft.com/office/powerpoint/2010/main" val="3791184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Extracting and Inserting Array Items</a:t>
            </a:r>
          </a:p>
        </p:txBody>
      </p:sp>
      <p:sp>
        <p:nvSpPr>
          <p:cNvPr id="9" name="Content Placeholder 8"/>
          <p:cNvSpPr>
            <a:spLocks noGrp="1"/>
          </p:cNvSpPr>
          <p:nvPr>
            <p:ph type="body" sz="quarter" idx="17"/>
          </p:nvPr>
        </p:nvSpPr>
        <p:spPr/>
        <p:txBody>
          <a:bodyPr/>
          <a:lstStyle/>
          <a:p>
            <a:r>
              <a:rPr lang="en-IN" b="1" dirty="0"/>
              <a:t>Subarray</a:t>
            </a:r>
            <a:r>
              <a:rPr lang="en-IN" dirty="0"/>
              <a:t>:</a:t>
            </a:r>
            <a:r>
              <a:rPr lang="en-IN" b="1" dirty="0"/>
              <a:t> </a:t>
            </a:r>
            <a:r>
              <a:rPr lang="en-IN" dirty="0"/>
              <a:t>Section of an array</a:t>
            </a:r>
          </a:p>
          <a:p>
            <a:r>
              <a:rPr lang="en-IN" dirty="0"/>
              <a:t>To create a subarray use </a:t>
            </a:r>
            <a:r>
              <a:rPr lang="en-IN" sz="2600" dirty="0">
                <a:latin typeface="Courier New" panose="02070309020205020404" pitchFamily="49" charset="0"/>
                <a:cs typeface="Courier New" panose="02070309020205020404" pitchFamily="49" charset="0"/>
              </a:rPr>
              <a:t>slice() </a:t>
            </a:r>
            <a:r>
              <a:rPr lang="en-IN" dirty="0"/>
              <a:t>method</a:t>
            </a:r>
          </a:p>
          <a:p>
            <a:pPr marL="357188" indent="0">
              <a:buNone/>
            </a:pPr>
            <a:r>
              <a:rPr lang="en-IN" sz="2600" dirty="0">
                <a:latin typeface="Courier New" panose="02070309020205020404" pitchFamily="49" charset="0"/>
                <a:cs typeface="Courier New" panose="02070309020205020404" pitchFamily="49" charset="0"/>
              </a:rPr>
              <a:t>array.slice(start, stop)</a:t>
            </a:r>
          </a:p>
          <a:p>
            <a:pPr marL="357188" lvl="1" indent="0">
              <a:buNone/>
            </a:pPr>
            <a:r>
              <a:rPr lang="en-IN" sz="3200" dirty="0"/>
              <a:t>where</a:t>
            </a:r>
            <a:r>
              <a:rPr lang="en-IN" dirty="0"/>
              <a:t> </a:t>
            </a:r>
            <a:r>
              <a:rPr lang="en-IN" sz="2600" dirty="0">
                <a:latin typeface="Courier New" panose="02070309020205020404" pitchFamily="49" charset="0"/>
                <a:cs typeface="Courier New" panose="02070309020205020404" pitchFamily="49" charset="0"/>
              </a:rPr>
              <a:t>start</a:t>
            </a:r>
            <a:r>
              <a:rPr lang="en-IN" i="1" dirty="0"/>
              <a:t> </a:t>
            </a:r>
            <a:r>
              <a:rPr lang="en-IN" sz="3200" dirty="0"/>
              <a:t>is the index value of the array item at which the slicing starts and </a:t>
            </a:r>
            <a:r>
              <a:rPr lang="en-IN" sz="2600" dirty="0">
                <a:latin typeface="Courier New" panose="02070309020205020404" pitchFamily="49" charset="0"/>
                <a:cs typeface="Courier New" panose="02070309020205020404" pitchFamily="49" charset="0"/>
              </a:rPr>
              <a:t>stop</a:t>
            </a:r>
            <a:r>
              <a:rPr lang="en-IN" i="1" dirty="0"/>
              <a:t> </a:t>
            </a:r>
            <a:r>
              <a:rPr lang="en-IN" sz="3200" dirty="0"/>
              <a:t>is the index value at which the slicing ends</a:t>
            </a:r>
          </a:p>
          <a:p>
            <a:pPr marL="342900" lvl="1" indent="-342900">
              <a:buFont typeface="Arial" charset="0"/>
              <a:buChar char="•"/>
            </a:pPr>
            <a:r>
              <a:rPr lang="en-US" sz="3200" dirty="0"/>
              <a:t>The</a:t>
            </a:r>
            <a:r>
              <a:rPr lang="en-US" dirty="0"/>
              <a:t> </a:t>
            </a:r>
            <a:r>
              <a:rPr lang="en-US" sz="2600" dirty="0">
                <a:latin typeface="Courier New" panose="02070309020205020404" pitchFamily="49" charset="0"/>
                <a:cs typeface="Courier New" panose="02070309020205020404" pitchFamily="49" charset="0"/>
              </a:rPr>
              <a:t>stop</a:t>
            </a:r>
            <a:r>
              <a:rPr lang="en-US" dirty="0"/>
              <a:t> </a:t>
            </a:r>
            <a:r>
              <a:rPr lang="en-US" sz="3200" dirty="0"/>
              <a:t>value is </a:t>
            </a:r>
            <a:r>
              <a:rPr lang="en-IN" sz="3200" dirty="0"/>
              <a:t>optional; if it is omitted, the array is sliced to its end</a:t>
            </a:r>
          </a:p>
          <a:p>
            <a:endParaRPr lang="en-IN" dirty="0"/>
          </a:p>
          <a:p>
            <a:pPr marL="457200" indent="-457200"/>
            <a:endParaRPr lang="en-IN" sz="3600" dirty="0">
              <a:ea typeface="+mn-ea"/>
              <a:cs typeface="+mn-cs"/>
            </a:endParaRPr>
          </a:p>
        </p:txBody>
      </p:sp>
    </p:spTree>
    <p:extLst>
      <p:ext uri="{BB962C8B-B14F-4D97-AF65-F5344CB8AC3E}">
        <p14:creationId xmlns:p14="http://schemas.microsoft.com/office/powerpoint/2010/main" val="821062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Extracting and Inserting Array Items (continued)</a:t>
            </a:r>
          </a:p>
        </p:txBody>
      </p:sp>
      <p:sp>
        <p:nvSpPr>
          <p:cNvPr id="9" name="Content Placeholder 8"/>
          <p:cNvSpPr>
            <a:spLocks noGrp="1"/>
          </p:cNvSpPr>
          <p:nvPr>
            <p:ph type="body" sz="quarter" idx="17"/>
          </p:nvPr>
        </p:nvSpPr>
        <p:spPr/>
        <p:txBody>
          <a:bodyPr>
            <a:normAutofit fontScale="92500" lnSpcReduction="20000"/>
          </a:bodyPr>
          <a:lstStyle/>
          <a:p>
            <a:r>
              <a:rPr lang="en-IN" sz="2800" dirty="0">
                <a:latin typeface="Courier New" panose="02070309020205020404" pitchFamily="49" charset="0"/>
                <a:cs typeface="Courier New" panose="02070309020205020404" pitchFamily="49" charset="0"/>
              </a:rPr>
              <a:t>splice()</a:t>
            </a:r>
            <a:r>
              <a:rPr lang="en-IN" sz="2600" dirty="0">
                <a:cs typeface="Courier New" panose="02070309020205020404" pitchFamily="49" charset="0"/>
              </a:rPr>
              <a:t>:</a:t>
            </a:r>
            <a:r>
              <a:rPr lang="en-IN" dirty="0"/>
              <a:t> </a:t>
            </a:r>
            <a:r>
              <a:rPr lang="en-IN" sz="3500" dirty="0"/>
              <a:t>Removes and inserts array items</a:t>
            </a:r>
          </a:p>
          <a:p>
            <a:pPr marL="363538" indent="0">
              <a:buNone/>
            </a:pPr>
            <a:r>
              <a:rPr lang="en-IN" sz="2800" dirty="0">
                <a:latin typeface="Courier New" panose="02070309020205020404" pitchFamily="49" charset="0"/>
                <a:cs typeface="Courier New" panose="02070309020205020404" pitchFamily="49" charset="0"/>
              </a:rPr>
              <a:t>array.splice(start, size, values)</a:t>
            </a:r>
          </a:p>
          <a:p>
            <a:pPr marL="363538" indent="0">
              <a:buNone/>
            </a:pPr>
            <a:r>
              <a:rPr lang="en-IN" sz="2800" dirty="0">
                <a:latin typeface="Courier New" panose="02070309020205020404" pitchFamily="49" charset="0"/>
                <a:cs typeface="Courier New" panose="02070309020205020404" pitchFamily="49" charset="0"/>
              </a:rPr>
              <a:t>start</a:t>
            </a:r>
            <a:r>
              <a:rPr lang="en-IN" dirty="0"/>
              <a:t> </a:t>
            </a:r>
            <a:r>
              <a:rPr lang="en-IN" sz="3500" dirty="0"/>
              <a:t>is the starting index in the array, </a:t>
            </a:r>
            <a:r>
              <a:rPr lang="en-IN" sz="2800" dirty="0">
                <a:latin typeface="Courier New" panose="02070309020205020404" pitchFamily="49" charset="0"/>
                <a:cs typeface="Courier New" panose="02070309020205020404" pitchFamily="49" charset="0"/>
              </a:rPr>
              <a:t>size</a:t>
            </a:r>
            <a:r>
              <a:rPr lang="en-IN" sz="3500" dirty="0"/>
              <a:t> is the number of array items to remove after the </a:t>
            </a:r>
            <a:r>
              <a:rPr lang="en-IN" sz="2800" dirty="0">
                <a:latin typeface="Courier New" panose="02070309020205020404" pitchFamily="49" charset="0"/>
                <a:cs typeface="Courier New" panose="02070309020205020404" pitchFamily="49" charset="0"/>
              </a:rPr>
              <a:t>start</a:t>
            </a:r>
            <a:r>
              <a:rPr lang="en-IN" sz="3500" dirty="0"/>
              <a:t> index, and </a:t>
            </a:r>
            <a:r>
              <a:rPr lang="en-IN" sz="3500" dirty="0">
                <a:latin typeface="Courier New" panose="02070309020205020404" pitchFamily="49" charset="0"/>
                <a:cs typeface="Courier New" panose="02070309020205020404" pitchFamily="49" charset="0"/>
              </a:rPr>
              <a:t>values</a:t>
            </a:r>
            <a:r>
              <a:rPr lang="en-IN" sz="3500" dirty="0"/>
              <a:t> is an optional comma-separated list of values to insert into the array</a:t>
            </a:r>
          </a:p>
          <a:p>
            <a:r>
              <a:rPr lang="en-US" sz="3500" dirty="0"/>
              <a:t>If no </a:t>
            </a:r>
            <a:r>
              <a:rPr lang="en-US" sz="2800" dirty="0">
                <a:latin typeface="Courier New" panose="02070309020205020404" pitchFamily="49" charset="0"/>
                <a:cs typeface="Courier New" panose="02070309020205020404" pitchFamily="49" charset="0"/>
              </a:rPr>
              <a:t>values</a:t>
            </a:r>
            <a:r>
              <a:rPr lang="en-US" sz="3500" dirty="0"/>
              <a:t> are specified, the splice method simply removes items from the array</a:t>
            </a:r>
          </a:p>
          <a:p>
            <a:r>
              <a:rPr lang="en-IN" sz="3500" dirty="0">
                <a:cs typeface="Courier New" panose="02070309020205020404" pitchFamily="49" charset="0"/>
              </a:rPr>
              <a:t>A</a:t>
            </a:r>
            <a:r>
              <a:rPr lang="en-IN" sz="3500" dirty="0"/>
              <a:t>lways alters the original array</a:t>
            </a:r>
          </a:p>
          <a:p>
            <a:endParaRPr lang="en-IN" dirty="0"/>
          </a:p>
          <a:p>
            <a:pPr marL="814388" lvl="1" indent="-457200"/>
            <a:endParaRPr lang="en-IN" dirty="0"/>
          </a:p>
          <a:p>
            <a:pPr marL="357188" lvl="1" indent="0">
              <a:buNone/>
            </a:pPr>
            <a:endParaRPr lang="en-IN" dirty="0"/>
          </a:p>
          <a:p>
            <a:pPr lvl="1"/>
            <a:endParaRPr lang="en-IN" dirty="0"/>
          </a:p>
          <a:p>
            <a:pPr lvl="1"/>
            <a:endParaRPr lang="en-IN" sz="2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025510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Using Arrays as Data Stacks</a:t>
            </a:r>
          </a:p>
        </p:txBody>
      </p:sp>
      <p:sp>
        <p:nvSpPr>
          <p:cNvPr id="9" name="Content Placeholder 8"/>
          <p:cNvSpPr>
            <a:spLocks noGrp="1"/>
          </p:cNvSpPr>
          <p:nvPr>
            <p:ph type="body" sz="quarter" idx="17"/>
          </p:nvPr>
        </p:nvSpPr>
        <p:spPr/>
        <p:txBody>
          <a:bodyPr/>
          <a:lstStyle/>
          <a:p>
            <a:r>
              <a:rPr lang="en-IN" b="1" dirty="0"/>
              <a:t>Stack</a:t>
            </a:r>
            <a:r>
              <a:rPr lang="en-IN" dirty="0"/>
              <a:t>: Arrays can be used to store information in a data structure</a:t>
            </a:r>
            <a:endParaRPr lang="en-IN" b="1" dirty="0"/>
          </a:p>
          <a:p>
            <a:r>
              <a:rPr lang="en-IN" dirty="0"/>
              <a:t>New items are added to the top of the stack or to the end of the array</a:t>
            </a:r>
          </a:p>
          <a:p>
            <a:r>
              <a:rPr lang="en-IN" dirty="0"/>
              <a:t>A stack data structure employs the </a:t>
            </a:r>
            <a:r>
              <a:rPr lang="en-IN" b="1" dirty="0"/>
              <a:t>last-in first-out (LIFO) </a:t>
            </a:r>
            <a:r>
              <a:rPr lang="en-IN" dirty="0"/>
              <a:t>principle </a:t>
            </a:r>
          </a:p>
          <a:p>
            <a:r>
              <a:rPr lang="en-IN" dirty="0"/>
              <a:t>In the </a:t>
            </a:r>
            <a:r>
              <a:rPr lang="en-IN" b="1" dirty="0"/>
              <a:t>LIFO</a:t>
            </a:r>
            <a:r>
              <a:rPr lang="en-IN" dirty="0"/>
              <a:t> principle the last items added to the stack are the first ones removed</a:t>
            </a:r>
          </a:p>
          <a:p>
            <a:endParaRPr lang="en-IN" dirty="0"/>
          </a:p>
          <a:p>
            <a:endParaRPr lang="en-IN" dirty="0">
              <a:cs typeface="Courier New" panose="02070309020205020404" pitchFamily="49" charset="0"/>
            </a:endParaRPr>
          </a:p>
        </p:txBody>
      </p:sp>
    </p:spTree>
    <p:extLst>
      <p:ext uri="{BB962C8B-B14F-4D97-AF65-F5344CB8AC3E}">
        <p14:creationId xmlns:p14="http://schemas.microsoft.com/office/powerpoint/2010/main" val="1573158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Using Arrays as Data Stacks (continued 1)</a:t>
            </a:r>
          </a:p>
        </p:txBody>
      </p:sp>
      <p:sp>
        <p:nvSpPr>
          <p:cNvPr id="9" name="Content Placeholder 8"/>
          <p:cNvSpPr>
            <a:spLocks noGrp="1"/>
          </p:cNvSpPr>
          <p:nvPr>
            <p:ph type="body" sz="quarter" idx="17"/>
          </p:nvPr>
        </p:nvSpPr>
        <p:spPr/>
        <p:txBody>
          <a:bodyPr/>
          <a:lstStyle/>
          <a:p>
            <a:r>
              <a:rPr lang="en-IN" sz="2600" dirty="0">
                <a:latin typeface="Courier New" panose="02070309020205020404" pitchFamily="49" charset="0"/>
                <a:cs typeface="Courier New" panose="02070309020205020404" pitchFamily="49" charset="0"/>
              </a:rPr>
              <a:t>push()</a:t>
            </a:r>
            <a:r>
              <a:rPr lang="en-IN" dirty="0"/>
              <a:t> method: Appends new items to the end of an array</a:t>
            </a:r>
          </a:p>
          <a:p>
            <a:pPr marL="363538" lvl="1" indent="0">
              <a:buNone/>
            </a:pPr>
            <a:r>
              <a:rPr lang="en-IN" sz="2600" dirty="0">
                <a:latin typeface="Courier New" panose="02070309020205020404" pitchFamily="49" charset="0"/>
                <a:cs typeface="Courier New" panose="02070309020205020404" pitchFamily="49" charset="0"/>
              </a:rPr>
              <a:t>array.push(values)</a:t>
            </a:r>
          </a:p>
          <a:p>
            <a:pPr marL="363538" lvl="1" indent="0">
              <a:buNone/>
            </a:pPr>
            <a:r>
              <a:rPr lang="en-IN" dirty="0"/>
              <a:t>where </a:t>
            </a:r>
            <a:r>
              <a:rPr lang="en-IN" sz="2600" dirty="0">
                <a:latin typeface="Courier New" panose="02070309020205020404" pitchFamily="49" charset="0"/>
                <a:cs typeface="Courier New" panose="02070309020205020404" pitchFamily="49" charset="0"/>
              </a:rPr>
              <a:t>values</a:t>
            </a:r>
            <a:r>
              <a:rPr lang="en-IN" dirty="0"/>
              <a:t> is a comma-separated list of values to be appended to the end of the array</a:t>
            </a:r>
          </a:p>
          <a:p>
            <a:r>
              <a:rPr lang="en-IN" sz="2600" dirty="0">
                <a:latin typeface="Courier New" panose="02070309020205020404" pitchFamily="49" charset="0"/>
                <a:cs typeface="Courier New" panose="02070309020205020404" pitchFamily="49" charset="0"/>
              </a:rPr>
              <a:t>pop()</a:t>
            </a:r>
            <a:r>
              <a:rPr lang="en-IN" dirty="0"/>
              <a:t> method: Removes or </a:t>
            </a:r>
            <a:r>
              <a:rPr lang="en-IN" b="1" dirty="0"/>
              <a:t>unstacks</a:t>
            </a:r>
            <a:r>
              <a:rPr lang="en-IN" dirty="0"/>
              <a:t> the last item</a:t>
            </a:r>
          </a:p>
          <a:p>
            <a:pPr marL="363538" lvl="1" indent="0">
              <a:buNone/>
            </a:pPr>
            <a:r>
              <a:rPr lang="en-IN" sz="2600" dirty="0">
                <a:latin typeface="Courier New" panose="02070309020205020404" pitchFamily="49" charset="0"/>
                <a:cs typeface="Courier New" panose="02070309020205020404" pitchFamily="49" charset="0"/>
              </a:rPr>
              <a:t>array.pop()</a:t>
            </a:r>
          </a:p>
        </p:txBody>
      </p:sp>
    </p:spTree>
    <p:extLst>
      <p:ext uri="{BB962C8B-B14F-4D97-AF65-F5344CB8AC3E}">
        <p14:creationId xmlns:p14="http://schemas.microsoft.com/office/powerpoint/2010/main" val="9368236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Using Arrays as Data Stacks (continued 2)</a:t>
            </a:r>
          </a:p>
        </p:txBody>
      </p:sp>
      <p:sp>
        <p:nvSpPr>
          <p:cNvPr id="9" name="Content Placeholder 8"/>
          <p:cNvSpPr>
            <a:spLocks noGrp="1"/>
          </p:cNvSpPr>
          <p:nvPr>
            <p:ph type="body" sz="quarter" idx="17"/>
          </p:nvPr>
        </p:nvSpPr>
        <p:spPr/>
        <p:txBody>
          <a:bodyPr/>
          <a:lstStyle/>
          <a:p>
            <a:r>
              <a:rPr lang="en-IN" b="1" dirty="0"/>
              <a:t>Queue: </a:t>
            </a:r>
            <a:r>
              <a:rPr lang="en-IN" dirty="0"/>
              <a:t>Employs the </a:t>
            </a:r>
            <a:r>
              <a:rPr lang="en-IN" b="1" dirty="0"/>
              <a:t>first-in-first-out (FIFO) </a:t>
            </a:r>
            <a:r>
              <a:rPr lang="en-IN" dirty="0"/>
              <a:t>principle in which the first item added to the data list is the first removed</a:t>
            </a:r>
          </a:p>
          <a:p>
            <a:r>
              <a:rPr lang="en-IN" dirty="0"/>
              <a:t>Similar to a stack</a:t>
            </a:r>
          </a:p>
          <a:p>
            <a:r>
              <a:rPr lang="en-IN" sz="2600" dirty="0">
                <a:latin typeface="Courier New" panose="02070309020205020404" pitchFamily="49" charset="0"/>
                <a:cs typeface="Courier New" panose="02070309020205020404" pitchFamily="49" charset="0"/>
              </a:rPr>
              <a:t>shift()</a:t>
            </a:r>
            <a:r>
              <a:rPr lang="en-IN" dirty="0"/>
              <a:t> method: Removes the first array item</a:t>
            </a:r>
          </a:p>
          <a:p>
            <a:r>
              <a:rPr lang="en-IN" sz="2600" dirty="0">
                <a:latin typeface="Courier New" panose="02070309020205020404" pitchFamily="49" charset="0"/>
                <a:cs typeface="Courier New" panose="02070309020205020404" pitchFamily="49" charset="0"/>
              </a:rPr>
              <a:t>unshift()</a:t>
            </a:r>
            <a:r>
              <a:rPr lang="en-IN" dirty="0"/>
              <a:t> method: Inserts new items at the front of the array</a:t>
            </a:r>
          </a:p>
        </p:txBody>
      </p:sp>
    </p:spTree>
    <p:extLst>
      <p:ext uri="{BB962C8B-B14F-4D97-AF65-F5344CB8AC3E}">
        <p14:creationId xmlns:p14="http://schemas.microsoft.com/office/powerpoint/2010/main" val="28225532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a:xfrm>
            <a:off x="628649" y="80328"/>
            <a:ext cx="7886700" cy="672105"/>
          </a:xfrm>
        </p:spPr>
        <p:txBody>
          <a:bodyPr/>
          <a:lstStyle/>
          <a:p>
            <a:r>
              <a:rPr lang="en-IN" sz="3400" dirty="0"/>
              <a:t>Using Arrays as Data Stacks (continued 3)</a:t>
            </a:r>
          </a:p>
        </p:txBody>
      </p:sp>
      <p:graphicFrame>
        <p:nvGraphicFramePr>
          <p:cNvPr id="5" name="Table Placeholder 4">
            <a:extLst>
              <a:ext uri="{FF2B5EF4-FFF2-40B4-BE49-F238E27FC236}">
                <a16:creationId xmlns:a16="http://schemas.microsoft.com/office/drawing/2014/main" id="{2BD91908-2F84-4425-BBE3-80BEF38825DA}"/>
              </a:ext>
            </a:extLst>
          </p:cNvPr>
          <p:cNvGraphicFramePr>
            <a:graphicFrameLocks noGrp="1"/>
          </p:cNvGraphicFramePr>
          <p:nvPr>
            <p:ph type="tbl" sz="quarter" idx="10"/>
            <p:extLst>
              <p:ext uri="{D42A27DB-BD31-4B8C-83A1-F6EECF244321}">
                <p14:modId xmlns:p14="http://schemas.microsoft.com/office/powerpoint/2010/main" val="2310908528"/>
              </p:ext>
            </p:extLst>
          </p:nvPr>
        </p:nvGraphicFramePr>
        <p:xfrm>
          <a:off x="996243" y="1478280"/>
          <a:ext cx="7151511" cy="4562333"/>
        </p:xfrm>
        <a:graphic>
          <a:graphicData uri="http://schemas.openxmlformats.org/drawingml/2006/table">
            <a:tbl>
              <a:tblPr firstRow="1"/>
              <a:tblGrid>
                <a:gridCol w="2310837">
                  <a:extLst>
                    <a:ext uri="{9D8B030D-6E8A-4147-A177-3AD203B41FA5}">
                      <a16:colId xmlns:a16="http://schemas.microsoft.com/office/drawing/2014/main" val="1431356802"/>
                    </a:ext>
                  </a:extLst>
                </a:gridCol>
                <a:gridCol w="4840674">
                  <a:extLst>
                    <a:ext uri="{9D8B030D-6E8A-4147-A177-3AD203B41FA5}">
                      <a16:colId xmlns:a16="http://schemas.microsoft.com/office/drawing/2014/main" val="3984590788"/>
                    </a:ext>
                  </a:extLst>
                </a:gridCol>
              </a:tblGrid>
              <a:tr h="218239">
                <a:tc>
                  <a:txBody>
                    <a:bodyPr/>
                    <a:lstStyle/>
                    <a:p>
                      <a:pPr marL="0" marR="0" algn="l">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Method</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0041" marR="40041" marT="100103" marB="2002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gn="l">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40041" marT="100103" marB="2002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3411482513"/>
                  </a:ext>
                </a:extLst>
              </a:tr>
              <a:tr h="373467">
                <a:tc>
                  <a:txBody>
                    <a:bodyPr/>
                    <a:lstStyle/>
                    <a:p>
                      <a:pPr marL="0" marR="0" algn="l">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copyWithin(</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target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start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end</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Copies items within the array to the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target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index, starting with the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start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index and ending with the optional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end</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index</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4120876414"/>
                  </a:ext>
                </a:extLst>
              </a:tr>
              <a:tr h="295150">
                <a:tc>
                  <a:txBody>
                    <a:bodyPr/>
                    <a:lstStyle/>
                    <a:p>
                      <a:pPr marL="0" marR="0" algn="l">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concat(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array1</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array2</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Joins the array to two or more arrays, creating a single array containing the items from all the arrays</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671097542"/>
                  </a:ext>
                </a:extLst>
              </a:tr>
              <a:tr h="295150">
                <a:tc>
                  <a:txBody>
                    <a:bodyPr/>
                    <a:lstStyle/>
                    <a:p>
                      <a:pPr marL="0" marR="0" algn="l">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fill(</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start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end</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Fills the array with items having the value , starting from the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start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index and ending at the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end</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index</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2500071274"/>
                  </a:ext>
                </a:extLst>
              </a:tr>
              <a:tr h="368589">
                <a:tc>
                  <a:txBody>
                    <a:bodyPr/>
                    <a:lstStyle/>
                    <a:p>
                      <a:pPr marL="0" marR="0" algn="l">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indexOf(</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start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Searches the array, returning the index number of the first element equal to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starting from the optional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start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index</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2822471057"/>
                  </a:ext>
                </a:extLst>
              </a:tr>
              <a:tr h="373467">
                <a:tc>
                  <a:txBody>
                    <a:bodyPr/>
                    <a:lstStyle/>
                    <a:p>
                      <a:pPr marL="0" marR="0" algn="l">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join(</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separator</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Joins all items in the array into a single text string; the array items are separated using the text in the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separator</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parameter; if no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separator</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specified, a comma is used</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553375706"/>
                  </a:ext>
                </a:extLst>
              </a:tr>
              <a:tr h="373467">
                <a:tc>
                  <a:txBody>
                    <a:bodyPr/>
                    <a:lstStyle/>
                    <a:p>
                      <a:pPr marL="0" marR="0" algn="l">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lastIndexOf(</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start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Searches backward through the array, returning the index number of the first element equal to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starting from the optional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start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index </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76927380"/>
                  </a:ext>
                </a:extLst>
              </a:tr>
              <a:tr h="173797">
                <a:tc>
                  <a:txBody>
                    <a:bodyPr/>
                    <a:lstStyle/>
                    <a:p>
                      <a:pPr marL="0" marR="0" algn="l">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pop()</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Removes the last item from the array</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3254621828"/>
                  </a:ext>
                </a:extLst>
              </a:tr>
              <a:tr h="290793">
                <a:tc>
                  <a:txBody>
                    <a:bodyPr/>
                    <a:lstStyle/>
                    <a:p>
                      <a:pPr marL="0" marR="0" algn="l">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push(</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values</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Appends the array with new items, where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values</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 comma-separated list of item values</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2643339388"/>
                  </a:ext>
                </a:extLst>
              </a:tr>
            </a:tbl>
          </a:graphicData>
        </a:graphic>
      </p:graphicFrame>
    </p:spTree>
    <p:extLst>
      <p:ext uri="{BB962C8B-B14F-4D97-AF65-F5344CB8AC3E}">
        <p14:creationId xmlns:p14="http://schemas.microsoft.com/office/powerpoint/2010/main" val="7624787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a:xfrm>
            <a:off x="628649" y="80328"/>
            <a:ext cx="7886700" cy="672105"/>
          </a:xfrm>
        </p:spPr>
        <p:txBody>
          <a:bodyPr/>
          <a:lstStyle/>
          <a:p>
            <a:r>
              <a:rPr lang="en-IN" sz="3400" dirty="0"/>
              <a:t>Using Arrays as Data Stacks (continued 4)</a:t>
            </a:r>
          </a:p>
        </p:txBody>
      </p:sp>
      <p:graphicFrame>
        <p:nvGraphicFramePr>
          <p:cNvPr id="5" name="Table Placeholder 4">
            <a:extLst>
              <a:ext uri="{FF2B5EF4-FFF2-40B4-BE49-F238E27FC236}">
                <a16:creationId xmlns:a16="http://schemas.microsoft.com/office/drawing/2014/main" id="{2BD91908-2F84-4425-BBE3-80BEF38825DA}"/>
              </a:ext>
            </a:extLst>
          </p:cNvPr>
          <p:cNvGraphicFramePr>
            <a:graphicFrameLocks noGrp="1"/>
          </p:cNvGraphicFramePr>
          <p:nvPr>
            <p:ph type="tbl" sz="quarter" idx="10"/>
            <p:extLst>
              <p:ext uri="{D42A27DB-BD31-4B8C-83A1-F6EECF244321}">
                <p14:modId xmlns:p14="http://schemas.microsoft.com/office/powerpoint/2010/main" val="1552211250"/>
              </p:ext>
            </p:extLst>
          </p:nvPr>
        </p:nvGraphicFramePr>
        <p:xfrm>
          <a:off x="996243" y="2037238"/>
          <a:ext cx="7151511" cy="3405950"/>
        </p:xfrm>
        <a:graphic>
          <a:graphicData uri="http://schemas.openxmlformats.org/drawingml/2006/table">
            <a:tbl>
              <a:tblPr firstRow="1"/>
              <a:tblGrid>
                <a:gridCol w="1874461">
                  <a:extLst>
                    <a:ext uri="{9D8B030D-6E8A-4147-A177-3AD203B41FA5}">
                      <a16:colId xmlns:a16="http://schemas.microsoft.com/office/drawing/2014/main" val="1431356802"/>
                    </a:ext>
                  </a:extLst>
                </a:gridCol>
                <a:gridCol w="5277050">
                  <a:extLst>
                    <a:ext uri="{9D8B030D-6E8A-4147-A177-3AD203B41FA5}">
                      <a16:colId xmlns:a16="http://schemas.microsoft.com/office/drawing/2014/main" val="3984590788"/>
                    </a:ext>
                  </a:extLst>
                </a:gridCol>
              </a:tblGrid>
              <a:tr h="0">
                <a:tc>
                  <a:txBody>
                    <a:bodyPr/>
                    <a:lstStyle/>
                    <a:p>
                      <a:pPr marL="0" marR="0" algn="l">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Method</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0041" marR="40041" marT="100103" marB="2002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gn="l">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40041" marT="100103" marB="2002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3411482513"/>
                  </a:ext>
                </a:extLst>
              </a:tr>
              <a:tr h="173797">
                <a:tc>
                  <a:txBody>
                    <a:bodyPr/>
                    <a:lstStyle/>
                    <a:p>
                      <a:pPr marL="0" marR="0" algn="l">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reverse()</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Reverses the order of items in the array</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2265055436"/>
                  </a:ext>
                </a:extLst>
              </a:tr>
              <a:tr h="173797">
                <a:tc>
                  <a:txBody>
                    <a:bodyPr/>
                    <a:lstStyle/>
                    <a:p>
                      <a:pPr marL="0" marR="0" algn="l">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shift()</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Removes the first item from the array</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402369311"/>
                  </a:ext>
                </a:extLst>
              </a:tr>
              <a:tr h="290793">
                <a:tc>
                  <a:txBody>
                    <a:bodyPr/>
                    <a:lstStyle/>
                    <a:p>
                      <a:pPr marL="0" marR="0" algn="l">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slice(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start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stop</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Extracts the array items starting with the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start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index up to the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stop</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index, returning a new subarray</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560214"/>
                  </a:ext>
                </a:extLst>
              </a:tr>
              <a:tr h="373467">
                <a:tc>
                  <a:txBody>
                    <a:bodyPr/>
                    <a:lstStyle/>
                    <a:p>
                      <a:pPr marL="0" marR="0" algn="l">
                        <a:lnSpc>
                          <a:spcPts val="15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array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.splice(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start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size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values</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Extracts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size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items from the array starting with the item with the index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start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to insert new items into the array, specify the array items in a comma-separated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values</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list</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2759127166"/>
                  </a:ext>
                </a:extLst>
              </a:tr>
              <a:tr h="373467">
                <a:tc>
                  <a:txBody>
                    <a:bodyPr/>
                    <a:lstStyle/>
                    <a:p>
                      <a:pPr marL="0" marR="0" algn="l">
                        <a:lnSpc>
                          <a:spcPts val="15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array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.sort(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fname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Sorts the array where </a:t>
                      </a:r>
                      <a:r>
                        <a:rPr lang="en-US" sz="1600" i="1"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fname</a:t>
                      </a:r>
                      <a:r>
                        <a:rPr lang="en-US" sz="1600"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the name of a function that returns a positive, negative, or 0 value; if no </a:t>
                      </a:r>
                      <a:r>
                        <a:rPr lang="en-US" sz="1600" i="0"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function</a:t>
                      </a:r>
                      <a:r>
                        <a:rPr lang="en-US" sz="1600"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specified, </a:t>
                      </a:r>
                      <a:r>
                        <a:rPr lang="en-US" sz="1600" i="1"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array</a:t>
                      </a:r>
                      <a:r>
                        <a:rPr lang="en-US" sz="1600"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sorted in alphabetical order</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351194219"/>
                  </a:ext>
                </a:extLst>
              </a:tr>
              <a:tr h="290793">
                <a:tc>
                  <a:txBody>
                    <a:bodyPr/>
                    <a:lstStyle/>
                    <a:p>
                      <a:pPr marL="0" marR="0" algn="l">
                        <a:lnSpc>
                          <a:spcPts val="15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array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.toString()</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Converts the contents of the array to a text string with the array values in a comma-separated list</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339953963"/>
                  </a:ext>
                </a:extLst>
              </a:tr>
              <a:tr h="290793">
                <a:tc>
                  <a:txBody>
                    <a:bodyPr/>
                    <a:lstStyle/>
                    <a:p>
                      <a:pPr marL="0" marR="0" algn="l">
                        <a:lnSpc>
                          <a:spcPts val="15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array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.unshift(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values</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041"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l">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Inserts new items at the start of the array, where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values</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 comma-separated list of new values</a:t>
                      </a:r>
                    </a:p>
                  </a:txBody>
                  <a:tcPr marL="0" marR="40041" marT="26694" marB="2669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2998368313"/>
                  </a:ext>
                </a:extLst>
              </a:tr>
            </a:tbl>
          </a:graphicData>
        </a:graphic>
      </p:graphicFrame>
    </p:spTree>
    <p:extLst>
      <p:ext uri="{BB962C8B-B14F-4D97-AF65-F5344CB8AC3E}">
        <p14:creationId xmlns:p14="http://schemas.microsoft.com/office/powerpoint/2010/main" val="4226788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Working with Program Loops</a:t>
            </a:r>
          </a:p>
        </p:txBody>
      </p:sp>
      <p:sp>
        <p:nvSpPr>
          <p:cNvPr id="9" name="Content Placeholder 8"/>
          <p:cNvSpPr>
            <a:spLocks noGrp="1"/>
          </p:cNvSpPr>
          <p:nvPr>
            <p:ph type="body" sz="quarter" idx="17"/>
          </p:nvPr>
        </p:nvSpPr>
        <p:spPr/>
        <p:txBody>
          <a:bodyPr/>
          <a:lstStyle/>
          <a:p>
            <a:r>
              <a:rPr lang="en-IN" b="1" dirty="0"/>
              <a:t>Program loop: </a:t>
            </a:r>
            <a:r>
              <a:rPr lang="en-IN" dirty="0"/>
              <a:t>Set of commands executed repeatedly until a stopping condition is met</a:t>
            </a:r>
          </a:p>
          <a:p>
            <a:r>
              <a:rPr lang="en-IN" dirty="0"/>
              <a:t>Two commonly used program loops in JavaScript are</a:t>
            </a:r>
          </a:p>
          <a:p>
            <a:pPr lvl="1"/>
            <a:r>
              <a:rPr lang="en-IN" sz="2600" dirty="0">
                <a:latin typeface="Courier New" panose="02070309020205020404" pitchFamily="49" charset="0"/>
                <a:cs typeface="Courier New" panose="02070309020205020404" pitchFamily="49" charset="0"/>
              </a:rPr>
              <a:t>for</a:t>
            </a:r>
            <a:r>
              <a:rPr lang="en-IN" dirty="0"/>
              <a:t> loops </a:t>
            </a:r>
          </a:p>
          <a:p>
            <a:pPr lvl="1"/>
            <a:r>
              <a:rPr lang="en-IN" sz="2600" dirty="0">
                <a:latin typeface="Courier New" panose="02070309020205020404" pitchFamily="49" charset="0"/>
                <a:cs typeface="Courier New" panose="02070309020205020404" pitchFamily="49" charset="0"/>
              </a:rPr>
              <a:t>while</a:t>
            </a:r>
            <a:r>
              <a:rPr lang="en-IN" dirty="0"/>
              <a:t> loops</a:t>
            </a:r>
          </a:p>
        </p:txBody>
      </p:sp>
    </p:spTree>
    <p:extLst>
      <p:ext uri="{BB962C8B-B14F-4D97-AF65-F5344CB8AC3E}">
        <p14:creationId xmlns:p14="http://schemas.microsoft.com/office/powerpoint/2010/main" val="23086398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Exploring the </a:t>
            </a:r>
            <a:r>
              <a:rPr lang="en-IN" dirty="0">
                <a:latin typeface="Courier New" panose="02070309020205020404" pitchFamily="49" charset="0"/>
                <a:cs typeface="Courier New" panose="02070309020205020404" pitchFamily="49" charset="0"/>
              </a:rPr>
              <a:t>for</a:t>
            </a:r>
            <a:r>
              <a:rPr lang="en-IN" dirty="0"/>
              <a:t> Loop</a:t>
            </a:r>
          </a:p>
        </p:txBody>
      </p:sp>
      <p:sp>
        <p:nvSpPr>
          <p:cNvPr id="9" name="Content Placeholder 8"/>
          <p:cNvSpPr>
            <a:spLocks noGrp="1"/>
          </p:cNvSpPr>
          <p:nvPr>
            <p:ph type="body" sz="quarter" idx="17"/>
          </p:nvPr>
        </p:nvSpPr>
        <p:spPr>
          <a:xfrm>
            <a:off x="555171" y="1401233"/>
            <a:ext cx="8033657" cy="4394200"/>
          </a:xfrm>
        </p:spPr>
        <p:txBody>
          <a:bodyPr>
            <a:noAutofit/>
          </a:bodyPr>
          <a:lstStyle/>
          <a:p>
            <a:r>
              <a:rPr lang="en-IN" dirty="0"/>
              <a:t>In a </a:t>
            </a:r>
            <a:r>
              <a:rPr lang="en-IN" sz="2600" dirty="0">
                <a:latin typeface="Courier New" panose="02070309020205020404" pitchFamily="49" charset="0"/>
                <a:cs typeface="Courier New" panose="02070309020205020404" pitchFamily="49" charset="0"/>
              </a:rPr>
              <a:t>for</a:t>
            </a:r>
            <a:r>
              <a:rPr lang="en-IN" dirty="0"/>
              <a:t> loop, a variable known as a counter variable is used to track the number of times a block of commands is run</a:t>
            </a:r>
          </a:p>
          <a:p>
            <a:r>
              <a:rPr lang="en-IN" dirty="0"/>
              <a:t>When the counter variable reaches or exceeds a specified value, the </a:t>
            </a:r>
            <a:r>
              <a:rPr lang="en-IN" sz="2600" dirty="0">
                <a:latin typeface="Courier New" panose="02070309020205020404" pitchFamily="49" charset="0"/>
                <a:cs typeface="Courier New" panose="02070309020205020404" pitchFamily="49" charset="0"/>
              </a:rPr>
              <a:t>for</a:t>
            </a:r>
            <a:r>
              <a:rPr lang="en-IN" dirty="0"/>
              <a:t> loop stops</a:t>
            </a:r>
          </a:p>
          <a:p>
            <a:r>
              <a:rPr lang="en-IN" dirty="0"/>
              <a:t>General structure of a </a:t>
            </a:r>
            <a:r>
              <a:rPr lang="en-IN" sz="2600" dirty="0">
                <a:latin typeface="Courier New" panose="02070309020205020404" pitchFamily="49" charset="0"/>
                <a:cs typeface="Courier New" panose="02070309020205020404" pitchFamily="49" charset="0"/>
              </a:rPr>
              <a:t>for</a:t>
            </a:r>
            <a:r>
              <a:rPr lang="en-IN" dirty="0"/>
              <a:t> loop</a:t>
            </a:r>
          </a:p>
          <a:p>
            <a:pPr marL="357188" lvl="1" indent="0">
              <a:buNone/>
            </a:pPr>
            <a:r>
              <a:rPr lang="en-IN" sz="2600" dirty="0">
                <a:latin typeface="Courier New" panose="02070309020205020404" pitchFamily="49" charset="0"/>
                <a:cs typeface="Courier New" panose="02070309020205020404" pitchFamily="49" charset="0"/>
              </a:rPr>
              <a:t>for (start; continue; update) {</a:t>
            </a:r>
          </a:p>
          <a:p>
            <a:pPr marL="357188" lvl="1" indent="0">
              <a:buNone/>
            </a:pPr>
            <a:r>
              <a:rPr lang="en-IN" sz="2600" dirty="0">
                <a:latin typeface="Courier New" panose="02070309020205020404" pitchFamily="49" charset="0"/>
                <a:cs typeface="Courier New" panose="02070309020205020404" pitchFamily="49" charset="0"/>
              </a:rPr>
              <a:t>commands</a:t>
            </a:r>
          </a:p>
          <a:p>
            <a:pPr marL="357188" lvl="1" indent="0">
              <a:buNone/>
            </a:pPr>
            <a:r>
              <a:rPr lang="en-IN" sz="2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8950124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Exploring the for Loop (continued 1)</a:t>
            </a:r>
          </a:p>
        </p:txBody>
      </p:sp>
      <p:sp>
        <p:nvSpPr>
          <p:cNvPr id="9" name="Content Placeholder 8"/>
          <p:cNvSpPr>
            <a:spLocks noGrp="1"/>
          </p:cNvSpPr>
          <p:nvPr>
            <p:ph type="body" sz="quarter" idx="17"/>
          </p:nvPr>
        </p:nvSpPr>
        <p:spPr/>
        <p:txBody>
          <a:bodyPr/>
          <a:lstStyle/>
          <a:p>
            <a:pPr lvl="1"/>
            <a:r>
              <a:rPr lang="en-IN" dirty="0"/>
              <a:t> where </a:t>
            </a:r>
            <a:r>
              <a:rPr lang="en-IN" sz="2600" dirty="0">
                <a:latin typeface="Courier New" panose="02070309020205020404" pitchFamily="49" charset="0"/>
                <a:cs typeface="Courier New" panose="02070309020205020404" pitchFamily="49" charset="0"/>
              </a:rPr>
              <a:t>start</a:t>
            </a:r>
            <a:r>
              <a:rPr lang="en-IN" dirty="0"/>
              <a:t> is an expression that sets the initial value of a counter variable</a:t>
            </a:r>
          </a:p>
          <a:p>
            <a:pPr lvl="1"/>
            <a:r>
              <a:rPr lang="en-IN" sz="2600" dirty="0">
                <a:latin typeface="Courier New" panose="02070309020205020404" pitchFamily="49" charset="0"/>
                <a:cs typeface="Courier New" panose="02070309020205020404" pitchFamily="49" charset="0"/>
              </a:rPr>
              <a:t>continue</a:t>
            </a:r>
            <a:r>
              <a:rPr lang="en-IN" dirty="0"/>
              <a:t> is a Boolean expression that must be true for the loop to continue</a:t>
            </a:r>
          </a:p>
          <a:p>
            <a:pPr lvl="1"/>
            <a:r>
              <a:rPr lang="en-IN" sz="2600" dirty="0">
                <a:latin typeface="Courier New" panose="02070309020205020404" pitchFamily="49" charset="0"/>
                <a:cs typeface="Courier New" panose="02070309020205020404" pitchFamily="49" charset="0"/>
              </a:rPr>
              <a:t>update</a:t>
            </a:r>
            <a:r>
              <a:rPr lang="en-IN" dirty="0"/>
              <a:t> is an expression that indicates how the value of the counter variable should change each time through the loop</a:t>
            </a:r>
          </a:p>
          <a:p>
            <a:pPr lvl="1"/>
            <a:r>
              <a:rPr lang="en-IN" sz="2600" dirty="0">
                <a:latin typeface="Courier New" panose="02070309020205020404" pitchFamily="49" charset="0"/>
                <a:cs typeface="Courier New" panose="02070309020205020404" pitchFamily="49" charset="0"/>
              </a:rPr>
              <a:t>commands</a:t>
            </a:r>
            <a:r>
              <a:rPr lang="en-IN" dirty="0"/>
              <a:t> are the JavaScript statements that are run for each loop</a:t>
            </a:r>
          </a:p>
        </p:txBody>
      </p:sp>
    </p:spTree>
    <p:extLst>
      <p:ext uri="{BB962C8B-B14F-4D97-AF65-F5344CB8AC3E}">
        <p14:creationId xmlns:p14="http://schemas.microsoft.com/office/powerpoint/2010/main" val="42500635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Exploring the </a:t>
            </a:r>
            <a:r>
              <a:rPr lang="en-IN" dirty="0">
                <a:latin typeface="Courier New" panose="02070309020205020404" pitchFamily="49" charset="0"/>
                <a:cs typeface="Courier New" panose="02070309020205020404" pitchFamily="49" charset="0"/>
              </a:rPr>
              <a:t>for</a:t>
            </a:r>
            <a:r>
              <a:rPr lang="en-IN" dirty="0"/>
              <a:t> Loop (continued 2)</a:t>
            </a:r>
          </a:p>
        </p:txBody>
      </p:sp>
      <p:sp>
        <p:nvSpPr>
          <p:cNvPr id="9" name="Content Placeholder 8"/>
          <p:cNvSpPr>
            <a:spLocks noGrp="1"/>
          </p:cNvSpPr>
          <p:nvPr>
            <p:ph type="body" sz="quarter" idx="17"/>
          </p:nvPr>
        </p:nvSpPr>
        <p:spPr/>
        <p:txBody>
          <a:bodyPr/>
          <a:lstStyle/>
          <a:p>
            <a:pPr marL="457200" indent="-457200">
              <a:buFont typeface="Arial" panose="020B0604020202020204" pitchFamily="34" charset="0"/>
              <a:buChar char="•"/>
            </a:pPr>
            <a:r>
              <a:rPr lang="en-IN" sz="3200" b="1" dirty="0"/>
              <a:t>Command block: </a:t>
            </a:r>
            <a:r>
              <a:rPr lang="en-IN" sz="3200" dirty="0"/>
              <a:t>Set of commands that is run each time through a loop</a:t>
            </a:r>
          </a:p>
          <a:p>
            <a:pPr marL="457200" indent="-457200">
              <a:buFont typeface="Arial" panose="020B0604020202020204" pitchFamily="34" charset="0"/>
              <a:buChar char="•"/>
            </a:pPr>
            <a:r>
              <a:rPr lang="en-IN" sz="3200" dirty="0"/>
              <a:t>Indicated by its opening and closing curly braces { }</a:t>
            </a:r>
          </a:p>
          <a:p>
            <a:pPr marL="457200" indent="-457200">
              <a:buFont typeface="Arial" panose="020B0604020202020204" pitchFamily="34" charset="0"/>
              <a:buChar char="•"/>
            </a:pPr>
            <a:r>
              <a:rPr lang="en-IN" sz="3200" dirty="0"/>
              <a:t>One </a:t>
            </a:r>
            <a:r>
              <a:rPr lang="en-IN" sz="3200" dirty="0">
                <a:latin typeface="Courier New" panose="02070309020205020404" pitchFamily="49" charset="0"/>
                <a:cs typeface="Courier New" panose="02070309020205020404" pitchFamily="49" charset="0"/>
              </a:rPr>
              <a:t>for</a:t>
            </a:r>
            <a:r>
              <a:rPr lang="en-IN" sz="3200" dirty="0"/>
              <a:t> loop can be nested within another</a:t>
            </a:r>
            <a:endParaRPr lang="en-IN" sz="3200" dirty="0">
              <a:cs typeface="Courier New" panose="02070309020205020404" pitchFamily="49" charset="0"/>
            </a:endParaRPr>
          </a:p>
        </p:txBody>
      </p:sp>
    </p:spTree>
    <p:extLst>
      <p:ext uri="{BB962C8B-B14F-4D97-AF65-F5344CB8AC3E}">
        <p14:creationId xmlns:p14="http://schemas.microsoft.com/office/powerpoint/2010/main" val="1197640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the for Loop (continued 3)</a:t>
            </a:r>
          </a:p>
        </p:txBody>
      </p:sp>
      <p:graphicFrame>
        <p:nvGraphicFramePr>
          <p:cNvPr id="12" name="Table Placeholder 11"/>
          <p:cNvGraphicFramePr>
            <a:graphicFrameLocks noGrp="1"/>
          </p:cNvGraphicFramePr>
          <p:nvPr>
            <p:ph type="tbl" sz="quarter" idx="10"/>
            <p:extLst>
              <p:ext uri="{D42A27DB-BD31-4B8C-83A1-F6EECF244321}">
                <p14:modId xmlns:p14="http://schemas.microsoft.com/office/powerpoint/2010/main" val="1240764403"/>
              </p:ext>
            </p:extLst>
          </p:nvPr>
        </p:nvGraphicFramePr>
        <p:xfrm>
          <a:off x="1005840" y="2020904"/>
          <a:ext cx="7132320" cy="2479050"/>
        </p:xfrm>
        <a:graphic>
          <a:graphicData uri="http://schemas.openxmlformats.org/drawingml/2006/table">
            <a:tbl>
              <a:tblPr firstRow="1"/>
              <a:tblGrid>
                <a:gridCol w="434340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tblGrid>
              <a:tr h="710366">
                <a:tc>
                  <a:txBody>
                    <a:bodyPr/>
                    <a:lstStyle/>
                    <a:p>
                      <a:pPr marL="0" marR="0">
                        <a:lnSpc>
                          <a:spcPts val="1300"/>
                        </a:lnSpc>
                        <a:spcBef>
                          <a:spcPts val="300"/>
                        </a:spcBef>
                        <a:spcAft>
                          <a:spcPts val="0"/>
                        </a:spcAft>
                      </a:pPr>
                      <a:r>
                        <a:rPr lang="en-US"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for</a:t>
                      </a:r>
                      <a:r>
                        <a:rPr lang="en-US" sz="1800" b="1" dirty="0">
                          <a:solidFill>
                            <a:srgbClr val="000000"/>
                          </a:solidFill>
                          <a:effectLst/>
                          <a:latin typeface="Times New Roman" panose="02020603050405020304" pitchFamily="18" charset="0"/>
                          <a:ea typeface="Times New Roman" panose="02020603050405020304" pitchFamily="18" charset="0"/>
                          <a:cs typeface="AvenirLTStd-Black"/>
                        </a:rPr>
                        <a:t> </a:t>
                      </a: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Loop</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Counter Values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442171">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for (var i = 1; i &lt;= 5; i++)</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i</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1, 2, 3, 4, 5</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2171">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for (var i = 5; i &gt; 0; i--)</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i</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5, 4, 3, 2, 1</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2171">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for (var i = 0; i &lt;= 360; i+=60)</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i</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0, 60, 120, 180, 240, 360</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2171">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for (var i = 1; i &lt;= 64; i*=2)</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i</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1, 2, 4, 8, 16, 32, 64</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441357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Exploring the </a:t>
            </a:r>
            <a:r>
              <a:rPr lang="en-IN" dirty="0">
                <a:latin typeface="Courier New" panose="02070309020205020404" pitchFamily="49" charset="0"/>
                <a:cs typeface="Courier New" panose="02070309020205020404" pitchFamily="49" charset="0"/>
              </a:rPr>
              <a:t>while</a:t>
            </a:r>
            <a:r>
              <a:rPr lang="en-IN" dirty="0"/>
              <a:t> Loop</a:t>
            </a:r>
          </a:p>
        </p:txBody>
      </p:sp>
      <p:sp>
        <p:nvSpPr>
          <p:cNvPr id="3" name="Content Placeholder 2"/>
          <p:cNvSpPr>
            <a:spLocks noGrp="1"/>
          </p:cNvSpPr>
          <p:nvPr>
            <p:ph type="body" sz="quarter" idx="17"/>
          </p:nvPr>
        </p:nvSpPr>
        <p:spPr/>
        <p:txBody>
          <a:bodyPr/>
          <a:lstStyle/>
          <a:p>
            <a:r>
              <a:rPr lang="en-IN" sz="2600" b="1" dirty="0">
                <a:latin typeface="Courier New" panose="02070309020205020404" pitchFamily="49" charset="0"/>
                <a:cs typeface="Courier New" panose="02070309020205020404" pitchFamily="49" charset="0"/>
              </a:rPr>
              <a:t>while</a:t>
            </a:r>
            <a:r>
              <a:rPr lang="en-IN" b="1" dirty="0"/>
              <a:t> loop: </a:t>
            </a:r>
            <a:r>
              <a:rPr lang="en-IN" dirty="0"/>
              <a:t>Command block that is run as long as a specific condition is met</a:t>
            </a:r>
          </a:p>
          <a:p>
            <a:r>
              <a:rPr lang="en-IN" dirty="0"/>
              <a:t>Condition in a </a:t>
            </a:r>
            <a:r>
              <a:rPr lang="en-IN" sz="2600" dirty="0">
                <a:latin typeface="Courier New" panose="02070309020205020404" pitchFamily="49" charset="0"/>
                <a:cs typeface="Courier New" panose="02070309020205020404" pitchFamily="49" charset="0"/>
              </a:rPr>
              <a:t>while</a:t>
            </a:r>
            <a:r>
              <a:rPr lang="en-IN" dirty="0"/>
              <a:t> loop does not depend on the value of a counter variable</a:t>
            </a:r>
          </a:p>
          <a:p>
            <a:r>
              <a:rPr lang="en-IN" dirty="0"/>
              <a:t>General syntax for the </a:t>
            </a:r>
            <a:r>
              <a:rPr lang="en-IN" sz="2600" dirty="0">
                <a:latin typeface="Courier New" panose="02070309020205020404" pitchFamily="49" charset="0"/>
                <a:cs typeface="Courier New" panose="02070309020205020404" pitchFamily="49" charset="0"/>
              </a:rPr>
              <a:t>while</a:t>
            </a:r>
            <a:r>
              <a:rPr lang="en-IN" dirty="0"/>
              <a:t> loop</a:t>
            </a:r>
          </a:p>
          <a:p>
            <a:pPr marL="357188" lvl="1" indent="0">
              <a:buNone/>
            </a:pPr>
            <a:r>
              <a:rPr lang="en-IN" sz="2600" dirty="0">
                <a:latin typeface="Courier New" panose="02070309020205020404" pitchFamily="49" charset="0"/>
                <a:cs typeface="Courier New" panose="02070309020205020404" pitchFamily="49" charset="0"/>
              </a:rPr>
              <a:t>while (continue) {</a:t>
            </a:r>
          </a:p>
          <a:p>
            <a:pPr marL="357188" lvl="1" indent="0">
              <a:buNone/>
            </a:pPr>
            <a:r>
              <a:rPr lang="en-IN" sz="2600" dirty="0">
                <a:latin typeface="Courier New" panose="02070309020205020404" pitchFamily="49" charset="0"/>
                <a:cs typeface="Courier New" panose="02070309020205020404" pitchFamily="49" charset="0"/>
              </a:rPr>
              <a:t>commands</a:t>
            </a:r>
          </a:p>
          <a:p>
            <a:pPr marL="357188" lvl="1" indent="0">
              <a:buNone/>
            </a:pPr>
            <a:r>
              <a:rPr lang="en-IN" sz="2600" dirty="0">
                <a:latin typeface="Courier New" panose="02070309020205020404" pitchFamily="49" charset="0"/>
                <a:cs typeface="Courier New" panose="02070309020205020404" pitchFamily="49" charset="0"/>
              </a:rPr>
              <a:t>}</a:t>
            </a:r>
          </a:p>
          <a:p>
            <a:pPr marL="357188" indent="0">
              <a:buNone/>
            </a:pPr>
            <a:r>
              <a:rPr lang="en-IN" dirty="0"/>
              <a:t>where </a:t>
            </a:r>
            <a:r>
              <a:rPr lang="en-IN" sz="2600" dirty="0">
                <a:latin typeface="Courier New" panose="02070309020205020404" pitchFamily="49" charset="0"/>
                <a:cs typeface="Courier New" panose="02070309020205020404" pitchFamily="49" charset="0"/>
              </a:rPr>
              <a:t>continue</a:t>
            </a:r>
            <a:r>
              <a:rPr lang="en-IN" dirty="0"/>
              <a:t> is a Boolean expression</a:t>
            </a:r>
          </a:p>
          <a:p>
            <a:endParaRPr lang="en-IN" dirty="0"/>
          </a:p>
        </p:txBody>
      </p:sp>
    </p:spTree>
    <p:extLst>
      <p:ext uri="{BB962C8B-B14F-4D97-AF65-F5344CB8AC3E}">
        <p14:creationId xmlns:p14="http://schemas.microsoft.com/office/powerpoint/2010/main" val="35511628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Exploring the </a:t>
            </a:r>
            <a:r>
              <a:rPr lang="en-IN" sz="2600" dirty="0">
                <a:latin typeface="Courier New" panose="02070309020205020404" pitchFamily="49" charset="0"/>
                <a:cs typeface="Courier New" panose="02070309020205020404" pitchFamily="49" charset="0"/>
              </a:rPr>
              <a:t>do/while</a:t>
            </a:r>
            <a:r>
              <a:rPr lang="en-IN" sz="2600" dirty="0"/>
              <a:t> </a:t>
            </a:r>
            <a:r>
              <a:rPr lang="en-IN" dirty="0"/>
              <a:t>Loop</a:t>
            </a:r>
          </a:p>
        </p:txBody>
      </p:sp>
      <p:sp>
        <p:nvSpPr>
          <p:cNvPr id="3" name="Content Placeholder 2"/>
          <p:cNvSpPr>
            <a:spLocks noGrp="1"/>
          </p:cNvSpPr>
          <p:nvPr>
            <p:ph type="body" sz="quarter" idx="17"/>
          </p:nvPr>
        </p:nvSpPr>
        <p:spPr/>
        <p:txBody>
          <a:bodyPr>
            <a:normAutofit lnSpcReduction="10000"/>
          </a:bodyPr>
          <a:lstStyle/>
          <a:p>
            <a:pPr marL="342900" lvl="1" indent="-342900">
              <a:buFont typeface="Arial" charset="0"/>
              <a:buChar char="•"/>
            </a:pPr>
            <a:r>
              <a:rPr lang="en-IN" sz="2600" b="1" dirty="0">
                <a:latin typeface="Courier New" panose="02070309020205020404" pitchFamily="49" charset="0"/>
                <a:cs typeface="Courier New" panose="02070309020205020404" pitchFamily="49" charset="0"/>
              </a:rPr>
              <a:t>do/while</a:t>
            </a:r>
            <a:r>
              <a:rPr lang="en-IN" sz="3200" b="1" dirty="0">
                <a:latin typeface="Courier New" panose="02070309020205020404" pitchFamily="49" charset="0"/>
                <a:cs typeface="Courier New" panose="02070309020205020404" pitchFamily="49" charset="0"/>
              </a:rPr>
              <a:t> </a:t>
            </a:r>
            <a:r>
              <a:rPr lang="en-IN" sz="3200" dirty="0"/>
              <a:t>loop: Generally used when the program loop should run at least once before testing stopping condition</a:t>
            </a:r>
          </a:p>
          <a:p>
            <a:r>
              <a:rPr lang="en-IN" dirty="0"/>
              <a:t>Tests the condition to continue the loop right after the latest command block is run</a:t>
            </a:r>
          </a:p>
          <a:p>
            <a:r>
              <a:rPr lang="en-IN" dirty="0"/>
              <a:t>Structure of the </a:t>
            </a:r>
            <a:r>
              <a:rPr lang="en-IN" sz="2600" dirty="0">
                <a:latin typeface="Courier New" panose="02070309020205020404" pitchFamily="49" charset="0"/>
                <a:cs typeface="Courier New" panose="02070309020205020404" pitchFamily="49" charset="0"/>
              </a:rPr>
              <a:t>do/while</a:t>
            </a:r>
            <a:r>
              <a:rPr lang="en-IN" dirty="0"/>
              <a:t> loop</a:t>
            </a:r>
          </a:p>
          <a:p>
            <a:pPr marL="357188" lvl="1" indent="0">
              <a:buNone/>
            </a:pPr>
            <a:r>
              <a:rPr lang="en-IN" sz="2600" dirty="0">
                <a:latin typeface="Courier New" panose="02070309020205020404" pitchFamily="49" charset="0"/>
                <a:cs typeface="Courier New" panose="02070309020205020404" pitchFamily="49" charset="0"/>
              </a:rPr>
              <a:t>do {</a:t>
            </a:r>
          </a:p>
          <a:p>
            <a:pPr marL="357188" lvl="1" indent="0">
              <a:buNone/>
            </a:pPr>
            <a:r>
              <a:rPr lang="en-IN" sz="2600" i="1" dirty="0">
                <a:latin typeface="Courier New" panose="02070309020205020404" pitchFamily="49" charset="0"/>
                <a:cs typeface="Courier New" panose="02070309020205020404" pitchFamily="49" charset="0"/>
              </a:rPr>
              <a:t>commands</a:t>
            </a:r>
          </a:p>
          <a:p>
            <a:pPr marL="357188" lvl="1" indent="0">
              <a:buNone/>
            </a:pPr>
            <a:r>
              <a:rPr lang="en-IN" sz="2600" dirty="0">
                <a:latin typeface="Courier New" panose="02070309020205020404" pitchFamily="49" charset="0"/>
                <a:cs typeface="Courier New" panose="02070309020205020404" pitchFamily="49" charset="0"/>
              </a:rPr>
              <a:t>}</a:t>
            </a:r>
          </a:p>
          <a:p>
            <a:pPr marL="357188" lvl="1" indent="0">
              <a:buNone/>
            </a:pPr>
            <a:r>
              <a:rPr lang="en-IN" sz="2600" dirty="0">
                <a:latin typeface="Courier New" panose="02070309020205020404" pitchFamily="49" charset="0"/>
                <a:cs typeface="Courier New" panose="02070309020205020404" pitchFamily="49" charset="0"/>
              </a:rPr>
              <a:t>while (</a:t>
            </a:r>
            <a:r>
              <a:rPr lang="en-IN" sz="2600" i="1" dirty="0">
                <a:latin typeface="Courier New" panose="02070309020205020404" pitchFamily="49" charset="0"/>
                <a:cs typeface="Courier New" panose="02070309020205020404" pitchFamily="49" charset="0"/>
              </a:rPr>
              <a:t>continue</a:t>
            </a:r>
            <a:r>
              <a:rPr lang="en-IN" sz="2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8857657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Comparison and Logical Operators</a:t>
            </a:r>
          </a:p>
        </p:txBody>
      </p:sp>
      <p:sp>
        <p:nvSpPr>
          <p:cNvPr id="3" name="Content Placeholder 2"/>
          <p:cNvSpPr>
            <a:spLocks noGrp="1"/>
          </p:cNvSpPr>
          <p:nvPr>
            <p:ph type="body" sz="quarter" idx="17"/>
          </p:nvPr>
        </p:nvSpPr>
        <p:spPr/>
        <p:txBody>
          <a:bodyPr>
            <a:normAutofit lnSpcReduction="10000"/>
          </a:bodyPr>
          <a:lstStyle/>
          <a:p>
            <a:pPr marL="457200" indent="-457200">
              <a:buFont typeface="Arial" panose="020B0604020202020204" pitchFamily="34" charset="0"/>
              <a:buChar char="•"/>
            </a:pPr>
            <a:r>
              <a:rPr lang="en-IN" sz="3200" b="1" dirty="0"/>
              <a:t>Comparison operator</a:t>
            </a:r>
            <a:r>
              <a:rPr lang="en-IN" sz="3200" dirty="0"/>
              <a:t>: Compares the value of one expression to another returning a Boolean value indicating whether the comparison is true or false</a:t>
            </a:r>
          </a:p>
          <a:p>
            <a:pPr marL="457200" indent="-457200">
              <a:buFont typeface="Arial" panose="020B0604020202020204" pitchFamily="34" charset="0"/>
              <a:buChar char="•"/>
            </a:pPr>
            <a:r>
              <a:rPr lang="en-IN" dirty="0"/>
              <a:t>Double equal sign (</a:t>
            </a:r>
            <a:r>
              <a:rPr lang="en-IN" dirty="0">
                <a:latin typeface="Courier New" panose="02070309020205020404" pitchFamily="49" charset="0"/>
                <a:cs typeface="Courier New" panose="02070309020205020404" pitchFamily="49" charset="0"/>
              </a:rPr>
              <a:t>==</a:t>
            </a:r>
            <a:r>
              <a:rPr lang="en-IN" dirty="0"/>
              <a:t>) tests if two values are equal</a:t>
            </a:r>
          </a:p>
          <a:p>
            <a:pPr marL="457200" indent="-457200">
              <a:buFont typeface="Arial" panose="020B0604020202020204" pitchFamily="34" charset="0"/>
              <a:buChar char="•"/>
            </a:pPr>
            <a:r>
              <a:rPr lang="en-IN" dirty="0"/>
              <a:t>Triple equal sign tests for equality in data value and in data type</a:t>
            </a:r>
          </a:p>
          <a:p>
            <a:pPr marL="457200" indent="-457200">
              <a:buFont typeface="Arial" panose="020B0604020202020204" pitchFamily="34" charset="0"/>
              <a:buChar char="•"/>
            </a:pPr>
            <a:r>
              <a:rPr lang="en-IN" dirty="0"/>
              <a:t>Remember: single equal sign (</a:t>
            </a:r>
            <a:r>
              <a:rPr lang="en-IN" dirty="0">
                <a:latin typeface="Courier New" panose="02070309020205020404" pitchFamily="49" charset="0"/>
                <a:cs typeface="Courier New" panose="02070309020205020404" pitchFamily="49" charset="0"/>
              </a:rPr>
              <a:t>=</a:t>
            </a:r>
            <a:r>
              <a:rPr lang="en-IN" dirty="0"/>
              <a:t>) is an assignment operator</a:t>
            </a:r>
          </a:p>
          <a:p>
            <a:pPr marL="457200" indent="-457200">
              <a:buFont typeface="Arial" panose="020B0604020202020204" pitchFamily="34" charset="0"/>
              <a:buChar char="•"/>
            </a:pPr>
            <a:endParaRPr lang="en-IN" sz="3200" dirty="0"/>
          </a:p>
          <a:p>
            <a:endParaRPr lang="en-IN" dirty="0"/>
          </a:p>
        </p:txBody>
      </p:sp>
    </p:spTree>
    <p:extLst>
      <p:ext uri="{BB962C8B-B14F-4D97-AF65-F5344CB8AC3E}">
        <p14:creationId xmlns:p14="http://schemas.microsoft.com/office/powerpoint/2010/main" val="28773940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and Logical Operators</a:t>
            </a:r>
            <a:br>
              <a:rPr lang="en-US" dirty="0"/>
            </a:br>
            <a:r>
              <a:rPr lang="en-US" dirty="0"/>
              <a:t>(continued 1)</a:t>
            </a:r>
          </a:p>
        </p:txBody>
      </p:sp>
      <p:graphicFrame>
        <p:nvGraphicFramePr>
          <p:cNvPr id="8" name="Table Placeholder 7">
            <a:extLst>
              <a:ext uri="{FF2B5EF4-FFF2-40B4-BE49-F238E27FC236}">
                <a16:creationId xmlns:a16="http://schemas.microsoft.com/office/drawing/2014/main" id="{204B5A0B-FEF3-48EF-BF83-7FCD0A61CB99}"/>
              </a:ext>
            </a:extLst>
          </p:cNvPr>
          <p:cNvGraphicFramePr>
            <a:graphicFrameLocks noGrp="1"/>
          </p:cNvGraphicFramePr>
          <p:nvPr>
            <p:ph type="tbl" sz="quarter" idx="10"/>
            <p:extLst>
              <p:ext uri="{D42A27DB-BD31-4B8C-83A1-F6EECF244321}">
                <p14:modId xmlns:p14="http://schemas.microsoft.com/office/powerpoint/2010/main" val="156671030"/>
              </p:ext>
            </p:extLst>
          </p:nvPr>
        </p:nvGraphicFramePr>
        <p:xfrm>
          <a:off x="1300864" y="1426410"/>
          <a:ext cx="6542271" cy="4041532"/>
        </p:xfrm>
        <a:graphic>
          <a:graphicData uri="http://schemas.openxmlformats.org/drawingml/2006/table">
            <a:tbl>
              <a:tblPr firstRow="1"/>
              <a:tblGrid>
                <a:gridCol w="1370113">
                  <a:extLst>
                    <a:ext uri="{9D8B030D-6E8A-4147-A177-3AD203B41FA5}">
                      <a16:colId xmlns:a16="http://schemas.microsoft.com/office/drawing/2014/main" val="3384395318"/>
                    </a:ext>
                  </a:extLst>
                </a:gridCol>
                <a:gridCol w="1411853">
                  <a:extLst>
                    <a:ext uri="{9D8B030D-6E8A-4147-A177-3AD203B41FA5}">
                      <a16:colId xmlns:a16="http://schemas.microsoft.com/office/drawing/2014/main" val="3757693575"/>
                    </a:ext>
                  </a:extLst>
                </a:gridCol>
                <a:gridCol w="3760305">
                  <a:extLst>
                    <a:ext uri="{9D8B030D-6E8A-4147-A177-3AD203B41FA5}">
                      <a16:colId xmlns:a16="http://schemas.microsoft.com/office/drawing/2014/main" val="1961288464"/>
                    </a:ext>
                  </a:extLst>
                </a:gridCol>
              </a:tblGrid>
              <a:tr h="506985">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Operator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Example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3417104036"/>
                  </a:ext>
                </a:extLst>
              </a:tr>
              <a:tr h="395448">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x is equal in value to y</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920818769"/>
                  </a:ext>
                </a:extLst>
              </a:tr>
              <a:tr h="50698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x is equal in value to y and has the same data type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4221105646"/>
                  </a:ext>
                </a:extLst>
              </a:tr>
              <a:tr h="50698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x is not equal to y or has a different data type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2889836661"/>
                  </a:ext>
                </a:extLst>
              </a:tr>
              <a:tr h="50698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x is not equal to y and/or doesn’t have the same data type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3646137952"/>
                  </a:ext>
                </a:extLst>
              </a:tr>
              <a:tr h="395448">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&gt;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 &gt;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x is greater than y</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640194043"/>
                  </a:ext>
                </a:extLst>
              </a:tr>
              <a:tr h="395448">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&gt;=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 &gt;=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x is greater than or equal to y</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686517228"/>
                  </a:ext>
                </a:extLst>
              </a:tr>
              <a:tr h="395448">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&lt;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 &lt;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x is less than y</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835434088"/>
                  </a:ext>
                </a:extLst>
              </a:tr>
              <a:tr h="395448">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 &lt;=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x is less than or equal to y</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3639565580"/>
                  </a:ext>
                </a:extLst>
              </a:tr>
            </a:tbl>
          </a:graphicData>
        </a:graphic>
      </p:graphicFrame>
    </p:spTree>
    <p:extLst>
      <p:ext uri="{BB962C8B-B14F-4D97-AF65-F5344CB8AC3E}">
        <p14:creationId xmlns:p14="http://schemas.microsoft.com/office/powerpoint/2010/main" val="32395787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Comparison and Logical Operators (continued 2)</a:t>
            </a:r>
          </a:p>
        </p:txBody>
      </p:sp>
      <p:sp>
        <p:nvSpPr>
          <p:cNvPr id="3" name="Content Placeholder 2"/>
          <p:cNvSpPr>
            <a:spLocks noGrp="1"/>
          </p:cNvSpPr>
          <p:nvPr>
            <p:ph type="body" sz="quarter" idx="17"/>
          </p:nvPr>
        </p:nvSpPr>
        <p:spPr/>
        <p:txBody>
          <a:bodyPr/>
          <a:lstStyle/>
          <a:p>
            <a:r>
              <a:rPr lang="en-IN" b="1" dirty="0"/>
              <a:t>Logical operators</a:t>
            </a:r>
            <a:r>
              <a:rPr lang="en-IN" dirty="0"/>
              <a:t> allow several expressions to be connected</a:t>
            </a:r>
          </a:p>
          <a:p>
            <a:r>
              <a:rPr lang="en-IN" dirty="0"/>
              <a:t>Example: The logical operator </a:t>
            </a:r>
            <a:r>
              <a:rPr lang="en-IN" dirty="0">
                <a:latin typeface="Courier New" panose="02070309020205020404" pitchFamily="49" charset="0"/>
                <a:cs typeface="Courier New" panose="02070309020205020404" pitchFamily="49" charset="0"/>
              </a:rPr>
              <a:t>&amp;&amp;</a:t>
            </a:r>
            <a:r>
              <a:rPr lang="en-IN" dirty="0"/>
              <a:t> returns a value of true only if both of the expressions are true</a:t>
            </a:r>
          </a:p>
          <a:p>
            <a:endParaRPr lang="en-IN" dirty="0"/>
          </a:p>
          <a:p>
            <a:endParaRPr lang="en-IN" dirty="0"/>
          </a:p>
        </p:txBody>
      </p:sp>
    </p:spTree>
    <p:extLst>
      <p:ext uri="{BB962C8B-B14F-4D97-AF65-F5344CB8AC3E}">
        <p14:creationId xmlns:p14="http://schemas.microsoft.com/office/powerpoint/2010/main" val="2294915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Comparison and Logical Operators (continued 3)</a:t>
            </a:r>
            <a:endParaRPr 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331273369"/>
              </p:ext>
            </p:extLst>
          </p:nvPr>
        </p:nvGraphicFramePr>
        <p:xfrm>
          <a:off x="1328351" y="2158349"/>
          <a:ext cx="6487298" cy="2384108"/>
        </p:xfrm>
        <a:graphic>
          <a:graphicData uri="http://schemas.openxmlformats.org/drawingml/2006/table">
            <a:tbl>
              <a:tblPr firstRow="1"/>
              <a:tblGrid>
                <a:gridCol w="1198606">
                  <a:extLst>
                    <a:ext uri="{9D8B030D-6E8A-4147-A177-3AD203B41FA5}">
                      <a16:colId xmlns:a16="http://schemas.microsoft.com/office/drawing/2014/main" val="20000"/>
                    </a:ext>
                  </a:extLst>
                </a:gridCol>
                <a:gridCol w="1260389">
                  <a:extLst>
                    <a:ext uri="{9D8B030D-6E8A-4147-A177-3AD203B41FA5}">
                      <a16:colId xmlns:a16="http://schemas.microsoft.com/office/drawing/2014/main" val="20001"/>
                    </a:ext>
                  </a:extLst>
                </a:gridCol>
                <a:gridCol w="1753020">
                  <a:extLst>
                    <a:ext uri="{9D8B030D-6E8A-4147-A177-3AD203B41FA5}">
                      <a16:colId xmlns:a16="http://schemas.microsoft.com/office/drawing/2014/main" val="20002"/>
                    </a:ext>
                  </a:extLst>
                </a:gridCol>
                <a:gridCol w="2275283">
                  <a:extLst>
                    <a:ext uri="{9D8B030D-6E8A-4147-A177-3AD203B41FA5}">
                      <a16:colId xmlns:a16="http://schemas.microsoft.com/office/drawing/2014/main" val="20003"/>
                    </a:ext>
                  </a:extLst>
                </a:gridCol>
              </a:tblGrid>
              <a:tr h="596027">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Operator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Definition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Example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596027">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&amp;&amp;</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and</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 === 5) &amp;&amp; (y === 8)</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x is equal to 5 and y is equal to 8</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6027">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 === 5) || (y === 8)</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x is equal to 5 or y is equal to 8</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6027">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not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 &lt; 5)</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x is not less than 5</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446323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Program Loops and Arrays</a:t>
            </a:r>
          </a:p>
        </p:txBody>
      </p:sp>
      <p:sp>
        <p:nvSpPr>
          <p:cNvPr id="10" name="Content Placeholder 9"/>
          <p:cNvSpPr>
            <a:spLocks noGrp="1"/>
          </p:cNvSpPr>
          <p:nvPr>
            <p:ph type="body" sz="quarter" idx="17"/>
          </p:nvPr>
        </p:nvSpPr>
        <p:spPr/>
        <p:txBody>
          <a:bodyPr>
            <a:normAutofit lnSpcReduction="10000"/>
          </a:bodyPr>
          <a:lstStyle/>
          <a:p>
            <a:r>
              <a:rPr lang="en-IN" dirty="0"/>
              <a:t>Program loops: Cycle through different values contained within an array</a:t>
            </a:r>
          </a:p>
          <a:p>
            <a:r>
              <a:rPr lang="en-IN" dirty="0"/>
              <a:t>General structure to access each value from an array using a </a:t>
            </a:r>
            <a:r>
              <a:rPr lang="en-IN" sz="2600" dirty="0">
                <a:latin typeface="Courier New" panose="02070309020205020404" pitchFamily="49" charset="0"/>
                <a:cs typeface="Courier New" panose="02070309020205020404" pitchFamily="49" charset="0"/>
              </a:rPr>
              <a:t>for</a:t>
            </a:r>
            <a:r>
              <a:rPr lang="en-IN" dirty="0"/>
              <a:t> loop</a:t>
            </a:r>
          </a:p>
          <a:p>
            <a:pPr marL="357188" lvl="1" indent="0">
              <a:buNone/>
            </a:pPr>
            <a:r>
              <a:rPr lang="en-IN" sz="2600" dirty="0">
                <a:latin typeface="Courier New" panose="02070309020205020404" pitchFamily="49" charset="0"/>
                <a:cs typeface="Courier New" panose="02070309020205020404" pitchFamily="49" charset="0"/>
              </a:rPr>
              <a:t>for (var i = 0; i &lt; array.length; i++) {commands involving array[i]</a:t>
            </a:r>
          </a:p>
          <a:p>
            <a:pPr marL="357188" lvl="1" indent="0">
              <a:buNone/>
            </a:pPr>
            <a:r>
              <a:rPr lang="en-IN" sz="2600" dirty="0">
                <a:latin typeface="Courier New" panose="02070309020205020404" pitchFamily="49" charset="0"/>
                <a:cs typeface="Courier New" panose="02070309020205020404" pitchFamily="49" charset="0"/>
              </a:rPr>
              <a:t>}</a:t>
            </a:r>
          </a:p>
          <a:p>
            <a:pPr marL="357188" lvl="1" indent="0">
              <a:buNone/>
            </a:pPr>
            <a:r>
              <a:rPr lang="en-IN" sz="3200" dirty="0"/>
              <a:t>where </a:t>
            </a:r>
            <a:r>
              <a:rPr lang="en-IN" sz="2600" dirty="0">
                <a:latin typeface="Courier New" panose="02070309020205020404" pitchFamily="49" charset="0"/>
                <a:cs typeface="Courier New" panose="02070309020205020404" pitchFamily="49" charset="0"/>
              </a:rPr>
              <a:t>array</a:t>
            </a:r>
            <a:r>
              <a:rPr lang="en-IN" dirty="0"/>
              <a:t>  </a:t>
            </a:r>
            <a:r>
              <a:rPr lang="en-IN" sz="3200" dirty="0"/>
              <a:t>contains the values to be looped through and </a:t>
            </a:r>
            <a:r>
              <a:rPr lang="en-IN" sz="2600" dirty="0">
                <a:latin typeface="Courier New" panose="02070309020205020404" pitchFamily="49" charset="0"/>
                <a:cs typeface="Courier New" panose="02070309020205020404" pitchFamily="49" charset="0"/>
              </a:rPr>
              <a:t>i</a:t>
            </a:r>
            <a:r>
              <a:rPr lang="en-IN" dirty="0"/>
              <a:t> </a:t>
            </a:r>
            <a:r>
              <a:rPr lang="en-IN" sz="3200" dirty="0"/>
              <a:t>is the counter variable used in the loop</a:t>
            </a:r>
            <a:endParaRPr lang="en-IN" sz="8800" dirty="0">
              <a:ea typeface="+mn-ea"/>
              <a:cs typeface="+mn-cs"/>
            </a:endParaRPr>
          </a:p>
        </p:txBody>
      </p:sp>
    </p:spTree>
    <p:extLst>
      <p:ext uri="{BB962C8B-B14F-4D97-AF65-F5344CB8AC3E}">
        <p14:creationId xmlns:p14="http://schemas.microsoft.com/office/powerpoint/2010/main" val="27412850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Array Methods to Loop Through Arrays</a:t>
            </a:r>
          </a:p>
        </p:txBody>
      </p:sp>
      <p:sp>
        <p:nvSpPr>
          <p:cNvPr id="5" name="Content Placeholder 4"/>
          <p:cNvSpPr>
            <a:spLocks noGrp="1"/>
          </p:cNvSpPr>
          <p:nvPr>
            <p:ph type="body" sz="quarter" idx="17"/>
          </p:nvPr>
        </p:nvSpPr>
        <p:spPr/>
        <p:txBody>
          <a:bodyPr>
            <a:normAutofit lnSpcReduction="10000"/>
          </a:bodyPr>
          <a:lstStyle/>
          <a:p>
            <a:r>
              <a:rPr lang="en-IN" dirty="0"/>
              <a:t>JavaScript supports several methods to loop through the contents of an array without having to create a program loop structure</a:t>
            </a:r>
          </a:p>
          <a:p>
            <a:r>
              <a:rPr lang="en-IN" dirty="0"/>
              <a:t>The methods are faster than program loops but may not be supported in older browsers</a:t>
            </a:r>
          </a:p>
          <a:p>
            <a:r>
              <a:rPr lang="en-IN" dirty="0"/>
              <a:t>Each of these methods is based on calling a function that will be applied to each item in the array</a:t>
            </a:r>
          </a:p>
        </p:txBody>
      </p:sp>
    </p:spTree>
    <p:extLst>
      <p:ext uri="{BB962C8B-B14F-4D97-AF65-F5344CB8AC3E}">
        <p14:creationId xmlns:p14="http://schemas.microsoft.com/office/powerpoint/2010/main" val="3989795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Array Methods to Loop Through Arrays (continued 1)</a:t>
            </a:r>
          </a:p>
        </p:txBody>
      </p:sp>
      <p:sp>
        <p:nvSpPr>
          <p:cNvPr id="5" name="Content Placeholder 4"/>
          <p:cNvSpPr>
            <a:spLocks noGrp="1"/>
          </p:cNvSpPr>
          <p:nvPr>
            <p:ph type="body" sz="quarter" idx="17"/>
          </p:nvPr>
        </p:nvSpPr>
        <p:spPr/>
        <p:txBody>
          <a:bodyPr/>
          <a:lstStyle/>
          <a:p>
            <a:r>
              <a:rPr lang="en-IN" dirty="0"/>
              <a:t>The general syntax</a:t>
            </a:r>
          </a:p>
          <a:p>
            <a:pPr marL="357188" lvl="1" indent="0">
              <a:buNone/>
            </a:pPr>
            <a:r>
              <a:rPr lang="en-IN" sz="2600" dirty="0">
                <a:latin typeface="Courier New" panose="02070309020205020404" pitchFamily="49" charset="0"/>
                <a:cs typeface="Courier New" panose="02070309020205020404" pitchFamily="49" charset="0"/>
              </a:rPr>
              <a:t>array.method(callback [, thisArg])</a:t>
            </a:r>
          </a:p>
          <a:p>
            <a:pPr marL="363538" lvl="1" indent="0">
              <a:buNone/>
            </a:pPr>
            <a:r>
              <a:rPr lang="en-IN" sz="3200" dirty="0"/>
              <a:t>where </a:t>
            </a:r>
            <a:r>
              <a:rPr lang="en-IN" sz="2600" dirty="0">
                <a:latin typeface="Courier New" panose="02070309020205020404" pitchFamily="49" charset="0"/>
                <a:cs typeface="Courier New" panose="02070309020205020404" pitchFamily="49" charset="0"/>
              </a:rPr>
              <a:t>array</a:t>
            </a:r>
            <a:r>
              <a:rPr lang="en-IN" sz="3200" dirty="0"/>
              <a:t> is the array, </a:t>
            </a:r>
            <a:r>
              <a:rPr lang="en-IN" sz="2600" dirty="0">
                <a:latin typeface="Courier New" panose="02070309020205020404" pitchFamily="49" charset="0"/>
                <a:cs typeface="Courier New" panose="02070309020205020404" pitchFamily="49" charset="0"/>
              </a:rPr>
              <a:t>method</a:t>
            </a:r>
            <a:r>
              <a:rPr lang="en-IN" sz="3200" dirty="0"/>
              <a:t> is the array method, and </a:t>
            </a:r>
            <a:r>
              <a:rPr lang="en-IN" sz="2600" dirty="0">
                <a:latin typeface="Courier New" panose="02070309020205020404" pitchFamily="49" charset="0"/>
                <a:cs typeface="Courier New" panose="02070309020205020404" pitchFamily="49" charset="0"/>
              </a:rPr>
              <a:t>callback</a:t>
            </a:r>
            <a:r>
              <a:rPr lang="en-IN" sz="3200" dirty="0"/>
              <a:t> is the name of the function that will be applied to each array item</a:t>
            </a:r>
          </a:p>
          <a:p>
            <a:r>
              <a:rPr lang="en-IN" sz="2600" dirty="0">
                <a:latin typeface="Courier New" panose="02070309020205020404" pitchFamily="49" charset="0"/>
                <a:cs typeface="Courier New" panose="02070309020205020404" pitchFamily="49" charset="0"/>
              </a:rPr>
              <a:t>thisArg</a:t>
            </a:r>
            <a:r>
              <a:rPr lang="en-IN" dirty="0">
                <a:latin typeface="Courier New" panose="02070309020205020404" pitchFamily="49" charset="0"/>
                <a:cs typeface="Courier New" panose="02070309020205020404" pitchFamily="49" charset="0"/>
              </a:rPr>
              <a:t>:</a:t>
            </a:r>
            <a:r>
              <a:rPr lang="en-IN" dirty="0"/>
              <a:t> A </a:t>
            </a:r>
            <a:r>
              <a:rPr lang="en-IN" sz="2600" dirty="0">
                <a:latin typeface="Courier New" panose="02070309020205020404" pitchFamily="49" charset="0"/>
                <a:cs typeface="Courier New" panose="02070309020205020404" pitchFamily="49" charset="0"/>
              </a:rPr>
              <a:t>callback</a:t>
            </a:r>
            <a:r>
              <a:rPr lang="en-IN" dirty="0"/>
              <a:t> optional argument that can be included to pass a value to the function</a:t>
            </a:r>
            <a:endParaRPr lang="en-IN" sz="8800" dirty="0">
              <a:ea typeface="+mn-ea"/>
              <a:cs typeface="+mn-cs"/>
            </a:endParaRPr>
          </a:p>
        </p:txBody>
      </p:sp>
    </p:spTree>
    <p:extLst>
      <p:ext uri="{BB962C8B-B14F-4D97-AF65-F5344CB8AC3E}">
        <p14:creationId xmlns:p14="http://schemas.microsoft.com/office/powerpoint/2010/main" val="41898026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Array Methods to Loop Through Arrays (continued 2)</a:t>
            </a:r>
          </a:p>
        </p:txBody>
      </p:sp>
      <p:sp>
        <p:nvSpPr>
          <p:cNvPr id="5" name="Content Placeholder 4"/>
          <p:cNvSpPr>
            <a:spLocks noGrp="1"/>
          </p:cNvSpPr>
          <p:nvPr>
            <p:ph type="body" sz="quarter" idx="17"/>
          </p:nvPr>
        </p:nvSpPr>
        <p:spPr/>
        <p:txBody>
          <a:bodyPr>
            <a:normAutofit lnSpcReduction="10000"/>
          </a:bodyPr>
          <a:lstStyle/>
          <a:p>
            <a:r>
              <a:rPr lang="en-IN" dirty="0"/>
              <a:t>General syntax of the callback function</a:t>
            </a:r>
          </a:p>
          <a:p>
            <a:pPr marL="357188" lvl="1" indent="0">
              <a:buNone/>
            </a:pPr>
            <a:r>
              <a:rPr lang="en-IN" sz="2600" dirty="0">
                <a:latin typeface="Courier New" panose="02070309020205020404" pitchFamily="49" charset="0"/>
                <a:cs typeface="Courier New" panose="02070309020205020404" pitchFamily="49" charset="0"/>
              </a:rPr>
              <a:t>function callback(value [, index, array]) {</a:t>
            </a:r>
          </a:p>
          <a:p>
            <a:pPr marL="357188" lvl="1" indent="0">
              <a:buNone/>
            </a:pPr>
            <a:r>
              <a:rPr lang="en-IN" sz="2600" dirty="0">
                <a:latin typeface="Courier New" panose="02070309020205020404" pitchFamily="49" charset="0"/>
                <a:cs typeface="Courier New" panose="02070309020205020404" pitchFamily="49" charset="0"/>
              </a:rPr>
              <a:t>commands }</a:t>
            </a:r>
          </a:p>
          <a:p>
            <a:pPr marL="363538" lvl="1" indent="0">
              <a:buNone/>
            </a:pPr>
            <a:r>
              <a:rPr lang="en-IN" sz="3200" dirty="0"/>
              <a:t>where </a:t>
            </a:r>
            <a:r>
              <a:rPr lang="en-IN" sz="2600" dirty="0">
                <a:latin typeface="Courier New" panose="02070309020205020404" pitchFamily="49" charset="0"/>
                <a:cs typeface="Courier New" panose="02070309020205020404" pitchFamily="49" charset="0"/>
              </a:rPr>
              <a:t>value</a:t>
            </a:r>
            <a:r>
              <a:rPr lang="en-IN" sz="3200" dirty="0"/>
              <a:t> is the value of the array item during each pass through the array, </a:t>
            </a:r>
            <a:r>
              <a:rPr lang="en-IN" sz="2600" dirty="0">
                <a:latin typeface="Courier New" panose="02070309020205020404" pitchFamily="49" charset="0"/>
                <a:cs typeface="Courier New" panose="02070309020205020404" pitchFamily="49" charset="0"/>
              </a:rPr>
              <a:t>index</a:t>
            </a:r>
            <a:r>
              <a:rPr lang="en-IN" sz="3200" dirty="0"/>
              <a:t> is the numeric index of the current array item, and </a:t>
            </a:r>
            <a:r>
              <a:rPr lang="en-IN" sz="2600" dirty="0">
                <a:latin typeface="Courier New" panose="02070309020205020404" pitchFamily="49" charset="0"/>
                <a:cs typeface="Courier New" panose="02070309020205020404" pitchFamily="49" charset="0"/>
              </a:rPr>
              <a:t>array</a:t>
            </a:r>
            <a:r>
              <a:rPr lang="en-IN" sz="3200" dirty="0"/>
              <a:t> is the name of the array</a:t>
            </a:r>
          </a:p>
          <a:p>
            <a:pPr marL="420688" indent="-457200"/>
            <a:r>
              <a:rPr lang="en-US" dirty="0">
                <a:ea typeface="+mn-ea"/>
                <a:cs typeface="+mn-cs"/>
              </a:rPr>
              <a:t>Only the </a:t>
            </a:r>
            <a:r>
              <a:rPr lang="en-US" sz="2600" dirty="0">
                <a:latin typeface="Courier New" panose="02070309020205020404" pitchFamily="49" charset="0"/>
                <a:cs typeface="Courier New" panose="02070309020205020404" pitchFamily="49" charset="0"/>
              </a:rPr>
              <a:t>value</a:t>
            </a:r>
            <a:r>
              <a:rPr lang="en-US" dirty="0">
                <a:ea typeface="+mn-ea"/>
                <a:cs typeface="+mn-cs"/>
              </a:rPr>
              <a:t> parameter is required; the other are optional</a:t>
            </a:r>
            <a:endParaRPr lang="en-IN" dirty="0">
              <a:ea typeface="+mn-ea"/>
              <a:cs typeface="+mn-cs"/>
            </a:endParaRPr>
          </a:p>
        </p:txBody>
      </p:sp>
    </p:spTree>
    <p:extLst>
      <p:ext uri="{BB962C8B-B14F-4D97-AF65-F5344CB8AC3E}">
        <p14:creationId xmlns:p14="http://schemas.microsoft.com/office/powerpoint/2010/main" val="765712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Running a Function for Each Array Item</a:t>
            </a:r>
          </a:p>
        </p:txBody>
      </p:sp>
      <p:sp>
        <p:nvSpPr>
          <p:cNvPr id="5" name="Content Placeholder 4"/>
          <p:cNvSpPr>
            <a:spLocks noGrp="1"/>
          </p:cNvSpPr>
          <p:nvPr>
            <p:ph type="body" sz="quarter" idx="17"/>
          </p:nvPr>
        </p:nvSpPr>
        <p:spPr/>
        <p:txBody>
          <a:bodyPr/>
          <a:lstStyle/>
          <a:p>
            <a:r>
              <a:rPr lang="en-IN" sz="2600" dirty="0">
                <a:latin typeface="Courier New" panose="02070309020205020404" pitchFamily="49" charset="0"/>
                <a:cs typeface="Courier New" panose="02070309020205020404" pitchFamily="49" charset="0"/>
              </a:rPr>
              <a:t>forEach()</a:t>
            </a:r>
            <a:r>
              <a:rPr lang="en-IN" dirty="0"/>
              <a:t> method: Runs a function for each item in the array</a:t>
            </a:r>
          </a:p>
          <a:p>
            <a:r>
              <a:rPr lang="en-IN" dirty="0"/>
              <a:t>General syntax</a:t>
            </a:r>
            <a:endParaRPr lang="en-IN" dirty="0">
              <a:solidFill>
                <a:srgbClr val="FF0000"/>
              </a:solidFill>
            </a:endParaRPr>
          </a:p>
          <a:p>
            <a:pPr marL="357188" lvl="1" indent="0">
              <a:buNone/>
            </a:pPr>
            <a:r>
              <a:rPr lang="en-IN" sz="2600" dirty="0">
                <a:latin typeface="Courier New" panose="02070309020205020404" pitchFamily="49" charset="0"/>
                <a:cs typeface="Courier New" panose="02070309020205020404" pitchFamily="49" charset="0"/>
              </a:rPr>
              <a:t>array.forEach(callback [, thisArg])</a:t>
            </a:r>
          </a:p>
          <a:p>
            <a:pPr marL="357188" lvl="1" indent="0">
              <a:buNone/>
            </a:pPr>
            <a:r>
              <a:rPr lang="en-IN" sz="3200" dirty="0"/>
              <a:t>where </a:t>
            </a:r>
            <a:r>
              <a:rPr lang="en-IN" sz="2600" dirty="0">
                <a:latin typeface="Courier New" panose="02070309020205020404" pitchFamily="49" charset="0"/>
                <a:cs typeface="Courier New" panose="02070309020205020404" pitchFamily="49" charset="0"/>
              </a:rPr>
              <a:t>callback</a:t>
            </a:r>
            <a:r>
              <a:rPr lang="en-IN" sz="3200" dirty="0"/>
              <a:t> is the function that is applied to each item in the array</a:t>
            </a:r>
          </a:p>
          <a:p>
            <a:endParaRPr lang="en-IN" dirty="0"/>
          </a:p>
          <a:p>
            <a:endParaRPr lang="en-IN" dirty="0">
              <a:ea typeface="+mn-ea"/>
              <a:cs typeface="+mn-cs"/>
            </a:endParaRPr>
          </a:p>
        </p:txBody>
      </p:sp>
    </p:spTree>
    <p:extLst>
      <p:ext uri="{BB962C8B-B14F-4D97-AF65-F5344CB8AC3E}">
        <p14:creationId xmlns:p14="http://schemas.microsoft.com/office/powerpoint/2010/main" val="22169528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Mapping an Array</a:t>
            </a:r>
            <a:endParaRPr lang="en-IN" sz="4000" dirty="0"/>
          </a:p>
        </p:txBody>
      </p:sp>
      <p:sp>
        <p:nvSpPr>
          <p:cNvPr id="5" name="Content Placeholder 4"/>
          <p:cNvSpPr>
            <a:spLocks noGrp="1"/>
          </p:cNvSpPr>
          <p:nvPr>
            <p:ph type="body" sz="quarter" idx="17"/>
          </p:nvPr>
        </p:nvSpPr>
        <p:spPr/>
        <p:txBody>
          <a:bodyPr/>
          <a:lstStyle/>
          <a:p>
            <a:r>
              <a:rPr lang="en-IN" sz="2600" dirty="0">
                <a:latin typeface="Courier New" panose="02070309020205020404" pitchFamily="49" charset="0"/>
                <a:cs typeface="Courier New" panose="02070309020205020404" pitchFamily="49" charset="0"/>
              </a:rPr>
              <a:t>map()</a:t>
            </a:r>
            <a:r>
              <a:rPr lang="en-IN" dirty="0"/>
              <a:t> method: The function it calls returns a value that can be used to map the contents of an existing array into a new array</a:t>
            </a:r>
          </a:p>
          <a:p>
            <a:r>
              <a:rPr lang="en-IN" dirty="0"/>
              <a:t>Example</a:t>
            </a:r>
          </a:p>
          <a:p>
            <a:pPr marL="357188" lvl="1" indent="0">
              <a:buNone/>
            </a:pPr>
            <a:r>
              <a:rPr lang="en-IN" sz="2600" dirty="0">
                <a:latin typeface="Courier New" panose="02070309020205020404" pitchFamily="49" charset="0"/>
                <a:cs typeface="Courier New" panose="02070309020205020404" pitchFamily="49" charset="0"/>
              </a:rPr>
              <a:t>var x = [3, 8, 12];</a:t>
            </a:r>
          </a:p>
          <a:p>
            <a:pPr marL="357188" lvl="1" indent="0">
              <a:buNone/>
            </a:pPr>
            <a:r>
              <a:rPr lang="en-IN" sz="2600" dirty="0">
                <a:latin typeface="Courier New" panose="02070309020205020404" pitchFamily="49" charset="0"/>
                <a:cs typeface="Courier New" panose="02070309020205020404" pitchFamily="49" charset="0"/>
              </a:rPr>
              <a:t>var y = x.map(DoubleIt);</a:t>
            </a:r>
          </a:p>
          <a:p>
            <a:pPr marL="357188" lvl="1" indent="0">
              <a:buNone/>
            </a:pPr>
            <a:r>
              <a:rPr lang="en-IN" sz="2600" dirty="0">
                <a:latin typeface="Courier New" panose="02070309020205020404" pitchFamily="49" charset="0"/>
                <a:cs typeface="Courier New" panose="02070309020205020404" pitchFamily="49" charset="0"/>
              </a:rPr>
              <a:t>function DoubleIt(value) {</a:t>
            </a:r>
          </a:p>
          <a:p>
            <a:pPr marL="357188" lvl="1" indent="0">
              <a:buNone/>
            </a:pPr>
            <a:r>
              <a:rPr lang="en-IN" sz="2600" dirty="0">
                <a:latin typeface="Courier New" panose="02070309020205020404" pitchFamily="49" charset="0"/>
                <a:cs typeface="Courier New" panose="02070309020205020404" pitchFamily="49" charset="0"/>
              </a:rPr>
              <a:t>return 2*value;</a:t>
            </a:r>
          </a:p>
          <a:p>
            <a:pPr marL="357188" lvl="1" indent="0">
              <a:buNone/>
            </a:pPr>
            <a:r>
              <a:rPr lang="en-IN" sz="2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1461389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Filtering an Array</a:t>
            </a:r>
            <a:endParaRPr lang="en-IN" sz="4000" dirty="0"/>
          </a:p>
        </p:txBody>
      </p:sp>
      <p:sp>
        <p:nvSpPr>
          <p:cNvPr id="5" name="Content Placeholder 4"/>
          <p:cNvSpPr>
            <a:spLocks noGrp="1"/>
          </p:cNvSpPr>
          <p:nvPr>
            <p:ph type="body" sz="quarter" idx="17"/>
          </p:nvPr>
        </p:nvSpPr>
        <p:spPr/>
        <p:txBody>
          <a:bodyPr/>
          <a:lstStyle/>
          <a:p>
            <a:r>
              <a:rPr lang="en-IN" sz="2600" dirty="0">
                <a:latin typeface="Courier New" panose="02070309020205020404" pitchFamily="49" charset="0"/>
                <a:cs typeface="Courier New" panose="02070309020205020404" pitchFamily="49" charset="0"/>
              </a:rPr>
              <a:t>filter() </a:t>
            </a:r>
            <a:r>
              <a:rPr lang="en-IN" dirty="0"/>
              <a:t>method: Extracts array items that match some specified condition</a:t>
            </a:r>
          </a:p>
          <a:p>
            <a:pPr marL="363538" lvl="1" indent="0">
              <a:buNone/>
            </a:pPr>
            <a:r>
              <a:rPr lang="en-IN" sz="2600" dirty="0">
                <a:latin typeface="Courier New" panose="02070309020205020404" pitchFamily="49" charset="0"/>
                <a:cs typeface="Courier New" panose="02070309020205020404" pitchFamily="49" charset="0"/>
              </a:rPr>
              <a:t>array.filter(callback [, thisArg])</a:t>
            </a:r>
          </a:p>
          <a:p>
            <a:pPr marL="363538" lvl="1" indent="0">
              <a:buNone/>
            </a:pPr>
            <a:r>
              <a:rPr lang="en-IN" dirty="0"/>
              <a:t>where </a:t>
            </a:r>
            <a:r>
              <a:rPr lang="en-IN" sz="2600" dirty="0">
                <a:latin typeface="Courier New" panose="02070309020205020404" pitchFamily="49" charset="0"/>
                <a:cs typeface="Courier New" panose="02070309020205020404" pitchFamily="49" charset="0"/>
              </a:rPr>
              <a:t>callback</a:t>
            </a:r>
            <a:r>
              <a:rPr lang="en-IN" dirty="0"/>
              <a:t> is a function that returns a Boolean value of </a:t>
            </a:r>
            <a:r>
              <a:rPr lang="en-IN" sz="2600" dirty="0">
                <a:latin typeface="Courier New" panose="02070309020205020404" pitchFamily="49" charset="0"/>
                <a:cs typeface="Courier New" panose="02070309020205020404" pitchFamily="49" charset="0"/>
              </a:rPr>
              <a:t>true</a:t>
            </a:r>
            <a:r>
              <a:rPr lang="en-IN" dirty="0"/>
              <a:t> or </a:t>
            </a:r>
            <a:r>
              <a:rPr lang="en-IN" sz="2600" dirty="0">
                <a:latin typeface="Courier New" panose="02070309020205020404" pitchFamily="49" charset="0"/>
                <a:cs typeface="Courier New" panose="02070309020205020404" pitchFamily="49" charset="0"/>
              </a:rPr>
              <a:t>false</a:t>
            </a:r>
            <a:r>
              <a:rPr lang="en-IN" dirty="0"/>
              <a:t> for each item in the array</a:t>
            </a:r>
          </a:p>
          <a:p>
            <a:r>
              <a:rPr lang="en-IN" dirty="0"/>
              <a:t>Array items that return a value of </a:t>
            </a:r>
            <a:r>
              <a:rPr lang="en-IN" sz="2600" dirty="0">
                <a:latin typeface="Courier New" panose="02070309020205020404" pitchFamily="49" charset="0"/>
                <a:cs typeface="Courier New" panose="02070309020205020404" pitchFamily="49" charset="0"/>
              </a:rPr>
              <a:t>true</a:t>
            </a:r>
            <a:r>
              <a:rPr lang="en-IN" dirty="0"/>
              <a:t> are copied into the new array</a:t>
            </a:r>
          </a:p>
        </p:txBody>
      </p:sp>
    </p:spTree>
    <p:extLst>
      <p:ext uri="{BB962C8B-B14F-4D97-AF65-F5344CB8AC3E}">
        <p14:creationId xmlns:p14="http://schemas.microsoft.com/office/powerpoint/2010/main" val="29336034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Filtering an Array (continued 1)</a:t>
            </a:r>
            <a:endParaRPr lang="en-IN" sz="4000" dirty="0"/>
          </a:p>
        </p:txBody>
      </p:sp>
      <p:sp>
        <p:nvSpPr>
          <p:cNvPr id="5" name="Content Placeholder 4"/>
          <p:cNvSpPr>
            <a:spLocks noGrp="1"/>
          </p:cNvSpPr>
          <p:nvPr>
            <p:ph type="body" sz="quarter" idx="17"/>
          </p:nvPr>
        </p:nvSpPr>
        <p:spPr/>
        <p:txBody>
          <a:bodyPr>
            <a:normAutofit lnSpcReduction="10000"/>
          </a:bodyPr>
          <a:lstStyle/>
          <a:p>
            <a:r>
              <a:rPr lang="en-IN" sz="2600" dirty="0">
                <a:latin typeface="Courier New" panose="02070309020205020404" pitchFamily="49" charset="0"/>
                <a:cs typeface="Courier New" panose="02070309020205020404" pitchFamily="49" charset="0"/>
              </a:rPr>
              <a:t>every()</a:t>
            </a:r>
            <a:r>
              <a:rPr lang="en-IN" dirty="0"/>
              <a:t> method: Returns the value </a:t>
            </a:r>
            <a:r>
              <a:rPr lang="en-IN" sz="2600" dirty="0">
                <a:latin typeface="Courier New" panose="02070309020205020404" pitchFamily="49" charset="0"/>
                <a:cs typeface="Courier New" panose="02070309020205020404" pitchFamily="49" charset="0"/>
              </a:rPr>
              <a:t>true</a:t>
            </a:r>
            <a:r>
              <a:rPr lang="en-IN" dirty="0"/>
              <a:t> if every item in the array matches the condition specified by the callback function; if otherwise, returns </a:t>
            </a:r>
            <a:r>
              <a:rPr lang="en-IN" sz="2600" dirty="0">
                <a:latin typeface="Courier New" panose="02070309020205020404" pitchFamily="49" charset="0"/>
                <a:cs typeface="Courier New" panose="02070309020205020404" pitchFamily="49" charset="0"/>
              </a:rPr>
              <a:t>false</a:t>
            </a:r>
          </a:p>
          <a:p>
            <a:pPr marL="357188" lvl="1" indent="0">
              <a:buNone/>
            </a:pPr>
            <a:r>
              <a:rPr lang="en-IN" sz="2600" dirty="0">
                <a:latin typeface="Courier New" panose="02070309020205020404" pitchFamily="49" charset="0"/>
                <a:cs typeface="Courier New" panose="02070309020205020404" pitchFamily="49" charset="0"/>
              </a:rPr>
              <a:t>array.every(callback [, thisArg])</a:t>
            </a:r>
          </a:p>
          <a:p>
            <a:r>
              <a:rPr lang="en-IN" sz="2600" dirty="0">
                <a:latin typeface="Courier New" panose="02070309020205020404" pitchFamily="49" charset="0"/>
                <a:cs typeface="Courier New" panose="02070309020205020404" pitchFamily="49" charset="0"/>
              </a:rPr>
              <a:t>some()</a:t>
            </a:r>
            <a:r>
              <a:rPr lang="en-IN" dirty="0"/>
              <a:t> method: Returns a value of </a:t>
            </a:r>
            <a:r>
              <a:rPr lang="en-IN" sz="2600" dirty="0">
                <a:latin typeface="Courier New" panose="02070309020205020404" pitchFamily="49" charset="0"/>
                <a:cs typeface="Courier New" panose="02070309020205020404" pitchFamily="49" charset="0"/>
              </a:rPr>
              <a:t>true</a:t>
            </a:r>
            <a:r>
              <a:rPr lang="en-IN" dirty="0"/>
              <a:t> if some array items match a condition specified in the function, but otherwise returns </a:t>
            </a:r>
            <a:r>
              <a:rPr lang="en-IN" sz="2600" dirty="0">
                <a:latin typeface="Courier New" panose="02070309020205020404" pitchFamily="49" charset="0"/>
                <a:cs typeface="Courier New" panose="02070309020205020404" pitchFamily="49" charset="0"/>
              </a:rPr>
              <a:t>false</a:t>
            </a:r>
            <a:r>
              <a:rPr lang="en-IN" dirty="0"/>
              <a:t> if none of the array items match the condition specified in the function</a:t>
            </a:r>
          </a:p>
        </p:txBody>
      </p:sp>
    </p:spTree>
    <p:extLst>
      <p:ext uri="{BB962C8B-B14F-4D97-AF65-F5344CB8AC3E}">
        <p14:creationId xmlns:p14="http://schemas.microsoft.com/office/powerpoint/2010/main" val="36181402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Filtering an Array (continued 2)</a:t>
            </a:r>
          </a:p>
        </p:txBody>
      </p:sp>
      <p:graphicFrame>
        <p:nvGraphicFramePr>
          <p:cNvPr id="5" name="Table Placeholder 4">
            <a:extLst>
              <a:ext uri="{FF2B5EF4-FFF2-40B4-BE49-F238E27FC236}">
                <a16:creationId xmlns:a16="http://schemas.microsoft.com/office/drawing/2014/main" id="{AB21F287-D5CD-4089-9BA6-E5F0136BA54C}"/>
              </a:ext>
            </a:extLst>
          </p:cNvPr>
          <p:cNvGraphicFramePr>
            <a:graphicFrameLocks noGrp="1"/>
          </p:cNvGraphicFramePr>
          <p:nvPr>
            <p:ph type="tbl" sz="quarter" idx="10"/>
            <p:extLst>
              <p:ext uri="{D42A27DB-BD31-4B8C-83A1-F6EECF244321}">
                <p14:modId xmlns:p14="http://schemas.microsoft.com/office/powerpoint/2010/main" val="3144807630"/>
              </p:ext>
            </p:extLst>
          </p:nvPr>
        </p:nvGraphicFramePr>
        <p:xfrm>
          <a:off x="1524640" y="1547529"/>
          <a:ext cx="6094719" cy="4405118"/>
        </p:xfrm>
        <a:graphic>
          <a:graphicData uri="http://schemas.openxmlformats.org/drawingml/2006/table">
            <a:tbl>
              <a:tblPr firstRow="1"/>
              <a:tblGrid>
                <a:gridCol w="2511817">
                  <a:extLst>
                    <a:ext uri="{9D8B030D-6E8A-4147-A177-3AD203B41FA5}">
                      <a16:colId xmlns:a16="http://schemas.microsoft.com/office/drawing/2014/main" val="1473450952"/>
                    </a:ext>
                  </a:extLst>
                </a:gridCol>
                <a:gridCol w="3582902">
                  <a:extLst>
                    <a:ext uri="{9D8B030D-6E8A-4147-A177-3AD203B41FA5}">
                      <a16:colId xmlns:a16="http://schemas.microsoft.com/office/drawing/2014/main" val="1222370842"/>
                    </a:ext>
                  </a:extLst>
                </a:gridCol>
              </a:tblGrid>
              <a:tr h="0">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Array Method</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5820" marR="55820" marT="153794" marB="30759"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5820" marT="153794" marB="30759"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2218110397"/>
                  </a:ext>
                </a:extLst>
              </a:tr>
              <a:tr h="673728">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every(</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thisArg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582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the condition returned by the </a:t>
                      </a:r>
                      <a:r>
                        <a:rPr lang="en-US" sz="1600" i="1" spc="-5"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function holds for all items in </a:t>
                      </a:r>
                      <a:r>
                        <a:rPr lang="en-US" sz="1600" i="1" spc="-5"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array</a:t>
                      </a: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all array methods, the optional </a:t>
                      </a:r>
                      <a:r>
                        <a:rPr lang="en-US" sz="1600" i="1" spc="-5"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thisArg</a:t>
                      </a: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parameter is used to pass values to the </a:t>
                      </a:r>
                      <a:r>
                        <a:rPr lang="en-US" sz="1600" i="1" spc="-5"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function</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4081027525"/>
                  </a:ext>
                </a:extLst>
              </a:tr>
              <a:tr h="522778">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filter(c</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allback</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thisArg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582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Creates a new array populated with the elements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array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that return a value of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true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from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function</a:t>
                      </a:r>
                    </a:p>
                  </a:txBody>
                  <a:tcPr marL="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165880580"/>
                  </a:ext>
                </a:extLst>
              </a:tr>
              <a:tr h="225514">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forEach(</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thisArg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582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Applies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function to each item in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array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490010962"/>
                  </a:ext>
                </a:extLst>
              </a:tr>
              <a:tr h="523712">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map(</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thisArg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582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spc="-2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Creates a new array by passing the original array items to the </a:t>
                      </a:r>
                      <a:r>
                        <a:rPr lang="en-US" sz="1600" i="1" spc="-15"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spc="-2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function, which returns the mapped value of the array items</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3836230825"/>
                  </a:ext>
                </a:extLst>
              </a:tr>
              <a:tr h="374919">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reduce(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thisArg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582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Reduces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array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by keeping only those items that return a value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from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function</a:t>
                      </a:r>
                    </a:p>
                  </a:txBody>
                  <a:tcPr marL="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375264203"/>
                  </a:ext>
                </a:extLst>
              </a:tr>
            </a:tbl>
          </a:graphicData>
        </a:graphic>
      </p:graphicFrame>
    </p:spTree>
    <p:extLst>
      <p:ext uri="{BB962C8B-B14F-4D97-AF65-F5344CB8AC3E}">
        <p14:creationId xmlns:p14="http://schemas.microsoft.com/office/powerpoint/2010/main" val="12637485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Filtering an Array (continued 3)</a:t>
            </a:r>
          </a:p>
        </p:txBody>
      </p:sp>
      <p:graphicFrame>
        <p:nvGraphicFramePr>
          <p:cNvPr id="5" name="Table Placeholder 4">
            <a:extLst>
              <a:ext uri="{FF2B5EF4-FFF2-40B4-BE49-F238E27FC236}">
                <a16:creationId xmlns:a16="http://schemas.microsoft.com/office/drawing/2014/main" id="{AB21F287-D5CD-4089-9BA6-E5F0136BA54C}"/>
              </a:ext>
            </a:extLst>
          </p:cNvPr>
          <p:cNvGraphicFramePr>
            <a:graphicFrameLocks noGrp="1"/>
          </p:cNvGraphicFramePr>
          <p:nvPr>
            <p:ph type="tbl" sz="quarter" idx="10"/>
            <p:extLst>
              <p:ext uri="{D42A27DB-BD31-4B8C-83A1-F6EECF244321}">
                <p14:modId xmlns:p14="http://schemas.microsoft.com/office/powerpoint/2010/main" val="78148338"/>
              </p:ext>
            </p:extLst>
          </p:nvPr>
        </p:nvGraphicFramePr>
        <p:xfrm>
          <a:off x="1297459" y="1942680"/>
          <a:ext cx="6524367" cy="3191779"/>
        </p:xfrm>
        <a:graphic>
          <a:graphicData uri="http://schemas.openxmlformats.org/drawingml/2006/table">
            <a:tbl>
              <a:tblPr firstRow="1"/>
              <a:tblGrid>
                <a:gridCol w="2688888">
                  <a:extLst>
                    <a:ext uri="{9D8B030D-6E8A-4147-A177-3AD203B41FA5}">
                      <a16:colId xmlns:a16="http://schemas.microsoft.com/office/drawing/2014/main" val="1473450952"/>
                    </a:ext>
                  </a:extLst>
                </a:gridCol>
                <a:gridCol w="3835479">
                  <a:extLst>
                    <a:ext uri="{9D8B030D-6E8A-4147-A177-3AD203B41FA5}">
                      <a16:colId xmlns:a16="http://schemas.microsoft.com/office/drawing/2014/main" val="1222370842"/>
                    </a:ext>
                  </a:extLst>
                </a:gridCol>
              </a:tblGrid>
              <a:tr h="0">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Array Method</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5820" marR="55820" marT="153794" marB="30759"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5820" marT="153794" marB="30759"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2218110397"/>
                  </a:ext>
                </a:extLst>
              </a:tr>
              <a:tr h="523712">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reduceRight(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thisArg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582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Reduces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array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from the last element by keeping only those items that return a value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from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function</a:t>
                      </a:r>
                    </a:p>
                  </a:txBody>
                  <a:tcPr marL="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14419946"/>
                  </a:ext>
                </a:extLst>
              </a:tr>
              <a:tr h="353155">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some(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thisArg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582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Tests whether the condition returned by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function holds for at least one item in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array</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677617668"/>
                  </a:ext>
                </a:extLst>
              </a:tr>
              <a:tr h="374919">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find(</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thisArg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582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the value of the first element in the array that passes a test in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function</a:t>
                      </a:r>
                    </a:p>
                  </a:txBody>
                  <a:tcPr marL="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884139415"/>
                  </a:ext>
                </a:extLst>
              </a:tr>
              <a:tr h="374919">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findIndex(</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thisArg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582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the index of the first element in the array that passes a test in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callback</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function</a:t>
                      </a:r>
                    </a:p>
                  </a:txBody>
                  <a:tcPr marL="0" marR="55820" marT="41012" marB="41012">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2120287476"/>
                  </a:ext>
                </a:extLst>
              </a:tr>
            </a:tbl>
          </a:graphicData>
        </a:graphic>
      </p:graphicFrame>
    </p:spTree>
    <p:extLst>
      <p:ext uri="{BB962C8B-B14F-4D97-AF65-F5344CB8AC3E}">
        <p14:creationId xmlns:p14="http://schemas.microsoft.com/office/powerpoint/2010/main" val="22496750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Introducing Conditional Statements</a:t>
            </a:r>
          </a:p>
        </p:txBody>
      </p:sp>
      <p:sp>
        <p:nvSpPr>
          <p:cNvPr id="9" name="Content Placeholder 8"/>
          <p:cNvSpPr>
            <a:spLocks noGrp="1"/>
          </p:cNvSpPr>
          <p:nvPr>
            <p:ph type="body" sz="quarter" idx="17"/>
          </p:nvPr>
        </p:nvSpPr>
        <p:spPr/>
        <p:txBody>
          <a:bodyPr/>
          <a:lstStyle/>
          <a:p>
            <a:r>
              <a:rPr lang="en-IN" b="1" dirty="0"/>
              <a:t>Parallel array: </a:t>
            </a:r>
            <a:r>
              <a:rPr lang="en-IN" dirty="0"/>
              <a:t>Each entry in the array matches or is parallel to an entry in the other array</a:t>
            </a:r>
          </a:p>
          <a:p>
            <a:r>
              <a:rPr lang="en-IN" b="1" dirty="0"/>
              <a:t>Conditional statement: </a:t>
            </a:r>
            <a:r>
              <a:rPr lang="en-IN" dirty="0"/>
              <a:t>Runs a command or command block only when certain circumstances are met</a:t>
            </a:r>
          </a:p>
          <a:p>
            <a:endParaRPr lang="en-IN" dirty="0"/>
          </a:p>
          <a:p>
            <a:endParaRPr lang="en-IN" dirty="0"/>
          </a:p>
        </p:txBody>
      </p:sp>
    </p:spTree>
    <p:extLst>
      <p:ext uri="{BB962C8B-B14F-4D97-AF65-F5344CB8AC3E}">
        <p14:creationId xmlns:p14="http://schemas.microsoft.com/office/powerpoint/2010/main" val="12386916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Exploring the </a:t>
            </a:r>
            <a:r>
              <a:rPr lang="en-IN" sz="4000" dirty="0">
                <a:latin typeface="Courier New" panose="02070309020205020404" pitchFamily="49" charset="0"/>
                <a:cs typeface="Courier New" panose="02070309020205020404" pitchFamily="49" charset="0"/>
              </a:rPr>
              <a:t>if</a:t>
            </a:r>
            <a:r>
              <a:rPr lang="en-IN" dirty="0"/>
              <a:t> Statement</a:t>
            </a:r>
          </a:p>
        </p:txBody>
      </p:sp>
      <p:sp>
        <p:nvSpPr>
          <p:cNvPr id="9" name="Content Placeholder 8"/>
          <p:cNvSpPr>
            <a:spLocks noGrp="1"/>
          </p:cNvSpPr>
          <p:nvPr>
            <p:ph type="body" sz="quarter" idx="17"/>
          </p:nvPr>
        </p:nvSpPr>
        <p:spPr/>
        <p:txBody>
          <a:bodyPr>
            <a:normAutofit lnSpcReduction="10000"/>
          </a:bodyPr>
          <a:lstStyle/>
          <a:p>
            <a:r>
              <a:rPr lang="en-IN" dirty="0"/>
              <a:t>The most common conditional statement is the </a:t>
            </a:r>
            <a:r>
              <a:rPr lang="en-IN" sz="2600" dirty="0">
                <a:latin typeface="Courier New" panose="02070309020205020404" pitchFamily="49" charset="0"/>
                <a:cs typeface="Courier New" panose="02070309020205020404" pitchFamily="49" charset="0"/>
              </a:rPr>
              <a:t>if</a:t>
            </a:r>
            <a:r>
              <a:rPr lang="en-IN" dirty="0"/>
              <a:t> statement</a:t>
            </a:r>
          </a:p>
          <a:p>
            <a:r>
              <a:rPr lang="en-IN" dirty="0"/>
              <a:t>General structure of the </a:t>
            </a:r>
            <a:r>
              <a:rPr lang="en-IN" sz="2600" dirty="0">
                <a:latin typeface="Courier New" panose="02070309020205020404" pitchFamily="49" charset="0"/>
                <a:cs typeface="Courier New" panose="02070309020205020404" pitchFamily="49" charset="0"/>
              </a:rPr>
              <a:t>if</a:t>
            </a:r>
            <a:r>
              <a:rPr lang="en-IN" dirty="0">
                <a:latin typeface="Courier New" panose="02070309020205020404" pitchFamily="49" charset="0"/>
                <a:cs typeface="Courier New" panose="02070309020205020404" pitchFamily="49" charset="0"/>
              </a:rPr>
              <a:t> </a:t>
            </a:r>
            <a:r>
              <a:rPr lang="en-IN" dirty="0"/>
              <a:t>statement</a:t>
            </a:r>
          </a:p>
          <a:p>
            <a:pPr marL="400050" lvl="1" indent="0">
              <a:buNone/>
            </a:pPr>
            <a:r>
              <a:rPr lang="en-IN" sz="2600" dirty="0">
                <a:latin typeface="Courier New" panose="02070309020205020404" pitchFamily="49" charset="0"/>
                <a:cs typeface="Courier New" panose="02070309020205020404" pitchFamily="49" charset="0"/>
              </a:rPr>
              <a:t>if (condition) {</a:t>
            </a:r>
          </a:p>
          <a:p>
            <a:pPr marL="400050" lvl="1" indent="0">
              <a:buNone/>
            </a:pPr>
            <a:r>
              <a:rPr lang="en-IN" sz="2600" dirty="0">
                <a:latin typeface="Courier New" panose="02070309020205020404" pitchFamily="49" charset="0"/>
                <a:cs typeface="Courier New" panose="02070309020205020404" pitchFamily="49" charset="0"/>
              </a:rPr>
              <a:t>commands</a:t>
            </a:r>
          </a:p>
          <a:p>
            <a:pPr marL="400050" lvl="1" indent="0">
              <a:buNone/>
            </a:pPr>
            <a:r>
              <a:rPr lang="en-IN" sz="2600" dirty="0">
                <a:latin typeface="Courier New" panose="02070309020205020404" pitchFamily="49" charset="0"/>
                <a:cs typeface="Courier New" panose="02070309020205020404" pitchFamily="49" charset="0"/>
              </a:rPr>
              <a:t>}</a:t>
            </a:r>
          </a:p>
          <a:p>
            <a:pPr marL="363538" lvl="1" indent="0">
              <a:buNone/>
            </a:pPr>
            <a:r>
              <a:rPr lang="en-IN" sz="3200" dirty="0"/>
              <a:t>where </a:t>
            </a:r>
            <a:r>
              <a:rPr lang="en-IN" sz="2600" dirty="0">
                <a:latin typeface="Courier New" panose="02070309020205020404" pitchFamily="49" charset="0"/>
                <a:cs typeface="Courier New" panose="02070309020205020404" pitchFamily="49" charset="0"/>
              </a:rPr>
              <a:t>condition</a:t>
            </a:r>
            <a:r>
              <a:rPr lang="en-IN" sz="3200" dirty="0"/>
              <a:t> is a Boolean expression that is either true or false and </a:t>
            </a:r>
            <a:r>
              <a:rPr lang="en-IN" sz="2600" dirty="0">
                <a:latin typeface="Courier New" panose="02070309020205020404" pitchFamily="49" charset="0"/>
                <a:cs typeface="Courier New" panose="02070309020205020404" pitchFamily="49" charset="0"/>
              </a:rPr>
              <a:t>commands</a:t>
            </a:r>
            <a:r>
              <a:rPr lang="en-IN" sz="3200" dirty="0"/>
              <a:t> is the command block that is run if </a:t>
            </a:r>
            <a:r>
              <a:rPr lang="en-IN" sz="2600" dirty="0">
                <a:latin typeface="Courier New" panose="02070309020205020404" pitchFamily="49" charset="0"/>
                <a:cs typeface="Courier New" panose="02070309020205020404" pitchFamily="49" charset="0"/>
              </a:rPr>
              <a:t>condition</a:t>
            </a:r>
            <a:r>
              <a:rPr lang="en-IN" sz="3200" dirty="0"/>
              <a:t> is true</a:t>
            </a:r>
          </a:p>
        </p:txBody>
      </p:sp>
    </p:spTree>
    <p:extLst>
      <p:ext uri="{BB962C8B-B14F-4D97-AF65-F5344CB8AC3E}">
        <p14:creationId xmlns:p14="http://schemas.microsoft.com/office/powerpoint/2010/main" val="3798176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Exploring the </a:t>
            </a:r>
            <a:r>
              <a:rPr lang="en-IN" dirty="0">
                <a:latin typeface="Courier New" panose="02070309020205020404" pitchFamily="49" charset="0"/>
                <a:cs typeface="Courier New" panose="02070309020205020404" pitchFamily="49" charset="0"/>
              </a:rPr>
              <a:t>if</a:t>
            </a:r>
            <a:r>
              <a:rPr lang="en-IN" dirty="0"/>
              <a:t> Statement (continued)</a:t>
            </a:r>
          </a:p>
        </p:txBody>
      </p:sp>
      <p:sp>
        <p:nvSpPr>
          <p:cNvPr id="9" name="Content Placeholder 8"/>
          <p:cNvSpPr>
            <a:spLocks noGrp="1"/>
          </p:cNvSpPr>
          <p:nvPr>
            <p:ph type="body" sz="quarter" idx="17"/>
          </p:nvPr>
        </p:nvSpPr>
        <p:spPr/>
        <p:txBody>
          <a:bodyPr/>
          <a:lstStyle/>
          <a:p>
            <a:r>
              <a:rPr lang="en-IN" dirty="0"/>
              <a:t>Conditional statement uses the same comparison and logical operators that are used with program loops </a:t>
            </a:r>
          </a:p>
          <a:p>
            <a:r>
              <a:rPr lang="en-IN" b="1" dirty="0"/>
              <a:t>Modulus operator: </a:t>
            </a:r>
            <a:r>
              <a:rPr lang="en-IN" dirty="0"/>
              <a:t>Returns the integer remainder after dividing one integer by another</a:t>
            </a:r>
          </a:p>
        </p:txBody>
      </p:sp>
    </p:spTree>
    <p:extLst>
      <p:ext uri="{BB962C8B-B14F-4D97-AF65-F5344CB8AC3E}">
        <p14:creationId xmlns:p14="http://schemas.microsoft.com/office/powerpoint/2010/main" val="10608698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Nesting </a:t>
            </a:r>
            <a:r>
              <a:rPr lang="en-IN" dirty="0">
                <a:latin typeface="Courier New" panose="02070309020205020404" pitchFamily="49" charset="0"/>
                <a:cs typeface="Courier New" panose="02070309020205020404" pitchFamily="49" charset="0"/>
              </a:rPr>
              <a:t>if</a:t>
            </a:r>
            <a:r>
              <a:rPr lang="en-IN" dirty="0"/>
              <a:t> Statements</a:t>
            </a:r>
          </a:p>
        </p:txBody>
      </p:sp>
      <p:sp>
        <p:nvSpPr>
          <p:cNvPr id="3" name="Content Placeholder 2"/>
          <p:cNvSpPr>
            <a:spLocks noGrp="1"/>
          </p:cNvSpPr>
          <p:nvPr>
            <p:ph type="body" sz="quarter" idx="11"/>
          </p:nvPr>
        </p:nvSpPr>
        <p:spPr>
          <a:xfrm>
            <a:off x="2774768" y="5049837"/>
            <a:ext cx="3594461" cy="770932"/>
          </a:xfrm>
        </p:spPr>
        <p:txBody>
          <a:bodyPr/>
          <a:lstStyle/>
          <a:p>
            <a:r>
              <a:rPr lang="en-IN" dirty="0"/>
              <a:t>One </a:t>
            </a:r>
            <a:r>
              <a:rPr lang="en-IN" sz="2600" dirty="0">
                <a:latin typeface="Courier New" panose="02070309020205020404" pitchFamily="49" charset="0"/>
                <a:cs typeface="Courier New" panose="02070309020205020404" pitchFamily="49" charset="0"/>
              </a:rPr>
              <a:t>if</a:t>
            </a:r>
            <a:r>
              <a:rPr lang="en-IN" dirty="0"/>
              <a:t> statement is nested inside another</a:t>
            </a:r>
          </a:p>
        </p:txBody>
      </p:sp>
      <p:pic>
        <p:nvPicPr>
          <p:cNvPr id="4" name="Picture Placeholder 3" descr="This figure explains the process of calculating leap years.&#10;This figure is a flowchart that consists of four rectangular boxes and three rhombuses.&#10;The first rhombus is labeled “divisible by 4?”. The second rhombus labeled “divisible by 100?” is positioned at the bottom-right of the first rhombus. The third rhombus labeled “divisible by 400?” is positioned at the bottom-right of the second rhombus.&#10;The first rectangular box labeled “not a leap year” is positioned at the bottom-left of the first rhombus. The second rectangular box labeled “leap year” is positioned at the bottom-left of the second rhombus. The third rectangular box labeled “not a leap year” is positioned at the bottom-left of the third rhombus. The fourth rectangular box labeled “leap year” is positioned at the bottom-right of the third rhombus.&#10;An arrow labeled “No” originating from the left corner of the first rhombus points to the first rectangular box. An arrow labeled “Yes” originating from the right corner of the first rhombus points to the top of the second rhombus.&#10;An arrow labeled “No” originating from the left corner of the second rhombus points to the second rectangular box. An arrow labeled “Yes” originating from the right corner of the second rhombus points to the top of the third rhombus.&#10;An arrow labeled “No” originating from the left corner of the third rhombus points to the third rectangular box. An arrow labeled “Yes” originating from the right corner of the third rhombus points to the fourth rectangular box." title="Figure 10-19 Process to calculate leap years"/>
          <p:cNvPicPr>
            <a:picLocks noGrp="1" noChangeAspect="1"/>
          </p:cNvPicPr>
          <p:nvPr>
            <p:ph type="pic" sz="quarter" idx="10"/>
          </p:nvPr>
        </p:nvPicPr>
        <p:blipFill>
          <a:blip r:embed="rId2"/>
          <a:stretch>
            <a:fillRect/>
          </a:stretch>
        </p:blipFill>
        <p:spPr>
          <a:xfrm>
            <a:off x="892410" y="1297151"/>
            <a:ext cx="7359176" cy="3492766"/>
          </a:xfrm>
          <a:prstGeom prst="rect">
            <a:avLst/>
          </a:prstGeom>
        </p:spPr>
      </p:pic>
    </p:spTree>
    <p:extLst>
      <p:ext uri="{BB962C8B-B14F-4D97-AF65-F5344CB8AC3E}">
        <p14:creationId xmlns:p14="http://schemas.microsoft.com/office/powerpoint/2010/main" val="22726223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Nesting </a:t>
            </a:r>
            <a:r>
              <a:rPr lang="en-IN" dirty="0">
                <a:latin typeface="Courier New" panose="02070309020205020404" pitchFamily="49" charset="0"/>
                <a:cs typeface="Courier New" panose="02070309020205020404" pitchFamily="49" charset="0"/>
              </a:rPr>
              <a:t>if</a:t>
            </a:r>
            <a:r>
              <a:rPr lang="en-IN" dirty="0"/>
              <a:t> Statements (continued)</a:t>
            </a:r>
          </a:p>
        </p:txBody>
      </p:sp>
      <p:sp>
        <p:nvSpPr>
          <p:cNvPr id="3" name="Content Placeholder 2"/>
          <p:cNvSpPr>
            <a:spLocks noGrp="1"/>
          </p:cNvSpPr>
          <p:nvPr>
            <p:ph type="body" sz="quarter" idx="11"/>
          </p:nvPr>
        </p:nvSpPr>
        <p:spPr>
          <a:xfrm>
            <a:off x="2743199" y="4375352"/>
            <a:ext cx="3657600" cy="672105"/>
          </a:xfrm>
        </p:spPr>
        <p:txBody>
          <a:bodyPr/>
          <a:lstStyle/>
          <a:p>
            <a:r>
              <a:rPr lang="en-IN" dirty="0"/>
              <a:t>One </a:t>
            </a:r>
            <a:r>
              <a:rPr lang="en-IN" sz="2600" dirty="0">
                <a:latin typeface="Courier New" panose="02070309020205020404" pitchFamily="49" charset="0"/>
                <a:cs typeface="Courier New" panose="02070309020205020404" pitchFamily="49" charset="0"/>
              </a:rPr>
              <a:t>if</a:t>
            </a:r>
            <a:r>
              <a:rPr lang="en-IN" dirty="0"/>
              <a:t> statement is nested inside another</a:t>
            </a:r>
          </a:p>
        </p:txBody>
      </p:sp>
      <p:pic>
        <p:nvPicPr>
          <p:cNvPr id="7" name="Picture Placeholder 6" descr="This figure explains the process of inserting a nested if statement.&#10;The figure consists of a rectangular box and a few lines of code.&#10;The first line of the code reads “// Revise the days in February for leap years”. The second line of the code reads “if (thisYear % 4 === 0) {”. The third line of the code reads “if ((thisYear % 100 != 0) || (this year % 400 === 0)) {”. The fourth line of the code reads “dayCount[1] = 29;”. The fifth line of the code reads “}”. The sixth line of the code reads “}”.&#10;A rectangular box labeled “if the year is divisible by 4 and either not divisible by 100 or divisible by 400, it's a leap year” is positioned at the left side of the code. An arrow originating from this rectangular box points to the fourth line of the code.&#10;" title="Figure 10-20 Inserting a nested if statemen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842469" y="2326391"/>
            <a:ext cx="7459060" cy="1779538"/>
          </a:xfrm>
          <a:prstGeom prst="rect">
            <a:avLst/>
          </a:prstGeom>
        </p:spPr>
      </p:pic>
    </p:spTree>
    <p:extLst>
      <p:ext uri="{BB962C8B-B14F-4D97-AF65-F5344CB8AC3E}">
        <p14:creationId xmlns:p14="http://schemas.microsoft.com/office/powerpoint/2010/main" val="10580036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Exploring the </a:t>
            </a:r>
            <a:r>
              <a:rPr lang="en-IN" dirty="0">
                <a:latin typeface="Courier New" panose="02070309020205020404" pitchFamily="49" charset="0"/>
                <a:cs typeface="Courier New" panose="02070309020205020404" pitchFamily="49" charset="0"/>
              </a:rPr>
              <a:t>if else </a:t>
            </a:r>
            <a:r>
              <a:rPr lang="en-IN" dirty="0"/>
              <a:t>Statement</a:t>
            </a:r>
          </a:p>
        </p:txBody>
      </p:sp>
      <p:sp>
        <p:nvSpPr>
          <p:cNvPr id="3" name="Content Placeholder 2"/>
          <p:cNvSpPr>
            <a:spLocks noGrp="1"/>
          </p:cNvSpPr>
          <p:nvPr>
            <p:ph type="body" sz="quarter" idx="17"/>
          </p:nvPr>
        </p:nvSpPr>
        <p:spPr/>
        <p:txBody>
          <a:bodyPr>
            <a:normAutofit fontScale="92500"/>
          </a:bodyPr>
          <a:lstStyle/>
          <a:p>
            <a:r>
              <a:rPr lang="en-IN" sz="2800" dirty="0">
                <a:latin typeface="Courier New" panose="02070309020205020404" pitchFamily="49" charset="0"/>
                <a:cs typeface="Courier New" panose="02070309020205020404" pitchFamily="49" charset="0"/>
              </a:rPr>
              <a:t>if else</a:t>
            </a:r>
            <a:r>
              <a:rPr lang="en-IN" sz="2800" dirty="0"/>
              <a:t> </a:t>
            </a:r>
            <a:r>
              <a:rPr lang="en-IN" dirty="0"/>
              <a:t>statement: Chooses between alternate command blocks </a:t>
            </a:r>
          </a:p>
          <a:p>
            <a:r>
              <a:rPr lang="en-IN" dirty="0"/>
              <a:t>It runs one command block if the conditional expression is true and a different command block if the expression is false</a:t>
            </a:r>
          </a:p>
          <a:p>
            <a:r>
              <a:rPr lang="en-IN" dirty="0"/>
              <a:t>General structure         </a:t>
            </a:r>
          </a:p>
          <a:p>
            <a:pPr marL="0" indent="0">
              <a:buNone/>
            </a:pPr>
            <a:r>
              <a:rPr lang="en-IN" sz="2800" dirty="0">
                <a:latin typeface="Courier New" panose="02070309020205020404" pitchFamily="49" charset="0"/>
                <a:cs typeface="Courier New" panose="02070309020205020404" pitchFamily="49" charset="0"/>
              </a:rPr>
              <a:t>if (</a:t>
            </a:r>
            <a:r>
              <a:rPr lang="en-IN" sz="2800" i="1" dirty="0">
                <a:latin typeface="Courier New" panose="02070309020205020404" pitchFamily="49" charset="0"/>
                <a:cs typeface="Courier New" panose="02070309020205020404" pitchFamily="49" charset="0"/>
              </a:rPr>
              <a:t>condition</a:t>
            </a:r>
            <a:r>
              <a:rPr lang="en-IN" sz="2800" dirty="0">
                <a:latin typeface="Courier New" panose="02070309020205020404" pitchFamily="49" charset="0"/>
                <a:cs typeface="Courier New" panose="02070309020205020404" pitchFamily="49" charset="0"/>
              </a:rPr>
              <a:t>) {</a:t>
            </a:r>
          </a:p>
          <a:p>
            <a:pPr marL="400050" lvl="1" indent="0">
              <a:buNone/>
            </a:pPr>
            <a:r>
              <a:rPr lang="en-IN" i="1" dirty="0">
                <a:latin typeface="Courier New" panose="02070309020205020404" pitchFamily="49" charset="0"/>
                <a:cs typeface="Courier New" panose="02070309020205020404" pitchFamily="49" charset="0"/>
              </a:rPr>
              <a:t>	commands if condition is true </a:t>
            </a:r>
            <a:r>
              <a:rPr lang="en-IN" dirty="0">
                <a:latin typeface="Courier New" panose="02070309020205020404" pitchFamily="49" charset="0"/>
                <a:cs typeface="Courier New" panose="02070309020205020404" pitchFamily="49" charset="0"/>
              </a:rPr>
              <a:t>} </a:t>
            </a:r>
          </a:p>
          <a:p>
            <a:pPr marL="400050" lvl="1" indent="0">
              <a:buNone/>
            </a:pPr>
            <a:r>
              <a:rPr lang="en-IN" dirty="0">
                <a:latin typeface="Courier New" panose="02070309020205020404" pitchFamily="49" charset="0"/>
                <a:cs typeface="Courier New" panose="02070309020205020404" pitchFamily="49" charset="0"/>
              </a:rPr>
              <a:t>else {</a:t>
            </a:r>
          </a:p>
          <a:p>
            <a:pPr marL="400050" lvl="1" indent="0">
              <a:buNone/>
            </a:pPr>
            <a:r>
              <a:rPr lang="en-IN" i="1" dirty="0">
                <a:latin typeface="Courier New" panose="02070309020205020404" pitchFamily="49" charset="0"/>
                <a:cs typeface="Courier New" panose="02070309020205020404" pitchFamily="49" charset="0"/>
              </a:rPr>
              <a:t>	commands if condition is false </a:t>
            </a:r>
            <a:r>
              <a:rPr lang="en-IN" dirty="0">
                <a:latin typeface="Courier New" panose="02070309020205020404" pitchFamily="49" charset="0"/>
                <a:cs typeface="Courier New" panose="02070309020205020404" pitchFamily="49" charset="0"/>
              </a:rPr>
              <a:t>}</a:t>
            </a:r>
          </a:p>
          <a:p>
            <a:endParaRPr lang="en-IN" dirty="0"/>
          </a:p>
        </p:txBody>
      </p:sp>
    </p:spTree>
    <p:extLst>
      <p:ext uri="{BB962C8B-B14F-4D97-AF65-F5344CB8AC3E}">
        <p14:creationId xmlns:p14="http://schemas.microsoft.com/office/powerpoint/2010/main" val="33555493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Using Multiple </a:t>
            </a:r>
            <a:r>
              <a:rPr lang="en-IN" dirty="0">
                <a:latin typeface="Courier New" panose="02070309020205020404" pitchFamily="49" charset="0"/>
                <a:cs typeface="Courier New" panose="02070309020205020404" pitchFamily="49" charset="0"/>
              </a:rPr>
              <a:t>else if</a:t>
            </a:r>
            <a:r>
              <a:rPr lang="en-IN" dirty="0"/>
              <a:t> Statements</a:t>
            </a:r>
          </a:p>
        </p:txBody>
      </p:sp>
      <p:sp>
        <p:nvSpPr>
          <p:cNvPr id="3" name="Content Placeholder 2"/>
          <p:cNvSpPr>
            <a:spLocks noGrp="1"/>
          </p:cNvSpPr>
          <p:nvPr>
            <p:ph type="body" sz="quarter" idx="17"/>
          </p:nvPr>
        </p:nvSpPr>
        <p:spPr/>
        <p:txBody>
          <a:bodyPr/>
          <a:lstStyle/>
          <a:p>
            <a:r>
              <a:rPr lang="en-IN" dirty="0"/>
              <a:t>Structure </a:t>
            </a:r>
            <a:r>
              <a:rPr lang="en-US" dirty="0"/>
              <a:t>of an </a:t>
            </a:r>
            <a:r>
              <a:rPr lang="en-US" sz="2600" dirty="0">
                <a:latin typeface="Courier New" panose="02070309020205020404" pitchFamily="49" charset="0"/>
                <a:cs typeface="Courier New" panose="02070309020205020404" pitchFamily="49" charset="0"/>
              </a:rPr>
              <a:t>if else </a:t>
            </a:r>
            <a:r>
              <a:rPr lang="en-US" dirty="0"/>
              <a:t>statement is:</a:t>
            </a:r>
            <a:endParaRPr lang="en-IN" dirty="0"/>
          </a:p>
          <a:p>
            <a:pPr marL="457200" lvl="1" indent="0">
              <a:buNone/>
            </a:pPr>
            <a:r>
              <a:rPr lang="en-IN" sz="2600" dirty="0">
                <a:latin typeface="Courier New" panose="02070309020205020404" pitchFamily="49" charset="0"/>
                <a:cs typeface="Courier New" panose="02070309020205020404" pitchFamily="49" charset="0"/>
              </a:rPr>
              <a:t>if (condition1) {</a:t>
            </a:r>
          </a:p>
          <a:p>
            <a:pPr marL="457200" lvl="1" indent="0">
              <a:buNone/>
            </a:pPr>
            <a:r>
              <a:rPr lang="en-IN" sz="2600" dirty="0">
                <a:latin typeface="Courier New" panose="02070309020205020404" pitchFamily="49" charset="0"/>
                <a:cs typeface="Courier New" panose="02070309020205020404" pitchFamily="49" charset="0"/>
              </a:rPr>
              <a:t>commands1</a:t>
            </a:r>
          </a:p>
          <a:p>
            <a:pPr marL="457200" lvl="1" indent="0">
              <a:buNone/>
            </a:pPr>
            <a:r>
              <a:rPr lang="en-IN" sz="2600" dirty="0">
                <a:latin typeface="Courier New" panose="02070309020205020404" pitchFamily="49" charset="0"/>
                <a:cs typeface="Courier New" panose="02070309020205020404" pitchFamily="49" charset="0"/>
              </a:rPr>
              <a:t>} else if (condition2) {</a:t>
            </a:r>
          </a:p>
          <a:p>
            <a:pPr marL="457200" lvl="1" indent="0">
              <a:buNone/>
            </a:pPr>
            <a:r>
              <a:rPr lang="en-IN" sz="2600" dirty="0">
                <a:latin typeface="Courier New" panose="02070309020205020404" pitchFamily="49" charset="0"/>
                <a:cs typeface="Courier New" panose="02070309020205020404" pitchFamily="49" charset="0"/>
              </a:rPr>
              <a:t>commands2</a:t>
            </a:r>
          </a:p>
          <a:p>
            <a:pPr marL="457200" lvl="1" indent="0">
              <a:buNone/>
            </a:pPr>
            <a:r>
              <a:rPr lang="en-IN" sz="2600" dirty="0">
                <a:latin typeface="Courier New" panose="02070309020205020404" pitchFamily="49" charset="0"/>
                <a:cs typeface="Courier New" panose="02070309020205020404" pitchFamily="49" charset="0"/>
              </a:rPr>
              <a:t>}...</a:t>
            </a:r>
          </a:p>
          <a:p>
            <a:pPr marL="457200" lvl="1" indent="0">
              <a:buNone/>
            </a:pPr>
            <a:r>
              <a:rPr lang="en-IN" sz="2600" dirty="0">
                <a:latin typeface="Courier New" panose="02070309020205020404" pitchFamily="49" charset="0"/>
                <a:cs typeface="Courier New" panose="02070309020205020404" pitchFamily="49" charset="0"/>
              </a:rPr>
              <a:t>else {</a:t>
            </a:r>
          </a:p>
          <a:p>
            <a:pPr marL="457200" lvl="1" indent="0">
              <a:buNone/>
            </a:pPr>
            <a:r>
              <a:rPr lang="en-IN" sz="2600" dirty="0">
                <a:latin typeface="Courier New" panose="02070309020205020404" pitchFamily="49" charset="0"/>
                <a:cs typeface="Courier New" panose="02070309020205020404" pitchFamily="49" charset="0"/>
              </a:rPr>
              <a:t>default commands}</a:t>
            </a:r>
          </a:p>
          <a:p>
            <a:pPr marL="457200" lvl="1" indent="0">
              <a:buNone/>
            </a:pPr>
            <a:r>
              <a:rPr lang="en-IN" sz="3200" dirty="0"/>
              <a:t>where </a:t>
            </a:r>
            <a:r>
              <a:rPr lang="en-IN" sz="2600" dirty="0">
                <a:latin typeface="Courier New" panose="02070309020205020404" pitchFamily="49" charset="0"/>
                <a:cs typeface="Courier New" panose="02070309020205020404" pitchFamily="49" charset="0"/>
              </a:rPr>
              <a:t>condition</a:t>
            </a:r>
            <a:r>
              <a:rPr lang="en-IN" sz="3200" dirty="0"/>
              <a:t> </a:t>
            </a:r>
            <a:r>
              <a:rPr lang="en-IN" sz="3200" dirty="0">
                <a:latin typeface="Courier New" panose="02070309020205020404" pitchFamily="49" charset="0"/>
                <a:cs typeface="Courier New" panose="02070309020205020404" pitchFamily="49" charset="0"/>
              </a:rPr>
              <a:t>1, </a:t>
            </a:r>
            <a:r>
              <a:rPr lang="en-IN" sz="2600" dirty="0">
                <a:latin typeface="Courier New" panose="02070309020205020404" pitchFamily="49" charset="0"/>
                <a:cs typeface="Courier New" panose="02070309020205020404" pitchFamily="49" charset="0"/>
              </a:rPr>
              <a:t>condition</a:t>
            </a:r>
            <a:r>
              <a:rPr lang="en-IN" sz="3200" dirty="0">
                <a:latin typeface="Courier New" panose="02070309020205020404" pitchFamily="49" charset="0"/>
                <a:cs typeface="Courier New" panose="02070309020205020404" pitchFamily="49" charset="0"/>
              </a:rPr>
              <a:t> 2,…</a:t>
            </a:r>
            <a:r>
              <a:rPr lang="en-IN" sz="3200" dirty="0"/>
              <a:t> are the different conditions to be tested</a:t>
            </a:r>
          </a:p>
          <a:p>
            <a:pPr marL="457200" lvl="1" indent="0">
              <a:buNone/>
            </a:pPr>
            <a:endParaRPr lang="en-IN" dirty="0">
              <a:cs typeface="Courier New" panose="02070309020205020404" pitchFamily="49" charset="0"/>
            </a:endParaRPr>
          </a:p>
          <a:p>
            <a:pPr marL="457200" lvl="1" indent="0">
              <a:buNone/>
            </a:pPr>
            <a:endParaRPr lang="en-IN" sz="2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141531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Completing the Calendar App</a:t>
            </a:r>
          </a:p>
        </p:txBody>
      </p:sp>
      <p:sp>
        <p:nvSpPr>
          <p:cNvPr id="3" name="Content Placeholder 2"/>
          <p:cNvSpPr>
            <a:spLocks noGrp="1"/>
          </p:cNvSpPr>
          <p:nvPr>
            <p:ph type="body" sz="quarter" idx="17"/>
          </p:nvPr>
        </p:nvSpPr>
        <p:spPr/>
        <p:txBody>
          <a:bodyPr/>
          <a:lstStyle/>
          <a:p>
            <a:r>
              <a:rPr lang="en-IN" dirty="0"/>
              <a:t>The completed calendar app must do the following:</a:t>
            </a:r>
          </a:p>
          <a:p>
            <a:pPr lvl="1"/>
            <a:r>
              <a:rPr lang="en-IN" dirty="0"/>
              <a:t>Calculate the day of the week in which the month starts</a:t>
            </a:r>
          </a:p>
          <a:p>
            <a:pPr lvl="1"/>
            <a:r>
              <a:rPr lang="en-IN" dirty="0"/>
              <a:t>Write blank table cells for the days before the first day of the month</a:t>
            </a:r>
          </a:p>
          <a:p>
            <a:pPr lvl="1"/>
            <a:r>
              <a:rPr lang="en-IN" dirty="0"/>
              <a:t>Loop through the days of the current month, writing each date in a different table cell and starting a new table row on each Sunday</a:t>
            </a:r>
          </a:p>
        </p:txBody>
      </p:sp>
    </p:spTree>
    <p:extLst>
      <p:ext uri="{BB962C8B-B14F-4D97-AF65-F5344CB8AC3E}">
        <p14:creationId xmlns:p14="http://schemas.microsoft.com/office/powerpoint/2010/main" val="8548390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sz="3400" dirty="0"/>
              <a:t>Completing the Calendar App (continued)</a:t>
            </a:r>
          </a:p>
        </p:txBody>
      </p:sp>
      <p:pic>
        <p:nvPicPr>
          <p:cNvPr id="2" name="Content Placeholder 1" descr="This figure explains the process of inserting the calDays() function and comments.&#10;The figure consists of a few lines of code.&#10;The first line of the code reads “/* Function to write table rows for each day of the month */”. The second line of the code reads “function calDays(calDate) {”. The third line of the code reads “// Determine the starting day of the month”. The fourth line of the code reads “// Write blank cells preceding the starting day”. The fifth line of the code reads “// Write cells for each day of the month”. The sixth line of the code reads “}”.&#10;" title="Figure 10-21 Inserting the calDays() function and comments"/>
          <p:cNvPicPr>
            <a:picLocks noGrp="1" noChangeAspect="1"/>
          </p:cNvPicPr>
          <p:nvPr>
            <p:ph type="tbl" sz="quarter" idx="10"/>
          </p:nvPr>
        </p:nvPicPr>
        <p:blipFill>
          <a:blip r:embed="rId2">
            <a:extLst>
              <a:ext uri="{28A0092B-C50C-407E-A947-70E740481C1C}">
                <a14:useLocalDpi xmlns:a14="http://schemas.microsoft.com/office/drawing/2010/main" val="0"/>
              </a:ext>
            </a:extLst>
          </a:blip>
          <a:stretch>
            <a:fillRect/>
          </a:stretch>
        </p:blipFill>
        <p:spPr>
          <a:xfrm>
            <a:off x="1043558" y="2331720"/>
            <a:ext cx="7056884" cy="2194560"/>
          </a:xfrm>
        </p:spPr>
      </p:pic>
    </p:spTree>
    <p:extLst>
      <p:ext uri="{BB962C8B-B14F-4D97-AF65-F5344CB8AC3E}">
        <p14:creationId xmlns:p14="http://schemas.microsoft.com/office/powerpoint/2010/main" val="14270411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sz="3400" dirty="0"/>
              <a:t>Setting the First Day of the Month</a:t>
            </a:r>
          </a:p>
        </p:txBody>
      </p:sp>
      <p:pic>
        <p:nvPicPr>
          <p:cNvPr id="4" name="Content Placeholder 3" descr="This figure explains the process of calculating the start day of the month.&#10;The figure consists of two rectangular boxes and a few lines of code.&#10;The first line of the code reads “/* Function to write table rows for each day of the month */”. The second line of the code reads “function calDays(calDate) {”. The third line of the code reads “// Determine the starting day of the month”. The fourth line of the code reads “var day = new Date(calDate.getFullYear(), calDate.getMonth(), 1);”. The fifth line of the code reads “var weekday = day.getDay();”. The sixth line of the code reads “// Write blank cells preceding the starting day”. The seventh line of the code reads “// Write cells for each day of the month”. The eighth line of the code reads “}”.&#10;The first rectangular box labeled “sets the first day of the month” is positioned at the left side of the code. An arrow originating from this rectangular box points to the fourth line of the code.&#10;The second rectangular box labeled “determines the weekday on which the month begins” is positioned below the first rectangular box. An arrow originating from the second rectangular box points to the fifth line of the code.&#10;" title="Figure 10-22 Calculating the start day of the month"/>
          <p:cNvPicPr>
            <a:picLocks noGrp="1" noChangeAspect="1"/>
          </p:cNvPicPr>
          <p:nvPr>
            <p:ph type="tbl" sz="quarter" idx="10"/>
          </p:nvPr>
        </p:nvPicPr>
        <p:blipFill>
          <a:blip r:embed="rId2">
            <a:extLst>
              <a:ext uri="{28A0092B-C50C-407E-A947-70E740481C1C}">
                <a14:useLocalDpi xmlns:a14="http://schemas.microsoft.com/office/drawing/2010/main" val="0"/>
              </a:ext>
            </a:extLst>
          </a:blip>
          <a:stretch>
            <a:fillRect/>
          </a:stretch>
        </p:blipFill>
        <p:spPr>
          <a:xfrm>
            <a:off x="772330" y="2198793"/>
            <a:ext cx="7599339" cy="2460413"/>
          </a:xfrm>
        </p:spPr>
      </p:pic>
    </p:spTree>
    <p:extLst>
      <p:ext uri="{BB962C8B-B14F-4D97-AF65-F5344CB8AC3E}">
        <p14:creationId xmlns:p14="http://schemas.microsoft.com/office/powerpoint/2010/main" val="23663507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sz="3400" dirty="0"/>
              <a:t>Placing the First Day of the Month</a:t>
            </a:r>
          </a:p>
        </p:txBody>
      </p:sp>
      <p:pic>
        <p:nvPicPr>
          <p:cNvPr id="3" name="Content Placeholder 2" descr="This figure explains the process of inserting blank cells for the days that precede the start of the month.&#10;The figure consists of two rectangular boxes and a few lines of code.&#10;The first line of the code reads “/* Function to write table rows for each day of the month */”. The second line of the code reads “function calDays(calDate) {”. The third line of the code reads “// Determine the starting day of the month”. The fourth line of the code reads “var day = new Date(calDate.getFullYear(), calDate.getMonth(), 1);”. The fifth line of the code reads “var weekday = day.getDay();”. The sixth line of the code reads “// Write blank cells preceding the starting day”.&#10;The seventh line of the code reads “var htmlCode = “&lt;tr&gt;”;”. The eighth line of the code reads “for (var i = 0; i &lt; weekDay; i++) {”. The ninth line of the code reads “htmlCode += “&lt;td&gt;&lt;/td&gt;”;”. The tenth line of the code reads “}”. The eleventh line of the code reads “// Write cells for each day of the month”. The twelfth line of the code reads “}”.&#10;The first rectangular box labeled “inserts opening &lt;tr&gt; tag for the initial table row” is positioned at the left side of the code. An arrow originating from this rectangular box points to the seventh line of the code.&#10;The second rectangular box labeled “inserts a blank table cell for each weekday prior to the first of the month” is positioned below the first rectangular box. An arrow originating from the second rectangular box points to the ninth line of the code.&#10;" title="Figure 10-23 Inserting blank cells for the days that precede the start of the month"/>
          <p:cNvPicPr>
            <a:picLocks noGrp="1" noChangeAspect="1"/>
          </p:cNvPicPr>
          <p:nvPr>
            <p:ph type="tbl" sz="quarter" idx="10"/>
          </p:nvPr>
        </p:nvPicPr>
        <p:blipFill>
          <a:blip r:embed="rId2">
            <a:extLst>
              <a:ext uri="{28A0092B-C50C-407E-A947-70E740481C1C}">
                <a14:useLocalDpi xmlns:a14="http://schemas.microsoft.com/office/drawing/2010/main" val="0"/>
              </a:ext>
            </a:extLst>
          </a:blip>
          <a:stretch>
            <a:fillRect/>
          </a:stretch>
        </p:blipFill>
        <p:spPr>
          <a:xfrm>
            <a:off x="987981" y="1994182"/>
            <a:ext cx="7168037" cy="2869636"/>
          </a:xfrm>
        </p:spPr>
      </p:pic>
    </p:spTree>
    <p:extLst>
      <p:ext uri="{BB962C8B-B14F-4D97-AF65-F5344CB8AC3E}">
        <p14:creationId xmlns:p14="http://schemas.microsoft.com/office/powerpoint/2010/main" val="30085510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sz="3400" dirty="0"/>
              <a:t>Writing the Calendar Days</a:t>
            </a:r>
          </a:p>
        </p:txBody>
      </p:sp>
      <p:pic>
        <p:nvPicPr>
          <p:cNvPr id="4" name="Content Placeholder 3" descr="This figure explains how to write the HTML code for the table row and cells.&#10;The figure consists of seven rectangular boxes and a few lines of code.&#10;The first line of the code reads “// Write cells for each day of the month”. The second line of the code reads “var totalDays = daysInMonth(calDate);”. The third line of the code reads “for (var i = 1; i &lt;= totalDays; i++)”. The fourth line of the code reads “day.setDate(i);”. The fifth line of the code reads “weekDay = day.getDay();”. The sixth line of the code reads “if (weekDay === 0) htmlCode += “&lt;tr&gt;”;”. The seventh line of the code reads “htmlCode += “&lt;td class='calendar_dates'&gt;” + i + “&lt;/td&gt;”;”. The eighth line of the code reads “if (weekDay === 6) htmlCode += “&lt;/tr&gt;”;”. The ninth line of the code reads “}”.The tenth line of the code reads “return htmlCode;”.The eleventh line of the code reads “}”.&#10;The first rectangular box labeled “calculates the total number of days in the current month” is positioned above the code. An arrow originating from this rectangular box points to the second line of the code.&#10;The second rectangular box labeled “loops through the total number of days” is positioned on the left side of the code. An arrow originating from this rectangular box points to the third line of the code.&#10;The third rectangular box labeled “if the day is a Sunday, starts a new table row” is positioned below the second rectangular box. An arrow originating from the third rectangular box points to the sixth line of the code.&#10;The fourth rectangular box labeled “creates a table cell for each day, displaying the day number” is positioned below the third rectangular box. An arrow originating from the fourth rectangular box points to the seventh line of the code.&#10;The fifth rectangular box labeled “if the day is a Saturday, ends the table row” is positioned inside the code. An arrow originating from this rectangular box points to the eighth line of the code.&#10;The sixth rectangular box labeled “for each day, determines the weekday on which it falls” is positioned inside the code. An arrow originating from this rectangular box points to the fifth line of the code.&#10;The seventh rectangular box labeled “returns the HTML code for the table row and cells” is positioned below the code. An arrow originating from this rectangular box points to the tenth line of the code.&#10;" title="Figure 10-24 Writing the HTML code for the table rows and cells"/>
          <p:cNvPicPr>
            <a:picLocks noGrp="1" noChangeAspect="1"/>
          </p:cNvPicPr>
          <p:nvPr>
            <p:ph type="tbl" sz="quarter" idx="10"/>
          </p:nvPr>
        </p:nvPicPr>
        <p:blipFill>
          <a:blip r:embed="rId2">
            <a:extLst>
              <a:ext uri="{28A0092B-C50C-407E-A947-70E740481C1C}">
                <a14:useLocalDpi xmlns:a14="http://schemas.microsoft.com/office/drawing/2010/main" val="0"/>
              </a:ext>
            </a:extLst>
          </a:blip>
          <a:stretch>
            <a:fillRect/>
          </a:stretch>
        </p:blipFill>
        <p:spPr>
          <a:xfrm>
            <a:off x="1261025" y="1613024"/>
            <a:ext cx="6621949" cy="3631951"/>
          </a:xfrm>
        </p:spPr>
      </p:pic>
    </p:spTree>
    <p:extLst>
      <p:ext uri="{BB962C8B-B14F-4D97-AF65-F5344CB8AC3E}">
        <p14:creationId xmlns:p14="http://schemas.microsoft.com/office/powerpoint/2010/main" val="804938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sz="3400" dirty="0"/>
              <a:t>Highlighting the Current Date</a:t>
            </a:r>
          </a:p>
        </p:txBody>
      </p:sp>
      <p:pic>
        <p:nvPicPr>
          <p:cNvPr id="3" name="Content Placeholder 2" descr="This figure explains the process of highlighting the current date in the calendar.&#10;The figure consists of three rectangular boxes and a few lines of code.&#10;The first line of the code reads “// Write cells for each day of the month”. The second line of the code reads “var totalDays = daysInMonth(calDate);”. The third line of the code reads “var highlightDay = calDate.getDate();”. The fourth line of the code reads “for (var i = 1; i &lt;= totalDays; i++) {”. The fifth line of the code reads “day.setDate(i);”. The sixth line of the code reads “weekDay = day.getDay();”. The seventh line of the code reads “if (weekDay === 0) htmlCode += “&lt;tr&gt;”;”. The eighth line of the code reads “if (i === highlightDay) {”. The ninth line of the code reads “htmlCode += “&lt;td class='calendar_dates' id='calendar_today'&gt;” + i + “&lt;/td&gt;”;”. The tenth line of the code reads “} else {”. The eleventh line of the code reads “htmlCode += “&lt;td class='calendar_dates'&gt;” + i + “&lt;/td&gt;”;”. The twelfth line of the code reads “}”. The thirteenth line of the code reads “if (weekDay === 6) htmlCode += “&lt;/tr&gt;”;”. The fourteenth line of the code reads “}”. The fifteenth line of the code reads “return htmlCode;”. The sixteenth line of the code reads “}”.&#10;The first rectangular box labeled “stores the current day in the highlightDay variable” is positioned at the left side of the code. An arrow originating from this rectangular box points to the third line of the code.&#10;The second rectangular box labeled “if the day is the highlight day, write a table cell with the id ‘calendar_today’” is positioned below the first rectangular box. An arrow originating from the second rectangular box points to the ninth line of the code.&#10;The third rectangular box labeled “otherwise write a table cell with no id value” is positioned below the second rectangular box. An arrow originating from the third rectangular box points to the eleventh line of the code.&#10;" title="Figure 10-27 Highlighting the current date in the calendar"/>
          <p:cNvPicPr>
            <a:picLocks noGrp="1" noChangeAspect="1"/>
          </p:cNvPicPr>
          <p:nvPr>
            <p:ph type="tbl" sz="quarter" idx="10"/>
          </p:nvPr>
        </p:nvPicPr>
        <p:blipFill>
          <a:blip r:embed="rId2">
            <a:extLst>
              <a:ext uri="{28A0092B-C50C-407E-A947-70E740481C1C}">
                <a14:useLocalDpi xmlns:a14="http://schemas.microsoft.com/office/drawing/2010/main" val="0"/>
              </a:ext>
            </a:extLst>
          </a:blip>
          <a:stretch>
            <a:fillRect/>
          </a:stretch>
        </p:blipFill>
        <p:spPr>
          <a:xfrm>
            <a:off x="1196051" y="1940742"/>
            <a:ext cx="6751898" cy="2976516"/>
          </a:xfrm>
        </p:spPr>
      </p:pic>
    </p:spTree>
    <p:extLst>
      <p:ext uri="{BB962C8B-B14F-4D97-AF65-F5344CB8AC3E}">
        <p14:creationId xmlns:p14="http://schemas.microsoft.com/office/powerpoint/2010/main" val="19059830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sz="3400" dirty="0"/>
              <a:t>Displaying Daily Events</a:t>
            </a:r>
          </a:p>
        </p:txBody>
      </p:sp>
      <p:pic>
        <p:nvPicPr>
          <p:cNvPr id="4" name="Content Placeholder 3" descr="This figure explains the process of displaying events for each day of the month.&#10;The figure consists of a rectangular box and a few lines of code.&#10;The first line of the code reads “if (weekDay === 0) htmlCode += “&lt;tr&gt;”;”. The second line of the code reads “if (i === highlightDay) {”. The third line of the code reads “htmlCode += “&lt;td class='calendar_dates' id='calendar_today'&gt;” + i + dayEvent[i] + “&lt;/td&gt;”;”. The fourth line of the code reads “} else {”. The fifth line of the code reads “htmlCode += “&lt;td class='calendar_dates'&gt;” + i + dayEvent[i] + “&lt;/td&gt;”;”. The sixth line of the code reads “}”. The seventh line of the code reads “if (weekDay === 6) htmlCode += “&lt;/tr&gt;”;”.&#10;A rectangular box labeled “displays the event for the day” is positioned below the code. An arrow originating from this rectangular box splits into two and points to “dayEvent[i]” in the third and fifth lines of the code respectively.&#10;" title="Figure 10-31 Displaying events for each day of the month"/>
          <p:cNvPicPr>
            <a:picLocks noGrp="1" noChangeAspect="1"/>
          </p:cNvPicPr>
          <p:nvPr>
            <p:ph type="tbl" sz="quarter" idx="10"/>
          </p:nvPr>
        </p:nvPicPr>
        <p:blipFill>
          <a:blip r:embed="rId2">
            <a:extLst>
              <a:ext uri="{28A0092B-C50C-407E-A947-70E740481C1C}">
                <a14:useLocalDpi xmlns:a14="http://schemas.microsoft.com/office/drawing/2010/main" val="0"/>
              </a:ext>
            </a:extLst>
          </a:blip>
          <a:stretch>
            <a:fillRect/>
          </a:stretch>
        </p:blipFill>
        <p:spPr>
          <a:xfrm>
            <a:off x="992654" y="2389510"/>
            <a:ext cx="7158692" cy="2078980"/>
          </a:xfrm>
        </p:spPr>
      </p:pic>
    </p:spTree>
    <p:extLst>
      <p:ext uri="{BB962C8B-B14F-4D97-AF65-F5344CB8AC3E}">
        <p14:creationId xmlns:p14="http://schemas.microsoft.com/office/powerpoint/2010/main" val="30582012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Exploring the </a:t>
            </a:r>
            <a:r>
              <a:rPr lang="en-IN" sz="4000" dirty="0">
                <a:latin typeface="Courier New" panose="02070309020205020404" pitchFamily="49" charset="0"/>
                <a:cs typeface="Courier New" panose="02070309020205020404" pitchFamily="49" charset="0"/>
              </a:rPr>
              <a:t>break</a:t>
            </a:r>
            <a:r>
              <a:rPr lang="en-IN" dirty="0"/>
              <a:t> Command</a:t>
            </a:r>
          </a:p>
        </p:txBody>
      </p:sp>
      <p:sp>
        <p:nvSpPr>
          <p:cNvPr id="9" name="Content Placeholder 8"/>
          <p:cNvSpPr>
            <a:spLocks noGrp="1"/>
          </p:cNvSpPr>
          <p:nvPr>
            <p:ph type="body" sz="quarter" idx="17"/>
          </p:nvPr>
        </p:nvSpPr>
        <p:spPr/>
        <p:txBody>
          <a:bodyPr/>
          <a:lstStyle/>
          <a:p>
            <a:r>
              <a:rPr lang="en-IN" sz="2600" dirty="0">
                <a:latin typeface="Courier New" panose="02070309020205020404" pitchFamily="49" charset="0"/>
                <a:cs typeface="Courier New" panose="02070309020205020404" pitchFamily="49" charset="0"/>
              </a:rPr>
              <a:t>break</a:t>
            </a:r>
            <a:r>
              <a:rPr lang="en-IN" dirty="0"/>
              <a:t> statement: Terminates any program loop or conditional statement</a:t>
            </a:r>
          </a:p>
          <a:p>
            <a:r>
              <a:rPr lang="en-IN" dirty="0"/>
              <a:t>Used anywhere within the program code</a:t>
            </a:r>
          </a:p>
          <a:p>
            <a:r>
              <a:rPr lang="en-IN" dirty="0"/>
              <a:t>When a </a:t>
            </a:r>
            <a:r>
              <a:rPr lang="en-IN" sz="2600" dirty="0">
                <a:latin typeface="Courier New" panose="02070309020205020404" pitchFamily="49" charset="0"/>
                <a:cs typeface="Courier New" panose="02070309020205020404" pitchFamily="49" charset="0"/>
              </a:rPr>
              <a:t>break</a:t>
            </a:r>
            <a:r>
              <a:rPr lang="en-IN" dirty="0"/>
              <a:t> statement is encountered, control is passed to the statement immediately following it</a:t>
            </a:r>
          </a:p>
          <a:p>
            <a:r>
              <a:rPr lang="en-IN" dirty="0"/>
              <a:t>It is most often used to exit a program loop before the stopping condition is met</a:t>
            </a:r>
          </a:p>
        </p:txBody>
      </p:sp>
    </p:spTree>
    <p:extLst>
      <p:ext uri="{BB962C8B-B14F-4D97-AF65-F5344CB8AC3E}">
        <p14:creationId xmlns:p14="http://schemas.microsoft.com/office/powerpoint/2010/main" val="3122886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Exploring the </a:t>
            </a:r>
            <a:r>
              <a:rPr lang="en-IN" dirty="0">
                <a:latin typeface="Courier New" panose="02070309020205020404" pitchFamily="49" charset="0"/>
                <a:cs typeface="Courier New" panose="02070309020205020404" pitchFamily="49" charset="0"/>
              </a:rPr>
              <a:t>continue</a:t>
            </a:r>
            <a:r>
              <a:rPr lang="en-IN" dirty="0"/>
              <a:t> Command</a:t>
            </a:r>
          </a:p>
        </p:txBody>
      </p:sp>
      <p:sp>
        <p:nvSpPr>
          <p:cNvPr id="9" name="Content Placeholder 8"/>
          <p:cNvSpPr>
            <a:spLocks noGrp="1"/>
          </p:cNvSpPr>
          <p:nvPr>
            <p:ph type="body" sz="quarter" idx="17"/>
          </p:nvPr>
        </p:nvSpPr>
        <p:spPr/>
        <p:txBody>
          <a:bodyPr/>
          <a:lstStyle/>
          <a:p>
            <a:r>
              <a:rPr lang="en-IN" sz="2600" b="1" dirty="0">
                <a:latin typeface="Courier New" panose="02070309020205020404" pitchFamily="49" charset="0"/>
                <a:cs typeface="Courier New" panose="02070309020205020404" pitchFamily="49" charset="0"/>
              </a:rPr>
              <a:t>continue</a:t>
            </a:r>
            <a:r>
              <a:rPr lang="en-IN" b="1" dirty="0"/>
              <a:t> statement: </a:t>
            </a:r>
            <a:r>
              <a:rPr lang="en-IN" dirty="0"/>
              <a:t>Stops processing the commands in the current iteration of the loop and continues on to the next iteration</a:t>
            </a:r>
          </a:p>
          <a:p>
            <a:r>
              <a:rPr lang="en-IN" dirty="0">
                <a:cs typeface="Courier New" panose="02070309020205020404" pitchFamily="49" charset="0"/>
              </a:rPr>
              <a:t>It is u</a:t>
            </a:r>
            <a:r>
              <a:rPr lang="en-IN" dirty="0"/>
              <a:t>sed to jump out of the current iteration if a missing or null value is encountered</a:t>
            </a:r>
          </a:p>
        </p:txBody>
      </p:sp>
    </p:spTree>
    <p:extLst>
      <p:ext uri="{BB962C8B-B14F-4D97-AF65-F5344CB8AC3E}">
        <p14:creationId xmlns:p14="http://schemas.microsoft.com/office/powerpoint/2010/main" val="42455554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IN" dirty="0"/>
              <a:t>Exploring </a:t>
            </a:r>
            <a:r>
              <a:rPr lang="en-IN" dirty="0">
                <a:latin typeface="Courier New"/>
              </a:rPr>
              <a:t>Statement</a:t>
            </a:r>
            <a:r>
              <a:rPr lang="en-IN" dirty="0"/>
              <a:t> Labels</a:t>
            </a:r>
          </a:p>
        </p:txBody>
      </p:sp>
      <p:sp>
        <p:nvSpPr>
          <p:cNvPr id="9" name="Content Placeholder 8"/>
          <p:cNvSpPr>
            <a:spLocks noGrp="1"/>
          </p:cNvSpPr>
          <p:nvPr>
            <p:ph type="body" sz="quarter" idx="17"/>
          </p:nvPr>
        </p:nvSpPr>
        <p:spPr/>
        <p:txBody>
          <a:bodyPr/>
          <a:lstStyle/>
          <a:p>
            <a:r>
              <a:rPr lang="en-IN" sz="2600" b="1" dirty="0">
                <a:latin typeface="Courier New" panose="02070309020205020404" pitchFamily="49" charset="0"/>
                <a:cs typeface="Courier New" panose="02070309020205020404" pitchFamily="49" charset="0"/>
              </a:rPr>
              <a:t>Statement</a:t>
            </a:r>
            <a:r>
              <a:rPr lang="en-IN" b="1" dirty="0"/>
              <a:t> labels:</a:t>
            </a:r>
            <a:r>
              <a:rPr lang="en-IN" dirty="0"/>
              <a:t> Identifies statements in JavaScript code</a:t>
            </a:r>
          </a:p>
          <a:p>
            <a:r>
              <a:rPr lang="en-IN" dirty="0"/>
              <a:t>Can be referenced elsewhere in a program</a:t>
            </a:r>
          </a:p>
          <a:p>
            <a:r>
              <a:rPr lang="en-IN" dirty="0"/>
              <a:t>Syntax of the </a:t>
            </a:r>
            <a:r>
              <a:rPr lang="en-IN" sz="2600" dirty="0">
                <a:latin typeface="Courier New" panose="02070309020205020404" pitchFamily="49" charset="0"/>
                <a:cs typeface="Courier New" panose="02070309020205020404" pitchFamily="49" charset="0"/>
              </a:rPr>
              <a:t>statement</a:t>
            </a:r>
            <a:r>
              <a:rPr lang="en-IN" dirty="0"/>
              <a:t> label</a:t>
            </a:r>
          </a:p>
          <a:p>
            <a:pPr marL="363538" lvl="1" indent="0">
              <a:buNone/>
            </a:pPr>
            <a:r>
              <a:rPr lang="en-IN" sz="2600" dirty="0">
                <a:latin typeface="Courier New" panose="02070309020205020404" pitchFamily="49" charset="0"/>
                <a:cs typeface="Courier New" panose="02070309020205020404" pitchFamily="49" charset="0"/>
              </a:rPr>
              <a:t>label: statements</a:t>
            </a:r>
          </a:p>
          <a:p>
            <a:pPr marL="363538" lvl="1" indent="0">
              <a:buNone/>
            </a:pPr>
            <a:r>
              <a:rPr lang="en-IN" sz="3200" dirty="0"/>
              <a:t>where </a:t>
            </a:r>
            <a:r>
              <a:rPr lang="en-IN" sz="2600" dirty="0">
                <a:latin typeface="Courier New" panose="02070309020205020404" pitchFamily="49" charset="0"/>
                <a:cs typeface="Courier New" panose="02070309020205020404" pitchFamily="49" charset="0"/>
              </a:rPr>
              <a:t>label</a:t>
            </a:r>
            <a:r>
              <a:rPr lang="en-IN" sz="3200" dirty="0"/>
              <a:t> is the text of the label and </a:t>
            </a:r>
            <a:r>
              <a:rPr lang="en-IN" sz="2600" dirty="0">
                <a:latin typeface="Courier New" panose="02070309020205020404" pitchFamily="49" charset="0"/>
                <a:cs typeface="Courier New" panose="02070309020205020404" pitchFamily="49" charset="0"/>
              </a:rPr>
              <a:t>statements</a:t>
            </a:r>
            <a:r>
              <a:rPr lang="en-IN" sz="3200" dirty="0"/>
              <a:t> are the statements identified by the label</a:t>
            </a:r>
          </a:p>
        </p:txBody>
      </p:sp>
    </p:spTree>
    <p:extLst>
      <p:ext uri="{BB962C8B-B14F-4D97-AF65-F5344CB8AC3E}">
        <p14:creationId xmlns:p14="http://schemas.microsoft.com/office/powerpoint/2010/main" val="2422497647"/>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Presentation1" id="{276F6C23-6457-4163-906F-9FD71B1D340C}" vid="{9A4A37B5-06EA-4573-8274-FD94E47E4E80}"/>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4053</Words>
  <Application>Microsoft Office PowerPoint</Application>
  <PresentationFormat>On-screen Show (4:3)</PresentationFormat>
  <Paragraphs>428</Paragraphs>
  <Slides>70</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70</vt:i4>
      </vt:variant>
    </vt:vector>
  </HeadingPairs>
  <TitlesOfParts>
    <vt:vector size="79" baseType="lpstr">
      <vt:lpstr>arial</vt:lpstr>
      <vt:lpstr>arial</vt:lpstr>
      <vt:lpstr>Courier New</vt:lpstr>
      <vt:lpstr>Helvetica</vt:lpstr>
      <vt:lpstr>LucidaGrande</vt:lpstr>
      <vt:lpstr>Open Sans</vt:lpstr>
      <vt:lpstr>Summer Font</vt:lpstr>
      <vt:lpstr>Times New Roman</vt:lpstr>
      <vt:lpstr>Office Theme</vt:lpstr>
      <vt:lpstr>Tutorial 10</vt:lpstr>
      <vt:lpstr>Objectives</vt:lpstr>
      <vt:lpstr>Introducing the Monthly Calendar</vt:lpstr>
      <vt:lpstr>Introducing the Monthly Calendar (continued 1)</vt:lpstr>
      <vt:lpstr>Introducing the Monthly Calendar (continued 2)</vt:lpstr>
      <vt:lpstr>Reviewing the Calendar Structure</vt:lpstr>
      <vt:lpstr>Reviewing the Calendar Structure (continued)</vt:lpstr>
      <vt:lpstr>Adding the calendar() Function</vt:lpstr>
      <vt:lpstr>Adding the calendar() Function (continued)</vt:lpstr>
      <vt:lpstr>Introducing Arrays</vt:lpstr>
      <vt:lpstr>Introducing Arrays (continued 1)</vt:lpstr>
      <vt:lpstr>Introducing Arrays (continued 2)</vt:lpstr>
      <vt:lpstr>Creating and Populating an Array</vt:lpstr>
      <vt:lpstr>Creating and Populating an Array (continued 1)</vt:lpstr>
      <vt:lpstr>Creating and Populating an Array (continued 2)</vt:lpstr>
      <vt:lpstr>Creating and Populating an Array (continued 3)</vt:lpstr>
      <vt:lpstr>Creating and Populating an Array (continued 4)</vt:lpstr>
      <vt:lpstr>Working with Array Length</vt:lpstr>
      <vt:lpstr>Working with Array Length (continued)</vt:lpstr>
      <vt:lpstr>Reversing an Array</vt:lpstr>
      <vt:lpstr>Sorting an Array</vt:lpstr>
      <vt:lpstr>Sorting an Array (continued 1)</vt:lpstr>
      <vt:lpstr>Sorting an Array (continued 2)</vt:lpstr>
      <vt:lpstr>Sorting an Array (continued 3)</vt:lpstr>
      <vt:lpstr>Sorting an Array (continued 4)</vt:lpstr>
      <vt:lpstr>Extracting and Inserting Array Items</vt:lpstr>
      <vt:lpstr>Extracting and Inserting Array Items (continued)</vt:lpstr>
      <vt:lpstr>Using Arrays as Data Stacks</vt:lpstr>
      <vt:lpstr>Using Arrays as Data Stacks (continued 1)</vt:lpstr>
      <vt:lpstr>Using Arrays as Data Stacks (continued 2)</vt:lpstr>
      <vt:lpstr>Using Arrays as Data Stacks (continued 3)</vt:lpstr>
      <vt:lpstr>Using Arrays as Data Stacks (continued 4)</vt:lpstr>
      <vt:lpstr>Working with Program Loops</vt:lpstr>
      <vt:lpstr>Exploring the for Loop</vt:lpstr>
      <vt:lpstr>Exploring the for Loop (continued 1)</vt:lpstr>
      <vt:lpstr>Exploring the for Loop (continued 2)</vt:lpstr>
      <vt:lpstr>Exploring the for Loop (continued 3)</vt:lpstr>
      <vt:lpstr>Exploring the while Loop</vt:lpstr>
      <vt:lpstr>Exploring the do/while Loop</vt:lpstr>
      <vt:lpstr>Comparison and Logical Operators</vt:lpstr>
      <vt:lpstr>Comparison and Logical Operators (continued 1)</vt:lpstr>
      <vt:lpstr>Comparison and Logical Operators (continued 2)</vt:lpstr>
      <vt:lpstr>Comparison and Logical Operators (continued 3)</vt:lpstr>
      <vt:lpstr>Program Loops and Arrays</vt:lpstr>
      <vt:lpstr>Array Methods to Loop Through Arrays</vt:lpstr>
      <vt:lpstr>Array Methods to Loop Through Arrays (continued 1)</vt:lpstr>
      <vt:lpstr>Array Methods to Loop Through Arrays (continued 2)</vt:lpstr>
      <vt:lpstr>Running a Function for Each Array Item</vt:lpstr>
      <vt:lpstr>Mapping an Array</vt:lpstr>
      <vt:lpstr>Filtering an Array</vt:lpstr>
      <vt:lpstr>Filtering an Array (continued 1)</vt:lpstr>
      <vt:lpstr>Filtering an Array (continued 2)</vt:lpstr>
      <vt:lpstr>Filtering an Array (continued 3)</vt:lpstr>
      <vt:lpstr>Introducing Conditional Statements</vt:lpstr>
      <vt:lpstr>Exploring the if Statement</vt:lpstr>
      <vt:lpstr>Exploring the if Statement (continued)</vt:lpstr>
      <vt:lpstr>Nesting if Statements</vt:lpstr>
      <vt:lpstr>Nesting if Statements (continued)</vt:lpstr>
      <vt:lpstr>Exploring the if else Statement</vt:lpstr>
      <vt:lpstr>Using Multiple else if Statements</vt:lpstr>
      <vt:lpstr>Completing the Calendar App</vt:lpstr>
      <vt:lpstr>Completing the Calendar App (continued)</vt:lpstr>
      <vt:lpstr>Setting the First Day of the Month</vt:lpstr>
      <vt:lpstr>Placing the First Day of the Month</vt:lpstr>
      <vt:lpstr>Writing the Calendar Days</vt:lpstr>
      <vt:lpstr>Highlighting the Current Date</vt:lpstr>
      <vt:lpstr>Displaying Daily Events</vt:lpstr>
      <vt:lpstr>Exploring the break Command</vt:lpstr>
      <vt:lpstr>Exploring the continue Command</vt:lpstr>
      <vt:lpstr>Exploring Statement Labels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2019-11-07T19:32:30Z</dcterms:modified>
</cp:coreProperties>
</file>