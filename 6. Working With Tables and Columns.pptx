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68"/>
  </p:notesMasterIdLst>
  <p:handoutMasterIdLst>
    <p:handoutMasterId r:id="rId69"/>
  </p:handoutMasterIdLst>
  <p:sldIdLst>
    <p:sldId id="258" r:id="rId2"/>
    <p:sldId id="309" r:id="rId3"/>
    <p:sldId id="383" r:id="rId4"/>
    <p:sldId id="444" r:id="rId5"/>
    <p:sldId id="445" r:id="rId6"/>
    <p:sldId id="446" r:id="rId7"/>
    <p:sldId id="447" r:id="rId8"/>
    <p:sldId id="448" r:id="rId9"/>
    <p:sldId id="449" r:id="rId10"/>
    <p:sldId id="450" r:id="rId11"/>
    <p:sldId id="451" r:id="rId12"/>
    <p:sldId id="452" r:id="rId13"/>
    <p:sldId id="453" r:id="rId14"/>
    <p:sldId id="454" r:id="rId15"/>
    <p:sldId id="455" r:id="rId16"/>
    <p:sldId id="456" r:id="rId17"/>
    <p:sldId id="457" r:id="rId18"/>
    <p:sldId id="458" r:id="rId19"/>
    <p:sldId id="459" r:id="rId20"/>
    <p:sldId id="460" r:id="rId21"/>
    <p:sldId id="461" r:id="rId22"/>
    <p:sldId id="462" r:id="rId23"/>
    <p:sldId id="463" r:id="rId24"/>
    <p:sldId id="464" r:id="rId25"/>
    <p:sldId id="465" r:id="rId26"/>
    <p:sldId id="466" r:id="rId27"/>
    <p:sldId id="467" r:id="rId28"/>
    <p:sldId id="468" r:id="rId29"/>
    <p:sldId id="469" r:id="rId30"/>
    <p:sldId id="470" r:id="rId31"/>
    <p:sldId id="471" r:id="rId32"/>
    <p:sldId id="472" r:id="rId33"/>
    <p:sldId id="473" r:id="rId34"/>
    <p:sldId id="505" r:id="rId35"/>
    <p:sldId id="506" r:id="rId36"/>
    <p:sldId id="474" r:id="rId37"/>
    <p:sldId id="475" r:id="rId38"/>
    <p:sldId id="476" r:id="rId39"/>
    <p:sldId id="477" r:id="rId40"/>
    <p:sldId id="478" r:id="rId41"/>
    <p:sldId id="480" r:id="rId42"/>
    <p:sldId id="479" r:id="rId43"/>
    <p:sldId id="481" r:id="rId44"/>
    <p:sldId id="484" r:id="rId45"/>
    <p:sldId id="482" r:id="rId46"/>
    <p:sldId id="483" r:id="rId47"/>
    <p:sldId id="485" r:id="rId48"/>
    <p:sldId id="486" r:id="rId49"/>
    <p:sldId id="487" r:id="rId50"/>
    <p:sldId id="488" r:id="rId51"/>
    <p:sldId id="489" r:id="rId52"/>
    <p:sldId id="490" r:id="rId53"/>
    <p:sldId id="491" r:id="rId54"/>
    <p:sldId id="492" r:id="rId55"/>
    <p:sldId id="493" r:id="rId56"/>
    <p:sldId id="494" r:id="rId57"/>
    <p:sldId id="495" r:id="rId58"/>
    <p:sldId id="496" r:id="rId59"/>
    <p:sldId id="497" r:id="rId60"/>
    <p:sldId id="498" r:id="rId61"/>
    <p:sldId id="499" r:id="rId62"/>
    <p:sldId id="500" r:id="rId63"/>
    <p:sldId id="501" r:id="rId64"/>
    <p:sldId id="502" r:id="rId65"/>
    <p:sldId id="503" r:id="rId66"/>
    <p:sldId id="504" r:id="rId67"/>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4" autoAdjust="0"/>
    <p:restoredTop sz="93849" autoAdjust="0"/>
  </p:normalViewPr>
  <p:slideViewPr>
    <p:cSldViewPr snapToGrid="0">
      <p:cViewPr varScale="1">
        <p:scale>
          <a:sx n="65" d="100"/>
          <a:sy n="65" d="100"/>
        </p:scale>
        <p:origin x="1723"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1" d="100"/>
        <a:sy n="81" d="100"/>
      </p:scale>
      <p:origin x="0" y="0"/>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06</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019908" y="3619986"/>
            <a:ext cx="7080738" cy="597477"/>
          </a:xfrm>
        </p:spPr>
        <p:txBody>
          <a:bodyPr>
            <a:normAutofit lnSpcReduction="10000"/>
          </a:bodyPr>
          <a:lstStyle/>
          <a:p>
            <a:r>
              <a:rPr lang="en-US" sz="3400" b="1" dirty="0">
                <a:solidFill>
                  <a:srgbClr val="FFFFFF"/>
                </a:solidFill>
              </a:rPr>
              <a:t>Working with Tables and Columns </a:t>
            </a:r>
            <a:br>
              <a:rPr lang="en-US" sz="3400" b="1" dirty="0">
                <a:solidFill>
                  <a:srgbClr val="FFFFFF"/>
                </a:solidFill>
              </a:rPr>
            </a:br>
            <a:endParaRPr lang="en-US"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Explore the structure of a web table</a:t>
            </a:r>
          </a:p>
          <a:p>
            <a:r>
              <a:rPr lang="en-US" dirty="0"/>
              <a:t>Create table heading and data cells</a:t>
            </a:r>
          </a:p>
          <a:p>
            <a:r>
              <a:rPr lang="en-US" dirty="0"/>
              <a:t>Apply CSS styles to a table</a:t>
            </a:r>
          </a:p>
          <a:p>
            <a:r>
              <a:rPr lang="en-US" dirty="0"/>
              <a:t>Create cells that span multiple rows and columns</a:t>
            </a:r>
          </a:p>
          <a:p>
            <a:r>
              <a:rPr lang="en-US" dirty="0"/>
              <a:t>Add a caption to a table </a:t>
            </a:r>
            <a:br>
              <a:rPr lang="en-US" dirty="0"/>
            </a:br>
            <a:endParaRPr lang="en-US" dirty="0"/>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Create row and column groups</a:t>
            </a:r>
          </a:p>
          <a:p>
            <a:r>
              <a:rPr lang="en-US" dirty="0"/>
              <a:t>Apply styles to row and column groups</a:t>
            </a:r>
          </a:p>
          <a:p>
            <a:r>
              <a:rPr lang="en-US" dirty="0"/>
              <a:t>Display page elements in table form</a:t>
            </a:r>
          </a:p>
          <a:p>
            <a:r>
              <a:rPr lang="en-US" dirty="0"/>
              <a:t>Create a multi-column layout</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a Web Table</a:t>
            </a:r>
          </a:p>
        </p:txBody>
      </p:sp>
      <p:pic>
        <p:nvPicPr>
          <p:cNvPr id="5" name="Picture Placeholder 4" descr="This figure shows the structure of a web table. It consists of a table and five rectangular boxes.&#10;The table has 8 columns and 5 rows containing several data cells.&#10;The header of column 1 reads “Time”, the header of column 2 reads “Mon”, the header of column 3 reads “Tue”, the header of column 4 reads “Wed”, the header of column 5 reads “Thu”, the header of column 6 reads “Fri”, the header of column 7 reads “Sat”, and the header of column 8 reads “Sun”.&#10;In row 2, column 1 reads “6:00 PM” and column 2 reads “National news”. Column 2 merges with the rest of the columns.&#10;In row 3, column 1 reads “6:30 PM” and column 2 reads “World news”. Column 2 merges with the rest of the columns.&#10;In row 4, column 1 reads “7:00 PM”, column 2 reads “Opera Fest”, column 3 reads “Radio U”, column 4 reads “Science Week”, column 5 reads “The Living World”, column 6 reads “Word Play”, column 7 reads “Agri-Week”, and column 8 reads “Folk Fest”.&#10;Column 2 of row 4 merges with column 2 of row 5. Column 3 of row 4 merges with column 3 of row 5. Column 4 of row 4 merges with column 4 of row 5. Column 5 of row 4 merges with column 5 of row 5.&#10;In row 5, column 1 reads “7:30 PM”, column 6 reads “Brain Stew”, and column 7 reads “Bismarck Forum”.&#10;A text that reads “All Times Central” is positioned at the bottom-right corner of the table.&#10;The first rectangular box labeled “The first table row is made up of all header cells.” is positioned at the left corner above the table. An arrow originating from this rectangular box points to column 2 of row 1.&#10;&#10;The second rectangular box labeled “The browser renders the web table with bold headers and spanning cells.” is positioned at the right side of the first rectangular box. An arrow originating from the second rectangular box points to the table.&#10;&#10;The third rectangular box labeled “The two data cells span seven columns.” is positioned at the right side of the second rectangular box. An arrow originating from the third rectangular box splits into two, where the first arrow points to column 2 of row 2 and the second arrow points to column 2 of row 3.&#10;&#10;The fourth rectangular box labeled “These four data cells span two rows each.” is positioned below the table. An arrow originating from this rectangular box collectively points to columns 2, 3, 4, and 5 of rows 4 and 5 of the table.&#10;&#10;The fifth rectangular box labeled “The table caption is placed at the bottom-right corner of the table.” is positioned at the right side of the fourth rectangular box. An arrow originating from the fifth rectangular box points to the text at the bottom-right corner of the table." title="Structure of a web table"/>
          <p:cNvPicPr>
            <a:picLocks noGrp="1" noChangeAspect="1"/>
          </p:cNvPicPr>
          <p:nvPr>
            <p:ph type="pic" sz="quarter" idx="10"/>
          </p:nvPr>
        </p:nvPicPr>
        <p:blipFill>
          <a:blip r:embed="rId2"/>
          <a:stretch>
            <a:fillRect/>
          </a:stretch>
        </p:blipFill>
        <p:spPr>
          <a:xfrm>
            <a:off x="1112207" y="1828106"/>
            <a:ext cx="6919585" cy="3080780"/>
          </a:xfrm>
          <a:prstGeom prst="rect">
            <a:avLst/>
          </a:prstGeom>
        </p:spPr>
      </p:pic>
    </p:spTree>
    <p:extLst>
      <p:ext uri="{BB962C8B-B14F-4D97-AF65-F5344CB8AC3E}">
        <p14:creationId xmlns:p14="http://schemas.microsoft.com/office/powerpoint/2010/main" val="1599333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Web Tables</a:t>
            </a:r>
          </a:p>
        </p:txBody>
      </p:sp>
      <p:sp>
        <p:nvSpPr>
          <p:cNvPr id="3" name="Text Placeholder 2"/>
          <p:cNvSpPr>
            <a:spLocks noGrp="1"/>
          </p:cNvSpPr>
          <p:nvPr>
            <p:ph type="body" sz="quarter" idx="17"/>
          </p:nvPr>
        </p:nvSpPr>
        <p:spPr/>
        <p:txBody>
          <a:bodyPr/>
          <a:lstStyle/>
          <a:p>
            <a:r>
              <a:rPr lang="en-US" b="1" dirty="0"/>
              <a:t>Web table</a:t>
            </a:r>
          </a:p>
          <a:p>
            <a:pPr lvl="1"/>
            <a:r>
              <a:rPr lang="en-US" dirty="0"/>
              <a:t>HTML structure that consists of multiple table rows</a:t>
            </a:r>
          </a:p>
          <a:p>
            <a:pPr lvl="1"/>
            <a:r>
              <a:rPr lang="en-US" dirty="0"/>
              <a:t>Each table row contains one or more table cells</a:t>
            </a:r>
          </a:p>
          <a:p>
            <a:pPr lvl="1"/>
            <a:r>
              <a:rPr lang="en-US" dirty="0"/>
              <a:t>The cells themselves can contain additional HTML elements</a:t>
            </a:r>
          </a:p>
          <a:p>
            <a:pPr lvl="1"/>
            <a:r>
              <a:rPr lang="en-US" dirty="0"/>
              <a:t>Effective tool for organizing and classifying web page content</a:t>
            </a:r>
          </a:p>
          <a:p>
            <a:pPr lvl="1"/>
            <a:r>
              <a:rPr lang="en-US" dirty="0"/>
              <a:t>Consists of a </a:t>
            </a:r>
            <a:r>
              <a:rPr lang="en-US" sz="2600" dirty="0">
                <a:latin typeface="Courier New" panose="02070309020205020404" pitchFamily="49" charset="0"/>
                <a:cs typeface="Courier New" panose="02070309020205020404" pitchFamily="49" charset="0"/>
              </a:rPr>
              <a:t>table</a:t>
            </a:r>
            <a:r>
              <a:rPr lang="en-US" dirty="0"/>
              <a:t> element</a:t>
            </a:r>
          </a:p>
        </p:txBody>
      </p:sp>
    </p:spTree>
    <p:extLst>
      <p:ext uri="{BB962C8B-B14F-4D97-AF65-F5344CB8AC3E}">
        <p14:creationId xmlns:p14="http://schemas.microsoft.com/office/powerpoint/2010/main" val="2659968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Tables and Table Rows</a:t>
            </a:r>
          </a:p>
        </p:txBody>
      </p:sp>
      <p:sp>
        <p:nvSpPr>
          <p:cNvPr id="3" name="Text Placeholder 2"/>
          <p:cNvSpPr>
            <a:spLocks noGrp="1"/>
          </p:cNvSpPr>
          <p:nvPr>
            <p:ph type="body" sz="quarter" idx="17"/>
          </p:nvPr>
        </p:nvSpPr>
        <p:spPr/>
        <p:txBody>
          <a:bodyPr/>
          <a:lstStyle/>
          <a:p>
            <a:r>
              <a:rPr lang="en-US" dirty="0"/>
              <a:t>A </a:t>
            </a:r>
            <a:r>
              <a:rPr lang="en-US" sz="2600" dirty="0">
                <a:latin typeface="Courier New" panose="02070309020205020404" pitchFamily="49" charset="0"/>
                <a:cs typeface="Courier New" panose="02070309020205020404" pitchFamily="49" charset="0"/>
              </a:rPr>
              <a:t>table</a:t>
            </a:r>
            <a:r>
              <a:rPr lang="en-US" dirty="0"/>
              <a:t> element contains a collection of table rows marked using the </a:t>
            </a:r>
            <a:r>
              <a:rPr lang="en-US" sz="2600" dirty="0">
                <a:latin typeface="Courier New" panose="02070309020205020404" pitchFamily="49" charset="0"/>
                <a:cs typeface="Courier New" panose="02070309020205020404" pitchFamily="49" charset="0"/>
              </a:rPr>
              <a:t>tr</a:t>
            </a:r>
            <a:r>
              <a:rPr lang="en-US" dirty="0"/>
              <a:t> (table row) element</a:t>
            </a:r>
          </a:p>
          <a:p>
            <a:r>
              <a:rPr lang="en-US" dirty="0"/>
              <a:t>A table contains cells within each row</a:t>
            </a:r>
          </a:p>
          <a:p>
            <a:r>
              <a:rPr lang="en-US" dirty="0"/>
              <a:t>Size of a table is defined by</a:t>
            </a:r>
          </a:p>
          <a:p>
            <a:pPr lvl="1"/>
            <a:r>
              <a:rPr lang="en-US" dirty="0"/>
              <a:t>Number of table rows</a:t>
            </a:r>
          </a:p>
          <a:p>
            <a:pPr lvl="1"/>
            <a:r>
              <a:rPr lang="en-US" dirty="0"/>
              <a:t>Number of cells within rows</a:t>
            </a:r>
          </a:p>
        </p:txBody>
      </p:sp>
    </p:spTree>
    <p:extLst>
      <p:ext uri="{BB962C8B-B14F-4D97-AF65-F5344CB8AC3E}">
        <p14:creationId xmlns:p14="http://schemas.microsoft.com/office/powerpoint/2010/main" val="3973435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Tables and Table Rows (continued 1)</a:t>
            </a:r>
          </a:p>
        </p:txBody>
      </p:sp>
      <p:sp>
        <p:nvSpPr>
          <p:cNvPr id="3" name="Text Placeholder 2"/>
          <p:cNvSpPr>
            <a:spLocks noGrp="1"/>
          </p:cNvSpPr>
          <p:nvPr>
            <p:ph type="body" sz="quarter" idx="17"/>
          </p:nvPr>
        </p:nvSpPr>
        <p:spPr/>
        <p:txBody>
          <a:bodyPr/>
          <a:lstStyle/>
          <a:p>
            <a:r>
              <a:rPr lang="en-US" dirty="0"/>
              <a:t>General structure of a web table:</a:t>
            </a:r>
          </a:p>
          <a:p>
            <a:pPr marL="457200" lvl="1" indent="0">
              <a:buNone/>
            </a:pPr>
            <a:r>
              <a:rPr lang="en-US" sz="2600" dirty="0">
                <a:latin typeface="Courier New" panose="02070309020205020404" pitchFamily="49" charset="0"/>
                <a:cs typeface="Courier New" panose="02070309020205020404" pitchFamily="49" charset="0"/>
              </a:rPr>
              <a:t>&lt;table&gt;</a:t>
            </a:r>
          </a:p>
          <a:p>
            <a:pPr marL="457200" lvl="1" indent="0">
              <a:buNone/>
            </a:pPr>
            <a:r>
              <a:rPr lang="en-US" sz="2600" dirty="0">
                <a:latin typeface="Courier New" panose="02070309020205020404" pitchFamily="49" charset="0"/>
                <a:cs typeface="Courier New" panose="02070309020205020404" pitchFamily="49" charset="0"/>
              </a:rPr>
              <a:t>		&lt;tr&gt;</a:t>
            </a:r>
          </a:p>
          <a:p>
            <a:pPr marL="457200" lvl="1" indent="0">
              <a:buNone/>
            </a:pPr>
            <a:r>
              <a:rPr lang="en-US" sz="2600" dirty="0">
                <a:latin typeface="Courier New" panose="02070309020205020404" pitchFamily="49" charset="0"/>
                <a:cs typeface="Courier New" panose="02070309020205020404" pitchFamily="49" charset="0"/>
              </a:rPr>
              <a:t>			table cells</a:t>
            </a:r>
          </a:p>
          <a:p>
            <a:pPr marL="457200" lvl="1" indent="0">
              <a:buNone/>
            </a:pPr>
            <a:r>
              <a:rPr lang="en-US" sz="2600" dirty="0">
                <a:latin typeface="Courier New" panose="02070309020205020404" pitchFamily="49" charset="0"/>
                <a:cs typeface="Courier New" panose="02070309020205020404" pitchFamily="49" charset="0"/>
              </a:rPr>
              <a:t>		&lt;/tr&gt;</a:t>
            </a:r>
          </a:p>
          <a:p>
            <a:pPr marL="457200" lvl="1" indent="0">
              <a:buNone/>
            </a:pPr>
            <a:r>
              <a:rPr lang="en-US" sz="2600" dirty="0">
                <a:latin typeface="Courier New" panose="02070309020205020404" pitchFamily="49" charset="0"/>
                <a:cs typeface="Courier New" panose="02070309020205020404" pitchFamily="49" charset="0"/>
              </a:rPr>
              <a:t>		&lt;tr&gt;</a:t>
            </a:r>
          </a:p>
          <a:p>
            <a:pPr marL="457200" lvl="1" indent="0">
              <a:buNone/>
            </a:pPr>
            <a:r>
              <a:rPr lang="en-US" sz="2600" dirty="0">
                <a:latin typeface="Courier New" panose="02070309020205020404" pitchFamily="49" charset="0"/>
                <a:cs typeface="Courier New" panose="02070309020205020404" pitchFamily="49" charset="0"/>
              </a:rPr>
              <a:t>			table cells</a:t>
            </a:r>
          </a:p>
          <a:p>
            <a:pPr marL="457200" lvl="1" indent="0">
              <a:buNone/>
            </a:pPr>
            <a:r>
              <a:rPr lang="en-US" sz="2600" dirty="0">
                <a:latin typeface="Courier New" panose="02070309020205020404" pitchFamily="49" charset="0"/>
                <a:cs typeface="Courier New" panose="02070309020205020404" pitchFamily="49" charset="0"/>
              </a:rPr>
              <a:t>		&lt;/tr&gt;</a:t>
            </a:r>
          </a:p>
          <a:p>
            <a:pPr marL="457200" lvl="1" indent="0">
              <a:buNone/>
            </a:pPr>
            <a:r>
              <a:rPr lang="en-US" sz="2600" dirty="0">
                <a:latin typeface="Courier New" panose="02070309020205020404" pitchFamily="49" charset="0"/>
                <a:cs typeface="Courier New" panose="02070309020205020404" pitchFamily="49" charset="0"/>
              </a:rPr>
              <a:t>		…</a:t>
            </a:r>
          </a:p>
          <a:p>
            <a:pPr marL="457200" lvl="1" indent="0">
              <a:buNone/>
            </a:pPr>
            <a:r>
              <a:rPr lang="en-US" sz="2600" dirty="0">
                <a:latin typeface="Courier New" panose="02070309020205020404" pitchFamily="49" charset="0"/>
                <a:cs typeface="Courier New" panose="02070309020205020404" pitchFamily="49" charset="0"/>
              </a:rPr>
              <a:t>	&lt;/table&gt;</a:t>
            </a:r>
            <a:endParaRPr lang="en-US" dirty="0"/>
          </a:p>
          <a:p>
            <a:endParaRPr lang="en-US" dirty="0"/>
          </a:p>
        </p:txBody>
      </p:sp>
    </p:spTree>
    <p:extLst>
      <p:ext uri="{BB962C8B-B14F-4D97-AF65-F5344CB8AC3E}">
        <p14:creationId xmlns:p14="http://schemas.microsoft.com/office/powerpoint/2010/main" val="902655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Tables and Table Rows (continued 2)</a:t>
            </a:r>
          </a:p>
        </p:txBody>
      </p:sp>
      <p:pic>
        <p:nvPicPr>
          <p:cNvPr id="6" name="Picture Placeholder 5" descr="This figure explains how to mark a table and table rows.&#10;&#10;The figure consists of a few lines of code and three rectangular boxes.&#10;&#10;The first line of the code reads “&lt;section id=“main”&gt;”. The second line of the code reads “&lt;img src=“dlr_logo.png” alt=“DLR” /&gt;”. The third line of the code reads “&lt;h2&gt;DLR Nightly Schedule&lt;/h2&gt;”. The fourth line of the code reads “&lt;p&gt;DLR airs listener-supported public radio in Bismarck, North Dakota from 5:00 a.m. to 10:30 p.m. You can &lt;a href=“#”&gt;Listen Live&lt;/a&gt; to streaming audio of our broadcast. Please refer below for our current nightly schedule.&lt;/p&gt;”. The fifth line of the code reads “&lt;table class=“schedule”&gt;”. The sixth line of the code reads “&lt;tr&gt;”. The seventh line of the code reads “&lt;/tr&gt;”. The eighth line of the code reads “&lt;tr&gt;”. The ninth line of the code reads “&lt;/tr&gt;”. The tenth line of the code reads “&lt;tr&gt;”. The eleventh line of the code reads “&lt;/tr&gt;”. The twelfth line of the code reads “&lt;/table&gt;”. The thirteenth line of the code reads “&lt;/section&gt;”.&#10;&#10;The first rectangular box labeled “table element marks the web table” is positioned at the left side of the code. An arrow originating from this rectangular box points to the fifth line of the code.&#10;&#10;The second rectangular box labeled “tr element marks each table row” is positioned below the first rectangular box. An arrow originating from the second rectangular box points from the sixth line to the eleventh line of the code.&#10;&#10;The third rectangular box labeled “class attribute with a value of “schedule” sets this table in its own class” is positioned at the right side of the second rectangular box. An arrow originating from the third rectangular box points to “class=“schedule”” in the fifth line of the code.&#10;" title="Figure 6-2 Marking a table and table row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28650" y="1600200"/>
            <a:ext cx="7904920" cy="4243546"/>
          </a:xfrm>
          <a:prstGeom prst="rect">
            <a:avLst/>
          </a:prstGeom>
        </p:spPr>
      </p:pic>
    </p:spTree>
    <p:extLst>
      <p:ext uri="{BB962C8B-B14F-4D97-AF65-F5344CB8AC3E}">
        <p14:creationId xmlns:p14="http://schemas.microsoft.com/office/powerpoint/2010/main" val="362019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Table Headings and Table Data</a:t>
            </a:r>
          </a:p>
        </p:txBody>
      </p:sp>
      <p:sp>
        <p:nvSpPr>
          <p:cNvPr id="3" name="Text Placeholder 2"/>
          <p:cNvSpPr>
            <a:spLocks noGrp="1"/>
          </p:cNvSpPr>
          <p:nvPr>
            <p:ph type="body" sz="quarter" idx="17"/>
          </p:nvPr>
        </p:nvSpPr>
        <p:spPr/>
        <p:txBody>
          <a:bodyPr>
            <a:normAutofit lnSpcReduction="10000"/>
          </a:bodyPr>
          <a:lstStyle/>
          <a:p>
            <a:r>
              <a:rPr lang="en-US" dirty="0"/>
              <a:t>Web tables support two types of table cells</a:t>
            </a:r>
          </a:p>
          <a:p>
            <a:pPr lvl="1"/>
            <a:r>
              <a:rPr lang="en-US" dirty="0"/>
              <a:t>Header cells</a:t>
            </a:r>
          </a:p>
          <a:p>
            <a:pPr lvl="2"/>
            <a:r>
              <a:rPr lang="en-US" dirty="0"/>
              <a:t>Contains content placed at the top of a column or beginning of a row</a:t>
            </a:r>
          </a:p>
          <a:p>
            <a:pPr lvl="2"/>
            <a:r>
              <a:rPr lang="en-US" dirty="0"/>
              <a:t>By default, displays text in bold and centers text horizontally</a:t>
            </a:r>
          </a:p>
          <a:p>
            <a:pPr lvl="2"/>
            <a:r>
              <a:rPr lang="en-US" dirty="0"/>
              <a:t>Marked using the </a:t>
            </a:r>
            <a:r>
              <a:rPr lang="en-US" sz="2600" dirty="0">
                <a:latin typeface="Courier New" panose="02070309020205020404" pitchFamily="49" charset="0"/>
                <a:cs typeface="Courier New" panose="02070309020205020404" pitchFamily="49" charset="0"/>
              </a:rPr>
              <a:t>th</a:t>
            </a:r>
            <a:r>
              <a:rPr lang="en-US" dirty="0"/>
              <a:t> element</a:t>
            </a:r>
          </a:p>
          <a:p>
            <a:pPr lvl="1"/>
            <a:r>
              <a:rPr lang="en-US" dirty="0"/>
              <a:t>Data cells</a:t>
            </a:r>
          </a:p>
          <a:p>
            <a:pPr lvl="2"/>
            <a:r>
              <a:rPr lang="en-US" dirty="0"/>
              <a:t>Contains content within columns or rows</a:t>
            </a:r>
          </a:p>
          <a:p>
            <a:pPr lvl="2"/>
            <a:r>
              <a:rPr lang="en-US" dirty="0"/>
              <a:t>By default, displays text as unformatted text and is aligned to the left within the cell</a:t>
            </a:r>
          </a:p>
          <a:p>
            <a:pPr lvl="2"/>
            <a:r>
              <a:rPr lang="en-US" dirty="0"/>
              <a:t>Marked using the </a:t>
            </a:r>
            <a:r>
              <a:rPr lang="en-US" sz="2600" dirty="0">
                <a:latin typeface="Courier New" panose="02070309020205020404" pitchFamily="49" charset="0"/>
                <a:cs typeface="Courier New" panose="02070309020205020404" pitchFamily="49" charset="0"/>
              </a:rPr>
              <a:t>td</a:t>
            </a:r>
            <a:r>
              <a:rPr lang="en-US" dirty="0"/>
              <a:t> element</a:t>
            </a:r>
          </a:p>
          <a:p>
            <a:pPr lvl="2"/>
            <a:endParaRPr lang="en-US" dirty="0"/>
          </a:p>
        </p:txBody>
      </p:sp>
    </p:spTree>
    <p:extLst>
      <p:ext uri="{BB962C8B-B14F-4D97-AF65-F5344CB8AC3E}">
        <p14:creationId xmlns:p14="http://schemas.microsoft.com/office/powerpoint/2010/main" val="3436533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Table Headings and Table Data (continued 1)</a:t>
            </a:r>
          </a:p>
        </p:txBody>
      </p:sp>
      <p:pic>
        <p:nvPicPr>
          <p:cNvPr id="5" name="Content Placeholder 5" descr="This figure explains how to mark table header cells.&#10;&#10;The figure consists of a few lines of code and two rectangular boxes.&#10;&#10;The first line of the code reads “&lt;table class=“schedule”&gt;”. The second line of the code reads “&lt;tr&gt;”. The third line of the code reads “&lt;th&gt;Time&lt;/th&gt;”. The fourth line of the code reads “&lt;th&gt;Mon&lt;/th&gt;”. The fifth line of the code reads “&lt;th&gt;Tue&lt;/th&gt;”. The sixth line of the code reads “&lt;th&gt;Wed&lt;/th&gt;”. The seventh line of the code reads “&lt;th&gt;Thu&lt;/th&gt;”. The eighth line of the code reads “&lt;th&gt;Fri&lt;/th&gt;”. The ninth line of the code reads “&lt;th&gt;Sat&lt;/th&gt;”. The tenth line of the code reads “&lt;th&gt;Sun&lt;/th&gt;”. The eleventh line of the code reads “&lt;/tr&gt;”. The twelfth line of the code reads “&lt;tr&gt;”. The thirteenth line of the code reads “&lt;th&gt;6:00 PM &lt;/th&gt;”. The fourteenth line of the code reads “&lt;/tr&gt;”. The fifteenth line of the code reads “&lt;tr&gt;”. The sixteenth line of the code reads “&lt;th&gt;6:30 PM&lt;/th&gt;”. The seventeenth line of the code reads “&lt;/tr&gt;”. The eighteenth line of the code reads “&lt;/table&gt;”.&#10;&#10;The first rectangular box labeled “the th element marks header cells placed in the first row to identify the content of each column” is positioned at the left side of the code. An arrow originating from this rectangular box points from the third line to the tenth line of the code.&#10;&#10;The second rectangular box labeled “header cells at the start of each row identifies the row content” is positioned below the first rectangular box. An arrow originating from the second rectangular box is split into two, where the first arrow points to the thirteenth line and the second arrow points to the sixteenth line of the code.&#10;" title="Figure 6-3 Marking table header cell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27314" y="1566557"/>
            <a:ext cx="6489372" cy="4701976"/>
          </a:xfrm>
          <a:prstGeom prst="rect">
            <a:avLst/>
          </a:prstGeom>
        </p:spPr>
      </p:pic>
    </p:spTree>
    <p:extLst>
      <p:ext uri="{BB962C8B-B14F-4D97-AF65-F5344CB8AC3E}">
        <p14:creationId xmlns:p14="http://schemas.microsoft.com/office/powerpoint/2010/main" val="2029876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Table Headings and Table Data (continued 2)</a:t>
            </a:r>
          </a:p>
        </p:txBody>
      </p:sp>
      <p:pic>
        <p:nvPicPr>
          <p:cNvPr id="4" name="Content Placeholder 1" descr="This figure explains how to mark table data cells.&#10;&#10;The figure consists of a few lines of code and a rectangular box.&#10;&#10;The first line of the code reads “&lt;tr&gt;”. The second line of the code reads “&lt;th&gt;6:00 PM &lt;/th&gt;”. The third line of the code reads “&lt;td&gt;National News&lt;/td&gt;”. The fourth line of the code reads “&lt;td&gt;National News&lt;/td&gt;”. The fifth line of the code reads “&lt;td&gt;National News&lt;/td&gt;”. The sixth line of the code reads “&lt;td&gt;National News&lt;/td&gt;”. The seventh line of the code reads “&lt;td&gt;National News&lt;/td&gt;”. The eighth line of the code reads “&lt;td&gt;National News&lt;/td&gt;”. The ninth line of the code reads “&lt;td&gt;National News&lt;/td&gt;”.The tenth line of the code reads “&lt;/tr&gt;”. The eleventh line of the code reads “&lt;tr&gt;”. The twelfth line of the code reads “&lt;th&gt;6:30 PM &lt;/th&gt;”. The thirteenth line of the code reads “&lt;td&gt;World News&lt;/td&gt;”. The fourteenth line of the code reads “&lt;td&gt;World News&lt;/td&gt;”. The fifteenth line of the code reads “&lt;td&gt;World News&lt;/td&gt;”. The sixteenth line of the code reads “&lt;td&gt;World News&lt;/td&gt;”. The seventeenth line of the code reads “&lt;td&gt;World News&lt;/td&gt;”. The eighteenth line of the code reads “&lt;td&gt;World News&lt;/td&gt;”. The nineteenth line of the code reads “&lt;td&gt;World News&lt;/td&gt;”. The twentieth line of the code reads “&lt;/tr&gt;”. The twenty-first line of the code reads “&lt;/table&gt;”.&#10;&#10;A rectangular box labeled “the td element marks table cell content that is not considered the head of a row or column” is positioned at the left side of the code. An arrow originating from this rectangular box splits into two, where the first arrow points from the third line to the ninth line of the code and the second arrow points from the thirteenth line to the nineteenth line of the code.&#10;" title="Figure 6-4 Marking table data cell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464985" y="1532271"/>
            <a:ext cx="6214029" cy="4747458"/>
          </a:xfrm>
          <a:prstGeom prst="rect">
            <a:avLst/>
          </a:prstGeom>
        </p:spPr>
      </p:pic>
    </p:spTree>
    <p:extLst>
      <p:ext uri="{BB962C8B-B14F-4D97-AF65-F5344CB8AC3E}">
        <p14:creationId xmlns:p14="http://schemas.microsoft.com/office/powerpoint/2010/main" val="3009680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a:t>
            </a:r>
          </a:p>
        </p:txBody>
      </p:sp>
      <p:sp>
        <p:nvSpPr>
          <p:cNvPr id="3" name="Text Placeholder 2"/>
          <p:cNvSpPr>
            <a:spLocks noGrp="1"/>
          </p:cNvSpPr>
          <p:nvPr>
            <p:ph type="body" sz="quarter" idx="17"/>
          </p:nvPr>
        </p:nvSpPr>
        <p:spPr/>
        <p:txBody>
          <a:bodyPr/>
          <a:lstStyle/>
          <a:p>
            <a:r>
              <a:rPr lang="en-US" dirty="0"/>
              <a:t>The CSS </a:t>
            </a:r>
            <a:r>
              <a:rPr lang="en-US" sz="2600" dirty="0">
                <a:latin typeface="Courier New" panose="02070309020205020404" pitchFamily="49" charset="0"/>
                <a:cs typeface="Courier New" panose="02070309020205020404" pitchFamily="49" charset="0"/>
              </a:rPr>
              <a:t>border</a:t>
            </a:r>
            <a:r>
              <a:rPr lang="en-US" dirty="0"/>
              <a:t> property is used to add borders to any part of a web table</a:t>
            </a:r>
          </a:p>
          <a:p>
            <a:r>
              <a:rPr lang="en-US" dirty="0"/>
              <a:t>Borders need not be of the same style</a:t>
            </a:r>
          </a:p>
          <a:p>
            <a:r>
              <a:rPr lang="en-US" dirty="0"/>
              <a:t>Two style choices for borders</a:t>
            </a:r>
          </a:p>
          <a:p>
            <a:pPr lvl="1"/>
            <a:r>
              <a:rPr lang="en-US" dirty="0"/>
              <a:t>Separate borders</a:t>
            </a:r>
          </a:p>
          <a:p>
            <a:pPr lvl="1"/>
            <a:r>
              <a:rPr lang="en-US" dirty="0"/>
              <a:t>Collapsed borders</a:t>
            </a:r>
          </a:p>
        </p:txBody>
      </p:sp>
    </p:spTree>
    <p:extLst>
      <p:ext uri="{BB962C8B-B14F-4D97-AF65-F5344CB8AC3E}">
        <p14:creationId xmlns:p14="http://schemas.microsoft.com/office/powerpoint/2010/main" val="997685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1)</a:t>
            </a:r>
          </a:p>
        </p:txBody>
      </p:sp>
      <p:pic>
        <p:nvPicPr>
          <p:cNvPr id="5" name="Picture Placeholder 4" descr="This figure shows separate and collapsed borders.&#10;&#10;The figure consists of two big rectangular boxes and nine small rectangular boxes.&#10;The first big rectangular box is vertically positioned with nine small rectangular boxes positioned vertically inside the first rectangular box. The nine small rectangular boxes are positioned in three rows with three boxes in each row.&#10;In row 1, the first small rectangular box reads “A”, the second small rectangular box reads “B”, and the third small rectangular box reads “C”.&#10;In row 2, the first small rectangular box reads “D”, the second small rectangular box reads “E”, and the third small rectangular box reads “F”.&#10;In row 3, the first small rectangular box reads “G”, the second small rectangular box reads “H”, and the third small rectangular box reads “I”.&#10;A text that reads “separate borders” is positioned below the first rectangular box.&#10;&#10;The second rectangular box that is slightly smaller than the first rectangular box is positioned vertically at the right side of the first rectangular box.&#10;The second rectangular box is divided into three rows and three columns.&#10;In row 1, column 1 reads “A”, column 2 reads “B”, and column 3 reads “C”.&#10;In row 2, column 1 reads “D”, column 2 reads “E”, and column 3 reads “F”.&#10;In row 3, column 1 reads “G”, column 2 reads “H”, and column 3 reads “I”.&#10;A text that reads “collapsed borders” is positioned the second rectangular box." title="Figure 6-8 Separate and collapsed borders"/>
          <p:cNvPicPr>
            <a:picLocks noGrp="1" noChangeAspect="1"/>
          </p:cNvPicPr>
          <p:nvPr>
            <p:ph type="pic" sz="quarter" idx="10"/>
          </p:nvPr>
        </p:nvPicPr>
        <p:blipFill>
          <a:blip r:embed="rId2"/>
          <a:stretch>
            <a:fillRect/>
          </a:stretch>
        </p:blipFill>
        <p:spPr>
          <a:xfrm>
            <a:off x="817084" y="1800665"/>
            <a:ext cx="7509831" cy="3408308"/>
          </a:xfrm>
          <a:prstGeom prst="rect">
            <a:avLst/>
          </a:prstGeom>
        </p:spPr>
      </p:pic>
    </p:spTree>
    <p:extLst>
      <p:ext uri="{BB962C8B-B14F-4D97-AF65-F5344CB8AC3E}">
        <p14:creationId xmlns:p14="http://schemas.microsoft.com/office/powerpoint/2010/main" val="4119802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2)</a:t>
            </a:r>
          </a:p>
        </p:txBody>
      </p:sp>
      <p:sp>
        <p:nvSpPr>
          <p:cNvPr id="3" name="Text Placeholder 2"/>
          <p:cNvSpPr>
            <a:spLocks noGrp="1"/>
          </p:cNvSpPr>
          <p:nvPr>
            <p:ph type="body" sz="quarter" idx="17"/>
          </p:nvPr>
        </p:nvSpPr>
        <p:spPr/>
        <p:txBody>
          <a:bodyPr/>
          <a:lstStyle/>
          <a:p>
            <a:r>
              <a:rPr lang="en-US" dirty="0"/>
              <a:t>To choose between separate or collapsed borders model apply the following property to the </a:t>
            </a:r>
            <a:r>
              <a:rPr lang="en-US" sz="2600" dirty="0">
                <a:latin typeface="Courier New" panose="02070309020205020404" pitchFamily="49" charset="0"/>
                <a:cs typeface="Courier New" panose="02070309020205020404" pitchFamily="49" charset="0"/>
              </a:rPr>
              <a:t>table</a:t>
            </a:r>
            <a:r>
              <a:rPr lang="en-US" dirty="0"/>
              <a:t> element:</a:t>
            </a:r>
          </a:p>
          <a:p>
            <a:pPr marL="463550" lvl="2" indent="0">
              <a:buNone/>
            </a:pPr>
            <a:r>
              <a:rPr lang="en-US" sz="2600" dirty="0">
                <a:latin typeface="Courier New" panose="02070309020205020404" pitchFamily="49" charset="0"/>
                <a:cs typeface="Courier New" panose="02070309020205020404" pitchFamily="49" charset="0"/>
              </a:rPr>
              <a:t>border-collapse: type;</a:t>
            </a:r>
          </a:p>
          <a:p>
            <a:pPr marL="463550" lvl="1" indent="0">
              <a:buNone/>
            </a:pPr>
            <a:r>
              <a:rPr lang="en-US" dirty="0"/>
              <a:t>where </a:t>
            </a:r>
            <a:r>
              <a:rPr lang="en-US" sz="2600" dirty="0">
                <a:latin typeface="Courier New" panose="02070309020205020404" pitchFamily="49" charset="0"/>
                <a:cs typeface="Courier New" panose="02070309020205020404" pitchFamily="49" charset="0"/>
              </a:rPr>
              <a:t>type</a:t>
            </a:r>
            <a:r>
              <a:rPr lang="en-US" dirty="0"/>
              <a:t> is either </a:t>
            </a:r>
            <a:r>
              <a:rPr lang="en-US" sz="2600" dirty="0">
                <a:latin typeface="Courier New" panose="02070309020205020404" pitchFamily="49" charset="0"/>
                <a:cs typeface="Courier New" panose="02070309020205020404" pitchFamily="49" charset="0"/>
              </a:rPr>
              <a:t>separate</a:t>
            </a:r>
            <a:r>
              <a:rPr lang="en-US" dirty="0"/>
              <a:t> or </a:t>
            </a:r>
            <a:r>
              <a:rPr lang="en-US" sz="2600" dirty="0">
                <a:latin typeface="Courier New" panose="02070309020205020404" pitchFamily="49" charset="0"/>
                <a:cs typeface="Courier New" panose="02070309020205020404" pitchFamily="49" charset="0"/>
              </a:rPr>
              <a:t>collapse</a:t>
            </a:r>
          </a:p>
          <a:p>
            <a:r>
              <a:rPr lang="en-US" dirty="0"/>
              <a:t>The separate borders model sets the spacing between borders using:</a:t>
            </a:r>
          </a:p>
          <a:p>
            <a:pPr marL="463550" lvl="2" indent="0">
              <a:buNone/>
            </a:pPr>
            <a:r>
              <a:rPr lang="en-US" sz="2600" dirty="0">
                <a:latin typeface="Courier New" panose="02070309020205020404" pitchFamily="49" charset="0"/>
                <a:cs typeface="Courier New" panose="02070309020205020404" pitchFamily="49" charset="0"/>
              </a:rPr>
              <a:t>border-spacing: value</a:t>
            </a:r>
          </a:p>
          <a:p>
            <a:pPr marL="463550" lvl="2" indent="0">
              <a:buNone/>
            </a:pPr>
            <a:r>
              <a:rPr lang="en-US" sz="2800" dirty="0">
                <a:latin typeface="Arial" panose="020B0604020202020204" pitchFamily="34" charset="0"/>
                <a:cs typeface="Arial" panose="020B0604020202020204" pitchFamily="34" charset="0"/>
              </a:rPr>
              <a:t>where </a:t>
            </a:r>
            <a:r>
              <a:rPr lang="en-US" sz="2600" dirty="0">
                <a:latin typeface="Courier New" panose="02070309020205020404" pitchFamily="49" charset="0"/>
                <a:cs typeface="Courier New" panose="02070309020205020404" pitchFamily="49" charset="0"/>
              </a:rPr>
              <a:t>value</a:t>
            </a:r>
            <a:r>
              <a:rPr lang="en-US" sz="2800" dirty="0">
                <a:latin typeface="Arial" panose="020B0604020202020204" pitchFamily="34" charset="0"/>
                <a:cs typeface="Arial" panose="020B0604020202020204" pitchFamily="34" charset="0"/>
              </a:rPr>
              <a:t> is in CSS units of measure</a:t>
            </a:r>
            <a:endParaRPr lang="en-US" dirty="0"/>
          </a:p>
        </p:txBody>
      </p:sp>
    </p:spTree>
    <p:extLst>
      <p:ext uri="{BB962C8B-B14F-4D97-AF65-F5344CB8AC3E}">
        <p14:creationId xmlns:p14="http://schemas.microsoft.com/office/powerpoint/2010/main" val="4118735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3)</a:t>
            </a:r>
          </a:p>
        </p:txBody>
      </p:sp>
      <p:sp>
        <p:nvSpPr>
          <p:cNvPr id="3" name="Text Placeholder 2"/>
          <p:cNvSpPr>
            <a:spLocks noGrp="1"/>
          </p:cNvSpPr>
          <p:nvPr>
            <p:ph type="body" sz="quarter" idx="17"/>
          </p:nvPr>
        </p:nvSpPr>
        <p:spPr/>
        <p:txBody>
          <a:bodyPr/>
          <a:lstStyle/>
          <a:p>
            <a:r>
              <a:rPr lang="en-US" dirty="0"/>
              <a:t>The collapsed borders model</a:t>
            </a:r>
          </a:p>
          <a:p>
            <a:pPr lvl="1"/>
            <a:r>
              <a:rPr lang="en-US" dirty="0"/>
              <a:t>Borders from adjacent elements are merged to form a single border</a:t>
            </a:r>
          </a:p>
          <a:p>
            <a:pPr lvl="1"/>
            <a:r>
              <a:rPr lang="en-US" dirty="0"/>
              <a:t>Borders are joined to combine their features</a:t>
            </a:r>
          </a:p>
          <a:p>
            <a:pPr lvl="1"/>
            <a:r>
              <a:rPr lang="en-US" dirty="0"/>
              <a:t>Combining adjacent borders with different widths, styles, or colors is complicated</a:t>
            </a:r>
          </a:p>
        </p:txBody>
      </p:sp>
    </p:spTree>
    <p:extLst>
      <p:ext uri="{BB962C8B-B14F-4D97-AF65-F5344CB8AC3E}">
        <p14:creationId xmlns:p14="http://schemas.microsoft.com/office/powerpoint/2010/main" val="2940615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4)</a:t>
            </a:r>
          </a:p>
        </p:txBody>
      </p:sp>
      <p:sp>
        <p:nvSpPr>
          <p:cNvPr id="3" name="Text Placeholder 2"/>
          <p:cNvSpPr>
            <a:spLocks noGrp="1"/>
          </p:cNvSpPr>
          <p:nvPr>
            <p:ph type="body" sz="quarter" idx="17"/>
          </p:nvPr>
        </p:nvSpPr>
        <p:spPr/>
        <p:txBody>
          <a:bodyPr>
            <a:normAutofit/>
          </a:bodyPr>
          <a:lstStyle/>
          <a:p>
            <a:r>
              <a:rPr lang="en-US" dirty="0"/>
              <a:t>Five rules to reconcile the differences between adjacent borders</a:t>
            </a:r>
          </a:p>
          <a:p>
            <a:pPr lvl="1"/>
            <a:r>
              <a:rPr lang="en-US" dirty="0"/>
              <a:t>If either border has a style of </a:t>
            </a:r>
            <a:r>
              <a:rPr lang="en-US" dirty="0">
                <a:latin typeface="Courier New" panose="02070309020205020404" pitchFamily="49" charset="0"/>
                <a:cs typeface="Courier New" panose="02070309020205020404" pitchFamily="49" charset="0"/>
              </a:rPr>
              <a:t>hidden</a:t>
            </a:r>
            <a:r>
              <a:rPr lang="en-US" dirty="0"/>
              <a:t>, the collapsed border is hidden</a:t>
            </a:r>
          </a:p>
          <a:p>
            <a:pPr lvl="1"/>
            <a:r>
              <a:rPr lang="en-US" dirty="0"/>
              <a:t>Border style of </a:t>
            </a:r>
            <a:r>
              <a:rPr lang="en-US" dirty="0">
                <a:latin typeface="Courier New" panose="02070309020205020404" pitchFamily="49" charset="0"/>
                <a:cs typeface="Courier New" panose="02070309020205020404" pitchFamily="49" charset="0"/>
              </a:rPr>
              <a:t>none</a:t>
            </a:r>
            <a:r>
              <a:rPr lang="en-US" dirty="0"/>
              <a:t> is overridden by another border style</a:t>
            </a:r>
          </a:p>
          <a:p>
            <a:pPr lvl="1"/>
            <a:r>
              <a:rPr lang="en-US" dirty="0"/>
              <a:t>The style of wider border takes priority over the narrower border if neither border is hidden</a:t>
            </a:r>
          </a:p>
        </p:txBody>
      </p:sp>
    </p:spTree>
    <p:extLst>
      <p:ext uri="{BB962C8B-B14F-4D97-AF65-F5344CB8AC3E}">
        <p14:creationId xmlns:p14="http://schemas.microsoft.com/office/powerpoint/2010/main" val="1489767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5)</a:t>
            </a:r>
          </a:p>
        </p:txBody>
      </p:sp>
      <p:sp>
        <p:nvSpPr>
          <p:cNvPr id="3" name="Text Placeholder 2"/>
          <p:cNvSpPr>
            <a:spLocks noGrp="1"/>
          </p:cNvSpPr>
          <p:nvPr>
            <p:ph type="body" sz="quarter" idx="17"/>
          </p:nvPr>
        </p:nvSpPr>
        <p:spPr/>
        <p:txBody>
          <a:bodyPr>
            <a:normAutofit/>
          </a:bodyPr>
          <a:lstStyle/>
          <a:p>
            <a:r>
              <a:rPr lang="en-US" dirty="0"/>
              <a:t>Five rules (continued)</a:t>
            </a:r>
          </a:p>
          <a:p>
            <a:pPr lvl="1"/>
            <a:r>
              <a:rPr lang="en-US" dirty="0"/>
              <a:t>Double borders have higher precedence followed by solid, dashed, ridge, outset, groove and inset</a:t>
            </a:r>
          </a:p>
          <a:p>
            <a:pPr lvl="1"/>
            <a:r>
              <a:rPr lang="en-US" dirty="0"/>
              <a:t>If borders differ only in color, precedence is given to borders</a:t>
            </a:r>
          </a:p>
        </p:txBody>
      </p:sp>
    </p:spTree>
    <p:extLst>
      <p:ext uri="{BB962C8B-B14F-4D97-AF65-F5344CB8AC3E}">
        <p14:creationId xmlns:p14="http://schemas.microsoft.com/office/powerpoint/2010/main" val="3247765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6)</a:t>
            </a:r>
          </a:p>
        </p:txBody>
      </p:sp>
      <p:sp>
        <p:nvSpPr>
          <p:cNvPr id="3" name="Text Placeholder 2"/>
          <p:cNvSpPr>
            <a:spLocks noGrp="1"/>
          </p:cNvSpPr>
          <p:nvPr>
            <p:ph type="body" sz="quarter" idx="17"/>
          </p:nvPr>
        </p:nvSpPr>
        <p:spPr/>
        <p:txBody>
          <a:bodyPr>
            <a:normAutofit/>
          </a:bodyPr>
          <a:lstStyle/>
          <a:p>
            <a:r>
              <a:rPr lang="en-US" dirty="0"/>
              <a:t>Precedence to borders in decreasing order</a:t>
            </a:r>
          </a:p>
          <a:p>
            <a:pPr lvl="1"/>
            <a:r>
              <a:rPr lang="en-US" dirty="0"/>
              <a:t>Borders around individual table cells</a:t>
            </a:r>
          </a:p>
          <a:p>
            <a:pPr lvl="1"/>
            <a:r>
              <a:rPr lang="en-US" dirty="0"/>
              <a:t>Borders for table rows</a:t>
            </a:r>
          </a:p>
          <a:p>
            <a:pPr lvl="1"/>
            <a:r>
              <a:rPr lang="en-US" dirty="0"/>
              <a:t>Borders for row groups</a:t>
            </a:r>
          </a:p>
          <a:p>
            <a:pPr lvl="1"/>
            <a:r>
              <a:rPr lang="en-US" dirty="0"/>
              <a:t>Borders for columns</a:t>
            </a:r>
          </a:p>
          <a:p>
            <a:pPr lvl="1"/>
            <a:r>
              <a:rPr lang="en-US" dirty="0"/>
              <a:t>Borders for column groups</a:t>
            </a:r>
          </a:p>
          <a:p>
            <a:pPr lvl="1"/>
            <a:r>
              <a:rPr lang="en-US" dirty="0"/>
              <a:t>Borders around the entire table</a:t>
            </a:r>
          </a:p>
        </p:txBody>
      </p:sp>
    </p:spTree>
    <p:extLst>
      <p:ext uri="{BB962C8B-B14F-4D97-AF65-F5344CB8AC3E}">
        <p14:creationId xmlns:p14="http://schemas.microsoft.com/office/powerpoint/2010/main" val="4272281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Table Borders with CSS (continued 7)</a:t>
            </a:r>
          </a:p>
        </p:txBody>
      </p:sp>
      <p:pic>
        <p:nvPicPr>
          <p:cNvPr id="6" name="Picture Placeholder 5" descr="This figure shows how to reconcile hidden borders for separate and collapsed borders.&#10;&#10;The figure consists of two big rectangular boxes, nine small rectangular boxes, and two code snippets.&#10;&#10;Nine small rectangular boxes are positioned vertically in rows of three each below a text that reads “separate borders”.&#10;In row 1, the first small rectangular box reads “A”, the second small rectangular box reads “B”, and the third small rectangular box reads “C”.&#10;In row 2, the first small rectangular box reads “D”, the second small rectangular box reads “E”, and the third small rectangular box reads “F”.&#10;In row 3, the first small rectangular box reads “G”, the second small rectangular box reads “H”, and the third small rectangular box reads “I”.&#10;&#10;The first code snippet is positioned below the nine small rectangular boxes.&#10;The first line of the code reads “table {border-style: hidden;”. The second line of code reads “border-collapse: separate;}”. The third line of the code reads “td {border: 1px solid blue;}”.&#10;A vertical line is positioned at the right side of the nine small rectangular boxes.&#10;A text that reads “collapsed borders” is positioned at the top-right side of the vertical line.&#10;Two vertical and two horizontal lines forming a table with three rows and three columns is positioned below the text.&#10;In row 1, column 1 reads “A”, column 2 reads “B”, and column 3 reads “C”.&#10;In row 2, column 1 reads “D”, column 2 reads “E”, and column 3 reads “F”.&#10;In row 3, column 1 reads “G”, column 2 reads “H”, and column 3 reads “I”.&#10;The second code snippet is positioned below the third row.&#10;The first line of the code reads “table {border-style: hidden;”. The second line of code reads “border-collapse: collapse;}”. The third line of the code reads “td {border: 1px solid blue;}”.&#10;&#10;The first big rectangular box labeled “in the separate borders model, the border around the table is hidden and the border around each cell is shown in blue” is positioned at the left side of the nine small rectangular boxes. An arrow originating from the first big rectangular box points to the nine rectangular boxes.&#10;&#10;The second big rectangular box labeled “in the collapsed borders model, the hidden border around the table takes precedence over the blue borders for individual cells” is positioned above the text that reads “collapsed borders”. An arrow originating from this rectangular box points to the table formed with two vertical and two horizontal lines." title="Figure 6-9 Reconciling hidden borders"/>
          <p:cNvPicPr>
            <a:picLocks noGrp="1" noChangeAspect="1"/>
          </p:cNvPicPr>
          <p:nvPr>
            <p:ph type="pic" sz="quarter" idx="10"/>
          </p:nvPr>
        </p:nvPicPr>
        <p:blipFill>
          <a:blip r:embed="rId2"/>
          <a:stretch>
            <a:fillRect/>
          </a:stretch>
        </p:blipFill>
        <p:spPr>
          <a:xfrm>
            <a:off x="628650" y="1758462"/>
            <a:ext cx="7834752" cy="3613246"/>
          </a:xfrm>
          <a:prstGeom prst="rect">
            <a:avLst/>
          </a:prstGeom>
        </p:spPr>
      </p:pic>
    </p:spTree>
    <p:extLst>
      <p:ext uri="{BB962C8B-B14F-4D97-AF65-F5344CB8AC3E}">
        <p14:creationId xmlns:p14="http://schemas.microsoft.com/office/powerpoint/2010/main" val="735887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Rows and Columns</a:t>
            </a:r>
          </a:p>
        </p:txBody>
      </p:sp>
      <p:sp>
        <p:nvSpPr>
          <p:cNvPr id="3" name="Text Placeholder 2"/>
          <p:cNvSpPr>
            <a:spLocks noGrp="1"/>
          </p:cNvSpPr>
          <p:nvPr>
            <p:ph type="body" sz="quarter" idx="17"/>
          </p:nvPr>
        </p:nvSpPr>
        <p:spPr/>
        <p:txBody>
          <a:bodyPr/>
          <a:lstStyle/>
          <a:p>
            <a:r>
              <a:rPr lang="en-US" dirty="0"/>
              <a:t>Spanning cells</a:t>
            </a:r>
          </a:p>
          <a:p>
            <a:pPr lvl="1"/>
            <a:r>
              <a:rPr lang="en-US" dirty="0"/>
              <a:t>Single cell that occupies more than one cell row and/or column</a:t>
            </a:r>
          </a:p>
          <a:p>
            <a:pPr lvl="1"/>
            <a:r>
              <a:rPr lang="en-US" dirty="0"/>
              <a:t>Created by adding </a:t>
            </a:r>
            <a:r>
              <a:rPr lang="en-US" sz="2600" dirty="0">
                <a:latin typeface="Courier New" panose="02070309020205020404" pitchFamily="49" charset="0"/>
                <a:cs typeface="Courier New" panose="02070309020205020404" pitchFamily="49" charset="0"/>
              </a:rPr>
              <a:t>rowspan</a:t>
            </a:r>
            <a:r>
              <a:rPr lang="en-US" dirty="0"/>
              <a:t> and/or </a:t>
            </a:r>
            <a:r>
              <a:rPr lang="en-US" sz="2600" dirty="0">
                <a:latin typeface="Courier New" panose="02070309020205020404" pitchFamily="49" charset="0"/>
                <a:cs typeface="Courier New" panose="02070309020205020404" pitchFamily="49" charset="0"/>
              </a:rPr>
              <a:t>colspan</a:t>
            </a:r>
            <a:r>
              <a:rPr lang="en-US" dirty="0"/>
              <a:t> attributes to </a:t>
            </a:r>
            <a:r>
              <a:rPr lang="en-US" dirty="0">
                <a:latin typeface="Courier New" panose="02070309020205020404" pitchFamily="49" charset="0"/>
                <a:cs typeface="Courier New" panose="02070309020205020404" pitchFamily="49" charset="0"/>
              </a:rPr>
              <a:t>td</a:t>
            </a:r>
            <a:r>
              <a:rPr lang="en-US" dirty="0"/>
              <a:t> or </a:t>
            </a:r>
            <a:r>
              <a:rPr lang="en-US" dirty="0">
                <a:latin typeface="Courier New" panose="02070309020205020404" pitchFamily="49" charset="0"/>
                <a:cs typeface="Courier New" panose="02070309020205020404" pitchFamily="49" charset="0"/>
              </a:rPr>
              <a:t>th</a:t>
            </a:r>
            <a:r>
              <a:rPr lang="en-US" dirty="0"/>
              <a:t> elements</a:t>
            </a:r>
          </a:p>
          <a:p>
            <a:pPr lvl="1"/>
            <a:r>
              <a:rPr lang="en-US" dirty="0"/>
              <a:t>Spanning starts in the cell with </a:t>
            </a:r>
            <a:r>
              <a:rPr lang="en-US" sz="2600" dirty="0">
                <a:latin typeface="Courier New" panose="02070309020205020404" pitchFamily="49" charset="0"/>
                <a:cs typeface="Courier New" panose="02070309020205020404" pitchFamily="49" charset="0"/>
              </a:rPr>
              <a:t>rowspan</a:t>
            </a:r>
            <a:r>
              <a:rPr lang="en-US" dirty="0"/>
              <a:t> or </a:t>
            </a:r>
            <a:r>
              <a:rPr lang="en-US" sz="2600" dirty="0">
                <a:latin typeface="Courier New" panose="02070309020205020404" pitchFamily="49" charset="0"/>
                <a:cs typeface="Courier New" panose="02070309020205020404" pitchFamily="49" charset="0"/>
              </a:rPr>
              <a:t>colspan</a:t>
            </a:r>
            <a:r>
              <a:rPr lang="en-US" dirty="0"/>
              <a:t> attributes and covers the cells in the right and below the initial cell</a:t>
            </a:r>
          </a:p>
        </p:txBody>
      </p:sp>
    </p:spTree>
    <p:extLst>
      <p:ext uri="{BB962C8B-B14F-4D97-AF65-F5344CB8AC3E}">
        <p14:creationId xmlns:p14="http://schemas.microsoft.com/office/powerpoint/2010/main" val="2560949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Rows and Columns (continued 1)</a:t>
            </a:r>
          </a:p>
        </p:txBody>
      </p:sp>
      <p:sp>
        <p:nvSpPr>
          <p:cNvPr id="3" name="Text Placeholder 2"/>
          <p:cNvSpPr>
            <a:spLocks noGrp="1"/>
          </p:cNvSpPr>
          <p:nvPr>
            <p:ph type="body" sz="quarter" idx="17"/>
          </p:nvPr>
        </p:nvSpPr>
        <p:spPr/>
        <p:txBody>
          <a:bodyPr/>
          <a:lstStyle/>
          <a:p>
            <a:pPr marL="463550" indent="0">
              <a:buNone/>
            </a:pPr>
            <a:r>
              <a:rPr lang="en-US" sz="2600" dirty="0">
                <a:latin typeface="Courier New" panose="02070309020205020404" pitchFamily="49" charset="0"/>
                <a:cs typeface="Courier New" panose="02070309020205020404" pitchFamily="49" charset="0"/>
              </a:rPr>
              <a:t>rowspan=“rows”</a:t>
            </a:r>
          </a:p>
          <a:p>
            <a:pPr marL="463550" indent="0">
              <a:buNone/>
            </a:pPr>
            <a:r>
              <a:rPr lang="en-US" sz="2800" dirty="0"/>
              <a:t>where </a:t>
            </a:r>
            <a:r>
              <a:rPr lang="en-US" sz="2600" dirty="0">
                <a:latin typeface="Courier New" panose="02070309020205020404" pitchFamily="49" charset="0"/>
                <a:cs typeface="Courier New" panose="02070309020205020404" pitchFamily="49" charset="0"/>
              </a:rPr>
              <a:t>rows</a:t>
            </a:r>
            <a:r>
              <a:rPr lang="en-US" sz="2800" dirty="0"/>
              <a:t> is the number of rows that the cell occupies</a:t>
            </a:r>
          </a:p>
          <a:p>
            <a:pPr marL="463550" indent="0">
              <a:buNone/>
            </a:pPr>
            <a:endParaRPr lang="en-US" sz="2800" dirty="0"/>
          </a:p>
          <a:p>
            <a:pPr marL="463550" indent="0">
              <a:buNone/>
            </a:pPr>
            <a:r>
              <a:rPr lang="en-US" sz="2600" dirty="0">
                <a:latin typeface="Courier New" panose="02070309020205020404" pitchFamily="49" charset="0"/>
                <a:cs typeface="Courier New" panose="02070309020205020404" pitchFamily="49" charset="0"/>
              </a:rPr>
              <a:t>colspan = “cols”</a:t>
            </a:r>
          </a:p>
          <a:p>
            <a:pPr marL="463550" indent="0">
              <a:buNone/>
            </a:pPr>
            <a:r>
              <a:rPr lang="en-US" sz="2800" dirty="0">
                <a:latin typeface="Arial" panose="020B0604020202020204" pitchFamily="34" charset="0"/>
                <a:cs typeface="Arial" panose="020B0604020202020204" pitchFamily="34" charset="0"/>
              </a:rPr>
              <a:t>where </a:t>
            </a:r>
            <a:r>
              <a:rPr lang="en-US" sz="2600" dirty="0">
                <a:latin typeface="Courier New" panose="02070309020205020404" pitchFamily="49" charset="0"/>
                <a:cs typeface="Courier New" panose="02070309020205020404" pitchFamily="49" charset="0"/>
              </a:rPr>
              <a:t>cols</a:t>
            </a:r>
            <a:r>
              <a:rPr lang="en-US" sz="2800" dirty="0">
                <a:latin typeface="Arial" panose="020B0604020202020204" pitchFamily="34" charset="0"/>
                <a:cs typeface="Arial" panose="020B0604020202020204" pitchFamily="34" charset="0"/>
              </a:rPr>
              <a:t> is the number of columns that the cell occupies</a:t>
            </a:r>
          </a:p>
        </p:txBody>
      </p:sp>
    </p:spTree>
    <p:extLst>
      <p:ext uri="{BB962C8B-B14F-4D97-AF65-F5344CB8AC3E}">
        <p14:creationId xmlns:p14="http://schemas.microsoft.com/office/powerpoint/2010/main" val="2457667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Rows and Columns (continued 2)</a:t>
            </a:r>
          </a:p>
        </p:txBody>
      </p:sp>
      <p:pic>
        <p:nvPicPr>
          <p:cNvPr id="5" name="Content Placeholder 1" descr="This figure explains how to span several columns with a single cell.&#10;&#10;The figure consists of a few lines of code and two rectangular boxes.&#10;&#10;The first line of the code reads “&lt;table class=“schedule”&gt;”. The second line of the code reads “&lt;tr&gt;”. The third line of the code reads “&lt;th&gt;Time&lt;/th&gt;”. The fourth line of the code reads “&lt;th&gt;Mon&lt;/th&gt;”. The fifth line of the code reads “&lt;th&gt;Tue&lt;/th&gt;”. The sixth line of the code reads “&lt;th&gt;Wed&lt;/th&gt;”. The seventh line of the code reads “&lt;th&gt;Thu&lt;/th&gt;”. The eighth line of the code reads “&lt;th&gt;Fri&lt;/th&gt;”. The ninth line of the code reads “&lt;th&gt;Sat&lt;/th&gt;”. The tenth line of the code reads “&lt;th&gt;Sun&lt;/th&gt;”. The eleventh line of the code reads “&lt;/tr&gt;”. The twelfth line of the code reads “&lt;tr&gt;”. The thirteenth line of the code reads “&lt;th&gt;6:00 PM &lt;/th&gt;”. The fourteenth line of the code reads “&lt;td colspan=“7”&gt;National News&lt;/td&gt;”. The fifteenth line of the code reads “&lt;/tr&gt;”. The sixteenth line of the code reads “&lt;tr&gt;”. The seventeenth line of the code reads “&lt;th&gt;6:30 PM&lt;/th&gt;”. The eighteenth line of the code reads “&lt;td colspan=“7” World News&lt;/td&gt;”.The nineteenth line of the code reads “&lt;/tr&gt;”. The twentieth line of the code reads “&lt;/table&gt;”.&#10;&#10;The first rectangular box labeled “remaining six td elements removed from the second and third rows to keep the size at 8 total columns” is positioned at the left side of the code. An arrow originating from this rectangular box splits into two, where the first arrow points to the fifteenth line of the code and the second arrow points to the eighteenth line of the code.&#10;&#10;The second rectangular box labeled “sets each cell to span 7 columns within its row” is positioned at the right side of the code. An arrow originating from this rectangular box splits into two, where the first arrow points to “colspan=“7”” in the fourteenth line of the code and the second arrow points to “colspan=“7”” in the eighteenth line of the code.&#10;&#10;" title="Figure 6-13 Spanning several columns within a single cell"/>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93003" y="1563136"/>
            <a:ext cx="8357993" cy="4697178"/>
          </a:xfrm>
          <a:prstGeom prst="rect">
            <a:avLst/>
          </a:prstGeom>
        </p:spPr>
      </p:pic>
    </p:spTree>
    <p:extLst>
      <p:ext uri="{BB962C8B-B14F-4D97-AF65-F5344CB8AC3E}">
        <p14:creationId xmlns:p14="http://schemas.microsoft.com/office/powerpoint/2010/main" val="2390456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Rows and Columns (continued 3)</a:t>
            </a:r>
          </a:p>
        </p:txBody>
      </p:sp>
      <p:pic>
        <p:nvPicPr>
          <p:cNvPr id="4" name="Picture Placeholder 3" descr="This figure shows row-spanning cells.&#10;&#10;The figure consists of three rectangular boxes, a few lines of code, and a table.&#10;&#10;The first rectangular box labeled “HTML code” consists of few lines of code. The label is positioned at the bottom-center of the rectangular box.&#10;The first line of the code reads “&lt;table&gt;”. The second line of the code reads “&lt;tr&gt;”. The third line of the code reads “&lt;td rowspan=“3”&gt;1: This cell spans three rows&lt;/td&gt;”.The fourth line of the code reads “&lt;td&gt;2&lt;/td&gt;”.The fifth line of the code reads “&lt;td&gt;3&lt;/td&gt;”. The sixth line of the code reads “&lt;td&gt;4&lt;/td&gt;”. The seventh line of the code reads “&lt;/tr&gt;”. The eighth line of the code reads “&lt;tr&gt;”. The ninth line of the code reads “&lt;td&gt;5&lt;/td&gt;”. The tenth line of the code reads “&lt;td&gt;6&lt;/td&gt;”. The eleventh line of the code reads “&lt;td&gt;7&lt;/td&gt;”. The twelfth line of the code reads “&lt;/tr&gt;”. The thirteenth line of the code reads “&lt;tr&gt;”. The fourteenth line of the code reads “&lt;td&gt;8&lt;/td&gt;”. The fifteenth line of the code reads “&lt;td&gt;9&lt;/td&gt;”. The sixteenth line of the code reads “&lt;td&gt;10&lt;/td&gt;”. The seventeenth line of the code reads “&lt;/tr&gt;”. The eighteenth line of the code reads “&lt;/table&gt;”.&#10;&#10;The second rectangular box labeled “four table cells in the first row” is positioned at the left side of the first rectangular box. An arrow originating from the second rectangular box points from the third line to the sixth line of the code in the first rectangular box.&#10;&#10;The third rectangular box labeled “only three table cells are required for the second and third rows” is positioned below the second rectangular box. An arrow originating from the third rectangular box points from the ninth line to the sixteenth line of the code in the first rectangular box.&#10;&#10;The table labeled “resulting table” is positioned below the first rectangular box. The label is positioned at the bottom of the table. The table has 4 columns and 3 rows.&#10;Column 1 merges the three rows of the table. It reads “1. This cell spans three rows”.&#10;In row 1, column 2 reads “2”, column 3 reads “3”, and column 4 reads “4”.&#10;In row 2, column 2 reads “5”, column 3 reads “6”, and column 4 reads “7”.&#10;In row 3, column 2 reads “8”, column 3 reads “9”, and column 4 reads “10”." title="Figure 6-15 Row-spanning cells"/>
          <p:cNvPicPr>
            <a:picLocks noGrp="1" noChangeAspect="1"/>
          </p:cNvPicPr>
          <p:nvPr>
            <p:ph type="pic" sz="quarter" idx="10"/>
          </p:nvPr>
        </p:nvPicPr>
        <p:blipFill>
          <a:blip r:embed="rId2"/>
          <a:stretch>
            <a:fillRect/>
          </a:stretch>
        </p:blipFill>
        <p:spPr>
          <a:xfrm>
            <a:off x="442912" y="1394474"/>
            <a:ext cx="8258175" cy="4705239"/>
          </a:xfrm>
          <a:prstGeom prst="rect">
            <a:avLst/>
          </a:prstGeom>
        </p:spPr>
      </p:pic>
    </p:spTree>
    <p:extLst>
      <p:ext uri="{BB962C8B-B14F-4D97-AF65-F5344CB8AC3E}">
        <p14:creationId xmlns:p14="http://schemas.microsoft.com/office/powerpoint/2010/main" val="2214712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a Table Caption</a:t>
            </a:r>
          </a:p>
        </p:txBody>
      </p:sp>
      <p:sp>
        <p:nvSpPr>
          <p:cNvPr id="6" name="Text Placeholder 5"/>
          <p:cNvSpPr>
            <a:spLocks noGrp="1"/>
          </p:cNvSpPr>
          <p:nvPr>
            <p:ph type="body" sz="quarter" idx="17"/>
          </p:nvPr>
        </p:nvSpPr>
        <p:spPr/>
        <p:txBody>
          <a:bodyPr/>
          <a:lstStyle/>
          <a:p>
            <a:r>
              <a:rPr lang="en-US" dirty="0"/>
              <a:t>Marked using the caption element</a:t>
            </a:r>
          </a:p>
          <a:p>
            <a:pPr marL="463550" indent="0">
              <a:buNone/>
            </a:pPr>
            <a:r>
              <a:rPr lang="en-US" sz="2600" dirty="0">
                <a:latin typeface="Courier New" panose="02070309020205020404" pitchFamily="49" charset="0"/>
                <a:cs typeface="Courier New" panose="02070309020205020404" pitchFamily="49" charset="0"/>
              </a:rPr>
              <a:t>&lt;caption&gt;content&lt;/caption&gt;</a:t>
            </a:r>
          </a:p>
          <a:p>
            <a:pPr marL="463550" indent="0">
              <a:buNone/>
            </a:pPr>
            <a:r>
              <a:rPr lang="en-US" dirty="0"/>
              <a:t>where </a:t>
            </a:r>
            <a:r>
              <a:rPr lang="en-US" sz="2600" dirty="0">
                <a:latin typeface="Courier New" panose="02070309020205020404" pitchFamily="49" charset="0"/>
                <a:cs typeface="Courier New" panose="02070309020205020404" pitchFamily="49" charset="0"/>
              </a:rPr>
              <a:t>content</a:t>
            </a:r>
            <a:r>
              <a:rPr lang="en-US" dirty="0"/>
              <a:t> is the content contained within the caption</a:t>
            </a:r>
          </a:p>
          <a:p>
            <a:r>
              <a:rPr lang="en-US" dirty="0"/>
              <a:t>Listed immediately after the </a:t>
            </a:r>
            <a:r>
              <a:rPr lang="en-US" sz="2600" dirty="0">
                <a:latin typeface="Courier New" panose="02070309020205020404" pitchFamily="49" charset="0"/>
                <a:cs typeface="Courier New" panose="02070309020205020404" pitchFamily="49" charset="0"/>
              </a:rPr>
              <a:t>&lt;table&gt; </a:t>
            </a:r>
            <a:r>
              <a:rPr lang="en-US" dirty="0"/>
              <a:t>tag</a:t>
            </a:r>
          </a:p>
          <a:p>
            <a:r>
              <a:rPr lang="en-US" dirty="0"/>
              <a:t>Only one caption is allowed per web table</a:t>
            </a:r>
          </a:p>
          <a:p>
            <a:r>
              <a:rPr lang="en-US" dirty="0"/>
              <a:t>Inherits the text styles associated with the table</a:t>
            </a:r>
          </a:p>
        </p:txBody>
      </p:sp>
    </p:spTree>
    <p:extLst>
      <p:ext uri="{BB962C8B-B14F-4D97-AF65-F5344CB8AC3E}">
        <p14:creationId xmlns:p14="http://schemas.microsoft.com/office/powerpoint/2010/main" val="3503083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a Table Caption (continued 1)</a:t>
            </a:r>
          </a:p>
        </p:txBody>
      </p:sp>
      <p:sp>
        <p:nvSpPr>
          <p:cNvPr id="6" name="Text Placeholder 5"/>
          <p:cNvSpPr>
            <a:spLocks noGrp="1"/>
          </p:cNvSpPr>
          <p:nvPr>
            <p:ph type="body" sz="quarter" idx="17"/>
          </p:nvPr>
        </p:nvSpPr>
        <p:spPr/>
        <p:txBody>
          <a:bodyPr/>
          <a:lstStyle/>
          <a:p>
            <a:r>
              <a:rPr lang="en-US" dirty="0"/>
              <a:t>By default, captions are placed above the tables</a:t>
            </a:r>
          </a:p>
          <a:p>
            <a:r>
              <a:rPr lang="en-US" dirty="0"/>
              <a:t>To specify the location, use the </a:t>
            </a:r>
            <a:r>
              <a:rPr lang="en-US" sz="2600" dirty="0">
                <a:latin typeface="Courier New" panose="02070309020205020404" pitchFamily="49" charset="0"/>
                <a:cs typeface="Courier New" panose="02070309020205020404" pitchFamily="49" charset="0"/>
              </a:rPr>
              <a:t>caption-side</a:t>
            </a:r>
            <a:r>
              <a:rPr lang="en-US" dirty="0"/>
              <a:t> property</a:t>
            </a:r>
          </a:p>
          <a:p>
            <a:pPr marL="463550" indent="0">
              <a:buNone/>
            </a:pPr>
            <a:r>
              <a:rPr lang="en-US" sz="2600" dirty="0">
                <a:latin typeface="Courier New" panose="02070309020205020404" pitchFamily="49" charset="0"/>
                <a:cs typeface="Courier New" panose="02070309020205020404" pitchFamily="49" charset="0"/>
              </a:rPr>
              <a:t>caption-side: position;</a:t>
            </a:r>
          </a:p>
          <a:p>
            <a:pPr marL="463550" indent="0">
              <a:buNone/>
            </a:pPr>
            <a:r>
              <a:rPr lang="en-US" dirty="0"/>
              <a:t>where </a:t>
            </a:r>
            <a:r>
              <a:rPr lang="en-US" sz="2600" dirty="0">
                <a:latin typeface="Courier New" panose="02070309020205020404" pitchFamily="49" charset="0"/>
                <a:cs typeface="Courier New" panose="02070309020205020404" pitchFamily="49" charset="0"/>
              </a:rPr>
              <a:t>position</a:t>
            </a:r>
            <a:r>
              <a:rPr lang="en-US" dirty="0"/>
              <a:t> is either </a:t>
            </a:r>
            <a:r>
              <a:rPr lang="en-US" sz="2600" dirty="0">
                <a:latin typeface="Courier New" panose="02070309020205020404" pitchFamily="49" charset="0"/>
                <a:cs typeface="Courier New" panose="02070309020205020404" pitchFamily="49" charset="0"/>
              </a:rPr>
              <a:t>top</a:t>
            </a:r>
            <a:r>
              <a:rPr lang="en-US" dirty="0"/>
              <a:t> or </a:t>
            </a:r>
            <a:r>
              <a:rPr lang="en-US" sz="2600" dirty="0">
                <a:latin typeface="Courier New" panose="02070309020205020404" pitchFamily="49" charset="0"/>
                <a:cs typeface="Courier New" panose="02070309020205020404" pitchFamily="49" charset="0"/>
              </a:rPr>
              <a:t>bottom</a:t>
            </a:r>
          </a:p>
        </p:txBody>
      </p:sp>
    </p:spTree>
    <p:extLst>
      <p:ext uri="{BB962C8B-B14F-4D97-AF65-F5344CB8AC3E}">
        <p14:creationId xmlns:p14="http://schemas.microsoft.com/office/powerpoint/2010/main" val="1963029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Table Caption (continued 2)</a:t>
            </a:r>
          </a:p>
        </p:txBody>
      </p:sp>
      <p:pic>
        <p:nvPicPr>
          <p:cNvPr id="5" name="Content Placeholder 1" descr="This figure shows how to add a caption to a web table.&#10;&#10;The figure consists a few lines of code.&#10;&#10;The first line of the code reads “&lt;table class=“schedule”&gt;”. The second line of the code reads “&lt;caption&gt;All Times Central&lt;/caption&gt;”. The third line of the code reads “&lt;tr&gt;”. The fourth line of the code reads “&lt;th&gt;Time&lt;/th&gt;”. The fifth line of the code reads “&lt;th&gt;Mon&lt;/th&gt;”. The sixth line of the code reads “&lt;th&gt;Tue&lt;/th&gt;”. The seventh line of the code reads “&lt;th&gt;Wed&lt;/th&gt;”. The eighth line of the code reads “&lt;th&gt;Thu&lt;/th&gt;”. The ninth line of the code reads “&lt;th&gt;Fri&lt;/th&gt;”. The tenth line of the code reads “&lt;th&gt;Sat&lt;/th&gt;”. The eleventh line of the code reads “&lt;th&gt;Sun&lt;/th&gt;”. The twelfth line of the code reads “&lt;/tr&gt;”.&#10;&#10;&#10;&#10;" title="Figure 6-20 Adding a caption to a web tabl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22968" y="1575581"/>
            <a:ext cx="8098063" cy="3856221"/>
          </a:xfrm>
          <a:prstGeom prst="rect">
            <a:avLst/>
          </a:prstGeom>
        </p:spPr>
      </p:pic>
    </p:spTree>
    <p:extLst>
      <p:ext uri="{BB962C8B-B14F-4D97-AF65-F5344CB8AC3E}">
        <p14:creationId xmlns:p14="http://schemas.microsoft.com/office/powerpoint/2010/main" val="26261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Table Caption (continued 3)</a:t>
            </a:r>
          </a:p>
        </p:txBody>
      </p:sp>
      <p:pic>
        <p:nvPicPr>
          <p:cNvPr id="4" name="Picture Placeholder 3" descr="This figure shows how to add a caption to a web table.&#10;&#10;The figure consists of two rectangular boxes and a few lines of code.&#10;&#10;The first line of the code reads “/* Table Caption Styles */”. The second line of the code reads “table.schedule caption {”. The third line of the code reads “caption-side: bottom;”. The fourth line of the code reads “text-align: right;”. The fifth line of the code reads “}”.&#10;The first rectangular box labeled “places the caption at the bottom of the table” is positioned at the right side of the code. An arrow originating from this rectangular box points to the third line of the code.&#10;&#10;The second rectangular box labeled “right-aligns the caption text” is positioned below the first rectangular box. An arrow originating from the second rectangular box points to the fourth line of the code.&#10;&#10;" title="Figure 6-21 Adding a caption to a web tabl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08856" y="2365231"/>
            <a:ext cx="7726288" cy="2030867"/>
          </a:xfrm>
          <a:prstGeom prst="rect">
            <a:avLst/>
          </a:prstGeom>
        </p:spPr>
      </p:pic>
    </p:spTree>
    <p:extLst>
      <p:ext uri="{BB962C8B-B14F-4D97-AF65-F5344CB8AC3E}">
        <p14:creationId xmlns:p14="http://schemas.microsoft.com/office/powerpoint/2010/main" val="3501435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Rows and Column Groups</a:t>
            </a:r>
          </a:p>
        </p:txBody>
      </p:sp>
      <p:pic>
        <p:nvPicPr>
          <p:cNvPr id="5" name="Picture Placeholder 4" descr="This figure shows the rows and column groups. It consists of a table and five rectangular boxes.&#10;The table has 6 columns, 5 rows and a table footer.&#10;The header of column 1 reads “Time”, the header of column 2 reads “Mon”, the header of column 3 reads “Tue”, the header of column 4 reads “Wed”, the header of column 5 reads “Thu”, and the header of column 6 reads “Fri”.&#10;In row 2, column 1 reads “6:00 PM” and column 2 reads “National news”. Column 2 merges with the rest of the columns in row 2.&#10;In row 3, column 1 reads “6:30 PM” and column 2 reads “World news”. Column 2 merges with the rest of the columns in row 3.&#10;In row 4, column 1 reads “7:00 PM”, column 2 reads “Opera Fest”, column 3 reads “Radio U”, column 4 reads “Science Week”, column 5 reads “The Living World”, and column 6 reads “Word Play”.&#10;Column 2 of row 4 merges with column 2 of row 5. Column 3 of row 4 merges with column 3 of row 5. Column 4 of row 4 merges with column 4 of row 5. Column 5 of row 4 merges with column 5 of row 5.&#10;In row 5, column 1 reads “7:30 PM” and column 6 reads “Brain Stew”.&#10;The footer of the table reads “DLR ends its broadcast day at 10:30 p.m.”&#10;A text that reads “All Times Central” is positioned at the bottom-right corner of the table.&#10;The first rectangular box labeled “The firstCol column lists the times.” is positioned at the top-left corner above the table. An arrow originating from this rectangular box points to column 1 of the table.&#10;&#10;The second rectangular box labeled “The dayCols columns list the days of the week.” is positioned at the right side of the first rectangular box. An arrow originating from the second rectangular box collectively points to columns 2, 3, 4, 5 and 6 of the table.&#10;&#10;The third rectangular box labeled “The table header consists of six columns.” is positioned at the right side of the second rectangular box. An arrow originating from the third rectangular box points to row 1 of the table.&#10;&#10;The fourth rectangular box labeled “The table footer text is left-aligned.” is positioned below the table. An arrow originating from this rectangular box points to the footer of the table.&#10;&#10;The fifth rectangular box labeled “The table body includes rows and columns, some of which span multiple columns or multiple rows.” is positioned below the fourth rectangular box. An arrow originating from the fifth rectangular box collectively points to the rows 2, 3, 4 and 5 of the table.&#10; &#10;" title="This figure shows the rows and column group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26360" y="1592825"/>
            <a:ext cx="7691280" cy="4446855"/>
          </a:xfrm>
          <a:prstGeom prst="rect">
            <a:avLst/>
          </a:prstGeom>
        </p:spPr>
      </p:pic>
    </p:spTree>
    <p:extLst>
      <p:ext uri="{BB962C8B-B14F-4D97-AF65-F5344CB8AC3E}">
        <p14:creationId xmlns:p14="http://schemas.microsoft.com/office/powerpoint/2010/main" val="1140504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Row Groups</a:t>
            </a:r>
          </a:p>
        </p:txBody>
      </p:sp>
      <p:sp>
        <p:nvSpPr>
          <p:cNvPr id="6" name="Text Placeholder 5"/>
          <p:cNvSpPr>
            <a:spLocks noGrp="1"/>
          </p:cNvSpPr>
          <p:nvPr>
            <p:ph type="body" sz="quarter" idx="17"/>
          </p:nvPr>
        </p:nvSpPr>
        <p:spPr/>
        <p:txBody>
          <a:bodyPr>
            <a:normAutofit lnSpcReduction="10000"/>
          </a:bodyPr>
          <a:lstStyle/>
          <a:p>
            <a:r>
              <a:rPr lang="en-US" dirty="0"/>
              <a:t>Row groups contain specific table information</a:t>
            </a:r>
          </a:p>
          <a:p>
            <a:r>
              <a:rPr lang="en-US" dirty="0"/>
              <a:t>Allows the creation of different styles for groups of rows</a:t>
            </a:r>
          </a:p>
          <a:p>
            <a:r>
              <a:rPr lang="en-US" dirty="0"/>
              <a:t>HTML supports three row groups</a:t>
            </a:r>
          </a:p>
          <a:p>
            <a:pPr lvl="1"/>
            <a:r>
              <a:rPr lang="en-US" dirty="0"/>
              <a:t>Rows that belong to the table head</a:t>
            </a:r>
          </a:p>
          <a:p>
            <a:pPr lvl="2"/>
            <a:r>
              <a:rPr lang="en-US" dirty="0"/>
              <a:t>Marked using </a:t>
            </a:r>
            <a:r>
              <a:rPr lang="en-US" sz="2200" dirty="0">
                <a:latin typeface="Courier New" panose="02070309020205020404" pitchFamily="49" charset="0"/>
                <a:cs typeface="Courier New" panose="02070309020205020404" pitchFamily="49" charset="0"/>
              </a:rPr>
              <a:t>thead</a:t>
            </a:r>
            <a:r>
              <a:rPr lang="en-US" dirty="0"/>
              <a:t> element</a:t>
            </a:r>
          </a:p>
          <a:p>
            <a:pPr lvl="1"/>
            <a:r>
              <a:rPr lang="en-US" dirty="0"/>
              <a:t>Rows that belong to the table footer</a:t>
            </a:r>
          </a:p>
          <a:p>
            <a:pPr lvl="2"/>
            <a:r>
              <a:rPr lang="en-US" dirty="0"/>
              <a:t>Marked using </a:t>
            </a:r>
            <a:r>
              <a:rPr lang="en-US" sz="2200" dirty="0">
                <a:latin typeface="Courier New" panose="02070309020205020404" pitchFamily="49" charset="0"/>
                <a:cs typeface="Courier New" panose="02070309020205020404" pitchFamily="49" charset="0"/>
              </a:rPr>
              <a:t>tfoot</a:t>
            </a:r>
            <a:r>
              <a:rPr lang="en-US" dirty="0">
                <a:cs typeface="Courier New" panose="02070309020205020404" pitchFamily="49" charset="0"/>
              </a:rPr>
              <a:t> element</a:t>
            </a:r>
          </a:p>
          <a:p>
            <a:pPr lvl="1"/>
            <a:r>
              <a:rPr lang="en-US" dirty="0"/>
              <a:t>Rows that belong to the table body</a:t>
            </a:r>
          </a:p>
          <a:p>
            <a:pPr lvl="2"/>
            <a:r>
              <a:rPr lang="en-US" dirty="0"/>
              <a:t>Marked using </a:t>
            </a:r>
            <a:r>
              <a:rPr lang="en-US" sz="2200" dirty="0">
                <a:latin typeface="Courier New" panose="02070309020205020404" pitchFamily="49" charset="0"/>
                <a:cs typeface="Courier New" panose="02070309020205020404" pitchFamily="49" charset="0"/>
              </a:rPr>
              <a:t>tbody</a:t>
            </a:r>
            <a:r>
              <a:rPr lang="en-US" dirty="0">
                <a:cs typeface="Courier New" panose="02070309020205020404" pitchFamily="49" charset="0"/>
              </a:rPr>
              <a:t> element</a:t>
            </a:r>
          </a:p>
        </p:txBody>
      </p:sp>
    </p:spTree>
    <p:extLst>
      <p:ext uri="{BB962C8B-B14F-4D97-AF65-F5344CB8AC3E}">
        <p14:creationId xmlns:p14="http://schemas.microsoft.com/office/powerpoint/2010/main" val="511284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Row Groups (continued 1)</a:t>
            </a:r>
          </a:p>
        </p:txBody>
      </p:sp>
      <p:sp>
        <p:nvSpPr>
          <p:cNvPr id="6" name="Text Placeholder 5"/>
          <p:cNvSpPr>
            <a:spLocks noGrp="1"/>
          </p:cNvSpPr>
          <p:nvPr>
            <p:ph type="body" sz="quarter" idx="17"/>
          </p:nvPr>
        </p:nvSpPr>
        <p:spPr/>
        <p:txBody>
          <a:bodyPr>
            <a:normAutofit/>
          </a:bodyPr>
          <a:lstStyle/>
          <a:p>
            <a:r>
              <a:rPr lang="en-US" dirty="0"/>
              <a:t>The general structure of a web table divided into row groups</a:t>
            </a:r>
          </a:p>
          <a:p>
            <a:pPr marL="457200" lvl="1" indent="0">
              <a:buNone/>
            </a:pPr>
            <a:r>
              <a:rPr lang="en-US" sz="2600" dirty="0">
                <a:latin typeface="Courier New" panose="02070309020205020404" pitchFamily="49" charset="0"/>
                <a:cs typeface="Courier New" panose="02070309020205020404" pitchFamily="49" charset="0"/>
              </a:rPr>
              <a:t>&lt;table&gt;</a:t>
            </a:r>
          </a:p>
          <a:p>
            <a:pPr marL="457200" lvl="1" indent="0">
              <a:buNone/>
            </a:pPr>
            <a:r>
              <a:rPr lang="en-US" sz="2600" dirty="0">
                <a:latin typeface="Courier New" panose="02070309020205020404" pitchFamily="49" charset="0"/>
                <a:cs typeface="Courier New" panose="02070309020205020404" pitchFamily="49" charset="0"/>
              </a:rPr>
              <a:t>	&lt;thead&gt;</a:t>
            </a:r>
            <a:r>
              <a:rPr lang="en-US" sz="2600" i="1" dirty="0">
                <a:latin typeface="Courier New" panose="02070309020205020404" pitchFamily="49" charset="0"/>
                <a:cs typeface="Courier New" panose="02070309020205020404" pitchFamily="49" charset="0"/>
              </a:rPr>
              <a:t>table rows</a:t>
            </a:r>
            <a:r>
              <a:rPr lang="en-US" sz="2600" dirty="0">
                <a:latin typeface="Courier New" panose="02070309020205020404" pitchFamily="49" charset="0"/>
                <a:cs typeface="Courier New" panose="02070309020205020404" pitchFamily="49" charset="0"/>
              </a:rPr>
              <a:t>&lt;/thead&gt;</a:t>
            </a:r>
          </a:p>
          <a:p>
            <a:pPr marL="457200" lvl="1" indent="0">
              <a:buNone/>
            </a:pPr>
            <a:r>
              <a:rPr lang="en-US" sz="2600" dirty="0">
                <a:latin typeface="Courier New" panose="02070309020205020404" pitchFamily="49" charset="0"/>
                <a:cs typeface="Courier New" panose="02070309020205020404" pitchFamily="49" charset="0"/>
              </a:rPr>
              <a:t>	&lt;tfoot&gt;</a:t>
            </a:r>
            <a:r>
              <a:rPr lang="en-US" sz="2600" i="1" dirty="0">
                <a:latin typeface="Courier New" panose="02070309020205020404" pitchFamily="49" charset="0"/>
                <a:cs typeface="Courier New" panose="02070309020205020404" pitchFamily="49" charset="0"/>
              </a:rPr>
              <a:t>table rows</a:t>
            </a:r>
            <a:r>
              <a:rPr lang="en-US" sz="2600" dirty="0">
                <a:latin typeface="Courier New" panose="02070309020205020404" pitchFamily="49" charset="0"/>
                <a:cs typeface="Courier New" panose="02070309020205020404" pitchFamily="49" charset="0"/>
              </a:rPr>
              <a:t>&lt;/tfoot&gt;</a:t>
            </a:r>
          </a:p>
          <a:p>
            <a:pPr marL="457200" lvl="1" indent="0">
              <a:buNone/>
            </a:pPr>
            <a:r>
              <a:rPr lang="en-US" sz="2600" dirty="0">
                <a:latin typeface="Courier New" panose="02070309020205020404" pitchFamily="49" charset="0"/>
                <a:cs typeface="Courier New" panose="02070309020205020404" pitchFamily="49" charset="0"/>
              </a:rPr>
              <a:t>	&lt;tbody&gt;</a:t>
            </a:r>
            <a:r>
              <a:rPr lang="en-US" sz="2600" i="1" dirty="0">
                <a:latin typeface="Courier New" panose="02070309020205020404" pitchFamily="49" charset="0"/>
                <a:cs typeface="Courier New" panose="02070309020205020404" pitchFamily="49" charset="0"/>
              </a:rPr>
              <a:t>table rows</a:t>
            </a:r>
            <a:r>
              <a:rPr lang="en-US" sz="2600" dirty="0">
                <a:latin typeface="Courier New" panose="02070309020205020404" pitchFamily="49" charset="0"/>
                <a:cs typeface="Courier New" panose="02070309020205020404" pitchFamily="49" charset="0"/>
              </a:rPr>
              <a:t>&lt;/tbody&gt;</a:t>
            </a:r>
          </a:p>
          <a:p>
            <a:pPr marL="457200" lvl="1" indent="0">
              <a:buNone/>
            </a:pPr>
            <a:r>
              <a:rPr lang="en-US" sz="2600" dirty="0">
                <a:latin typeface="Courier New" panose="02070309020205020404" pitchFamily="49" charset="0"/>
                <a:cs typeface="Courier New" panose="02070309020205020404" pitchFamily="49" charset="0"/>
              </a:rPr>
              <a:t>&lt;/table&gt;</a:t>
            </a:r>
          </a:p>
          <a:p>
            <a:r>
              <a:rPr lang="en-US" dirty="0"/>
              <a:t>Only one </a:t>
            </a:r>
            <a:r>
              <a:rPr lang="en-US" sz="2600" dirty="0">
                <a:latin typeface="Courier New" panose="02070309020205020404" pitchFamily="49" charset="0"/>
                <a:cs typeface="Courier New" panose="02070309020205020404" pitchFamily="49" charset="0"/>
              </a:rPr>
              <a:t>thead</a:t>
            </a:r>
            <a:r>
              <a:rPr lang="en-US" dirty="0"/>
              <a:t> and </a:t>
            </a:r>
            <a:r>
              <a:rPr lang="en-US" sz="2600" dirty="0">
                <a:latin typeface="Courier New" panose="02070309020205020404" pitchFamily="49" charset="0"/>
                <a:cs typeface="Courier New" panose="02070309020205020404" pitchFamily="49" charset="0"/>
              </a:rPr>
              <a:t>tfoot</a:t>
            </a:r>
            <a:r>
              <a:rPr lang="en-US" dirty="0"/>
              <a:t> element is allowed per table</a:t>
            </a:r>
          </a:p>
        </p:txBody>
      </p:sp>
    </p:spTree>
    <p:extLst>
      <p:ext uri="{BB962C8B-B14F-4D97-AF65-F5344CB8AC3E}">
        <p14:creationId xmlns:p14="http://schemas.microsoft.com/office/powerpoint/2010/main" val="1274472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Row Groups (continued 2)</a:t>
            </a:r>
          </a:p>
        </p:txBody>
      </p:sp>
      <p:pic>
        <p:nvPicPr>
          <p:cNvPr id="4" name="Picture Placeholder 3" descr="Figure 6-23 Marking row groups&#10;&#10;This figure explains how to mark row groups in a table.&#10;&#10;The figure consists of three rectangular boxes and a few lines of code.&#10;&#10;The first line of the code reads “&lt;table class=“schedule”&gt;”. The second line of the code reads “&lt;caption&gt;All Times Central&lt;/caption&gt;”. The third line of the code reads “&lt;thead&gt;”. The fourth line of the code reads “&lt;tr&gt;”. The fifth line of the code reads “&lt;th&gt;Time&lt;/th&gt;”. The sixth line of the code reads “&lt;th&gt;Mon&lt;/th&gt;”. The seventh line of the code reads “&lt;th&gt;Tue&lt;/th&gt;”. The eighth line of the code reads “&lt;th&gt;Wed&lt;/th&gt;”. The ninth line of the code reads “&lt;th&gt;Thu&lt;/th&gt;”. The tenth line of the code reads “&lt;th&gt;Fri&lt;/th&gt;”. The eleventh line of the code reads “&lt;th&gt;Sat&lt;/th&gt;”. The twelfth line of the code reads “&lt;th&gt;Sun&lt;/th&gt;”. The thirteenth line of the code reads “&lt;/tr&gt;”. The fourteenth line of the code reads “&lt;/thead&gt;”. The fifteenth line of the code reads “&lt;tfoot&gt;”. The sixteenth line of the code reads “&lt;tr&gt;”. The seventeenth line of the code reads “&lt;td colspan=“8”&gt;DLR end its broadcast day at 10:30 p.m.&lt;/td&gt;”. The eighteenth line of the code reads “&lt;/tr&gt;”. The nineteenth line of the code reads “&lt;/tfoot&gt;”. The twentieth line of the code reads “&lt;tbody&gt;”. The twenty-first line of the code reads “&lt;tr&gt;”. The twenty-second line of the code reads “&lt;th&gt;6:00 PM &lt;/th&gt;”. The twenty-third line of the code reads “&lt;td colspan=“7”&gt;National News&lt;/td&gt;”. The twenty-fourth line of the code reads “&lt;/tr&gt;”. The twenty-fifth line of the code reads “&lt;tr&gt;”. The twenty-sixth line of the code reads “&lt;th&gt;10:00 PM&lt;/th&gt;”. The twenty-seventh line of the code reads “&lt;td colspan=“7” World News Feed&lt;/td&gt;”.The twenty-eighth line of the code reads “&lt;/tr&gt;”. The twenty-ninth line of the code reads “&lt;/tbody&gt;”.The thirtieth line of the code reads “&lt;/table&gt;”.&#10;&#10;The first rectangular box labeled “The thead element marks the row group for the table header” is positioned at the left side of the code. An arrow originating from this rectangular box points from the third line to the fourteenth line of the code.&#10;&#10;The second rectangular box labeled “The tfoot element marks the row group for the table footer” is positioned below the first rectangular box. An arrow originating from the second rectangular box points from the fifteenth line to the nineteenth line of the code.&#10;&#10;The third rectangular box labeled “The tbody element marks the row group for the table body” is positioned below the second rectangular box. An arrow originating from the third rectangular box points from the sixteenth line to the twenty-ninth line of the code.">
            <a:extLst>
              <a:ext uri="{FF2B5EF4-FFF2-40B4-BE49-F238E27FC236}">
                <a16:creationId xmlns:a16="http://schemas.microsoft.com/office/drawing/2014/main" id="{52B24D2D-C7B1-4D50-97AF-0FF216936C0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9417" r="9417"/>
          <a:stretch>
            <a:fillRect/>
          </a:stretch>
        </p:blipFill>
        <p:spPr>
          <a:xfrm>
            <a:off x="1995901" y="1170283"/>
            <a:ext cx="5152197" cy="4517433"/>
          </a:xfrm>
        </p:spPr>
      </p:pic>
    </p:spTree>
    <p:extLst>
      <p:ext uri="{BB962C8B-B14F-4D97-AF65-F5344CB8AC3E}">
        <p14:creationId xmlns:p14="http://schemas.microsoft.com/office/powerpoint/2010/main" val="3946884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Column Groups</a:t>
            </a:r>
          </a:p>
        </p:txBody>
      </p:sp>
      <p:sp>
        <p:nvSpPr>
          <p:cNvPr id="3" name="Text Placeholder 2"/>
          <p:cNvSpPr>
            <a:spLocks noGrp="1"/>
          </p:cNvSpPr>
          <p:nvPr>
            <p:ph type="body" sz="quarter" idx="17"/>
          </p:nvPr>
        </p:nvSpPr>
        <p:spPr/>
        <p:txBody>
          <a:bodyPr/>
          <a:lstStyle/>
          <a:p>
            <a:r>
              <a:rPr lang="en-US" dirty="0"/>
              <a:t>Columns are determined implicitly based on the number of cells within the table rows</a:t>
            </a:r>
          </a:p>
          <a:p>
            <a:r>
              <a:rPr lang="en-US" dirty="0">
                <a:latin typeface="Arial" panose="020B0604020202020204" pitchFamily="34" charset="0"/>
                <a:cs typeface="Arial" panose="020B0604020202020204" pitchFamily="34" charset="0"/>
              </a:rPr>
              <a:t>Columns can be referenced using the </a:t>
            </a:r>
            <a:r>
              <a:rPr lang="en-US" sz="2400" dirty="0" err="1">
                <a:latin typeface="Courier New" panose="02070309020205020404" pitchFamily="49" charset="0"/>
                <a:cs typeface="Courier New" panose="02070309020205020404" pitchFamily="49" charset="0"/>
              </a:rPr>
              <a:t>colgroup</a:t>
            </a:r>
            <a:r>
              <a:rPr lang="en-US" dirty="0">
                <a:latin typeface="Arial" panose="020B0604020202020204" pitchFamily="34" charset="0"/>
                <a:cs typeface="Arial" panose="020B0604020202020204" pitchFamily="34" charset="0"/>
              </a:rPr>
              <a:t> element</a:t>
            </a:r>
          </a:p>
          <a:p>
            <a:endParaRPr lang="en-US" dirty="0"/>
          </a:p>
          <a:p>
            <a:pPr marL="0" indent="0">
              <a:buNone/>
            </a:pPr>
            <a:endParaRPr lang="en-US" dirty="0"/>
          </a:p>
        </p:txBody>
      </p:sp>
    </p:spTree>
    <p:extLst>
      <p:ext uri="{BB962C8B-B14F-4D97-AF65-F5344CB8AC3E}">
        <p14:creationId xmlns:p14="http://schemas.microsoft.com/office/powerpoint/2010/main" val="863101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Column Groups</a:t>
            </a:r>
            <a:br>
              <a:rPr lang="en-US"/>
            </a:br>
            <a:r>
              <a:rPr lang="en-US"/>
              <a:t>(continued 1)</a:t>
            </a:r>
            <a:endParaRPr lang="en-US" dirty="0"/>
          </a:p>
        </p:txBody>
      </p:sp>
      <p:sp>
        <p:nvSpPr>
          <p:cNvPr id="3" name="Text Placeholder 2"/>
          <p:cNvSpPr>
            <a:spLocks noGrp="1"/>
          </p:cNvSpPr>
          <p:nvPr>
            <p:ph type="body" sz="quarter" idx="17"/>
          </p:nvPr>
        </p:nvSpPr>
        <p:spPr/>
        <p:txBody>
          <a:bodyPr>
            <a:normAutofit fontScale="92500" lnSpcReduction="10000"/>
          </a:bodyPr>
          <a:lstStyle/>
          <a:p>
            <a:r>
              <a:rPr lang="en-US" sz="3500" dirty="0">
                <a:latin typeface="Arial" panose="020B0604020202020204" pitchFamily="34" charset="0"/>
                <a:cs typeface="Arial" panose="020B0604020202020204" pitchFamily="34" charset="0"/>
              </a:rPr>
              <a:t>Example of </a:t>
            </a:r>
            <a:r>
              <a:rPr lang="en-US" sz="2800" dirty="0" err="1">
                <a:latin typeface="Courier New" panose="02070309020205020404" pitchFamily="49" charset="0"/>
                <a:cs typeface="Courier New" panose="02070309020205020404" pitchFamily="49" charset="0"/>
              </a:rPr>
              <a:t>colgroup</a:t>
            </a:r>
            <a:r>
              <a:rPr lang="en-US" sz="3500" dirty="0">
                <a:latin typeface="Arial" panose="020B0604020202020204" pitchFamily="34" charset="0"/>
                <a:cs typeface="Arial" panose="020B0604020202020204" pitchFamily="34" charset="0"/>
              </a:rPr>
              <a:t> element:</a:t>
            </a:r>
          </a:p>
          <a:p>
            <a:pPr marL="463550" indent="0">
              <a:buNone/>
            </a:pPr>
            <a:r>
              <a:rPr lang="en-US" sz="2800" dirty="0">
                <a:latin typeface="Courier New" panose="02070309020205020404" pitchFamily="49" charset="0"/>
                <a:cs typeface="Courier New" panose="02070309020205020404" pitchFamily="49" charset="0"/>
              </a:rPr>
              <a:t>&lt;table&gt;</a:t>
            </a:r>
          </a:p>
          <a:p>
            <a:pPr marL="463550" indent="0">
              <a:buNone/>
            </a:pPr>
            <a:r>
              <a:rPr lang="en-US" sz="2800" dirty="0">
                <a:latin typeface="Courier New" panose="02070309020205020404" pitchFamily="49" charset="0"/>
                <a:cs typeface="Courier New" panose="02070309020205020404" pitchFamily="49" charset="0"/>
              </a:rPr>
              <a:t>	&lt;</a:t>
            </a:r>
            <a:r>
              <a:rPr lang="en-US" sz="2800" dirty="0" err="1">
                <a:latin typeface="Courier New" panose="02070309020205020404" pitchFamily="49" charset="0"/>
                <a:cs typeface="Courier New" panose="02070309020205020404" pitchFamily="49" charset="0"/>
              </a:rPr>
              <a:t>colgroup</a:t>
            </a:r>
            <a:r>
              <a:rPr lang="en-US" sz="2800" dirty="0">
                <a:latin typeface="Courier New" panose="02070309020205020404" pitchFamily="49" charset="0"/>
                <a:cs typeface="Courier New" panose="02070309020205020404" pitchFamily="49" charset="0"/>
              </a:rPr>
              <a:t>&gt;</a:t>
            </a:r>
          </a:p>
          <a:p>
            <a:pPr marL="463550" indent="0">
              <a:buNone/>
            </a:pPr>
            <a:r>
              <a:rPr lang="en-US" sz="2800" dirty="0">
                <a:latin typeface="Courier New" panose="02070309020205020404" pitchFamily="49" charset="0"/>
                <a:cs typeface="Courier New" panose="02070309020205020404" pitchFamily="49" charset="0"/>
              </a:rPr>
              <a:t>		columns</a:t>
            </a:r>
          </a:p>
          <a:p>
            <a:pPr marL="463550" indent="0">
              <a:buNone/>
            </a:pPr>
            <a:r>
              <a:rPr lang="en-US" sz="2800" dirty="0">
                <a:latin typeface="Courier New" panose="02070309020205020404" pitchFamily="49" charset="0"/>
                <a:cs typeface="Courier New" panose="02070309020205020404" pitchFamily="49" charset="0"/>
              </a:rPr>
              <a:t>	&lt;/</a:t>
            </a:r>
            <a:r>
              <a:rPr lang="en-US" sz="2800" dirty="0" err="1">
                <a:latin typeface="Courier New" panose="02070309020205020404" pitchFamily="49" charset="0"/>
                <a:cs typeface="Courier New" panose="02070309020205020404" pitchFamily="49" charset="0"/>
              </a:rPr>
              <a:t>colgroup</a:t>
            </a:r>
            <a:r>
              <a:rPr lang="en-US" sz="2800" dirty="0">
                <a:latin typeface="Courier New" panose="02070309020205020404" pitchFamily="49" charset="0"/>
                <a:cs typeface="Courier New" panose="02070309020205020404" pitchFamily="49" charset="0"/>
              </a:rPr>
              <a:t>&gt;</a:t>
            </a:r>
          </a:p>
          <a:p>
            <a:pPr marL="463550" indent="0">
              <a:buNone/>
            </a:pPr>
            <a:r>
              <a:rPr lang="en-US" sz="2800" dirty="0">
                <a:latin typeface="Courier New" panose="02070309020205020404" pitchFamily="49" charset="0"/>
                <a:cs typeface="Courier New" panose="02070309020205020404" pitchFamily="49" charset="0"/>
              </a:rPr>
              <a:t>	table rows</a:t>
            </a:r>
          </a:p>
          <a:p>
            <a:pPr marL="463550" indent="0">
              <a:buNone/>
            </a:pPr>
            <a:r>
              <a:rPr lang="en-US" sz="2800" dirty="0">
                <a:latin typeface="Courier New" panose="02070309020205020404" pitchFamily="49" charset="0"/>
                <a:cs typeface="Courier New" panose="02070309020205020404" pitchFamily="49" charset="0"/>
              </a:rPr>
              <a:t>&lt;/table&gt;</a:t>
            </a:r>
          </a:p>
          <a:p>
            <a:pPr marL="463550" indent="0">
              <a:buNone/>
            </a:pPr>
            <a:r>
              <a:rPr lang="en-US" sz="3000" dirty="0">
                <a:latin typeface="Arial" panose="020B0604020202020204" pitchFamily="34" charset="0"/>
                <a:cs typeface="Arial" panose="020B0604020202020204" pitchFamily="34" charset="0"/>
              </a:rPr>
              <a:t>where </a:t>
            </a:r>
            <a:r>
              <a:rPr lang="en-US" sz="2800" dirty="0">
                <a:latin typeface="Courier New" panose="02070309020205020404" pitchFamily="49" charset="0"/>
                <a:cs typeface="Courier New" panose="02070309020205020404" pitchFamily="49" charset="0"/>
              </a:rPr>
              <a:t>columns</a:t>
            </a:r>
            <a:r>
              <a:rPr lang="en-US" sz="3000" dirty="0">
                <a:latin typeface="Arial" panose="020B0604020202020204" pitchFamily="34" charset="0"/>
                <a:cs typeface="Arial" panose="020B0604020202020204" pitchFamily="34" charset="0"/>
              </a:rPr>
              <a:t> are the individual columns defined within the group and </a:t>
            </a:r>
            <a:r>
              <a:rPr lang="en-US" sz="2800" dirty="0">
                <a:latin typeface="Courier New" panose="02070309020205020404" pitchFamily="49" charset="0"/>
                <a:cs typeface="Courier New" panose="02070309020205020404" pitchFamily="49" charset="0"/>
              </a:rPr>
              <a:t>table rows</a:t>
            </a:r>
          </a:p>
          <a:p>
            <a:pPr marL="463550" indent="0">
              <a:buNone/>
            </a:pPr>
            <a:r>
              <a:rPr lang="en-US" sz="3000" dirty="0">
                <a:latin typeface="Arial" panose="020B0604020202020204" pitchFamily="34" charset="0"/>
                <a:cs typeface="Arial" panose="020B0604020202020204" pitchFamily="34" charset="0"/>
              </a:rPr>
              <a:t>are the table rows</a:t>
            </a:r>
            <a:endParaRPr lang="en-US" dirty="0"/>
          </a:p>
        </p:txBody>
      </p:sp>
    </p:spTree>
    <p:extLst>
      <p:ext uri="{BB962C8B-B14F-4D97-AF65-F5344CB8AC3E}">
        <p14:creationId xmlns:p14="http://schemas.microsoft.com/office/powerpoint/2010/main" val="25468039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Column Groups</a:t>
            </a:r>
            <a:br>
              <a:rPr lang="en-US"/>
            </a:br>
            <a:r>
              <a:rPr lang="en-US"/>
              <a:t>(continued 2)</a:t>
            </a:r>
            <a:endParaRPr lang="en-US" dirty="0"/>
          </a:p>
        </p:txBody>
      </p:sp>
      <p:sp>
        <p:nvSpPr>
          <p:cNvPr id="5" name="Text Placeholder 4"/>
          <p:cNvSpPr>
            <a:spLocks noGrp="1"/>
          </p:cNvSpPr>
          <p:nvPr>
            <p:ph type="body" sz="quarter" idx="17"/>
          </p:nvPr>
        </p:nvSpPr>
        <p:spPr/>
        <p:txBody>
          <a:bodyPr/>
          <a:lstStyle/>
          <a:p>
            <a:r>
              <a:rPr lang="en-US" dirty="0"/>
              <a:t>The columns within the </a:t>
            </a:r>
            <a:r>
              <a:rPr lang="en-US" sz="2600" dirty="0" err="1">
                <a:latin typeface="Courier New" panose="02070309020205020404" pitchFamily="49" charset="0"/>
                <a:cs typeface="Courier New" panose="02070309020205020404" pitchFamily="49" charset="0"/>
              </a:rPr>
              <a:t>colgroup</a:t>
            </a:r>
            <a:r>
              <a:rPr lang="en-US" dirty="0"/>
              <a:t> element are identified by the following </a:t>
            </a:r>
            <a:r>
              <a:rPr lang="en-US" sz="2600" dirty="0">
                <a:latin typeface="Courier New" panose="02070309020205020404" pitchFamily="49" charset="0"/>
                <a:cs typeface="Courier New" panose="02070309020205020404" pitchFamily="49" charset="0"/>
              </a:rPr>
              <a:t>col</a:t>
            </a:r>
            <a:r>
              <a:rPr lang="en-US" dirty="0"/>
              <a:t> element:</a:t>
            </a:r>
          </a:p>
          <a:p>
            <a:pPr marL="463550" indent="0">
              <a:buNone/>
            </a:pPr>
            <a:r>
              <a:rPr lang="en-US" sz="2600" dirty="0">
                <a:latin typeface="Courier New" panose="02070309020205020404" pitchFamily="49" charset="0"/>
                <a:cs typeface="Courier New" panose="02070309020205020404" pitchFamily="49" charset="0"/>
              </a:rPr>
              <a:t>&lt;col span="value" /&gt;</a:t>
            </a:r>
          </a:p>
          <a:p>
            <a:pPr marL="46355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the number of columns spanned by the </a:t>
            </a:r>
            <a:r>
              <a:rPr lang="en-US" sz="2600" dirty="0">
                <a:latin typeface="Courier New" panose="02070309020205020404" pitchFamily="49" charset="0"/>
                <a:cs typeface="Courier New" panose="02070309020205020404" pitchFamily="49" charset="0"/>
              </a:rPr>
              <a:t>col</a:t>
            </a:r>
            <a:r>
              <a:rPr lang="en-US" dirty="0"/>
              <a:t> element</a:t>
            </a:r>
          </a:p>
          <a:p>
            <a:r>
              <a:rPr lang="en-US" dirty="0"/>
              <a:t>If no </a:t>
            </a:r>
            <a:r>
              <a:rPr lang="en-US" sz="2600" dirty="0">
                <a:latin typeface="Courier New" panose="02070309020205020404" pitchFamily="49" charset="0"/>
                <a:cs typeface="Courier New" panose="02070309020205020404" pitchFamily="49" charset="0"/>
              </a:rPr>
              <a:t>span</a:t>
            </a:r>
            <a:r>
              <a:rPr lang="en-US" dirty="0"/>
              <a:t> attribute is included, the </a:t>
            </a:r>
            <a:r>
              <a:rPr lang="en-US" sz="2600" dirty="0">
                <a:latin typeface="Courier New" panose="02070309020205020404" pitchFamily="49" charset="0"/>
                <a:cs typeface="Courier New" panose="02070309020205020404" pitchFamily="49" charset="0"/>
              </a:rPr>
              <a:t>col </a:t>
            </a:r>
            <a:r>
              <a:rPr lang="en-US" dirty="0"/>
              <a:t>element references a single column</a:t>
            </a:r>
          </a:p>
        </p:txBody>
      </p:sp>
    </p:spTree>
    <p:extLst>
      <p:ext uri="{BB962C8B-B14F-4D97-AF65-F5344CB8AC3E}">
        <p14:creationId xmlns:p14="http://schemas.microsoft.com/office/powerpoint/2010/main" val="3864628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Column Groups</a:t>
            </a:r>
            <a:br>
              <a:rPr lang="en-US"/>
            </a:br>
            <a:r>
              <a:rPr lang="en-US"/>
              <a:t>(continued 3)</a:t>
            </a:r>
            <a:endParaRPr lang="en-US" dirty="0"/>
          </a:p>
        </p:txBody>
      </p:sp>
      <p:sp>
        <p:nvSpPr>
          <p:cNvPr id="6" name="Text Placeholder 5"/>
          <p:cNvSpPr>
            <a:spLocks noGrp="1"/>
          </p:cNvSpPr>
          <p:nvPr>
            <p:ph type="body" sz="quarter" idx="17"/>
          </p:nvPr>
        </p:nvSpPr>
        <p:spPr/>
        <p:txBody>
          <a:bodyPr/>
          <a:lstStyle/>
          <a:p>
            <a:r>
              <a:rPr lang="en-US" dirty="0"/>
              <a:t>Once columns are defined using the </a:t>
            </a:r>
            <a:r>
              <a:rPr lang="en-US" sz="2600" dirty="0" err="1">
                <a:latin typeface="Courier New" panose="02070309020205020404" pitchFamily="49" charset="0"/>
                <a:cs typeface="Courier New" panose="02070309020205020404" pitchFamily="49" charset="0"/>
              </a:rPr>
              <a:t>colgroup</a:t>
            </a:r>
            <a:r>
              <a:rPr lang="en-US" dirty="0"/>
              <a:t> and </a:t>
            </a:r>
            <a:r>
              <a:rPr lang="en-US" sz="2600" dirty="0">
                <a:latin typeface="Courier New" panose="02070309020205020404" pitchFamily="49" charset="0"/>
                <a:cs typeface="Courier New" panose="02070309020205020404" pitchFamily="49" charset="0"/>
              </a:rPr>
              <a:t>col</a:t>
            </a:r>
            <a:r>
              <a:rPr lang="en-US" dirty="0"/>
              <a:t> elements individual columns can be identified</a:t>
            </a:r>
          </a:p>
          <a:p>
            <a:r>
              <a:rPr lang="en-US" dirty="0"/>
              <a:t>Use the </a:t>
            </a:r>
            <a:r>
              <a:rPr lang="en-US" dirty="0">
                <a:latin typeface="Courier New" panose="02070309020205020404" pitchFamily="49" charset="0"/>
                <a:cs typeface="Courier New" panose="02070309020205020404" pitchFamily="49" charset="0"/>
              </a:rPr>
              <a:t>id</a:t>
            </a:r>
            <a:r>
              <a:rPr lang="en-US" dirty="0"/>
              <a:t> and/or </a:t>
            </a:r>
            <a:r>
              <a:rPr lang="en-US" dirty="0">
                <a:latin typeface="Courier New" panose="02070309020205020404" pitchFamily="49" charset="0"/>
                <a:cs typeface="Courier New" panose="02070309020205020404" pitchFamily="49" charset="0"/>
              </a:rPr>
              <a:t>class</a:t>
            </a:r>
            <a:r>
              <a:rPr lang="en-US" dirty="0"/>
              <a:t> attributes for the purposes of applying CSS styles to specific columns</a:t>
            </a:r>
          </a:p>
        </p:txBody>
      </p:sp>
    </p:spTree>
    <p:extLst>
      <p:ext uri="{BB962C8B-B14F-4D97-AF65-F5344CB8AC3E}">
        <p14:creationId xmlns:p14="http://schemas.microsoft.com/office/powerpoint/2010/main" val="4191819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Column Groups</a:t>
            </a:r>
            <a:br>
              <a:rPr lang="en-US" dirty="0"/>
            </a:br>
            <a:r>
              <a:rPr lang="en-US" dirty="0"/>
              <a:t>(continued 4)</a:t>
            </a:r>
          </a:p>
        </p:txBody>
      </p:sp>
      <p:sp>
        <p:nvSpPr>
          <p:cNvPr id="5" name="Text Placeholder 4"/>
          <p:cNvSpPr>
            <a:spLocks noGrp="1"/>
          </p:cNvSpPr>
          <p:nvPr>
            <p:ph type="body" sz="quarter" idx="17"/>
          </p:nvPr>
        </p:nvSpPr>
        <p:spPr/>
        <p:txBody>
          <a:bodyPr/>
          <a:lstStyle/>
          <a:p>
            <a:r>
              <a:rPr lang="en-US" dirty="0"/>
              <a:t>Columns and column groups accept only CSS style properties to modify</a:t>
            </a:r>
          </a:p>
          <a:p>
            <a:pPr lvl="1"/>
            <a:r>
              <a:rPr lang="en-US" dirty="0"/>
              <a:t>Column borders</a:t>
            </a:r>
          </a:p>
          <a:p>
            <a:pPr lvl="1"/>
            <a:r>
              <a:rPr lang="en-US" dirty="0"/>
              <a:t>Background</a:t>
            </a:r>
          </a:p>
          <a:p>
            <a:pPr lvl="1"/>
            <a:r>
              <a:rPr lang="en-US" dirty="0"/>
              <a:t>Width</a:t>
            </a:r>
          </a:p>
          <a:p>
            <a:pPr lvl="1"/>
            <a:r>
              <a:rPr lang="en-US" dirty="0"/>
              <a:t>Visibility</a:t>
            </a:r>
          </a:p>
        </p:txBody>
      </p:sp>
    </p:spTree>
    <p:extLst>
      <p:ext uri="{BB962C8B-B14F-4D97-AF65-F5344CB8AC3E}">
        <p14:creationId xmlns:p14="http://schemas.microsoft.com/office/powerpoint/2010/main" val="2781433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Column Groups</a:t>
            </a:r>
            <a:br>
              <a:rPr lang="en-US" dirty="0"/>
            </a:br>
            <a:r>
              <a:rPr lang="en-US" dirty="0"/>
              <a:t>(continued 5)</a:t>
            </a:r>
          </a:p>
        </p:txBody>
      </p:sp>
      <p:pic>
        <p:nvPicPr>
          <p:cNvPr id="7" name="Picture Placeholder 6" descr="This figure explains how to define a column group.&#10;&#10;The figure consists of two rectangular boxes and a few lines of code.&#10;&#10;The first line of the code reads “&lt;table class=“schedule”&gt;”. The second line of the code reads “&lt;caption&gt;All Times Central&lt;/caption&gt;”. The third line of the code reads “&lt;colgroup&gt;”. The fourth line of the code reads “&lt;col id=“firstCol”/&gt;”. The fifth line of the code reads “&lt;col class=“dayCols” span=“7”/&gt;”. The sixth line of the code reads “&lt;/colgroup&gt;”. The seventh line of the code reads “&lt;thead&gt;”.&#10;&#10;The first rectangular box labeled “col element references the first column” is positioned at the left side of the code. An arrow originating from this rectangular box points to the fourth line of code.&#10;&#10;The second rectangular box labeled “col element references the next seven columns” is positioned below the first rectangular box. An arrow originating from the second rectangular box points to the fifth line of code.&#10;" title="Figure 6-26 Defining a column group"/>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74374" y="2234267"/>
            <a:ext cx="7195251" cy="2470472"/>
          </a:xfrm>
          <a:prstGeom prst="rect">
            <a:avLst/>
          </a:prstGeom>
        </p:spPr>
      </p:pic>
    </p:spTree>
    <p:extLst>
      <p:ext uri="{BB962C8B-B14F-4D97-AF65-F5344CB8AC3E}">
        <p14:creationId xmlns:p14="http://schemas.microsoft.com/office/powerpoint/2010/main" val="1693388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Column Groups</a:t>
            </a:r>
            <a:br>
              <a:rPr lang="en-US" dirty="0"/>
            </a:br>
            <a:r>
              <a:rPr lang="en-US" dirty="0"/>
              <a:t>(continued 6)</a:t>
            </a:r>
          </a:p>
        </p:txBody>
      </p:sp>
      <p:pic>
        <p:nvPicPr>
          <p:cNvPr id="5" name="Picture Placeholder 4" descr="This figure explains how to format table columns.&#10;&#10;The figure consists of two rectangular boxes and a few lines of code.&#10;&#10;The first line of the code reads “/* Column Group Styles */”. The second line of the code reads “col firstCol {”. The third line of the code reads “background: rgb (218, 210, 218);”. The fourth line of the code reads “}”.The fifth line of the code reads “col.dayCols {”. The sixth line of the code reads “background: rgb (225, 220, 255);”. The seventh line of the code reads “}”.&#10;&#10;The first rectangular box labeled “displays the first column with a gray background” is positioned at the left side of the code. An arrow originating from this rectangular box points from the second line to the fourth line of the code.&#10;&#10;The second rectangular box labeled “displays the day columns with a pink background” is positioned below the first rectangular box. An arrow originating from the second rectangular box points from the fifth line to the seventh line of the code.&#10;" title="Figure 6-27 Formatting the table column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65678" y="2037784"/>
            <a:ext cx="7412643" cy="2985412"/>
          </a:xfrm>
          <a:prstGeom prst="rect">
            <a:avLst/>
          </a:prstGeom>
        </p:spPr>
      </p:pic>
    </p:spTree>
    <p:extLst>
      <p:ext uri="{BB962C8B-B14F-4D97-AF65-F5344CB8AC3E}">
        <p14:creationId xmlns:p14="http://schemas.microsoft.com/office/powerpoint/2010/main" val="2714513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CSS Styles and Web Tables</a:t>
            </a:r>
          </a:p>
        </p:txBody>
      </p:sp>
      <p:sp>
        <p:nvSpPr>
          <p:cNvPr id="3" name="Text Placeholder 2"/>
          <p:cNvSpPr>
            <a:spLocks noGrp="1"/>
          </p:cNvSpPr>
          <p:nvPr>
            <p:ph type="body" sz="quarter" idx="17"/>
          </p:nvPr>
        </p:nvSpPr>
        <p:spPr/>
        <p:txBody>
          <a:bodyPr/>
          <a:lstStyle/>
          <a:p>
            <a:r>
              <a:rPr lang="en-US" dirty="0"/>
              <a:t>Levels of precedence in the table styles in decreasing order</a:t>
            </a:r>
          </a:p>
          <a:p>
            <a:pPr lvl="1"/>
            <a:r>
              <a:rPr lang="en-US" dirty="0"/>
              <a:t>Table cells</a:t>
            </a:r>
          </a:p>
          <a:p>
            <a:pPr lvl="1"/>
            <a:r>
              <a:rPr lang="en-US" dirty="0"/>
              <a:t>Rows </a:t>
            </a:r>
          </a:p>
          <a:p>
            <a:pPr lvl="1"/>
            <a:r>
              <a:rPr lang="en-US" dirty="0"/>
              <a:t>Row groups</a:t>
            </a:r>
          </a:p>
          <a:p>
            <a:pPr lvl="1"/>
            <a:r>
              <a:rPr lang="en-US" dirty="0"/>
              <a:t>Columns</a:t>
            </a:r>
          </a:p>
          <a:p>
            <a:pPr lvl="1"/>
            <a:r>
              <a:rPr lang="en-US" dirty="0"/>
              <a:t>Column groups</a:t>
            </a:r>
          </a:p>
          <a:p>
            <a:pPr lvl="1"/>
            <a:r>
              <a:rPr lang="en-US" dirty="0"/>
              <a:t>Table</a:t>
            </a:r>
          </a:p>
        </p:txBody>
      </p:sp>
    </p:spTree>
    <p:extLst>
      <p:ext uri="{BB962C8B-B14F-4D97-AF65-F5344CB8AC3E}">
        <p14:creationId xmlns:p14="http://schemas.microsoft.com/office/powerpoint/2010/main" val="3337222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Width and Height</a:t>
            </a:r>
          </a:p>
        </p:txBody>
      </p:sp>
      <p:sp>
        <p:nvSpPr>
          <p:cNvPr id="3" name="Text Placeholder 2"/>
          <p:cNvSpPr>
            <a:spLocks noGrp="1"/>
          </p:cNvSpPr>
          <p:nvPr>
            <p:ph type="body" sz="quarter" idx="17"/>
          </p:nvPr>
        </p:nvSpPr>
        <p:spPr/>
        <p:txBody>
          <a:bodyPr/>
          <a:lstStyle/>
          <a:p>
            <a:r>
              <a:rPr lang="en-US" dirty="0"/>
              <a:t>By default, browsers attempt to fit more content in each column before wrapping the cell text</a:t>
            </a:r>
          </a:p>
          <a:p>
            <a:r>
              <a:rPr lang="en-US" dirty="0"/>
              <a:t>Extra space is divided equally among columns if the width of a table is larger than its individual columns</a:t>
            </a:r>
          </a:p>
          <a:p>
            <a:r>
              <a:rPr lang="en-US" dirty="0"/>
              <a:t>Column widths are set using the </a:t>
            </a:r>
            <a:r>
              <a:rPr lang="en-US" sz="2600" dirty="0">
                <a:latin typeface="Courier New" panose="02070309020205020404" pitchFamily="49" charset="0"/>
                <a:cs typeface="Courier New" panose="02070309020205020404" pitchFamily="49" charset="0"/>
              </a:rPr>
              <a:t>width</a:t>
            </a:r>
            <a:r>
              <a:rPr lang="en-US" dirty="0"/>
              <a:t> property</a:t>
            </a:r>
          </a:p>
        </p:txBody>
      </p:sp>
    </p:spTree>
    <p:extLst>
      <p:ext uri="{BB962C8B-B14F-4D97-AF65-F5344CB8AC3E}">
        <p14:creationId xmlns:p14="http://schemas.microsoft.com/office/powerpoint/2010/main" val="24758483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Width and Height</a:t>
            </a:r>
            <a:br>
              <a:rPr lang="en-US" dirty="0"/>
            </a:br>
            <a:r>
              <a:rPr lang="en-US" dirty="0"/>
              <a:t>(continued 1)</a:t>
            </a:r>
          </a:p>
        </p:txBody>
      </p:sp>
      <p:pic>
        <p:nvPicPr>
          <p:cNvPr id="4" name="Picture Placeholder 3" descr="This figure explains how to set the column width.&#10;&#10;The figure consists of two rectangular boxes and a few lines of code.&#10;&#10;The first line of the code reads “col firstCol {”. The second line of the code reads “background: rgb (218, 210, 218);”. The third line of the code reads “width:16%;”. The fourth line of the code reads “}”.The fifth line of the code reads “col.dayCols {”. The sixth line of the code reads “background: rgb (225, 220, 255);”. The seventh line of the code reads “width: 12%”. The eighth line of the code reads “}”.&#10;&#10;The first rectangular box labeled “sets the width of the first column to 16% of the width of the table” is positioned at the left side of the code. An arrow originating from this rectangular box points to the third line of the code.&#10;&#10;The second rectangular box labeled “sets the width of the day columns to 12%” is positioned below the first rectangular box. An arrow originating from the second rectangular box points to the seventh line of the code." title="Figure 6-30 Setting the column width"/>
          <p:cNvPicPr>
            <a:picLocks noGrp="1" noChangeAspect="1"/>
          </p:cNvPicPr>
          <p:nvPr>
            <p:ph type="pic" sz="quarter" idx="10"/>
          </p:nvPr>
        </p:nvPicPr>
        <p:blipFill>
          <a:blip r:embed="rId2"/>
          <a:stretch>
            <a:fillRect/>
          </a:stretch>
        </p:blipFill>
        <p:spPr>
          <a:xfrm>
            <a:off x="438302" y="2000556"/>
            <a:ext cx="8267395" cy="2647643"/>
          </a:xfrm>
          <a:prstGeom prst="rect">
            <a:avLst/>
          </a:prstGeom>
        </p:spPr>
      </p:pic>
    </p:spTree>
    <p:extLst>
      <p:ext uri="{BB962C8B-B14F-4D97-AF65-F5344CB8AC3E}">
        <p14:creationId xmlns:p14="http://schemas.microsoft.com/office/powerpoint/2010/main" val="2653206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Width and Height</a:t>
            </a:r>
            <a:br>
              <a:rPr lang="en-US" dirty="0"/>
            </a:br>
            <a:r>
              <a:rPr lang="en-US" dirty="0"/>
              <a:t>(continued 2)</a:t>
            </a:r>
          </a:p>
        </p:txBody>
      </p:sp>
      <p:sp>
        <p:nvSpPr>
          <p:cNvPr id="3" name="Text Placeholder 2"/>
          <p:cNvSpPr>
            <a:spLocks noGrp="1"/>
          </p:cNvSpPr>
          <p:nvPr>
            <p:ph type="body" sz="quarter" idx="17"/>
          </p:nvPr>
        </p:nvSpPr>
        <p:spPr/>
        <p:txBody>
          <a:bodyPr/>
          <a:lstStyle/>
          <a:p>
            <a:r>
              <a:rPr lang="en-US" dirty="0"/>
              <a:t>The height of each row is based on the height of the tallest cell</a:t>
            </a:r>
          </a:p>
          <a:p>
            <a:r>
              <a:rPr lang="en-US" dirty="0"/>
              <a:t>A uniform row height is defined by applying the height style to table rows within each row group</a:t>
            </a:r>
          </a:p>
          <a:p>
            <a:r>
              <a:rPr lang="en-US" dirty="0"/>
              <a:t>The </a:t>
            </a:r>
            <a:r>
              <a:rPr lang="en-US" sz="2600" dirty="0">
                <a:latin typeface="Courier New" panose="02070309020205020404" pitchFamily="49" charset="0"/>
                <a:cs typeface="Courier New" panose="02070309020205020404" pitchFamily="49" charset="0"/>
              </a:rPr>
              <a:t>vertical-align</a:t>
            </a:r>
            <a:r>
              <a:rPr lang="en-US" dirty="0"/>
              <a:t> property is used to move the cell text</a:t>
            </a:r>
          </a:p>
        </p:txBody>
      </p:sp>
    </p:spTree>
    <p:extLst>
      <p:ext uri="{BB962C8B-B14F-4D97-AF65-F5344CB8AC3E}">
        <p14:creationId xmlns:p14="http://schemas.microsoft.com/office/powerpoint/2010/main" val="2414703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Width and Height</a:t>
            </a:r>
            <a:br>
              <a:rPr lang="en-US" dirty="0"/>
            </a:br>
            <a:r>
              <a:rPr lang="en-US" dirty="0"/>
              <a:t>(continued 3)</a:t>
            </a:r>
          </a:p>
        </p:txBody>
      </p:sp>
      <p:pic>
        <p:nvPicPr>
          <p:cNvPr id="4" name="Content Placeholder 5" descr="This figure explains how to set the row height.&#10;&#10;The figure consists of two rectangular boxes and a few lines of code.&#10;&#10;The first line of the code reads “table.schedule tfoot {”. The second line of the code reads “background: black;”. The third line of the code reads “color:white;”. The fourth line of the code reads “}”. The fifth line of the code reads “table.schedule thead tr {”. The sixth line of the code reads “height: 30px;”. The seventh line of the code reads “}”. The eighth line of the code reads “table.schedule tbody tr {”. The ninth line of the code reads “height: 40px;”. The tenth line of the code reads “}”.&#10;&#10;The first rectangular box labeled “sets the height of the row in the table header to 30 pixels” is positioned at the left side of the code. An arrow originating from this rectangular box points to the sixth line of the code. &#10;&#10;The second rectangular box labeled “sets the height of the rows in the table body to 40 pixels” is positioned below the first rectangular box. An arrow originating from the second rectangular box points to the ninth line of the code.&#10;&#10;" title="Figure 6-31 Setting the row heigh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756705" y="1663803"/>
            <a:ext cx="7630590" cy="3896269"/>
          </a:xfrm>
          <a:prstGeom prst="rect">
            <a:avLst/>
          </a:prstGeom>
          <a:noFill/>
          <a:ln w="9525">
            <a:noFill/>
            <a:miter lim="800000"/>
            <a:headEnd/>
            <a:tailEnd/>
          </a:ln>
        </p:spPr>
      </p:pic>
    </p:spTree>
    <p:extLst>
      <p:ext uri="{BB962C8B-B14F-4D97-AF65-F5344CB8AC3E}">
        <p14:creationId xmlns:p14="http://schemas.microsoft.com/office/powerpoint/2010/main" val="41848342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Table Styles to Other Page Elements</a:t>
            </a:r>
          </a:p>
        </p:txBody>
      </p:sp>
      <p:sp>
        <p:nvSpPr>
          <p:cNvPr id="3" name="Text Placeholder 2"/>
          <p:cNvSpPr>
            <a:spLocks noGrp="1"/>
          </p:cNvSpPr>
          <p:nvPr>
            <p:ph type="body" sz="quarter" idx="17"/>
          </p:nvPr>
        </p:nvSpPr>
        <p:spPr/>
        <p:txBody>
          <a:bodyPr/>
          <a:lstStyle/>
          <a:p>
            <a:r>
              <a:rPr lang="en-US" dirty="0"/>
              <a:t>Can use the CSS </a:t>
            </a:r>
            <a:r>
              <a:rPr lang="en-US" sz="2600" dirty="0">
                <a:latin typeface="Courier New" panose="02070309020205020404" pitchFamily="49" charset="0"/>
                <a:cs typeface="Courier New" panose="02070309020205020404" pitchFamily="49" charset="0"/>
              </a:rPr>
              <a:t>display</a:t>
            </a:r>
            <a:r>
              <a:rPr lang="en-US" dirty="0"/>
              <a:t> property to apply a table layout to other HTML elements</a:t>
            </a:r>
          </a:p>
          <a:p>
            <a:pPr lvl="1"/>
            <a:r>
              <a:rPr lang="en-US" dirty="0"/>
              <a:t>Paragraphs, block quotes, lists </a:t>
            </a:r>
            <a:br>
              <a:rPr lang="en-US" dirty="0"/>
            </a:br>
            <a:endParaRPr lang="en-US" dirty="0"/>
          </a:p>
        </p:txBody>
      </p:sp>
    </p:spTree>
    <p:extLst>
      <p:ext uri="{BB962C8B-B14F-4D97-AF65-F5344CB8AC3E}">
        <p14:creationId xmlns:p14="http://schemas.microsoft.com/office/powerpoint/2010/main" val="316745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Table Styles to Other Page Elements (continued 1)</a:t>
            </a:r>
          </a:p>
        </p:txBody>
      </p:sp>
      <p:graphicFrame>
        <p:nvGraphicFramePr>
          <p:cNvPr id="7" name="Table Placeholder 6"/>
          <p:cNvGraphicFramePr>
            <a:graphicFrameLocks noGrp="1"/>
          </p:cNvGraphicFramePr>
          <p:nvPr>
            <p:ph type="tbl" sz="quarter" idx="10"/>
            <p:extLst>
              <p:ext uri="{D42A27DB-BD31-4B8C-83A1-F6EECF244321}">
                <p14:modId xmlns:p14="http://schemas.microsoft.com/office/powerpoint/2010/main" val="4272365634"/>
              </p:ext>
            </p:extLst>
          </p:nvPr>
        </p:nvGraphicFramePr>
        <p:xfrm>
          <a:off x="628650" y="1561480"/>
          <a:ext cx="7886700" cy="4639378"/>
        </p:xfrm>
        <a:graphic>
          <a:graphicData uri="http://schemas.openxmlformats.org/drawingml/2006/table">
            <a:tbl>
              <a:tblPr firstRow="1"/>
              <a:tblGrid>
                <a:gridCol w="3593492">
                  <a:extLst>
                    <a:ext uri="{9D8B030D-6E8A-4147-A177-3AD203B41FA5}">
                      <a16:colId xmlns:a16="http://schemas.microsoft.com/office/drawing/2014/main" val="20000"/>
                    </a:ext>
                  </a:extLst>
                </a:gridCol>
                <a:gridCol w="4293208">
                  <a:extLst>
                    <a:ext uri="{9D8B030D-6E8A-4147-A177-3AD203B41FA5}">
                      <a16:colId xmlns:a16="http://schemas.microsoft.com/office/drawing/2014/main" val="20001"/>
                    </a:ext>
                  </a:extLst>
                </a:gridCol>
              </a:tblGrid>
              <a:tr h="433287">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Display Style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Equivalent HTML 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43048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table (treated as a block-level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table-inline;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table (treated as an inline element)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995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table-row;</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table-row-group;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tbody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table-header-group;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thead</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table-footer-group;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tfoot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table-column;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col</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table-column-group;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colgroup</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995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table-cell;</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td or th</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4345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display: table-caption;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caption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233560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Table Styles to Other Page Elements (continued 2)</a:t>
            </a:r>
          </a:p>
        </p:txBody>
      </p:sp>
      <p:pic>
        <p:nvPicPr>
          <p:cNvPr id="3" name="Picture Placeholder 2" descr="This figure shows how to apply table styles to a definition list. It consists of two rectangular boxes and a table.&#10;The first rectangular box labeled “definition list code” consists of a code. The label is positioned at the bottom-center below the rectangular box. The first line of the code reads “&lt;dl&gt;”. The second line of the code reads “&lt;div&gt;”. The third line of the code reads “&lt;dt&gt;bandwidth&lt;/dt&gt;”. The fourth line of the code reads “&lt;dd&gt; A measure of data transfer speed over”. The fifth line of the code reads “a network&lt;/dd&gt;”. The sixth line of the code reads “&lt;/div&gt;”. The seventh line of the code reads “&lt;div&gt;”. The eighth line of the code reads “&lt;dt&gt;HTTP&lt;/dt&gt;”. The ninth line of the code reads “&lt;dd&gt;The protocol used to communicate with”. The tenth line of the code reads “Web servers&lt;/dd&gt;”. The eleventh line of the code reads “&lt;/div&gt;”. The twelfth line of the code reads “&lt;/dl&gt;”.&#10;The table labeled “definition list displayed as table” is positioned at the bottom-right of the first rectangular box. The label is positioned at the bottom-center below the table.&#10;The table has 2 columns and 2 rows. &#10;In row 1, column 1 reads “bandwidth” and column 2 reads “A measure of data transfer speed over a network”.&#10;In row 2, column 1 reads “HTTP” and column 2 reads “The protocol used to communicate with Web servers”.&#10;The second rectangular box labeled &quot;table styles&quot; is positioned below the first rectangular box and is to the bottom-left of the table. The label is positioned below the second rectangular box. The second rectangular box consists of a code. The first line of the code reads “d1 {”.The second line of the code reads “display: table;”. The third line of the code reads “border-collapse: collapse;”. The fourth line of the code reads “width: 300px;”. The fifth line of the code reads “}”. The sixth line of the code reads “dl div {”. The seventh line of the code reads “display: table-row;”. The eighth line of the code reads “}”. The ninth line of the code reads “dt, dd {”. The tenth line of the code reads “display: table-cell;”. The eleventh line of the code reads “border: 1px solid black;”. The twelfth line of the code reads “vertical-align: top;”. The thirteenth line of the code reads “padding: 5px;”. The fourteenth line of the code reads “}”.&#10;An arrow originating from the first and the second rectangular box collectively points to the table." title="Figure 6-36 Applying table styles to a definition list"/>
          <p:cNvPicPr>
            <a:picLocks noGrp="1" noChangeAspect="1"/>
          </p:cNvPicPr>
          <p:nvPr>
            <p:ph type="pic" sz="quarter" idx="10"/>
          </p:nvPr>
        </p:nvPicPr>
        <p:blipFill>
          <a:blip r:embed="rId2"/>
          <a:stretch>
            <a:fillRect/>
          </a:stretch>
        </p:blipFill>
        <p:spPr>
          <a:xfrm>
            <a:off x="1338262" y="1422612"/>
            <a:ext cx="6467475" cy="4810125"/>
          </a:xfrm>
          <a:prstGeom prst="rect">
            <a:avLst/>
          </a:prstGeom>
        </p:spPr>
      </p:pic>
    </p:spTree>
    <p:extLst>
      <p:ext uri="{BB962C8B-B14F-4D97-AF65-F5344CB8AC3E}">
        <p14:creationId xmlns:p14="http://schemas.microsoft.com/office/powerpoint/2010/main" val="441565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p>
        </p:txBody>
      </p:sp>
      <p:sp>
        <p:nvSpPr>
          <p:cNvPr id="3" name="Text Placeholder 2"/>
          <p:cNvSpPr>
            <a:spLocks noGrp="1"/>
          </p:cNvSpPr>
          <p:nvPr>
            <p:ph type="body" sz="quarter" idx="17"/>
          </p:nvPr>
        </p:nvSpPr>
        <p:spPr/>
        <p:txBody>
          <a:bodyPr/>
          <a:lstStyle/>
          <a:p>
            <a:r>
              <a:rPr lang="en-US" dirty="0"/>
              <a:t>Tables do not scale well to mobile devices</a:t>
            </a:r>
          </a:p>
          <a:p>
            <a:r>
              <a:rPr lang="en-US" dirty="0"/>
              <a:t>Problems faced by users to view a table in a mobile device</a:t>
            </a:r>
          </a:p>
          <a:p>
            <a:pPr lvl="1"/>
            <a:r>
              <a:rPr lang="en-US" dirty="0"/>
              <a:t>Table is too small to read</a:t>
            </a:r>
          </a:p>
          <a:p>
            <a:pPr lvl="1"/>
            <a:r>
              <a:rPr lang="en-US" dirty="0"/>
              <a:t>Table does not fit the visual viewport</a:t>
            </a:r>
          </a:p>
          <a:p>
            <a:pPr lvl="1"/>
            <a:r>
              <a:rPr lang="en-US" dirty="0"/>
              <a:t>Table columns are too narrow to read the cell content</a:t>
            </a:r>
          </a:p>
        </p:txBody>
      </p:sp>
    </p:spTree>
    <p:extLst>
      <p:ext uri="{BB962C8B-B14F-4D97-AF65-F5344CB8AC3E}">
        <p14:creationId xmlns:p14="http://schemas.microsoft.com/office/powerpoint/2010/main" val="889637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br>
              <a:rPr lang="en-US" dirty="0"/>
            </a:br>
            <a:r>
              <a:rPr lang="en-US" dirty="0"/>
              <a:t>(continued 1)</a:t>
            </a:r>
          </a:p>
        </p:txBody>
      </p:sp>
      <p:pic>
        <p:nvPicPr>
          <p:cNvPr id="7" name="Content Placeholder 5" descr="This figure shows the web tables on mobile devices.&#10;The figure consists of three vertically positioned rectangular boxes.&#10;The first rectangular box contains a table description and a table that covers one-fourth of the rectangular box’s area from the top. A text that reads “complete table is too small to read” is positioned at the bottom-center, below the first rectangular box.&#10;The second rectangular box is positioned at the right side of the first rectangular box. The second rectangular box contains a table description and a table that covers half of the second rectangular box’s area. A text that reads “table is easier to read but does not fit within the viewport” is positioned at the bottom-center, below the second rectangular box.&#10;The third rectangular box is positioned at the right side of the second rectangular box. The second rectangular box contains a table description and a table that covers the entire area of the third rectangular box. A text that reads “table fits within the viewport but columns are too narrow to read comfortably” is positioned at the bottom-center, below the third rectangular box.&#10; &#10;" title="Figure 6-37 Web tables on mobile devic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85054" y="1280651"/>
            <a:ext cx="8173891" cy="4878578"/>
          </a:xfrm>
          <a:prstGeom prst="rect">
            <a:avLst/>
          </a:prstGeom>
        </p:spPr>
      </p:pic>
    </p:spTree>
    <p:extLst>
      <p:ext uri="{BB962C8B-B14F-4D97-AF65-F5344CB8AC3E}">
        <p14:creationId xmlns:p14="http://schemas.microsoft.com/office/powerpoint/2010/main" val="715256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br>
              <a:rPr lang="en-US" dirty="0"/>
            </a:br>
            <a:r>
              <a:rPr lang="en-US" dirty="0"/>
              <a:t>(continued 2)</a:t>
            </a:r>
          </a:p>
        </p:txBody>
      </p:sp>
      <p:sp>
        <p:nvSpPr>
          <p:cNvPr id="3" name="Text Placeholder 2"/>
          <p:cNvSpPr>
            <a:spLocks noGrp="1"/>
          </p:cNvSpPr>
          <p:nvPr>
            <p:ph type="body" sz="quarter" idx="17"/>
          </p:nvPr>
        </p:nvSpPr>
        <p:spPr/>
        <p:txBody>
          <a:bodyPr/>
          <a:lstStyle/>
          <a:p>
            <a:r>
              <a:rPr lang="en-US" dirty="0"/>
              <a:t>A new layout of table data for mobile screens is required</a:t>
            </a:r>
          </a:p>
          <a:p>
            <a:r>
              <a:rPr lang="en-US" dirty="0"/>
              <a:t>Several table columns are reduced to two:</a:t>
            </a:r>
          </a:p>
          <a:p>
            <a:pPr lvl="1"/>
            <a:r>
              <a:rPr lang="en-US" dirty="0"/>
              <a:t>One column containing all data labels</a:t>
            </a:r>
          </a:p>
          <a:p>
            <a:pPr lvl="1"/>
            <a:r>
              <a:rPr lang="en-US" dirty="0"/>
              <a:t>Second column containing data associated with each label</a:t>
            </a:r>
          </a:p>
        </p:txBody>
      </p:sp>
    </p:spTree>
    <p:extLst>
      <p:ext uri="{BB962C8B-B14F-4D97-AF65-F5344CB8AC3E}">
        <p14:creationId xmlns:p14="http://schemas.microsoft.com/office/powerpoint/2010/main" val="28559229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br>
              <a:rPr lang="en-US" dirty="0"/>
            </a:br>
            <a:r>
              <a:rPr lang="en-US" dirty="0"/>
              <a:t>(continued 3)</a:t>
            </a:r>
          </a:p>
        </p:txBody>
      </p:sp>
      <p:sp>
        <p:nvSpPr>
          <p:cNvPr id="3" name="Text Placeholder 2"/>
          <p:cNvSpPr>
            <a:spLocks noGrp="1"/>
          </p:cNvSpPr>
          <p:nvPr>
            <p:ph type="body" sz="quarter" idx="17"/>
          </p:nvPr>
        </p:nvSpPr>
        <p:spPr/>
        <p:txBody>
          <a:bodyPr/>
          <a:lstStyle/>
          <a:p>
            <a:r>
              <a:rPr lang="en-US" dirty="0"/>
              <a:t>To create a responsive web table, add the text of data labels as attributes of all </a:t>
            </a:r>
            <a:r>
              <a:rPr lang="en-US" sz="2600" dirty="0">
                <a:latin typeface="Courier New" panose="02070309020205020404" pitchFamily="49" charset="0"/>
                <a:cs typeface="Courier New" panose="02070309020205020404" pitchFamily="49" charset="0"/>
              </a:rPr>
              <a:t>td</a:t>
            </a:r>
            <a:r>
              <a:rPr lang="en-US" dirty="0"/>
              <a:t> elements in the table body</a:t>
            </a:r>
          </a:p>
          <a:p>
            <a:r>
              <a:rPr lang="en-US" dirty="0"/>
              <a:t>Store data labels using a </a:t>
            </a:r>
            <a:r>
              <a:rPr lang="en-US" b="1" dirty="0"/>
              <a:t>data attribute</a:t>
            </a:r>
          </a:p>
          <a:p>
            <a:r>
              <a:rPr lang="en-US" dirty="0"/>
              <a:t>General format of a data attribute is</a:t>
            </a:r>
          </a:p>
          <a:p>
            <a:pPr marL="463550" indent="0">
              <a:buNone/>
            </a:pPr>
            <a:r>
              <a:rPr lang="en-US" sz="2600" dirty="0">
                <a:latin typeface="Courier New" panose="02070309020205020404" pitchFamily="49" charset="0"/>
                <a:cs typeface="Courier New" panose="02070309020205020404" pitchFamily="49" charset="0"/>
              </a:rPr>
              <a:t>data-text=“value”</a:t>
            </a:r>
          </a:p>
          <a:p>
            <a:pPr marL="463550" indent="0">
              <a:buNone/>
            </a:pPr>
            <a:r>
              <a:rPr lang="en-US" dirty="0"/>
              <a:t>where </a:t>
            </a:r>
            <a:r>
              <a:rPr lang="en-US" sz="2600" dirty="0">
                <a:latin typeface="Courier New" panose="02070309020205020404" pitchFamily="49" charset="0"/>
                <a:cs typeface="Courier New" panose="02070309020205020404" pitchFamily="49" charset="0"/>
              </a:rPr>
              <a:t>text</a:t>
            </a:r>
            <a:r>
              <a:rPr lang="en-US" dirty="0"/>
              <a:t> is the name of the data attribute and </a:t>
            </a:r>
            <a:r>
              <a:rPr lang="en-US" sz="2600" dirty="0">
                <a:latin typeface="Courier New" panose="02070309020205020404" pitchFamily="49" charset="0"/>
                <a:cs typeface="Courier New" panose="02070309020205020404" pitchFamily="49" charset="0"/>
              </a:rPr>
              <a:t>value</a:t>
            </a:r>
            <a:r>
              <a:rPr lang="en-US" dirty="0"/>
              <a:t> is its value</a:t>
            </a:r>
          </a:p>
        </p:txBody>
      </p:sp>
    </p:spTree>
    <p:extLst>
      <p:ext uri="{BB962C8B-B14F-4D97-AF65-F5344CB8AC3E}">
        <p14:creationId xmlns:p14="http://schemas.microsoft.com/office/powerpoint/2010/main" val="58574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br>
              <a:rPr lang="en-US" dirty="0"/>
            </a:br>
            <a:r>
              <a:rPr lang="en-US" dirty="0"/>
              <a:t>(continued 4)</a:t>
            </a:r>
          </a:p>
        </p:txBody>
      </p:sp>
      <p:sp>
        <p:nvSpPr>
          <p:cNvPr id="3" name="Text Placeholder 2"/>
          <p:cNvSpPr>
            <a:spLocks noGrp="1"/>
          </p:cNvSpPr>
          <p:nvPr>
            <p:ph type="body" sz="quarter" idx="17"/>
          </p:nvPr>
        </p:nvSpPr>
        <p:spPr/>
        <p:txBody>
          <a:bodyPr/>
          <a:lstStyle/>
          <a:p>
            <a:r>
              <a:rPr lang="en-US" dirty="0"/>
              <a:t>Data attributes use names specific to the function it is used for</a:t>
            </a:r>
          </a:p>
          <a:p>
            <a:r>
              <a:rPr lang="en-US" dirty="0"/>
              <a:t>For example, the following code uses a data attribute named </a:t>
            </a:r>
            <a:r>
              <a:rPr lang="en-US" sz="2600" dirty="0">
                <a:latin typeface="Courier New" panose="02070309020205020404" pitchFamily="49" charset="0"/>
                <a:cs typeface="Courier New" panose="02070309020205020404" pitchFamily="49" charset="0"/>
              </a:rPr>
              <a:t>data-label</a:t>
            </a:r>
            <a:r>
              <a:rPr lang="en-US" dirty="0"/>
              <a:t> to store the text of the labels associated with the data cell:</a:t>
            </a:r>
          </a:p>
          <a:p>
            <a:pPr marL="463550" indent="0">
              <a:buNone/>
            </a:pPr>
            <a:r>
              <a:rPr lang="en-US" sz="2600" dirty="0">
                <a:latin typeface="Courier New" panose="02070309020205020404" pitchFamily="49" charset="0"/>
                <a:cs typeface="Courier New" panose="02070309020205020404" pitchFamily="49" charset="0"/>
              </a:rPr>
              <a:t>&lt;td data-label=“Date”&gt;April 2, 	2021&lt;/td&gt;</a:t>
            </a:r>
          </a:p>
        </p:txBody>
      </p:sp>
    </p:spTree>
    <p:extLst>
      <p:ext uri="{BB962C8B-B14F-4D97-AF65-F5344CB8AC3E}">
        <p14:creationId xmlns:p14="http://schemas.microsoft.com/office/powerpoint/2010/main" val="24636407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br>
              <a:rPr lang="en-US" dirty="0"/>
            </a:br>
            <a:r>
              <a:rPr lang="en-US" dirty="0"/>
              <a:t>(continued 5)</a:t>
            </a:r>
          </a:p>
        </p:txBody>
      </p:sp>
      <p:sp>
        <p:nvSpPr>
          <p:cNvPr id="3" name="Text Placeholder 2"/>
          <p:cNvSpPr>
            <a:spLocks noGrp="1"/>
          </p:cNvSpPr>
          <p:nvPr>
            <p:ph type="body" sz="quarter" idx="17"/>
          </p:nvPr>
        </p:nvSpPr>
        <p:spPr/>
        <p:txBody>
          <a:bodyPr/>
          <a:lstStyle/>
          <a:p>
            <a:r>
              <a:rPr lang="en-US" dirty="0"/>
              <a:t>The result is a list of data cells that are aligned as block elements </a:t>
            </a:r>
          </a:p>
          <a:p>
            <a:r>
              <a:rPr lang="en-US" dirty="0"/>
              <a:t>Within each block element, the data label is followed by the data cell content</a:t>
            </a:r>
          </a:p>
          <a:p>
            <a:r>
              <a:rPr lang="en-US" dirty="0"/>
              <a:t>The goal is to transform table with multiple columns into two-column layout</a:t>
            </a:r>
          </a:p>
        </p:txBody>
      </p:sp>
    </p:spTree>
    <p:extLst>
      <p:ext uri="{BB962C8B-B14F-4D97-AF65-F5344CB8AC3E}">
        <p14:creationId xmlns:p14="http://schemas.microsoft.com/office/powerpoint/2010/main" val="5116995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 and Responsive Design</a:t>
            </a:r>
            <a:br>
              <a:rPr lang="en-US" dirty="0"/>
            </a:br>
            <a:r>
              <a:rPr lang="en-US" dirty="0"/>
              <a:t>(continued 6)</a:t>
            </a:r>
          </a:p>
        </p:txBody>
      </p:sp>
      <p:pic>
        <p:nvPicPr>
          <p:cNvPr id="5" name="Picture Placeholder 4" descr="This figure shows a two-column layout for a mobile device.&#10;The figure consists of three rectangular boxes.&#10;The first rectangular box consists of a table description and a table that covers the area of the box and is positioned vertically. The table consists of two columns.&#10;The second rectangular box labeled “headings appear in the first column of the table” is positioned at the left side of the first rectangular box. An arrow originating from the second rectangular box points to the first column in the table inside the first rectangular box.&#10;The third rectangular box labeled “cell content appears in the second column” is positioned at the right side of the first rectangular box. An arrow originating from the third rectangular box points to the second column in the table inside the first rectangular box.&#10;" title="Figure 6-38 Two-column layout for a mobile devic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54919" y="1489587"/>
            <a:ext cx="7634162" cy="4770402"/>
          </a:xfrm>
          <a:prstGeom prst="rect">
            <a:avLst/>
          </a:prstGeom>
        </p:spPr>
      </p:pic>
    </p:spTree>
    <p:extLst>
      <p:ext uri="{BB962C8B-B14F-4D97-AF65-F5344CB8AC3E}">
        <p14:creationId xmlns:p14="http://schemas.microsoft.com/office/powerpoint/2010/main" val="202584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a Column Layout</a:t>
            </a:r>
          </a:p>
        </p:txBody>
      </p:sp>
      <p:sp>
        <p:nvSpPr>
          <p:cNvPr id="3" name="Text Placeholder 2"/>
          <p:cNvSpPr>
            <a:spLocks noGrp="1"/>
          </p:cNvSpPr>
          <p:nvPr>
            <p:ph type="body" sz="quarter" idx="17"/>
          </p:nvPr>
        </p:nvSpPr>
        <p:spPr/>
        <p:txBody>
          <a:bodyPr/>
          <a:lstStyle/>
          <a:p>
            <a:r>
              <a:rPr lang="en-US" dirty="0"/>
              <a:t>Column layout enables display of content side-by-side in a page</a:t>
            </a:r>
          </a:p>
          <a:p>
            <a:r>
              <a:rPr lang="en-US" dirty="0"/>
              <a:t>Layouts that use float elements or flexboxes differ from column layout</a:t>
            </a:r>
          </a:p>
          <a:p>
            <a:pPr lvl="1"/>
            <a:r>
              <a:rPr lang="en-US" dirty="0"/>
              <a:t>Single element can flow from one column to the next</a:t>
            </a:r>
          </a:p>
          <a:p>
            <a:pPr lvl="1"/>
            <a:r>
              <a:rPr lang="en-US" dirty="0"/>
              <a:t>Flow of content adjusts to match the page width</a:t>
            </a:r>
          </a:p>
        </p:txBody>
      </p:sp>
    </p:spTree>
    <p:extLst>
      <p:ext uri="{BB962C8B-B14F-4D97-AF65-F5344CB8AC3E}">
        <p14:creationId xmlns:p14="http://schemas.microsoft.com/office/powerpoint/2010/main" val="6335303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Number of Columns</a:t>
            </a:r>
          </a:p>
        </p:txBody>
      </p:sp>
      <p:sp>
        <p:nvSpPr>
          <p:cNvPr id="3" name="Text Placeholder 2"/>
          <p:cNvSpPr>
            <a:spLocks noGrp="1"/>
          </p:cNvSpPr>
          <p:nvPr>
            <p:ph type="body" sz="quarter" idx="17"/>
          </p:nvPr>
        </p:nvSpPr>
        <p:spPr/>
        <p:txBody>
          <a:bodyPr/>
          <a:lstStyle/>
          <a:p>
            <a:r>
              <a:rPr lang="en-US" dirty="0"/>
              <a:t>Size of a column is set using the </a:t>
            </a:r>
            <a:r>
              <a:rPr lang="en-US" sz="2600" dirty="0">
                <a:latin typeface="Courier New" panose="02070309020205020404" pitchFamily="49" charset="0"/>
                <a:cs typeface="Courier New" panose="02070309020205020404" pitchFamily="49" charset="0"/>
              </a:rPr>
              <a:t>column-count</a:t>
            </a:r>
            <a:r>
              <a:rPr lang="en-US" dirty="0"/>
              <a:t> property</a:t>
            </a:r>
          </a:p>
          <a:p>
            <a:pPr marL="463550" indent="0">
              <a:buNone/>
            </a:pPr>
            <a:r>
              <a:rPr lang="en-US" sz="2600" dirty="0">
                <a:latin typeface="Courier New" panose="02070309020205020404" pitchFamily="49" charset="0"/>
                <a:cs typeface="Courier New" panose="02070309020205020404" pitchFamily="49" charset="0"/>
              </a:rPr>
              <a:t>column-count: value;</a:t>
            </a:r>
          </a:p>
          <a:p>
            <a:pPr marL="463550" indent="0">
              <a:buNone/>
            </a:pPr>
            <a:r>
              <a:rPr lang="en-US" dirty="0"/>
              <a:t>where </a:t>
            </a:r>
            <a:r>
              <a:rPr lang="en-US" sz="2600" dirty="0">
                <a:latin typeface="Courier New" panose="02070309020205020404" pitchFamily="49" charset="0"/>
                <a:cs typeface="Courier New" panose="02070309020205020404" pitchFamily="49" charset="0"/>
              </a:rPr>
              <a:t>value</a:t>
            </a:r>
            <a:r>
              <a:rPr lang="en-US" dirty="0"/>
              <a:t> is the number of columns in the layout</a:t>
            </a:r>
          </a:p>
          <a:p>
            <a:r>
              <a:rPr lang="en-US" dirty="0"/>
              <a:t>Browser extensions are included to ensure cross-browser compatibility</a:t>
            </a:r>
          </a:p>
        </p:txBody>
      </p:sp>
    </p:spTree>
    <p:extLst>
      <p:ext uri="{BB962C8B-B14F-4D97-AF65-F5344CB8AC3E}">
        <p14:creationId xmlns:p14="http://schemas.microsoft.com/office/powerpoint/2010/main" val="27755612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Number of Columns</a:t>
            </a:r>
            <a:br>
              <a:rPr lang="en-US" dirty="0"/>
            </a:br>
            <a:r>
              <a:rPr lang="en-US" dirty="0"/>
              <a:t>(continued)</a:t>
            </a:r>
          </a:p>
        </p:txBody>
      </p:sp>
      <p:pic>
        <p:nvPicPr>
          <p:cNvPr id="4" name="Picture Placeholder 3" descr="This figure explains how to apply a 2-column layout to the article element.&#10;&#10;The figure consists of two rectangular boxes and a few lines of code.&#10;&#10;The first line of the code reads “/* Column Styles */”. The second line of the code reads “@media only screen and (min-width: 641px) {”. The third line of the code reads “article {”. The fourth line of the code reads “column-count: 2;”. The seventh line of the code reads “}”. The eighth line of the code reads “}”.&#10;&#10;The first rectangular box labeled “applies the column style only to screen devices wider than 640 pixels” is positioned at the left side of the code. An arrow originating from this rectangular box points to the second line of the code.&#10;&#10;The second rectangular box labeled “displays the article content across 2 columns” is positioned at the right side of the code. An arrow originating from this rectangular box points to the fourth line of the code." title="Figure 6-40 Applying a 2-column layout to the article element"/>
          <p:cNvPicPr>
            <a:picLocks noGrp="1" noChangeAspect="1"/>
          </p:cNvPicPr>
          <p:nvPr>
            <p:ph type="pic" sz="quarter" idx="10"/>
          </p:nvPr>
        </p:nvPicPr>
        <p:blipFill>
          <a:blip r:embed="rId2"/>
          <a:stretch>
            <a:fillRect/>
          </a:stretch>
        </p:blipFill>
        <p:spPr>
          <a:xfrm>
            <a:off x="489097" y="2003014"/>
            <a:ext cx="8165806" cy="2372037"/>
          </a:xfrm>
          <a:prstGeom prst="rect">
            <a:avLst/>
          </a:prstGeom>
        </p:spPr>
      </p:pic>
    </p:spTree>
    <p:extLst>
      <p:ext uri="{BB962C8B-B14F-4D97-AF65-F5344CB8AC3E}">
        <p14:creationId xmlns:p14="http://schemas.microsoft.com/office/powerpoint/2010/main" val="118505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Column Widths and Gaps</a:t>
            </a:r>
          </a:p>
        </p:txBody>
      </p:sp>
      <p:sp>
        <p:nvSpPr>
          <p:cNvPr id="3" name="Text Placeholder 2"/>
          <p:cNvSpPr>
            <a:spLocks noGrp="1"/>
          </p:cNvSpPr>
          <p:nvPr>
            <p:ph type="body" sz="quarter" idx="17"/>
          </p:nvPr>
        </p:nvSpPr>
        <p:spPr/>
        <p:txBody>
          <a:bodyPr/>
          <a:lstStyle/>
          <a:p>
            <a:r>
              <a:rPr lang="en-US" dirty="0"/>
              <a:t>Columns are laid out evenly across the width of the parent element by default</a:t>
            </a:r>
          </a:p>
          <a:p>
            <a:r>
              <a:rPr lang="en-US" dirty="0"/>
              <a:t>To set the column width, use the </a:t>
            </a:r>
            <a:r>
              <a:rPr lang="en-US" sz="2600" dirty="0">
                <a:latin typeface="Courier New" panose="02070309020205020404" pitchFamily="49" charset="0"/>
                <a:cs typeface="Courier New" panose="02070309020205020404" pitchFamily="49" charset="0"/>
              </a:rPr>
              <a:t>column-width</a:t>
            </a:r>
            <a:r>
              <a:rPr lang="en-US" dirty="0"/>
              <a:t> property</a:t>
            </a:r>
          </a:p>
          <a:p>
            <a:pPr marL="463550" indent="0">
              <a:buNone/>
            </a:pPr>
            <a:r>
              <a:rPr lang="en-US" dirty="0">
                <a:latin typeface="Courier New" panose="02070309020205020404" pitchFamily="49" charset="0"/>
                <a:cs typeface="Courier New" panose="02070309020205020404" pitchFamily="49" charset="0"/>
              </a:rPr>
              <a:t>column-width: size;</a:t>
            </a:r>
          </a:p>
          <a:p>
            <a:pPr marL="463550" indent="0">
              <a:buNone/>
            </a:pPr>
            <a:r>
              <a:rPr lang="en-US" dirty="0"/>
              <a:t>where </a:t>
            </a:r>
            <a:r>
              <a:rPr lang="en-US" sz="2600" dirty="0">
                <a:latin typeface="Courier New" panose="02070309020205020404" pitchFamily="49" charset="0"/>
                <a:cs typeface="Courier New" panose="02070309020205020404" pitchFamily="49" charset="0"/>
              </a:rPr>
              <a:t>size</a:t>
            </a:r>
            <a:r>
              <a:rPr lang="en-US" dirty="0"/>
              <a:t> is the minimum width of the column</a:t>
            </a:r>
          </a:p>
          <a:p>
            <a:r>
              <a:rPr lang="en-US" dirty="0"/>
              <a:t>Column width acts like the basis value for items in a flexbox</a:t>
            </a:r>
          </a:p>
        </p:txBody>
      </p:sp>
    </p:spTree>
    <p:extLst>
      <p:ext uri="{BB962C8B-B14F-4D97-AF65-F5344CB8AC3E}">
        <p14:creationId xmlns:p14="http://schemas.microsoft.com/office/powerpoint/2010/main" val="3780947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Column Widths and Gaps</a:t>
            </a:r>
            <a:br>
              <a:rPr lang="en-US" dirty="0"/>
            </a:br>
            <a:r>
              <a:rPr lang="en-US" dirty="0"/>
              <a:t>(continued 1)</a:t>
            </a:r>
          </a:p>
        </p:txBody>
      </p:sp>
      <p:sp>
        <p:nvSpPr>
          <p:cNvPr id="6" name="Text Placeholder 5"/>
          <p:cNvSpPr>
            <a:spLocks noGrp="1"/>
          </p:cNvSpPr>
          <p:nvPr>
            <p:ph type="body" sz="quarter" idx="17"/>
          </p:nvPr>
        </p:nvSpPr>
        <p:spPr/>
        <p:txBody>
          <a:bodyPr>
            <a:normAutofit/>
          </a:bodyPr>
          <a:lstStyle/>
          <a:p>
            <a:r>
              <a:rPr lang="en-US" dirty="0"/>
              <a:t>The </a:t>
            </a:r>
            <a:r>
              <a:rPr lang="en-US" dirty="0">
                <a:latin typeface="Courier New" panose="02070309020205020404" pitchFamily="49" charset="0"/>
                <a:cs typeface="Courier New" panose="02070309020205020404" pitchFamily="49" charset="0"/>
              </a:rPr>
              <a:t>column-width</a:t>
            </a:r>
            <a:r>
              <a:rPr lang="en-US" dirty="0"/>
              <a:t> and </a:t>
            </a:r>
            <a:r>
              <a:rPr lang="en-US" sz="2600" dirty="0">
                <a:latin typeface="Courier New" panose="02070309020205020404" pitchFamily="49" charset="0"/>
                <a:cs typeface="Courier New" panose="02070309020205020404" pitchFamily="49" charset="0"/>
              </a:rPr>
              <a:t>column-count </a:t>
            </a:r>
            <a:r>
              <a:rPr lang="en-US" dirty="0"/>
              <a:t>properties are combined to form shorthand columns property</a:t>
            </a:r>
          </a:p>
          <a:p>
            <a:pPr marL="463550" indent="0">
              <a:buNone/>
            </a:pPr>
            <a:r>
              <a:rPr lang="en-US" sz="2600" dirty="0">
                <a:latin typeface="Courier New" panose="02070309020205020404" pitchFamily="49" charset="0"/>
                <a:cs typeface="Courier New" panose="02070309020205020404" pitchFamily="49" charset="0"/>
              </a:rPr>
              <a:t>columns: width count;</a:t>
            </a:r>
          </a:p>
          <a:p>
            <a:r>
              <a:rPr lang="en-US" dirty="0"/>
              <a:t>The default gap between columns is 1em</a:t>
            </a:r>
          </a:p>
          <a:p>
            <a:r>
              <a:rPr lang="en-US" dirty="0"/>
              <a:t>To set a different gap size, use the </a:t>
            </a:r>
            <a:r>
              <a:rPr lang="en-US" sz="2600" dirty="0">
                <a:latin typeface="Courier New" panose="02070309020205020404" pitchFamily="49" charset="0"/>
                <a:cs typeface="Courier New" panose="02070309020205020404" pitchFamily="49" charset="0"/>
              </a:rPr>
              <a:t>column-gap</a:t>
            </a:r>
            <a:r>
              <a:rPr lang="en-US" dirty="0"/>
              <a:t> property</a:t>
            </a:r>
          </a:p>
          <a:p>
            <a:pPr marL="463550" indent="0">
              <a:buNone/>
            </a:pPr>
            <a:r>
              <a:rPr lang="en-US" sz="2600" dirty="0">
                <a:latin typeface="Courier New" panose="02070309020205020404" pitchFamily="49" charset="0"/>
                <a:cs typeface="Courier New" panose="02070309020205020404" pitchFamily="49" charset="0"/>
              </a:rPr>
              <a:t>column-gap: size;</a:t>
            </a:r>
          </a:p>
          <a:p>
            <a:pPr marL="463550" indent="0">
              <a:buNone/>
            </a:pPr>
            <a:r>
              <a:rPr lang="en-US" dirty="0"/>
              <a:t>where </a:t>
            </a:r>
            <a:r>
              <a:rPr lang="en-US" sz="2600" dirty="0">
                <a:latin typeface="Courier New" panose="02070309020205020404" pitchFamily="49" charset="0"/>
                <a:cs typeface="Courier New" panose="02070309020205020404" pitchFamily="49" charset="0"/>
              </a:rPr>
              <a:t>size</a:t>
            </a:r>
            <a:r>
              <a:rPr lang="en-US" dirty="0"/>
              <a:t> is the width of the gap</a:t>
            </a:r>
          </a:p>
        </p:txBody>
      </p:sp>
    </p:spTree>
    <p:extLst>
      <p:ext uri="{BB962C8B-B14F-4D97-AF65-F5344CB8AC3E}">
        <p14:creationId xmlns:p14="http://schemas.microsoft.com/office/powerpoint/2010/main" val="39584176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Column Widths and Gaps</a:t>
            </a:r>
            <a:br>
              <a:rPr lang="en-US" dirty="0"/>
            </a:br>
            <a:r>
              <a:rPr lang="en-US" dirty="0"/>
              <a:t>(continued 2)</a:t>
            </a:r>
          </a:p>
        </p:txBody>
      </p:sp>
      <p:sp>
        <p:nvSpPr>
          <p:cNvPr id="6" name="Text Placeholder 5"/>
          <p:cNvSpPr>
            <a:spLocks noGrp="1"/>
          </p:cNvSpPr>
          <p:nvPr>
            <p:ph type="body" sz="quarter" idx="17"/>
          </p:nvPr>
        </p:nvSpPr>
        <p:spPr/>
        <p:txBody>
          <a:bodyPr>
            <a:normAutofit lnSpcReduction="10000"/>
          </a:bodyPr>
          <a:lstStyle/>
          <a:p>
            <a:r>
              <a:rPr lang="en-US" dirty="0"/>
              <a:t>Another way to separate columns is with a graphic dividing line created using the </a:t>
            </a:r>
            <a:r>
              <a:rPr lang="en-US" sz="2600" dirty="0">
                <a:latin typeface="Courier New" panose="02070309020205020404" pitchFamily="49" charset="0"/>
                <a:cs typeface="Courier New" panose="02070309020205020404" pitchFamily="49" charset="0"/>
              </a:rPr>
              <a:t>column-rule</a:t>
            </a:r>
            <a:r>
              <a:rPr lang="en-US" dirty="0"/>
              <a:t> property</a:t>
            </a:r>
          </a:p>
          <a:p>
            <a:pPr marL="463550" indent="0">
              <a:buNone/>
            </a:pPr>
            <a:r>
              <a:rPr lang="en-US" sz="2600" dirty="0">
                <a:latin typeface="Courier New" panose="02070309020205020404" pitchFamily="49" charset="0"/>
                <a:cs typeface="Courier New" panose="02070309020205020404" pitchFamily="49" charset="0"/>
              </a:rPr>
              <a:t>column-rule: border;</a:t>
            </a:r>
          </a:p>
          <a:p>
            <a:pPr marL="463550" indent="0">
              <a:buNone/>
            </a:pPr>
            <a:r>
              <a:rPr lang="en-US" dirty="0"/>
              <a:t>where </a:t>
            </a:r>
            <a:r>
              <a:rPr lang="en-US" sz="2600" dirty="0">
                <a:latin typeface="Courier New" panose="02070309020205020404" pitchFamily="49" charset="0"/>
                <a:cs typeface="Courier New" panose="02070309020205020404" pitchFamily="49" charset="0"/>
              </a:rPr>
              <a:t>border</a:t>
            </a:r>
            <a:r>
              <a:rPr lang="en-US" dirty="0"/>
              <a:t> defines the style of dividing line</a:t>
            </a:r>
          </a:p>
          <a:p>
            <a:r>
              <a:rPr lang="en-US" dirty="0"/>
              <a:t>The </a:t>
            </a:r>
            <a:r>
              <a:rPr lang="en-US" sz="2600" dirty="0">
                <a:latin typeface="Courier New" panose="02070309020205020404" pitchFamily="49" charset="0"/>
                <a:cs typeface="Courier New" panose="02070309020205020404" pitchFamily="49" charset="0"/>
              </a:rPr>
              <a:t>column-rule</a:t>
            </a:r>
            <a:r>
              <a:rPr lang="en-US" dirty="0"/>
              <a:t> property can be broken into individual properties like </a:t>
            </a:r>
            <a:r>
              <a:rPr lang="en-US" sz="2600" dirty="0">
                <a:latin typeface="Courier New" panose="02070309020205020404" pitchFamily="49" charset="0"/>
                <a:cs typeface="Courier New" panose="02070309020205020404" pitchFamily="49" charset="0"/>
              </a:rPr>
              <a:t>column-rule-width</a:t>
            </a:r>
            <a:r>
              <a:rPr lang="en-US" dirty="0"/>
              <a:t>, </a:t>
            </a:r>
            <a:r>
              <a:rPr lang="en-US" sz="2600" dirty="0">
                <a:latin typeface="Courier New" panose="02070309020205020404" pitchFamily="49" charset="0"/>
                <a:cs typeface="Courier New" panose="02070309020205020404" pitchFamily="49" charset="0"/>
              </a:rPr>
              <a:t>column-rule-style</a:t>
            </a:r>
            <a:r>
              <a:rPr lang="en-US" dirty="0"/>
              <a:t>, and </a:t>
            </a:r>
            <a:r>
              <a:rPr lang="en-US" sz="2600" dirty="0">
                <a:latin typeface="Courier New" panose="02070309020205020404" pitchFamily="49" charset="0"/>
                <a:cs typeface="Courier New" panose="02070309020205020404" pitchFamily="49" charset="0"/>
              </a:rPr>
              <a:t>column-rule-color</a:t>
            </a:r>
          </a:p>
        </p:txBody>
      </p:sp>
    </p:spTree>
    <p:extLst>
      <p:ext uri="{BB962C8B-B14F-4D97-AF65-F5344CB8AC3E}">
        <p14:creationId xmlns:p14="http://schemas.microsoft.com/office/powerpoint/2010/main" val="14725175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Column Widths and Gaps</a:t>
            </a:r>
            <a:br>
              <a:rPr lang="en-US" dirty="0"/>
            </a:br>
            <a:r>
              <a:rPr lang="en-US" dirty="0"/>
              <a:t>(continued 3)</a:t>
            </a:r>
          </a:p>
        </p:txBody>
      </p:sp>
      <p:pic>
        <p:nvPicPr>
          <p:cNvPr id="4" name="Picture Placeholder 3" descr="This figure explains how to set the size of the column gap.&#10;&#10;The figure consists of a rectangular box and a few lines of code.&#10;&#10;The first line of the code reads “@media only screen and (min-width: 641px) {”. The second line of the code reads “article {”.  The third line of the code reads “column-count: 2;”.  The fouth line of the code reads “column-gap: 30px;”  The fifth line of the code reads “}”.  The sixth line of the code reads “}”.&#10;&#10;The rectangular box labeled “sets the size of the gap between the columns to 30 pixels” is positioned at the left side of the code. An arrow originating from this rectangular box points to the fourth line of the code." title="Figure 6-42 Setting the size of the column gap"/>
          <p:cNvPicPr>
            <a:picLocks noGrp="1" noChangeAspect="1"/>
          </p:cNvPicPr>
          <p:nvPr>
            <p:ph type="pic" sz="quarter" idx="10"/>
          </p:nvPr>
        </p:nvPicPr>
        <p:blipFill>
          <a:blip r:embed="rId2"/>
          <a:stretch>
            <a:fillRect/>
          </a:stretch>
        </p:blipFill>
        <p:spPr>
          <a:xfrm>
            <a:off x="421672" y="2111917"/>
            <a:ext cx="8300655" cy="2009907"/>
          </a:xfrm>
          <a:prstGeom prst="rect">
            <a:avLst/>
          </a:prstGeom>
        </p:spPr>
      </p:pic>
    </p:spTree>
    <p:extLst>
      <p:ext uri="{BB962C8B-B14F-4D97-AF65-F5344CB8AC3E}">
        <p14:creationId xmlns:p14="http://schemas.microsoft.com/office/powerpoint/2010/main" val="38591394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Column Breaks</a:t>
            </a:r>
          </a:p>
        </p:txBody>
      </p:sp>
      <p:sp>
        <p:nvSpPr>
          <p:cNvPr id="3" name="Text Placeholder 2"/>
          <p:cNvSpPr>
            <a:spLocks noGrp="1"/>
          </p:cNvSpPr>
          <p:nvPr>
            <p:ph type="body" sz="quarter" idx="17"/>
          </p:nvPr>
        </p:nvSpPr>
        <p:spPr/>
        <p:txBody>
          <a:bodyPr>
            <a:normAutofit fontScale="92500" lnSpcReduction="10000"/>
          </a:bodyPr>
          <a:lstStyle/>
          <a:p>
            <a:r>
              <a:rPr lang="en-US" sz="3500" dirty="0"/>
              <a:t>The size of column orphans is controlled using the </a:t>
            </a:r>
            <a:r>
              <a:rPr lang="en-US" sz="2800" dirty="0">
                <a:latin typeface="Courier New" panose="02070309020205020404" pitchFamily="49" charset="0"/>
                <a:cs typeface="Courier New" panose="02070309020205020404" pitchFamily="49" charset="0"/>
              </a:rPr>
              <a:t>orphans</a:t>
            </a:r>
            <a:r>
              <a:rPr lang="en-US" sz="3500" dirty="0"/>
              <a:t> property</a:t>
            </a:r>
          </a:p>
          <a:p>
            <a:pPr marL="463550" indent="0">
              <a:buNone/>
            </a:pPr>
            <a:r>
              <a:rPr lang="en-US" sz="2800" dirty="0">
                <a:latin typeface="Courier New" panose="02070309020205020404" pitchFamily="49" charset="0"/>
                <a:cs typeface="Courier New" panose="02070309020205020404" pitchFamily="49" charset="0"/>
              </a:rPr>
              <a:t>orphans: value;</a:t>
            </a:r>
          </a:p>
          <a:p>
            <a:pPr marL="463550" indent="0">
              <a:buNone/>
            </a:pPr>
            <a:r>
              <a:rPr lang="en-US" sz="3000" dirty="0"/>
              <a:t>where</a:t>
            </a:r>
            <a:r>
              <a:rPr lang="en-US" dirty="0"/>
              <a:t> </a:t>
            </a:r>
            <a:r>
              <a:rPr lang="en-US" sz="2800" dirty="0">
                <a:latin typeface="Courier New" panose="02070309020205020404" pitchFamily="49" charset="0"/>
                <a:cs typeface="Courier New" panose="02070309020205020404" pitchFamily="49" charset="0"/>
              </a:rPr>
              <a:t>value</a:t>
            </a:r>
            <a:r>
              <a:rPr lang="en-US" sz="3000" dirty="0"/>
              <a:t> is the minimum number of lines stranded before a column break</a:t>
            </a:r>
          </a:p>
          <a:p>
            <a:r>
              <a:rPr lang="en-US" sz="3500" dirty="0">
                <a:latin typeface="Arial" panose="020B0604020202020204" pitchFamily="34" charset="0"/>
                <a:cs typeface="Arial" panose="020B0604020202020204" pitchFamily="34" charset="0"/>
              </a:rPr>
              <a:t>The size of column widows is controlled using the </a:t>
            </a:r>
            <a:r>
              <a:rPr lang="en-US" sz="2800" dirty="0">
                <a:latin typeface="Courier New" panose="02070309020205020404" pitchFamily="49" charset="0"/>
                <a:cs typeface="Courier New" panose="02070309020205020404" pitchFamily="49" charset="0"/>
              </a:rPr>
              <a:t>widows</a:t>
            </a:r>
            <a:r>
              <a:rPr lang="en-US" sz="3500" dirty="0">
                <a:latin typeface="Arial" panose="020B0604020202020204" pitchFamily="34" charset="0"/>
                <a:cs typeface="Arial" panose="020B0604020202020204" pitchFamily="34" charset="0"/>
              </a:rPr>
              <a:t> property</a:t>
            </a:r>
          </a:p>
          <a:p>
            <a:pPr marL="463550" indent="0">
              <a:buNone/>
            </a:pPr>
            <a:r>
              <a:rPr lang="en-US" sz="2800" dirty="0">
                <a:latin typeface="Courier New" panose="02070309020205020404" pitchFamily="49" charset="0"/>
                <a:cs typeface="Courier New" panose="02070309020205020404" pitchFamily="49" charset="0"/>
              </a:rPr>
              <a:t>widows: value;</a:t>
            </a:r>
          </a:p>
          <a:p>
            <a:pPr marL="463550" indent="0">
              <a:buNone/>
            </a:pPr>
            <a:r>
              <a:rPr lang="en-US" sz="3000" dirty="0">
                <a:latin typeface="Arial" panose="020B0604020202020204" pitchFamily="34" charset="0"/>
                <a:cs typeface="Arial" panose="020B0604020202020204" pitchFamily="34" charset="0"/>
              </a:rPr>
              <a:t>where </a:t>
            </a:r>
            <a:r>
              <a:rPr lang="en-US" sz="2800" dirty="0">
                <a:latin typeface="Courier New" panose="02070309020205020404" pitchFamily="49" charset="0"/>
                <a:cs typeface="Courier New" panose="02070309020205020404" pitchFamily="49" charset="0"/>
              </a:rPr>
              <a:t>value</a:t>
            </a:r>
            <a:r>
              <a:rPr lang="en-US" sz="3000" dirty="0">
                <a:latin typeface="Arial" panose="020B0604020202020204" pitchFamily="34" charset="0"/>
                <a:cs typeface="Arial" panose="020B0604020202020204" pitchFamily="34" charset="0"/>
              </a:rPr>
              <a:t> is the minimum number of lines placed after a column break</a:t>
            </a:r>
          </a:p>
        </p:txBody>
      </p:sp>
    </p:spTree>
    <p:extLst>
      <p:ext uri="{BB962C8B-B14F-4D97-AF65-F5344CB8AC3E}">
        <p14:creationId xmlns:p14="http://schemas.microsoft.com/office/powerpoint/2010/main" val="23632208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Column Breaks</a:t>
            </a:r>
            <a:br>
              <a:rPr lang="en-US" dirty="0"/>
            </a:br>
            <a:r>
              <a:rPr lang="en-US" dirty="0"/>
              <a:t>(continued 1)</a:t>
            </a:r>
          </a:p>
        </p:txBody>
      </p:sp>
      <p:sp>
        <p:nvSpPr>
          <p:cNvPr id="7" name="Text Placeholder 6"/>
          <p:cNvSpPr>
            <a:spLocks noGrp="1"/>
          </p:cNvSpPr>
          <p:nvPr>
            <p:ph type="body" sz="quarter" idx="17"/>
          </p:nvPr>
        </p:nvSpPr>
        <p:spPr/>
        <p:txBody>
          <a:bodyPr>
            <a:normAutofit/>
          </a:bodyPr>
          <a:lstStyle/>
          <a:p>
            <a:r>
              <a:rPr lang="en-US" dirty="0"/>
              <a:t>Other properties to define column breaks</a:t>
            </a:r>
          </a:p>
          <a:p>
            <a:pPr marL="463550" indent="0">
              <a:buNone/>
            </a:pPr>
            <a:r>
              <a:rPr lang="en-US" sz="2600" dirty="0">
                <a:latin typeface="Courier New" panose="02070309020205020404" pitchFamily="49" charset="0"/>
                <a:cs typeface="Courier New" panose="02070309020205020404" pitchFamily="49" charset="0"/>
              </a:rPr>
              <a:t>break-before: type;</a:t>
            </a:r>
          </a:p>
          <a:p>
            <a:pPr marL="463550" indent="0">
              <a:buNone/>
            </a:pPr>
            <a:r>
              <a:rPr lang="en-US" sz="2600" dirty="0">
                <a:latin typeface="Courier New" panose="02070309020205020404" pitchFamily="49" charset="0"/>
                <a:cs typeface="Courier New" panose="02070309020205020404" pitchFamily="49" charset="0"/>
              </a:rPr>
              <a:t>break-after: type;</a:t>
            </a:r>
          </a:p>
          <a:p>
            <a:pPr marL="463550" indent="0">
              <a:buNone/>
            </a:pPr>
            <a:r>
              <a:rPr lang="en-US" sz="2800" dirty="0">
                <a:latin typeface="Arial" panose="020B0604020202020204" pitchFamily="34" charset="0"/>
                <a:cs typeface="Arial" panose="020B0604020202020204" pitchFamily="34" charset="0"/>
              </a:rPr>
              <a:t>where </a:t>
            </a:r>
            <a:r>
              <a:rPr lang="en-US" sz="2600" dirty="0">
                <a:latin typeface="Courier New" panose="02070309020205020404" pitchFamily="49" charset="0"/>
                <a:cs typeface="Courier New" panose="02070309020205020404" pitchFamily="49" charset="0"/>
              </a:rPr>
              <a:t>type</a:t>
            </a:r>
            <a:r>
              <a:rPr lang="en-US" sz="2800" dirty="0">
                <a:latin typeface="Arial" panose="020B0604020202020204" pitchFamily="34" charset="0"/>
                <a:cs typeface="Arial" panose="020B0604020202020204" pitchFamily="34" charset="0"/>
              </a:rPr>
              <a:t> is one of the following:</a:t>
            </a:r>
          </a:p>
          <a:p>
            <a:pPr marL="914400" indent="0">
              <a:buNone/>
            </a:pPr>
            <a:r>
              <a:rPr lang="en-US" sz="2600" dirty="0">
                <a:latin typeface="Courier New" panose="02070309020205020404" pitchFamily="49" charset="0"/>
                <a:cs typeface="Courier New" panose="02070309020205020404" pitchFamily="49" charset="0"/>
              </a:rPr>
              <a:t>auto</a:t>
            </a:r>
            <a:r>
              <a:rPr lang="en-US" sz="2400" dirty="0">
                <a:latin typeface="Arial" panose="020B0604020202020204" pitchFamily="34" charset="0"/>
                <a:cs typeface="Arial" panose="020B0604020202020204" pitchFamily="34" charset="0"/>
              </a:rPr>
              <a:t> (browser automatically sets column break)</a:t>
            </a:r>
          </a:p>
          <a:p>
            <a:pPr marL="914400" indent="0">
              <a:buNone/>
            </a:pPr>
            <a:r>
              <a:rPr lang="en-US" sz="2600" dirty="0">
                <a:latin typeface="Courier New" panose="02070309020205020404" pitchFamily="49" charset="0"/>
                <a:cs typeface="Courier New" panose="02070309020205020404" pitchFamily="49" charset="0"/>
              </a:rPr>
              <a:t>always</a:t>
            </a:r>
            <a:r>
              <a:rPr lang="en-US" sz="2400" dirty="0">
                <a:latin typeface="Arial" panose="020B0604020202020204" pitchFamily="34" charset="0"/>
                <a:cs typeface="Arial" panose="020B0604020202020204" pitchFamily="34" charset="0"/>
              </a:rPr>
              <a:t> (to always place a column break)</a:t>
            </a:r>
          </a:p>
          <a:p>
            <a:pPr marL="914400" indent="0">
              <a:buNone/>
            </a:pPr>
            <a:r>
              <a:rPr lang="en-US" sz="2600" dirty="0">
                <a:latin typeface="Courier New" panose="02070309020205020404" pitchFamily="49" charset="0"/>
                <a:cs typeface="Courier New" panose="02070309020205020404" pitchFamily="49" charset="0"/>
              </a:rPr>
              <a:t>avoid</a:t>
            </a:r>
            <a:r>
              <a:rPr lang="en-US" sz="2400" dirty="0">
                <a:latin typeface="Arial" panose="020B0604020202020204" pitchFamily="34" charset="0"/>
                <a:cs typeface="Arial" panose="020B0604020202020204" pitchFamily="34" charset="0"/>
              </a:rPr>
              <a:t> (to avoid placing a column break)</a:t>
            </a:r>
          </a:p>
        </p:txBody>
      </p:sp>
    </p:spTree>
    <p:extLst>
      <p:ext uri="{BB962C8B-B14F-4D97-AF65-F5344CB8AC3E}">
        <p14:creationId xmlns:p14="http://schemas.microsoft.com/office/powerpoint/2010/main" val="11590645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Column Breaks</a:t>
            </a:r>
            <a:br>
              <a:rPr lang="en-US" dirty="0"/>
            </a:br>
            <a:r>
              <a:rPr lang="en-US" dirty="0"/>
              <a:t>(continued 2)</a:t>
            </a:r>
          </a:p>
        </p:txBody>
      </p:sp>
      <p:sp>
        <p:nvSpPr>
          <p:cNvPr id="4" name="Text Placeholder 3"/>
          <p:cNvSpPr>
            <a:spLocks noGrp="1"/>
          </p:cNvSpPr>
          <p:nvPr>
            <p:ph type="body" sz="quarter" idx="17"/>
          </p:nvPr>
        </p:nvSpPr>
        <p:spPr/>
        <p:txBody>
          <a:bodyPr/>
          <a:lstStyle/>
          <a:p>
            <a:r>
              <a:rPr lang="en-US" dirty="0"/>
              <a:t>To control placement of column breaks within an element, use the property</a:t>
            </a:r>
          </a:p>
          <a:p>
            <a:pPr marL="463550" indent="0">
              <a:buNone/>
            </a:pPr>
            <a:r>
              <a:rPr lang="en-US" sz="2600" dirty="0">
                <a:latin typeface="Courier New" panose="02070309020205020404" pitchFamily="49" charset="0"/>
                <a:cs typeface="Courier New" panose="02070309020205020404" pitchFamily="49" charset="0"/>
              </a:rPr>
              <a:t>break-inside: </a:t>
            </a:r>
            <a:r>
              <a:rPr lang="en-US" sz="2600" i="1" dirty="0">
                <a:latin typeface="Courier New" panose="02070309020205020404" pitchFamily="49" charset="0"/>
                <a:cs typeface="Courier New" panose="02070309020205020404" pitchFamily="49" charset="0"/>
              </a:rPr>
              <a:t>type</a:t>
            </a:r>
            <a:r>
              <a:rPr lang="en-US" sz="2600" dirty="0">
                <a:latin typeface="Courier New" panose="02070309020205020404" pitchFamily="49" charset="0"/>
                <a:cs typeface="Courier New" panose="02070309020205020404" pitchFamily="49" charset="0"/>
              </a:rPr>
              <a:t>;</a:t>
            </a:r>
          </a:p>
          <a:p>
            <a:pPr marL="46355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type</a:t>
            </a:r>
            <a:r>
              <a:rPr lang="en-US" sz="2800" dirty="0">
                <a:latin typeface="Arial" panose="020B0604020202020204" pitchFamily="34" charset="0"/>
                <a:cs typeface="Arial" panose="020B0604020202020204" pitchFamily="34" charset="0"/>
              </a:rPr>
              <a:t> is either </a:t>
            </a:r>
            <a:r>
              <a:rPr lang="en-US" sz="2600" dirty="0">
                <a:latin typeface="Courier New" panose="02070309020205020404" pitchFamily="49" charset="0"/>
                <a:cs typeface="Courier New" panose="02070309020205020404" pitchFamily="49" charset="0"/>
              </a:rPr>
              <a:t>auto</a:t>
            </a:r>
            <a:r>
              <a:rPr lang="en-US" sz="2800" dirty="0">
                <a:latin typeface="Arial" panose="020B0604020202020204" pitchFamily="34" charset="0"/>
                <a:cs typeface="Arial" panose="020B0604020202020204" pitchFamily="34" charset="0"/>
              </a:rPr>
              <a:t> or </a:t>
            </a:r>
            <a:r>
              <a:rPr lang="en-US" sz="2600" dirty="0">
                <a:latin typeface="Courier New" panose="02070309020205020404" pitchFamily="49" charset="0"/>
                <a:cs typeface="Courier New" panose="02070309020205020404" pitchFamily="49" charset="0"/>
              </a:rPr>
              <a:t>avoid</a:t>
            </a:r>
          </a:p>
        </p:txBody>
      </p:sp>
    </p:spTree>
    <p:extLst>
      <p:ext uri="{BB962C8B-B14F-4D97-AF65-F5344CB8AC3E}">
        <p14:creationId xmlns:p14="http://schemas.microsoft.com/office/powerpoint/2010/main" val="3732124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Column Breaks</a:t>
            </a:r>
            <a:br>
              <a:rPr lang="en-US" dirty="0"/>
            </a:br>
            <a:r>
              <a:rPr lang="en-US" dirty="0"/>
              <a:t>(continued 3)</a:t>
            </a:r>
          </a:p>
        </p:txBody>
      </p:sp>
      <p:pic>
        <p:nvPicPr>
          <p:cNvPr id="4" name="Picture Placeholder 3" descr="This figure explains how to define widows and orphans around column breaks.&#10;&#10;The figure consists of two rectangular boxes and a few lines of code.&#10;&#10;The first line of the code reads “@media only screen and (min-width: 641px) {&quot;. The second line of the code reads “article {”.  The third line of the code reads “column-count: 2;&quot;.  The fourth line of the code reads “column-gap: 30px;&quot;.  The fifth line of code reads column-rule: 2px solid gray;&quot;.  The sixth line of the code reads “widows: 3”.  The seventh line of the code reads “orphans: 3;”. The eigth line of the code reads “}”.  The ninth line of the code reads “}”.  &#10;&#10;The first rectangular box labeled “keeps at least three lines together after the column break” is positioned at the left side of the code. An arrow originating from this rectangular box points to the sixth  line of the code.&#10;&#10;The second rectangular box labeled “keeps at least three lines together before the column break” is positioned below the first rectangular box. An arrow originating from the second rectangular box points to the seventh line of the code." title="Figure 6-45 Defining widows and orphans around column breaks"/>
          <p:cNvPicPr>
            <a:picLocks noGrp="1" noChangeAspect="1"/>
          </p:cNvPicPr>
          <p:nvPr>
            <p:ph type="pic" sz="quarter" idx="10"/>
          </p:nvPr>
        </p:nvPicPr>
        <p:blipFill>
          <a:blip r:embed="rId2"/>
          <a:stretch>
            <a:fillRect/>
          </a:stretch>
        </p:blipFill>
        <p:spPr>
          <a:xfrm>
            <a:off x="526510" y="2076757"/>
            <a:ext cx="8090979" cy="2824339"/>
          </a:xfrm>
          <a:prstGeom prst="rect">
            <a:avLst/>
          </a:prstGeom>
        </p:spPr>
      </p:pic>
    </p:spTree>
    <p:extLst>
      <p:ext uri="{BB962C8B-B14F-4D97-AF65-F5344CB8AC3E}">
        <p14:creationId xmlns:p14="http://schemas.microsoft.com/office/powerpoint/2010/main" val="5759471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Spanning Cell Columns</a:t>
            </a:r>
          </a:p>
        </p:txBody>
      </p:sp>
      <p:sp>
        <p:nvSpPr>
          <p:cNvPr id="6" name="Text Placeholder 5"/>
          <p:cNvSpPr>
            <a:spLocks noGrp="1"/>
          </p:cNvSpPr>
          <p:nvPr>
            <p:ph type="body" sz="quarter" idx="17"/>
          </p:nvPr>
        </p:nvSpPr>
        <p:spPr/>
        <p:txBody>
          <a:bodyPr/>
          <a:lstStyle/>
          <a:p>
            <a:r>
              <a:rPr lang="en-US" dirty="0"/>
              <a:t>To span cell columns, use the </a:t>
            </a:r>
            <a:r>
              <a:rPr lang="en-US" sz="2600" dirty="0">
                <a:latin typeface="Courier New" panose="02070309020205020404" pitchFamily="49" charset="0"/>
                <a:cs typeface="Courier New" panose="02070309020205020404" pitchFamily="49" charset="0"/>
              </a:rPr>
              <a:t>column-span</a:t>
            </a:r>
            <a:r>
              <a:rPr lang="en-US" dirty="0"/>
              <a:t> property</a:t>
            </a:r>
          </a:p>
          <a:p>
            <a:pPr marL="463550" indent="0">
              <a:buNone/>
            </a:pPr>
            <a:r>
              <a:rPr lang="en-US" sz="2600" dirty="0">
                <a:latin typeface="Courier New" panose="02070309020205020404" pitchFamily="49" charset="0"/>
                <a:cs typeface="Courier New" panose="02070309020205020404" pitchFamily="49" charset="0"/>
              </a:rPr>
              <a:t>column-span: span;</a:t>
            </a:r>
          </a:p>
          <a:p>
            <a:pPr marL="463550" indent="0">
              <a:buNone/>
            </a:pPr>
            <a:r>
              <a:rPr lang="en-US" sz="2800" dirty="0"/>
              <a:t>where </a:t>
            </a:r>
            <a:r>
              <a:rPr lang="en-US" sz="2600" dirty="0">
                <a:latin typeface="Courier New" panose="02070309020205020404" pitchFamily="49" charset="0"/>
                <a:cs typeface="Courier New" panose="02070309020205020404" pitchFamily="49" charset="0"/>
              </a:rPr>
              <a:t>span</a:t>
            </a:r>
            <a:r>
              <a:rPr lang="en-US" sz="2800" dirty="0"/>
              <a:t> is either </a:t>
            </a:r>
            <a:r>
              <a:rPr lang="en-US" sz="2600" dirty="0">
                <a:latin typeface="Courier New" panose="02070309020205020404" pitchFamily="49" charset="0"/>
                <a:cs typeface="Courier New" panose="02070309020205020404" pitchFamily="49" charset="0"/>
              </a:rPr>
              <a:t>none</a:t>
            </a:r>
            <a:r>
              <a:rPr lang="en-US" sz="2800" dirty="0"/>
              <a:t> to prevent spanning or </a:t>
            </a:r>
            <a:r>
              <a:rPr lang="en-US" sz="2600" dirty="0">
                <a:latin typeface="Courier New" panose="02070309020205020404" pitchFamily="49" charset="0"/>
                <a:cs typeface="Courier New" panose="02070309020205020404" pitchFamily="49" charset="0"/>
              </a:rPr>
              <a:t>all</a:t>
            </a:r>
            <a:r>
              <a:rPr lang="en-US" sz="2800" dirty="0"/>
              <a:t> to enable the content to span across all the columns</a:t>
            </a:r>
          </a:p>
        </p:txBody>
      </p:sp>
    </p:spTree>
    <p:extLst>
      <p:ext uri="{BB962C8B-B14F-4D97-AF65-F5344CB8AC3E}">
        <p14:creationId xmlns:p14="http://schemas.microsoft.com/office/powerpoint/2010/main" val="12533554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Cell Columns (continued)</a:t>
            </a:r>
          </a:p>
        </p:txBody>
      </p:sp>
      <p:pic>
        <p:nvPicPr>
          <p:cNvPr id="4" name="Picture Placeholder 3" descr="This figure explains how to create a column-spanning heading.&#10;&#10;The figure consists of a rectangular box and a few lines of code.&#10;&#10;The first line of the code reads “widows: 3; ”.  The second line of the code reads “orphans: 3;”.  The third line of the code reads “}”.   The fourth line of the code reads “article h1 {”.   The fifth line of the code reads “column-span: all”.  The sixth line of the code reads “}”.  The seventh line of the code reads “}”.&#10;&#10;The rectangular box labeled “sets the heading so that it extends across all columns” is positioned at the left side of the code. An arrow originating from this rectangular box points to the fifth line of the code." title="Figure 6-46 Creating a column-spanning heading"/>
          <p:cNvPicPr>
            <a:picLocks noGrp="1" noChangeAspect="1"/>
          </p:cNvPicPr>
          <p:nvPr>
            <p:ph type="pic" sz="quarter" idx="10"/>
          </p:nvPr>
        </p:nvPicPr>
        <p:blipFill>
          <a:blip r:embed="rId2"/>
          <a:stretch>
            <a:fillRect/>
          </a:stretch>
        </p:blipFill>
        <p:spPr>
          <a:xfrm>
            <a:off x="314325" y="1714807"/>
            <a:ext cx="8515350" cy="2838450"/>
          </a:xfrm>
          <a:prstGeom prst="rect">
            <a:avLst/>
          </a:prstGeom>
        </p:spPr>
      </p:pic>
    </p:spTree>
    <p:extLst>
      <p:ext uri="{BB962C8B-B14F-4D97-AF65-F5344CB8AC3E}">
        <p14:creationId xmlns:p14="http://schemas.microsoft.com/office/powerpoint/2010/main" val="2658220314"/>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2229</Words>
  <Application>Microsoft Office PowerPoint</Application>
  <PresentationFormat>On-screen Show (4:3)</PresentationFormat>
  <Paragraphs>292</Paragraphs>
  <Slides>66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66</vt:i4>
      </vt:variant>
    </vt:vector>
  </HeadingPairs>
  <TitlesOfParts>
    <vt:vector size="75" baseType="lpstr">
      <vt:lpstr>Arial</vt:lpstr>
      <vt:lpstr>Arial</vt:lpstr>
      <vt:lpstr>Courier New</vt:lpstr>
      <vt:lpstr>Helvetica</vt:lpstr>
      <vt:lpstr>LucidaGrande</vt:lpstr>
      <vt:lpstr>Open Sans</vt:lpstr>
      <vt:lpstr>Summer Font</vt:lpstr>
      <vt:lpstr>Times New Roman</vt:lpstr>
      <vt:lpstr>Office Theme</vt:lpstr>
      <vt:lpstr>Tutorial 06</vt:lpstr>
      <vt:lpstr>Objectives</vt:lpstr>
      <vt:lpstr>Objectives (continued)</vt:lpstr>
      <vt:lpstr>Structure of a Web Table</vt:lpstr>
      <vt:lpstr>Introducing Web Tables</vt:lpstr>
      <vt:lpstr>Marking Tables and Table Rows</vt:lpstr>
      <vt:lpstr>Marking Tables and Table Rows (continued 1)</vt:lpstr>
      <vt:lpstr>Marking Tables and Table Rows (continued 2)</vt:lpstr>
      <vt:lpstr>Marking Table Headings and Table Data</vt:lpstr>
      <vt:lpstr>Marking Table Headings and Table Data (continued 1)</vt:lpstr>
      <vt:lpstr>Marking Table Headings and Table Data (continued 2)</vt:lpstr>
      <vt:lpstr>Adding Table Borders with CSS</vt:lpstr>
      <vt:lpstr>Adding Table Borders with CSS (continued 1)</vt:lpstr>
      <vt:lpstr>Adding Table Borders with CSS (continued 2)</vt:lpstr>
      <vt:lpstr>Adding Table Borders with CSS (continued 3)</vt:lpstr>
      <vt:lpstr>Adding Table Borders with CSS (continued 4)</vt:lpstr>
      <vt:lpstr>Adding Table Borders with CSS (continued 5)</vt:lpstr>
      <vt:lpstr>Adding Table Borders with CSS (continued 6)</vt:lpstr>
      <vt:lpstr>Adding Table Borders with CSS (continued 7)</vt:lpstr>
      <vt:lpstr>Spanning Rows and Columns</vt:lpstr>
      <vt:lpstr>Spanning Rows and Columns (continued 1)</vt:lpstr>
      <vt:lpstr>Spanning Rows and Columns (continued 2)</vt:lpstr>
      <vt:lpstr>Spanning Rows and Columns (continued 3)</vt:lpstr>
      <vt:lpstr>Creating a Table Caption</vt:lpstr>
      <vt:lpstr>Creating a Table Caption (continued 1)</vt:lpstr>
      <vt:lpstr>Creating a Table Caption (continued 2)</vt:lpstr>
      <vt:lpstr>Creating a Table Caption (continued 3)</vt:lpstr>
      <vt:lpstr>Rows and Column Groups</vt:lpstr>
      <vt:lpstr>Creating Row Groups</vt:lpstr>
      <vt:lpstr>Creating Row Groups (continued 1)</vt:lpstr>
      <vt:lpstr>Creating Row Groups (continued 2)</vt:lpstr>
      <vt:lpstr>Creating Column Groups</vt:lpstr>
      <vt:lpstr>Creating Column Groups (continued 1)</vt:lpstr>
      <vt:lpstr>Creating Column Groups (continued 2)</vt:lpstr>
      <vt:lpstr>Creating Column Groups (continued 3)</vt:lpstr>
      <vt:lpstr>Creating Column Groups (continued 4)</vt:lpstr>
      <vt:lpstr>Creating Column Groups (continued 5)</vt:lpstr>
      <vt:lpstr>Creating Column Groups (continued 6)</vt:lpstr>
      <vt:lpstr>Exploring CSS Styles and Web Tables</vt:lpstr>
      <vt:lpstr>Working with Width and Height</vt:lpstr>
      <vt:lpstr>Working with Width and Height (continued 1)</vt:lpstr>
      <vt:lpstr>Working with Width and Height (continued 2)</vt:lpstr>
      <vt:lpstr>Working with Width and Height (continued 3)</vt:lpstr>
      <vt:lpstr>Applying Table Styles to Other Page Elements</vt:lpstr>
      <vt:lpstr>Applying Table Styles to Other Page Elements (continued 1)</vt:lpstr>
      <vt:lpstr>Applying Table Styles to Other Page Elements (continued 2)</vt:lpstr>
      <vt:lpstr>Tables and Responsive Design</vt:lpstr>
      <vt:lpstr>Tables and Responsive Design (continued 1)</vt:lpstr>
      <vt:lpstr>Tables and Responsive Design (continued 2)</vt:lpstr>
      <vt:lpstr>Tables and Responsive Design (continued 3)</vt:lpstr>
      <vt:lpstr>Tables and Responsive Design (continued 4)</vt:lpstr>
      <vt:lpstr>Tables and Responsive Design (continued 5)</vt:lpstr>
      <vt:lpstr>Tables and Responsive Design (continued 6)</vt:lpstr>
      <vt:lpstr>Designing a Column Layout</vt:lpstr>
      <vt:lpstr>Setting the Number of Columns</vt:lpstr>
      <vt:lpstr>Setting the Number of Columns (continued)</vt:lpstr>
      <vt:lpstr>Defining Column Widths and Gaps</vt:lpstr>
      <vt:lpstr>Defining Column Widths and Gaps (continued 1)</vt:lpstr>
      <vt:lpstr>Defining Column Widths and Gaps (continued 2)</vt:lpstr>
      <vt:lpstr>Defining Column Widths and Gaps (continued 3)</vt:lpstr>
      <vt:lpstr>Managing Column Breaks</vt:lpstr>
      <vt:lpstr>Managing Column Breaks (continued 1)</vt:lpstr>
      <vt:lpstr>Managing Column Breaks (continued 2)</vt:lpstr>
      <vt:lpstr>Managing Column Breaks (continued 3)</vt:lpstr>
      <vt:lpstr>Spanning Cell Columns</vt:lpstr>
      <vt:lpstr>Spanning Cell Columns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2019-11-07T19:21:32Z</dcterms:modified>
</cp:coreProperties>
</file>